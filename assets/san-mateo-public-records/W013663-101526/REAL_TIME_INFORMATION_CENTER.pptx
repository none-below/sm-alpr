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66"/>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Lst>
  <p:sldSz cx="18288000" cy="10287000"/>
  <p:notesSz cx="6858000" cy="9144000"/>
  <p:embeddedFontLst>
    <p:embeddedFont>
      <p:font typeface="Montserrat Medium" charset="1" panose="00000600000000000000"/>
      <p:regular r:id="rId56"/>
    </p:embeddedFont>
    <p:embeddedFont>
      <p:font typeface="Inter Bold" charset="1" panose="02000503000000020004"/>
      <p:regular r:id="rId57"/>
    </p:embeddedFont>
    <p:embeddedFont>
      <p:font typeface="Montserrat" charset="1" panose="00000500000000000000"/>
      <p:regular r:id="rId58"/>
    </p:embeddedFont>
    <p:embeddedFont>
      <p:font typeface="Montserrat Bold" charset="1" panose="00000800000000000000"/>
      <p:regular r:id="rId59"/>
    </p:embeddedFont>
    <p:embeddedFont>
      <p:font typeface="Open Sauce Bold" charset="1" panose="00000800000000000000"/>
      <p:regular r:id="rId60"/>
    </p:embeddedFont>
    <p:embeddedFont>
      <p:font typeface="Canva Sans" charset="1" panose="020B0503030501040103"/>
      <p:regular r:id="rId61"/>
    </p:embeddedFont>
    <p:embeddedFont>
      <p:font typeface="Arimo" charset="1" panose="020B0604020202020204"/>
      <p:regular r:id="rId62"/>
    </p:embeddedFont>
    <p:embeddedFont>
      <p:font typeface="Roboto Bold" charset="1" panose="02000000000000000000"/>
      <p:regular r:id="rId63"/>
    </p:embeddedFont>
    <p:embeddedFont>
      <p:font typeface="Canva Sans Bold" charset="1" panose="020B0803030501040103"/>
      <p:regular r:id="rId64"/>
    </p:embeddedFont>
    <p:embeddedFont>
      <p:font typeface="League Spartan" charset="1" panose="00000800000000000000"/>
      <p:regular r:id="rId6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fonts/font56.fntdata" Type="http://schemas.openxmlformats.org/officeDocument/2006/relationships/font"/><Relationship Id="rId57" Target="fonts/font57.fntdata" Type="http://schemas.openxmlformats.org/officeDocument/2006/relationships/font"/><Relationship Id="rId58" Target="fonts/font58.fntdata" Type="http://schemas.openxmlformats.org/officeDocument/2006/relationships/font"/><Relationship Id="rId59" Target="fonts/font59.fntdata" Type="http://schemas.openxmlformats.org/officeDocument/2006/relationships/font"/><Relationship Id="rId6" Target="slides/slide1.xml" Type="http://schemas.openxmlformats.org/officeDocument/2006/relationships/slide"/><Relationship Id="rId60" Target="fonts/font60.fntdata" Type="http://schemas.openxmlformats.org/officeDocument/2006/relationships/font"/><Relationship Id="rId61" Target="fonts/font61.fntdata" Type="http://schemas.openxmlformats.org/officeDocument/2006/relationships/font"/><Relationship Id="rId62" Target="fonts/font62.fntdata" Type="http://schemas.openxmlformats.org/officeDocument/2006/relationships/font"/><Relationship Id="rId63" Target="fonts/font63.fntdata" Type="http://schemas.openxmlformats.org/officeDocument/2006/relationships/font"/><Relationship Id="rId64" Target="fonts/font64.fntdata" Type="http://schemas.openxmlformats.org/officeDocument/2006/relationships/font"/><Relationship Id="rId65" Target="fonts/font65.fntdata" Type="http://schemas.openxmlformats.org/officeDocument/2006/relationships/font"/><Relationship Id="rId66" Target="notesMasters/notesMaster1.xml" Type="http://schemas.openxmlformats.org/officeDocument/2006/relationships/notesMaster"/><Relationship Id="rId67" Target="theme/theme2.xml" Type="http://schemas.openxmlformats.org/officeDocument/2006/relationships/theme"/><Relationship Id="rId68" Target="notesSlides/notesSlide1.xml" Type="http://schemas.openxmlformats.org/officeDocument/2006/relationships/notesSlide"/><Relationship Id="rId69" Target="notesSlides/notesSlide2.xml" Type="http://schemas.openxmlformats.org/officeDocument/2006/relationships/notesSlide"/><Relationship Id="rId7" Target="slides/slide2.xml" Type="http://schemas.openxmlformats.org/officeDocument/2006/relationships/slide"/><Relationship Id="rId70" Target="notesSlides/notesSlide3.xml" Type="http://schemas.openxmlformats.org/officeDocument/2006/relationships/notesSlide"/><Relationship Id="rId71" Target="notesSlides/notesSlide4.xml" Type="http://schemas.openxmlformats.org/officeDocument/2006/relationships/notesSlide"/><Relationship Id="rId72" Target="notesSlides/notesSlide5.xml" Type="http://schemas.openxmlformats.org/officeDocument/2006/relationships/notesSlide"/><Relationship Id="rId73" Target="notesSlides/notesSlide6.xml" Type="http://schemas.openxmlformats.org/officeDocument/2006/relationships/notesSlide"/><Relationship Id="rId74" Target="notesSlides/notesSlide7.xml" Type="http://schemas.openxmlformats.org/officeDocument/2006/relationships/notesSlide"/><Relationship Id="rId75" Target="notesSlides/notesSlide8.xml" Type="http://schemas.openxmlformats.org/officeDocument/2006/relationships/note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8.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9.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7.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8.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Example of our response to a swatting call with DFR</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DFR response flights are mission-based, not random-based. They begin with a documented public-safety purpose, normally a CAD call for service, and observation is limited to that purpose. </a:t>
            </a:r>
          </a:p>
          <a:p>
            <a:r>
              <a:rPr lang="en-US"/>
              <a:t/>
            </a:r>
          </a:p>
          <a:p>
            <a:r>
              <a:rPr lang="en-US"/>
              <a:t>Separate training, emergency-management, fire-support and other authorized UAS activities are governed by Department policy but are not random DFR patrol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Autonomous flight</a:t>
            </a:r>
          </a:p>
          <a:p>
            <a:r>
              <a:rPr lang="en-US"/>
              <a:t>Pilots are not staring at the screen</a:t>
            </a:r>
          </a:p>
          <a:p>
            <a:r>
              <a:rPr lang="en-US"/>
              <a:t>Compiling intel for officers on the ground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SMPD controls access to its DFR data. Vendor platforms provide the technical infrastructure used to operate and store the system, and access is governed by contractual, technical and role-based security controls. </a:t>
            </a:r>
          </a:p>
          <a:p>
            <a:r>
              <a:rPr lang="en-US"/>
              <a:t/>
            </a:r>
          </a:p>
          <a:p>
            <a:r>
              <a:rPr lang="en-US"/>
              <a:t>Vendors are not authorized to independently use SMPD footage for unrelated purposes</a:t>
            </a:r>
          </a:p>
          <a:p>
            <a:r>
              <a:rPr lang="en-US"/>
              <a:t/>
            </a:r>
          </a:p>
          <a:p>
            <a:r>
              <a:rPr lang="en-US"/>
              <a:t>Minimum retention is 2 years for recorded media</a:t>
            </a:r>
          </a:p>
          <a:p>
            <a:r>
              <a:rPr lang="en-US"/>
              <a:t/>
            </a:r>
          </a:p>
          <a:p>
            <a:r>
              <a:rPr lang="en-US"/>
              <a:t>This was updated from the previous policy 9/28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BE BRIEF</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Hazmat call on Hwy 92</a:t>
            </a:r>
          </a:p>
          <a:p>
            <a:r>
              <a:rPr lang="en-US"/>
              <a:t>Shut down traffic in both directions and all traffic under 92 including a nearby school</a:t>
            </a:r>
          </a:p>
          <a:p>
            <a:r>
              <a:rPr lang="en-US"/>
              <a:t/>
            </a:r>
          </a:p>
          <a:p>
            <a:r>
              <a:rPr lang="en-US"/>
              <a:t>We were quickly able to identify the substance using the drone and consult with County Hazmat team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ORT case with multiple suspects exiting the store. Drone provided location to the responding officers</a:t>
            </a:r>
          </a:p>
          <a:p>
            <a:r>
              <a:rPr lang="en-US"/>
              <a:t/>
            </a:r>
          </a:p>
          <a:p>
            <a:r>
              <a:rPr lang="en-US"/>
              <a:t>4th of July pursuit - drone was responding to a fireworks call and captured a pursuit - pursuing officers backed off and the drone tracked the suspect to an apartment complex - officers responded and arrested a violent wanted subject and seized a firearm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Injured hiker in Laurelwood Park did not know where she was - Drone located her in minutes and guided medical assistance to her</a:t>
            </a:r>
          </a:p>
          <a:p>
            <a:r>
              <a:rPr lang="en-US"/>
              <a:t/>
            </a:r>
          </a:p>
          <a:p>
            <a:r>
              <a:rPr lang="en-US"/>
              <a:t>Foster City Fire - drone provided critical intel regarding trapped residents and hot spots on the roof</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png" Type="http://schemas.openxmlformats.org/officeDocument/2006/relationships/image"/><Relationship Id="rId4" Target="../media/image22.png" Type="http://schemas.openxmlformats.org/officeDocument/2006/relationships/image"/><Relationship Id="rId5" Target="../media/image23.png" Type="http://schemas.openxmlformats.org/officeDocument/2006/relationships/image"/><Relationship Id="rId6" Target="../media/image24.png" Type="http://schemas.openxmlformats.org/officeDocument/2006/relationships/image"/><Relationship Id="rId7" Target="../media/image25.png" Type="http://schemas.openxmlformats.org/officeDocument/2006/relationships/image"/><Relationship Id="rId8" Target="../media/image26.png" Type="http://schemas.openxmlformats.org/officeDocument/2006/relationships/image"/><Relationship Id="rId9" Target="../media/image2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0.png" Type="http://schemas.openxmlformats.org/officeDocument/2006/relationships/image"/><Relationship Id="rId4" Target="../media/image31.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png" Type="http://schemas.openxmlformats.org/officeDocument/2006/relationships/image"/><Relationship Id="rId4" Target="../media/image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35.png" Type="http://schemas.openxmlformats.org/officeDocument/2006/relationships/image"/><Relationship Id="rId4" Target="../media/image36.png" Type="http://schemas.openxmlformats.org/officeDocument/2006/relationships/image"/><Relationship Id="rId5" Target="../media/image37.png" Type="http://schemas.openxmlformats.org/officeDocument/2006/relationships/image"/><Relationship Id="rId6" Target="../media/image38.png" Type="http://schemas.openxmlformats.org/officeDocument/2006/relationships/image"/><Relationship Id="rId7" Target="../media/image39.png" Type="http://schemas.openxmlformats.org/officeDocument/2006/relationships/image"/><Relationship Id="rId8" Target="../media/image40.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1.png" Type="http://schemas.openxmlformats.org/officeDocument/2006/relationships/image"/><Relationship Id="rId11" Target="../media/image52.png" Type="http://schemas.openxmlformats.org/officeDocument/2006/relationships/image"/><Relationship Id="rId2" Target="../media/image43.png" Type="http://schemas.openxmlformats.org/officeDocument/2006/relationships/image"/><Relationship Id="rId3" Target="../media/image44.svg" Type="http://schemas.openxmlformats.org/officeDocument/2006/relationships/image"/><Relationship Id="rId4" Target="../media/image45.png" Type="http://schemas.openxmlformats.org/officeDocument/2006/relationships/image"/><Relationship Id="rId5" Target="../media/image46.svg" Type="http://schemas.openxmlformats.org/officeDocument/2006/relationships/image"/><Relationship Id="rId6" Target="../media/image47.png" Type="http://schemas.openxmlformats.org/officeDocument/2006/relationships/image"/><Relationship Id="rId7" Target="../media/image48.svg" Type="http://schemas.openxmlformats.org/officeDocument/2006/relationships/image"/><Relationship Id="rId8" Target="../media/image49.png" Type="http://schemas.openxmlformats.org/officeDocument/2006/relationships/image"/><Relationship Id="rId9" Target="../media/image50.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3.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4.png" Type="http://schemas.openxmlformats.org/officeDocument/2006/relationships/image"/><Relationship Id="rId3" Target="../media/image55.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4.png" Type="http://schemas.openxmlformats.org/officeDocument/2006/relationships/image"/><Relationship Id="rId11" Target="../media/image65.svg" Type="http://schemas.openxmlformats.org/officeDocument/2006/relationships/image"/><Relationship Id="rId12" Target="../media/image66.png" Type="http://schemas.openxmlformats.org/officeDocument/2006/relationships/image"/><Relationship Id="rId13" Target="../media/image67.svg" Type="http://schemas.openxmlformats.org/officeDocument/2006/relationships/image"/><Relationship Id="rId2" Target="../media/image56.png" Type="http://schemas.openxmlformats.org/officeDocument/2006/relationships/image"/><Relationship Id="rId3" Target="../media/image57.svg" Type="http://schemas.openxmlformats.org/officeDocument/2006/relationships/image"/><Relationship Id="rId4" Target="../media/image58.png" Type="http://schemas.openxmlformats.org/officeDocument/2006/relationships/image"/><Relationship Id="rId5" Target="../media/image59.svg" Type="http://schemas.openxmlformats.org/officeDocument/2006/relationships/image"/><Relationship Id="rId6" Target="../media/image60.png" Type="http://schemas.openxmlformats.org/officeDocument/2006/relationships/image"/><Relationship Id="rId7" Target="../media/image61.svg" Type="http://schemas.openxmlformats.org/officeDocument/2006/relationships/image"/><Relationship Id="rId8" Target="../media/image62.png" Type="http://schemas.openxmlformats.org/officeDocument/2006/relationships/image"/><Relationship Id="rId9" Target="../media/image63.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8.png" Type="http://schemas.openxmlformats.org/officeDocument/2006/relationships/image"/><Relationship Id="rId3" Target="../media/image69.png" Type="http://schemas.openxmlformats.org/officeDocument/2006/relationships/image"/><Relationship Id="rId4" Target="../media/image70.svg" Type="http://schemas.openxmlformats.org/officeDocument/2006/relationships/image"/><Relationship Id="rId5" Target="../media/image71.png" Type="http://schemas.openxmlformats.org/officeDocument/2006/relationships/image"/><Relationship Id="rId6" Target="../media/image72.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3.png" Type="http://schemas.openxmlformats.org/officeDocument/2006/relationships/image"/><Relationship Id="rId3" Target="../media/image74.png" Type="http://schemas.openxmlformats.org/officeDocument/2006/relationships/image"/><Relationship Id="rId4" Target="../media/image75.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6.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7.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8.png" Type="http://schemas.openxmlformats.org/officeDocument/2006/relationships/image"/><Relationship Id="rId3" Target="../media/image79.svg" Type="http://schemas.openxmlformats.org/officeDocument/2006/relationships/image"/><Relationship Id="rId4" Target="../media/image80.png" Type="http://schemas.openxmlformats.org/officeDocument/2006/relationships/image"/><Relationship Id="rId5" Target="../media/image81.svg" Type="http://schemas.openxmlformats.org/officeDocument/2006/relationships/image"/><Relationship Id="rId6" Target="../media/image82.png" Type="http://schemas.openxmlformats.org/officeDocument/2006/relationships/image"/><Relationship Id="rId7" Target="../media/image83.svg" Type="http://schemas.openxmlformats.org/officeDocument/2006/relationships/image"/><Relationship Id="rId8" Target="../media/image84.png" Type="http://schemas.openxmlformats.org/officeDocument/2006/relationships/image"/><Relationship Id="rId9" Target="../media/image85.sv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6.png" Type="http://schemas.openxmlformats.org/officeDocument/2006/relationships/image"/><Relationship Id="rId3" Target="../media/image3.png" Type="http://schemas.openxmlformats.org/officeDocument/2006/relationships/image"/><Relationship Id="rId4" Target="../media/image2.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7.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8.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89.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90.png" Type="http://schemas.openxmlformats.org/officeDocument/2006/relationships/image"/><Relationship Id="rId4" Target="../media/image91.png" Type="http://schemas.openxmlformats.org/officeDocument/2006/relationships/image"/><Relationship Id="rId5" Target="../media/image92.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3.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4.png" Type="http://schemas.openxmlformats.org/officeDocument/2006/relationships/image"/><Relationship Id="rId3" Target="../media/image95.png" Type="http://schemas.openxmlformats.org/officeDocument/2006/relationships/image"/><Relationship Id="rId4" Target="../media/image96.png" Type="http://schemas.openxmlformats.org/officeDocument/2006/relationships/image"/><Relationship Id="rId5" Target="../media/image97.png" Type="http://schemas.openxmlformats.org/officeDocument/2006/relationships/image"/><Relationship Id="rId6" Target="../media/image98.png" Type="http://schemas.openxmlformats.org/officeDocument/2006/relationships/image"/><Relationship Id="rId7" Target="../media/image99.png" Type="http://schemas.openxmlformats.org/officeDocument/2006/relationships/image"/><Relationship Id="rId8" Target="../media/image100.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01.png" Type="http://schemas.openxmlformats.org/officeDocument/2006/relationships/image"/><Relationship Id="rId4" Target="../media/image102.png" Type="http://schemas.openxmlformats.org/officeDocument/2006/relationships/image"/><Relationship Id="rId5" Target="../media/image103.sv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04.pn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5.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06.pn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07.png" Type="http://schemas.openxmlformats.org/officeDocument/2006/relationships/image"/><Relationship Id="rId4" Target="../media/image108.png" Type="http://schemas.openxmlformats.org/officeDocument/2006/relationships/image"/><Relationship Id="rId5" Target="../media/image109.png" Type="http://schemas.openxmlformats.org/officeDocument/2006/relationships/image"/><Relationship Id="rId6" Target="../media/image110.pn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11.png" Type="http://schemas.openxmlformats.org/officeDocument/2006/relationships/image"/><Relationship Id="rId4" Target="../media/image112.png" Type="http://schemas.openxmlformats.org/officeDocument/2006/relationships/image"/><Relationship Id="rId5" Target="../media/image113.pn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2583" r="-3722" b="-935"/>
            </a:stretch>
          </a:blipFill>
        </p:spPr>
      </p:sp>
      <p:sp>
        <p:nvSpPr>
          <p:cNvPr name="Freeform 3" id="3"/>
          <p:cNvSpPr/>
          <p:nvPr/>
        </p:nvSpPr>
        <p:spPr>
          <a:xfrm flipH="false" flipV="false" rot="-5400000">
            <a:off x="-4918496" y="3457815"/>
            <a:ext cx="26920720" cy="17229261"/>
          </a:xfrm>
          <a:custGeom>
            <a:avLst/>
            <a:gdLst/>
            <a:ahLst/>
            <a:cxnLst/>
            <a:rect r="r" b="b" t="t" l="l"/>
            <a:pathLst>
              <a:path h="17229261" w="26920720">
                <a:moveTo>
                  <a:pt x="0" y="0"/>
                </a:moveTo>
                <a:lnTo>
                  <a:pt x="26920720" y="0"/>
                </a:lnTo>
                <a:lnTo>
                  <a:pt x="26920720" y="17229261"/>
                </a:lnTo>
                <a:lnTo>
                  <a:pt x="0" y="17229261"/>
                </a:lnTo>
                <a:lnTo>
                  <a:pt x="0" y="0"/>
                </a:lnTo>
                <a:close/>
              </a:path>
            </a:pathLst>
          </a:custGeom>
          <a:blipFill>
            <a:blip r:embed="rId3"/>
            <a:stretch>
              <a:fillRect l="0" t="0" r="0" b="0"/>
            </a:stretch>
          </a:blipFill>
        </p:spPr>
      </p:sp>
      <p:sp>
        <p:nvSpPr>
          <p:cNvPr name="Freeform 4" id="4"/>
          <p:cNvSpPr/>
          <p:nvPr/>
        </p:nvSpPr>
        <p:spPr>
          <a:xfrm flipH="false" flipV="false" rot="-5400000">
            <a:off x="234624" y="-3279190"/>
            <a:ext cx="16230600" cy="16845381"/>
          </a:xfrm>
          <a:custGeom>
            <a:avLst/>
            <a:gdLst/>
            <a:ahLst/>
            <a:cxnLst/>
            <a:rect r="r" b="b" t="t" l="l"/>
            <a:pathLst>
              <a:path h="16845381" w="16230600">
                <a:moveTo>
                  <a:pt x="0" y="0"/>
                </a:moveTo>
                <a:lnTo>
                  <a:pt x="16230600" y="0"/>
                </a:lnTo>
                <a:lnTo>
                  <a:pt x="16230600" y="16845380"/>
                </a:lnTo>
                <a:lnTo>
                  <a:pt x="0" y="16845380"/>
                </a:lnTo>
                <a:lnTo>
                  <a:pt x="0" y="0"/>
                </a:lnTo>
                <a:close/>
              </a:path>
            </a:pathLst>
          </a:custGeom>
          <a:blipFill>
            <a:blip r:embed="rId4"/>
            <a:stretch>
              <a:fillRect l="-157575" t="0" r="-157575" b="0"/>
            </a:stretch>
          </a:blipFill>
        </p:spPr>
      </p:sp>
      <p:sp>
        <p:nvSpPr>
          <p:cNvPr name="Freeform 5" id="5"/>
          <p:cNvSpPr/>
          <p:nvPr/>
        </p:nvSpPr>
        <p:spPr>
          <a:xfrm flipH="false" flipV="false" rot="0">
            <a:off x="460972" y="446467"/>
            <a:ext cx="1735113" cy="1754527"/>
          </a:xfrm>
          <a:custGeom>
            <a:avLst/>
            <a:gdLst/>
            <a:ahLst/>
            <a:cxnLst/>
            <a:rect r="r" b="b" t="t" l="l"/>
            <a:pathLst>
              <a:path h="1754527" w="1735113">
                <a:moveTo>
                  <a:pt x="0" y="0"/>
                </a:moveTo>
                <a:lnTo>
                  <a:pt x="1735113" y="0"/>
                </a:lnTo>
                <a:lnTo>
                  <a:pt x="1735113" y="1754527"/>
                </a:lnTo>
                <a:lnTo>
                  <a:pt x="0" y="1754527"/>
                </a:lnTo>
                <a:lnTo>
                  <a:pt x="0" y="0"/>
                </a:lnTo>
                <a:close/>
              </a:path>
            </a:pathLst>
          </a:custGeom>
          <a:blipFill>
            <a:blip r:embed="rId5"/>
            <a:stretch>
              <a:fillRect l="0" t="0" r="0" b="0"/>
            </a:stretch>
          </a:blipFill>
        </p:spPr>
      </p:sp>
      <p:sp>
        <p:nvSpPr>
          <p:cNvPr name="TextBox 6" id="6"/>
          <p:cNvSpPr txBox="true"/>
          <p:nvPr/>
        </p:nvSpPr>
        <p:spPr>
          <a:xfrm rot="0">
            <a:off x="1028700" y="3886833"/>
            <a:ext cx="16230600" cy="2061537"/>
          </a:xfrm>
          <a:prstGeom prst="rect">
            <a:avLst/>
          </a:prstGeom>
        </p:spPr>
        <p:txBody>
          <a:bodyPr anchor="t" rtlCol="false" tIns="0" lIns="0" bIns="0" rIns="0">
            <a:spAutoFit/>
          </a:bodyPr>
          <a:lstStyle/>
          <a:p>
            <a:pPr algn="l">
              <a:lnSpc>
                <a:spcPts val="8253"/>
              </a:lnSpc>
            </a:pPr>
            <a:r>
              <a:rPr lang="en-US" b="true" sz="7860">
                <a:solidFill>
                  <a:srgbClr val="002557"/>
                </a:solidFill>
                <a:latin typeface="Montserrat Medium"/>
                <a:ea typeface="Montserrat Medium"/>
                <a:cs typeface="Montserrat Medium"/>
                <a:sym typeface="Montserrat Medium"/>
              </a:rPr>
              <a:t>REAL TIME </a:t>
            </a:r>
          </a:p>
          <a:p>
            <a:pPr algn="l">
              <a:lnSpc>
                <a:spcPts val="7737"/>
              </a:lnSpc>
            </a:pPr>
            <a:r>
              <a:rPr lang="en-US" b="true" sz="7368">
                <a:solidFill>
                  <a:srgbClr val="002557"/>
                </a:solidFill>
                <a:latin typeface="Montserrat Medium"/>
                <a:ea typeface="Montserrat Medium"/>
                <a:cs typeface="Montserrat Medium"/>
                <a:sym typeface="Montserrat Medium"/>
              </a:rPr>
              <a:t>INFORMATION CENTER</a:t>
            </a:r>
          </a:p>
        </p:txBody>
      </p:sp>
      <p:sp>
        <p:nvSpPr>
          <p:cNvPr name="TextBox 7" id="7"/>
          <p:cNvSpPr txBox="true"/>
          <p:nvPr/>
        </p:nvSpPr>
        <p:spPr>
          <a:xfrm rot="0">
            <a:off x="1028700" y="8274357"/>
            <a:ext cx="7975650" cy="455295"/>
          </a:xfrm>
          <a:prstGeom prst="rect">
            <a:avLst/>
          </a:prstGeom>
        </p:spPr>
        <p:txBody>
          <a:bodyPr anchor="t" rtlCol="false" tIns="0" lIns="0" bIns="0" rIns="0">
            <a:spAutoFit/>
          </a:bodyPr>
          <a:lstStyle/>
          <a:p>
            <a:pPr algn="l">
              <a:lnSpc>
                <a:spcPts val="3779"/>
              </a:lnSpc>
            </a:pPr>
            <a:r>
              <a:rPr lang="en-US" b="true" sz="2700">
                <a:solidFill>
                  <a:srgbClr val="002557"/>
                </a:solidFill>
                <a:latin typeface="Inter Bold"/>
                <a:ea typeface="Inter Bold"/>
                <a:cs typeface="Inter Bold"/>
                <a:sym typeface="Inter Bold"/>
              </a:rPr>
              <a:t>STUDY SESSION OCTOBER 2026</a:t>
            </a:r>
          </a:p>
        </p:txBody>
      </p:sp>
      <p:sp>
        <p:nvSpPr>
          <p:cNvPr name="AutoShape 8" id="8"/>
          <p:cNvSpPr/>
          <p:nvPr/>
        </p:nvSpPr>
        <p:spPr>
          <a:xfrm>
            <a:off x="1028700" y="9112250"/>
            <a:ext cx="842003" cy="0"/>
          </a:xfrm>
          <a:prstGeom prst="line">
            <a:avLst/>
          </a:prstGeom>
          <a:ln cap="flat" w="57150">
            <a:solidFill>
              <a:srgbClr val="17397F"/>
            </a:solidFill>
            <a:prstDash val="solid"/>
            <a:headEnd type="none" len="sm" w="sm"/>
            <a:tailEnd type="none" len="sm" w="sm"/>
          </a:ln>
        </p:spPr>
      </p:sp>
      <p:sp>
        <p:nvSpPr>
          <p:cNvPr name="TextBox 9" id="9"/>
          <p:cNvSpPr txBox="true"/>
          <p:nvPr/>
        </p:nvSpPr>
        <p:spPr>
          <a:xfrm rot="0">
            <a:off x="2196085" y="8909050"/>
            <a:ext cx="5708807" cy="389256"/>
          </a:xfrm>
          <a:prstGeom prst="rect">
            <a:avLst/>
          </a:prstGeom>
        </p:spPr>
        <p:txBody>
          <a:bodyPr anchor="t" rtlCol="false" tIns="0" lIns="0" bIns="0" rIns="0">
            <a:spAutoFit/>
          </a:bodyPr>
          <a:lstStyle/>
          <a:p>
            <a:pPr algn="l">
              <a:lnSpc>
                <a:spcPts val="3219"/>
              </a:lnSpc>
            </a:pPr>
            <a:r>
              <a:rPr lang="en-US" sz="2299">
                <a:solidFill>
                  <a:srgbClr val="1D1D1F"/>
                </a:solidFill>
                <a:latin typeface="Montserrat"/>
                <a:ea typeface="Montserrat"/>
                <a:cs typeface="Montserrat"/>
                <a:sym typeface="Montserrat"/>
              </a:rPr>
              <a:t>San Mateo Police Department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0410" y="37904"/>
            <a:ext cx="18247590" cy="10457570"/>
            <a:chOff x="0" y="0"/>
            <a:chExt cx="2827029" cy="1620151"/>
          </a:xfrm>
        </p:grpSpPr>
        <p:sp>
          <p:nvSpPr>
            <p:cNvPr name="Freeform 3" id="3"/>
            <p:cNvSpPr/>
            <p:nvPr/>
          </p:nvSpPr>
          <p:spPr>
            <a:xfrm flipH="false" flipV="false" rot="0">
              <a:off x="0" y="0"/>
              <a:ext cx="2827029" cy="1620151"/>
            </a:xfrm>
            <a:custGeom>
              <a:avLst/>
              <a:gdLst/>
              <a:ahLst/>
              <a:cxnLst/>
              <a:rect r="r" b="b" t="t" l="l"/>
              <a:pathLst>
                <a:path h="1620151" w="2827029">
                  <a:moveTo>
                    <a:pt x="0" y="0"/>
                  </a:moveTo>
                  <a:lnTo>
                    <a:pt x="2827029" y="0"/>
                  </a:lnTo>
                  <a:lnTo>
                    <a:pt x="2827029" y="1620151"/>
                  </a:lnTo>
                  <a:lnTo>
                    <a:pt x="0" y="1620151"/>
                  </a:lnTo>
                  <a:close/>
                </a:path>
              </a:pathLst>
            </a:custGeom>
            <a:blipFill>
              <a:blip r:embed="rId2"/>
              <a:stretch>
                <a:fillRect l="-6292" t="0" r="-6292" b="-28675"/>
              </a:stretch>
            </a:blipFill>
          </p:spPr>
        </p:sp>
      </p:grpSp>
      <p:sp>
        <p:nvSpPr>
          <p:cNvPr name="Freeform 4" id="4"/>
          <p:cNvSpPr/>
          <p:nvPr/>
        </p:nvSpPr>
        <p:spPr>
          <a:xfrm flipH="false" flipV="false" rot="-5400000">
            <a:off x="-4915991" y="3495720"/>
            <a:ext cx="26920720" cy="17229261"/>
          </a:xfrm>
          <a:custGeom>
            <a:avLst/>
            <a:gdLst/>
            <a:ahLst/>
            <a:cxnLst/>
            <a:rect r="r" b="b" t="t" l="l"/>
            <a:pathLst>
              <a:path h="17229261" w="26920720">
                <a:moveTo>
                  <a:pt x="0" y="0"/>
                </a:moveTo>
                <a:lnTo>
                  <a:pt x="26920720" y="0"/>
                </a:lnTo>
                <a:lnTo>
                  <a:pt x="26920720" y="17229261"/>
                </a:lnTo>
                <a:lnTo>
                  <a:pt x="0" y="17229261"/>
                </a:lnTo>
                <a:lnTo>
                  <a:pt x="0" y="0"/>
                </a:lnTo>
                <a:close/>
              </a:path>
            </a:pathLst>
          </a:custGeom>
          <a:blipFill>
            <a:blip r:embed="rId3"/>
            <a:stretch>
              <a:fillRect l="0" t="0" r="0" b="0"/>
            </a:stretch>
          </a:blipFill>
        </p:spPr>
      </p:sp>
      <p:sp>
        <p:nvSpPr>
          <p:cNvPr name="Freeform 5" id="5"/>
          <p:cNvSpPr/>
          <p:nvPr/>
        </p:nvSpPr>
        <p:spPr>
          <a:xfrm flipH="false" flipV="false" rot="-5400000">
            <a:off x="237129" y="-3241286"/>
            <a:ext cx="16230600" cy="16845381"/>
          </a:xfrm>
          <a:custGeom>
            <a:avLst/>
            <a:gdLst/>
            <a:ahLst/>
            <a:cxnLst/>
            <a:rect r="r" b="b" t="t" l="l"/>
            <a:pathLst>
              <a:path h="16845381" w="16230600">
                <a:moveTo>
                  <a:pt x="0" y="0"/>
                </a:moveTo>
                <a:lnTo>
                  <a:pt x="16230600" y="0"/>
                </a:lnTo>
                <a:lnTo>
                  <a:pt x="16230600" y="16845381"/>
                </a:lnTo>
                <a:lnTo>
                  <a:pt x="0" y="16845381"/>
                </a:lnTo>
                <a:lnTo>
                  <a:pt x="0" y="0"/>
                </a:lnTo>
                <a:close/>
              </a:path>
            </a:pathLst>
          </a:custGeom>
          <a:blipFill>
            <a:blip r:embed="rId4"/>
            <a:stretch>
              <a:fillRect l="-157575" t="0" r="-157575" b="0"/>
            </a:stretch>
          </a:blipFill>
        </p:spPr>
      </p:sp>
      <p:sp>
        <p:nvSpPr>
          <p:cNvPr name="Freeform 6" id="6"/>
          <p:cNvSpPr/>
          <p:nvPr/>
        </p:nvSpPr>
        <p:spPr>
          <a:xfrm flipH="false" flipV="false" rot="-5482550">
            <a:off x="-422053" y="-442256"/>
            <a:ext cx="12858750" cy="11321561"/>
          </a:xfrm>
          <a:custGeom>
            <a:avLst/>
            <a:gdLst/>
            <a:ahLst/>
            <a:cxnLst/>
            <a:rect r="r" b="b" t="t" l="l"/>
            <a:pathLst>
              <a:path h="11321561" w="12858750">
                <a:moveTo>
                  <a:pt x="0" y="0"/>
                </a:moveTo>
                <a:lnTo>
                  <a:pt x="12858750" y="0"/>
                </a:lnTo>
                <a:lnTo>
                  <a:pt x="12858750" y="11321561"/>
                </a:lnTo>
                <a:lnTo>
                  <a:pt x="0" y="11321561"/>
                </a:lnTo>
                <a:lnTo>
                  <a:pt x="0" y="0"/>
                </a:lnTo>
                <a:close/>
              </a:path>
            </a:pathLst>
          </a:custGeom>
          <a:blipFill>
            <a:blip r:embed="rId3"/>
            <a:stretch>
              <a:fillRect l="-18785" t="0" r="-18785" b="0"/>
            </a:stretch>
          </a:blipFill>
        </p:spPr>
      </p:sp>
      <p:sp>
        <p:nvSpPr>
          <p:cNvPr name="Freeform 7" id="7"/>
          <p:cNvSpPr/>
          <p:nvPr/>
        </p:nvSpPr>
        <p:spPr>
          <a:xfrm flipH="false" flipV="false" rot="-5482550">
            <a:off x="-269653" y="-289856"/>
            <a:ext cx="12858750" cy="11321561"/>
          </a:xfrm>
          <a:custGeom>
            <a:avLst/>
            <a:gdLst/>
            <a:ahLst/>
            <a:cxnLst/>
            <a:rect r="r" b="b" t="t" l="l"/>
            <a:pathLst>
              <a:path h="11321561" w="12858750">
                <a:moveTo>
                  <a:pt x="0" y="0"/>
                </a:moveTo>
                <a:lnTo>
                  <a:pt x="12858750" y="0"/>
                </a:lnTo>
                <a:lnTo>
                  <a:pt x="12858750" y="11321561"/>
                </a:lnTo>
                <a:lnTo>
                  <a:pt x="0" y="11321561"/>
                </a:lnTo>
                <a:lnTo>
                  <a:pt x="0" y="0"/>
                </a:lnTo>
                <a:close/>
              </a:path>
            </a:pathLst>
          </a:custGeom>
          <a:blipFill>
            <a:blip r:embed="rId3">
              <a:alphaModFix amt="55000"/>
            </a:blip>
            <a:stretch>
              <a:fillRect l="-18785" t="0" r="-18785" b="0"/>
            </a:stretch>
          </a:blipFill>
        </p:spPr>
      </p:sp>
      <p:sp>
        <p:nvSpPr>
          <p:cNvPr name="TextBox 8" id="8"/>
          <p:cNvSpPr txBox="true"/>
          <p:nvPr/>
        </p:nvSpPr>
        <p:spPr>
          <a:xfrm rot="0">
            <a:off x="1028700" y="2394585"/>
            <a:ext cx="6667500" cy="1467484"/>
          </a:xfrm>
          <a:prstGeom prst="rect">
            <a:avLst/>
          </a:prstGeom>
        </p:spPr>
        <p:txBody>
          <a:bodyPr anchor="t" rtlCol="false" tIns="0" lIns="0" bIns="0" rIns="0">
            <a:spAutoFit/>
          </a:bodyPr>
          <a:lstStyle/>
          <a:p>
            <a:pPr algn="l">
              <a:lnSpc>
                <a:spcPts val="12040"/>
              </a:lnSpc>
            </a:pPr>
            <a:r>
              <a:rPr lang="en-US" sz="8600" b="true">
                <a:solidFill>
                  <a:srgbClr val="002557"/>
                </a:solidFill>
                <a:latin typeface="Montserrat Bold"/>
                <a:ea typeface="Montserrat Bold"/>
                <a:cs typeface="Montserrat Bold"/>
                <a:sym typeface="Montserrat Bold"/>
              </a:rPr>
              <a:t>AGENDA</a:t>
            </a:r>
          </a:p>
        </p:txBody>
      </p:sp>
      <p:sp>
        <p:nvSpPr>
          <p:cNvPr name="TextBox 9" id="9"/>
          <p:cNvSpPr txBox="true"/>
          <p:nvPr/>
        </p:nvSpPr>
        <p:spPr>
          <a:xfrm rot="0">
            <a:off x="1028700" y="4366895"/>
            <a:ext cx="7524750" cy="455295"/>
          </a:xfrm>
          <a:prstGeom prst="rect">
            <a:avLst/>
          </a:prstGeom>
        </p:spPr>
        <p:txBody>
          <a:bodyPr anchor="t" rtlCol="false" tIns="0" lIns="0" bIns="0" rIns="0">
            <a:spAutoFit/>
          </a:bodyPr>
          <a:lstStyle/>
          <a:p>
            <a:pPr algn="l">
              <a:lnSpc>
                <a:spcPts val="3779"/>
              </a:lnSpc>
            </a:pPr>
            <a:r>
              <a:rPr lang="en-US" sz="2700" b="true">
                <a:solidFill>
                  <a:srgbClr val="002557"/>
                </a:solidFill>
                <a:latin typeface="Inter Bold"/>
                <a:ea typeface="Inter Bold"/>
                <a:cs typeface="Inter Bold"/>
                <a:sym typeface="Inter Bold"/>
              </a:rPr>
              <a:t>I. Introduction</a:t>
            </a:r>
          </a:p>
        </p:txBody>
      </p:sp>
      <p:sp>
        <p:nvSpPr>
          <p:cNvPr name="TextBox 10" id="10"/>
          <p:cNvSpPr txBox="true"/>
          <p:nvPr/>
        </p:nvSpPr>
        <p:spPr>
          <a:xfrm rot="0">
            <a:off x="8003193" y="4379595"/>
            <a:ext cx="4857750" cy="339725"/>
          </a:xfrm>
          <a:prstGeom prst="rect">
            <a:avLst/>
          </a:prstGeom>
        </p:spPr>
        <p:txBody>
          <a:bodyPr anchor="t" rtlCol="false" tIns="0" lIns="0" bIns="0" rIns="0">
            <a:spAutoFit/>
          </a:bodyPr>
          <a:lstStyle/>
          <a:p>
            <a:pPr algn="l">
              <a:lnSpc>
                <a:spcPts val="2800"/>
              </a:lnSpc>
            </a:pPr>
            <a:r>
              <a:rPr lang="en-US" sz="2000" b="true">
                <a:solidFill>
                  <a:srgbClr val="26384D"/>
                </a:solidFill>
                <a:latin typeface="Montserrat Bold"/>
                <a:ea typeface="Montserrat Bold"/>
                <a:cs typeface="Montserrat Bold"/>
                <a:sym typeface="Montserrat Bold"/>
              </a:rPr>
              <a:t>Chief Ed Barberini</a:t>
            </a:r>
          </a:p>
        </p:txBody>
      </p:sp>
      <p:sp>
        <p:nvSpPr>
          <p:cNvPr name="AutoShape 11" id="11"/>
          <p:cNvSpPr/>
          <p:nvPr/>
        </p:nvSpPr>
        <p:spPr>
          <a:xfrm>
            <a:off x="1028700" y="4976495"/>
            <a:ext cx="13430250" cy="0"/>
          </a:xfrm>
          <a:prstGeom prst="line">
            <a:avLst/>
          </a:prstGeom>
          <a:ln cap="flat" w="19050">
            <a:solidFill>
              <a:srgbClr val="A9BFD8"/>
            </a:solidFill>
            <a:prstDash val="solid"/>
            <a:headEnd type="none" len="sm" w="sm"/>
            <a:tailEnd type="none" len="sm" w="sm"/>
          </a:ln>
        </p:spPr>
      </p:sp>
      <p:sp>
        <p:nvSpPr>
          <p:cNvPr name="TextBox 12" id="12"/>
          <p:cNvSpPr txBox="true"/>
          <p:nvPr/>
        </p:nvSpPr>
        <p:spPr>
          <a:xfrm rot="0">
            <a:off x="1028700" y="5147945"/>
            <a:ext cx="7524750" cy="455295"/>
          </a:xfrm>
          <a:prstGeom prst="rect">
            <a:avLst/>
          </a:prstGeom>
        </p:spPr>
        <p:txBody>
          <a:bodyPr anchor="t" rtlCol="false" tIns="0" lIns="0" bIns="0" rIns="0">
            <a:spAutoFit/>
          </a:bodyPr>
          <a:lstStyle/>
          <a:p>
            <a:pPr algn="l">
              <a:lnSpc>
                <a:spcPts val="3779"/>
              </a:lnSpc>
            </a:pPr>
            <a:r>
              <a:rPr lang="en-US" sz="2700" b="true">
                <a:solidFill>
                  <a:srgbClr val="002557"/>
                </a:solidFill>
                <a:latin typeface="Inter Bold"/>
                <a:ea typeface="Inter Bold"/>
                <a:cs typeface="Inter Bold"/>
                <a:sym typeface="Inter Bold"/>
              </a:rPr>
              <a:t>II. RTIC Overview</a:t>
            </a:r>
          </a:p>
        </p:txBody>
      </p:sp>
      <p:sp>
        <p:nvSpPr>
          <p:cNvPr name="TextBox 13" id="13"/>
          <p:cNvSpPr txBox="true"/>
          <p:nvPr/>
        </p:nvSpPr>
        <p:spPr>
          <a:xfrm rot="0">
            <a:off x="8003193" y="5228589"/>
            <a:ext cx="7216202" cy="339725"/>
          </a:xfrm>
          <a:prstGeom prst="rect">
            <a:avLst/>
          </a:prstGeom>
        </p:spPr>
        <p:txBody>
          <a:bodyPr anchor="t" rtlCol="false" tIns="0" lIns="0" bIns="0" rIns="0">
            <a:spAutoFit/>
          </a:bodyPr>
          <a:lstStyle/>
          <a:p>
            <a:pPr algn="l">
              <a:lnSpc>
                <a:spcPts val="2800"/>
              </a:lnSpc>
            </a:pPr>
            <a:r>
              <a:rPr lang="en-US" sz="2000" b="true">
                <a:solidFill>
                  <a:srgbClr val="26384D"/>
                </a:solidFill>
                <a:latin typeface="Montserrat Bold"/>
                <a:ea typeface="Montserrat Bold"/>
                <a:cs typeface="Montserrat Bold"/>
                <a:sym typeface="Montserrat Bold"/>
              </a:rPr>
              <a:t>Police Technical Services Administrator Kelly O’Keefe</a:t>
            </a:r>
          </a:p>
        </p:txBody>
      </p:sp>
      <p:sp>
        <p:nvSpPr>
          <p:cNvPr name="AutoShape 14" id="14"/>
          <p:cNvSpPr/>
          <p:nvPr/>
        </p:nvSpPr>
        <p:spPr>
          <a:xfrm>
            <a:off x="1028700" y="5757545"/>
            <a:ext cx="13430250" cy="0"/>
          </a:xfrm>
          <a:prstGeom prst="line">
            <a:avLst/>
          </a:prstGeom>
          <a:ln cap="flat" w="19050">
            <a:solidFill>
              <a:srgbClr val="A9BFD8"/>
            </a:solidFill>
            <a:prstDash val="solid"/>
            <a:headEnd type="none" len="sm" w="sm"/>
            <a:tailEnd type="none" len="sm" w="sm"/>
          </a:ln>
        </p:spPr>
      </p:sp>
      <p:sp>
        <p:nvSpPr>
          <p:cNvPr name="TextBox 15" id="15"/>
          <p:cNvSpPr txBox="true"/>
          <p:nvPr/>
        </p:nvSpPr>
        <p:spPr>
          <a:xfrm rot="0">
            <a:off x="1028700" y="5928995"/>
            <a:ext cx="7524750" cy="455295"/>
          </a:xfrm>
          <a:prstGeom prst="rect">
            <a:avLst/>
          </a:prstGeom>
        </p:spPr>
        <p:txBody>
          <a:bodyPr anchor="t" rtlCol="false" tIns="0" lIns="0" bIns="0" rIns="0">
            <a:spAutoFit/>
          </a:bodyPr>
          <a:lstStyle/>
          <a:p>
            <a:pPr algn="l">
              <a:lnSpc>
                <a:spcPts val="3779"/>
              </a:lnSpc>
            </a:pPr>
            <a:r>
              <a:rPr lang="en-US" sz="2700" b="true">
                <a:solidFill>
                  <a:srgbClr val="002557"/>
                </a:solidFill>
                <a:latin typeface="Inter Bold"/>
                <a:ea typeface="Inter Bold"/>
                <a:cs typeface="Inter Bold"/>
                <a:sym typeface="Inter Bold"/>
              </a:rPr>
              <a:t>III. ALPR Technology</a:t>
            </a:r>
          </a:p>
        </p:txBody>
      </p:sp>
      <p:sp>
        <p:nvSpPr>
          <p:cNvPr name="TextBox 16" id="16"/>
          <p:cNvSpPr txBox="true"/>
          <p:nvPr/>
        </p:nvSpPr>
        <p:spPr>
          <a:xfrm rot="0">
            <a:off x="8014873" y="5959158"/>
            <a:ext cx="4857750" cy="339725"/>
          </a:xfrm>
          <a:prstGeom prst="rect">
            <a:avLst/>
          </a:prstGeom>
        </p:spPr>
        <p:txBody>
          <a:bodyPr anchor="t" rtlCol="false" tIns="0" lIns="0" bIns="0" rIns="0">
            <a:spAutoFit/>
          </a:bodyPr>
          <a:lstStyle/>
          <a:p>
            <a:pPr algn="l">
              <a:lnSpc>
                <a:spcPts val="2800"/>
              </a:lnSpc>
            </a:pPr>
            <a:r>
              <a:rPr lang="en-US" sz="2000" b="true">
                <a:solidFill>
                  <a:srgbClr val="26384D"/>
                </a:solidFill>
                <a:latin typeface="Montserrat Bold"/>
                <a:ea typeface="Montserrat Bold"/>
                <a:cs typeface="Montserrat Bold"/>
                <a:sym typeface="Montserrat Bold"/>
              </a:rPr>
              <a:t>Lieutenant Stephan Casazza</a:t>
            </a:r>
          </a:p>
        </p:txBody>
      </p:sp>
      <p:sp>
        <p:nvSpPr>
          <p:cNvPr name="AutoShape 17" id="17"/>
          <p:cNvSpPr/>
          <p:nvPr/>
        </p:nvSpPr>
        <p:spPr>
          <a:xfrm>
            <a:off x="1028700" y="6538595"/>
            <a:ext cx="13430250" cy="0"/>
          </a:xfrm>
          <a:prstGeom prst="line">
            <a:avLst/>
          </a:prstGeom>
          <a:ln cap="flat" w="19050">
            <a:solidFill>
              <a:srgbClr val="A9BFD8"/>
            </a:solidFill>
            <a:prstDash val="solid"/>
            <a:headEnd type="none" len="sm" w="sm"/>
            <a:tailEnd type="none" len="sm" w="sm"/>
          </a:ln>
        </p:spPr>
      </p:sp>
      <p:sp>
        <p:nvSpPr>
          <p:cNvPr name="TextBox 18" id="18"/>
          <p:cNvSpPr txBox="true"/>
          <p:nvPr/>
        </p:nvSpPr>
        <p:spPr>
          <a:xfrm rot="0">
            <a:off x="1028700" y="6710045"/>
            <a:ext cx="7524750" cy="455295"/>
          </a:xfrm>
          <a:prstGeom prst="rect">
            <a:avLst/>
          </a:prstGeom>
        </p:spPr>
        <p:txBody>
          <a:bodyPr anchor="t" rtlCol="false" tIns="0" lIns="0" bIns="0" rIns="0">
            <a:spAutoFit/>
          </a:bodyPr>
          <a:lstStyle/>
          <a:p>
            <a:pPr algn="l">
              <a:lnSpc>
                <a:spcPts val="3779"/>
              </a:lnSpc>
            </a:pPr>
            <a:r>
              <a:rPr lang="en-US" sz="2700" b="true">
                <a:solidFill>
                  <a:srgbClr val="002557"/>
                </a:solidFill>
                <a:latin typeface="Inter Bold"/>
                <a:ea typeface="Inter Bold"/>
                <a:cs typeface="Inter Bold"/>
                <a:sym typeface="Inter Bold"/>
              </a:rPr>
              <a:t>IV. Drone as a First Responder</a:t>
            </a:r>
          </a:p>
        </p:txBody>
      </p:sp>
      <p:sp>
        <p:nvSpPr>
          <p:cNvPr name="TextBox 19" id="19"/>
          <p:cNvSpPr txBox="true"/>
          <p:nvPr/>
        </p:nvSpPr>
        <p:spPr>
          <a:xfrm rot="0">
            <a:off x="8003193" y="6719570"/>
            <a:ext cx="4857750" cy="339725"/>
          </a:xfrm>
          <a:prstGeom prst="rect">
            <a:avLst/>
          </a:prstGeom>
        </p:spPr>
        <p:txBody>
          <a:bodyPr anchor="t" rtlCol="false" tIns="0" lIns="0" bIns="0" rIns="0">
            <a:spAutoFit/>
          </a:bodyPr>
          <a:lstStyle/>
          <a:p>
            <a:pPr algn="l">
              <a:lnSpc>
                <a:spcPts val="2800"/>
              </a:lnSpc>
            </a:pPr>
            <a:r>
              <a:rPr lang="en-US" sz="2000" b="true">
                <a:solidFill>
                  <a:srgbClr val="26384D"/>
                </a:solidFill>
                <a:latin typeface="Montserrat Bold"/>
                <a:ea typeface="Montserrat Bold"/>
                <a:cs typeface="Montserrat Bold"/>
                <a:sym typeface="Montserrat Bold"/>
              </a:rPr>
              <a:t>Lieutenant Anthony Riccardi</a:t>
            </a:r>
          </a:p>
        </p:txBody>
      </p:sp>
      <p:sp>
        <p:nvSpPr>
          <p:cNvPr name="AutoShape 20" id="20"/>
          <p:cNvSpPr/>
          <p:nvPr/>
        </p:nvSpPr>
        <p:spPr>
          <a:xfrm>
            <a:off x="1028700" y="7319645"/>
            <a:ext cx="13430250" cy="0"/>
          </a:xfrm>
          <a:prstGeom prst="line">
            <a:avLst/>
          </a:prstGeom>
          <a:ln cap="flat" w="19050">
            <a:solidFill>
              <a:srgbClr val="A9BFD8"/>
            </a:solidFill>
            <a:prstDash val="solid"/>
            <a:headEnd type="none" len="sm" w="sm"/>
            <a:tailEnd type="none" len="sm" w="sm"/>
          </a:ln>
        </p:spPr>
      </p:sp>
      <p:sp>
        <p:nvSpPr>
          <p:cNvPr name="TextBox 21" id="21"/>
          <p:cNvSpPr txBox="true"/>
          <p:nvPr/>
        </p:nvSpPr>
        <p:spPr>
          <a:xfrm rot="0">
            <a:off x="1028700" y="7491095"/>
            <a:ext cx="7524750" cy="455295"/>
          </a:xfrm>
          <a:prstGeom prst="rect">
            <a:avLst/>
          </a:prstGeom>
        </p:spPr>
        <p:txBody>
          <a:bodyPr anchor="t" rtlCol="false" tIns="0" lIns="0" bIns="0" rIns="0">
            <a:spAutoFit/>
          </a:bodyPr>
          <a:lstStyle/>
          <a:p>
            <a:pPr algn="l">
              <a:lnSpc>
                <a:spcPts val="3779"/>
              </a:lnSpc>
            </a:pPr>
            <a:r>
              <a:rPr lang="en-US" sz="2700" b="true">
                <a:solidFill>
                  <a:srgbClr val="002557"/>
                </a:solidFill>
                <a:latin typeface="Inter Bold"/>
                <a:ea typeface="Inter Bold"/>
                <a:cs typeface="Inter Bold"/>
                <a:sym typeface="Inter Bold"/>
              </a:rPr>
              <a:t>V. Closing Remarks</a:t>
            </a:r>
          </a:p>
        </p:txBody>
      </p:sp>
      <p:sp>
        <p:nvSpPr>
          <p:cNvPr name="TextBox 22" id="22"/>
          <p:cNvSpPr txBox="true"/>
          <p:nvPr/>
        </p:nvSpPr>
        <p:spPr>
          <a:xfrm rot="0">
            <a:off x="8014873" y="7567295"/>
            <a:ext cx="4857750" cy="339725"/>
          </a:xfrm>
          <a:prstGeom prst="rect">
            <a:avLst/>
          </a:prstGeom>
        </p:spPr>
        <p:txBody>
          <a:bodyPr anchor="t" rtlCol="false" tIns="0" lIns="0" bIns="0" rIns="0">
            <a:spAutoFit/>
          </a:bodyPr>
          <a:lstStyle/>
          <a:p>
            <a:pPr algn="l">
              <a:lnSpc>
                <a:spcPts val="2800"/>
              </a:lnSpc>
            </a:pPr>
            <a:r>
              <a:rPr lang="en-US" sz="2000" b="true">
                <a:solidFill>
                  <a:srgbClr val="26384D"/>
                </a:solidFill>
                <a:latin typeface="Montserrat Bold"/>
                <a:ea typeface="Montserrat Bold"/>
                <a:cs typeface="Montserrat Bold"/>
                <a:sym typeface="Montserrat Bold"/>
              </a:rPr>
              <a:t>Chief Ed Barberini</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sp>
        <p:nvSpPr>
          <p:cNvPr name="AutoShape 2" id="2"/>
          <p:cNvSpPr/>
          <p:nvPr/>
        </p:nvSpPr>
        <p:spPr>
          <a:xfrm>
            <a:off x="0" y="1052512"/>
            <a:ext cx="7181826" cy="0"/>
          </a:xfrm>
          <a:prstGeom prst="line">
            <a:avLst/>
          </a:prstGeom>
          <a:ln cap="flat" w="47625">
            <a:solidFill>
              <a:srgbClr val="A28231"/>
            </a:solidFill>
            <a:prstDash val="solid"/>
            <a:headEnd type="none" len="sm" w="sm"/>
            <a:tailEnd type="none" len="sm" w="sm"/>
          </a:ln>
        </p:spPr>
      </p:sp>
      <p:sp>
        <p:nvSpPr>
          <p:cNvPr name="Freeform 3" id="3"/>
          <p:cNvSpPr/>
          <p:nvPr/>
        </p:nvSpPr>
        <p:spPr>
          <a:xfrm flipH="false" flipV="false" rot="0">
            <a:off x="-136090" y="0"/>
            <a:ext cx="18560179" cy="15588149"/>
          </a:xfrm>
          <a:custGeom>
            <a:avLst/>
            <a:gdLst/>
            <a:ahLst/>
            <a:cxnLst/>
            <a:rect r="r" b="b" t="t" l="l"/>
            <a:pathLst>
              <a:path h="15588149" w="18560179">
                <a:moveTo>
                  <a:pt x="0" y="0"/>
                </a:moveTo>
                <a:lnTo>
                  <a:pt x="18560180" y="0"/>
                </a:lnTo>
                <a:lnTo>
                  <a:pt x="18560180" y="15588149"/>
                </a:lnTo>
                <a:lnTo>
                  <a:pt x="0" y="15588149"/>
                </a:lnTo>
                <a:lnTo>
                  <a:pt x="0" y="0"/>
                </a:lnTo>
                <a:close/>
              </a:path>
            </a:pathLst>
          </a:custGeom>
          <a:blipFill>
            <a:blip r:embed="rId2"/>
            <a:stretch>
              <a:fillRect l="-28184" t="0" r="-39789" b="0"/>
            </a:stretch>
          </a:blipFill>
        </p:spPr>
      </p:sp>
      <p:grpSp>
        <p:nvGrpSpPr>
          <p:cNvPr name="Group 4" id="4"/>
          <p:cNvGrpSpPr/>
          <p:nvPr/>
        </p:nvGrpSpPr>
        <p:grpSpPr>
          <a:xfrm rot="0">
            <a:off x="-584575" y="-347340"/>
            <a:ext cx="20001882" cy="11024760"/>
            <a:chOff x="0" y="0"/>
            <a:chExt cx="5267985" cy="2903641"/>
          </a:xfrm>
        </p:grpSpPr>
        <p:sp>
          <p:nvSpPr>
            <p:cNvPr name="Freeform 5" id="5"/>
            <p:cNvSpPr/>
            <p:nvPr/>
          </p:nvSpPr>
          <p:spPr>
            <a:xfrm flipH="false" flipV="false" rot="0">
              <a:off x="0" y="0"/>
              <a:ext cx="5267985" cy="2903641"/>
            </a:xfrm>
            <a:custGeom>
              <a:avLst/>
              <a:gdLst/>
              <a:ahLst/>
              <a:cxnLst/>
              <a:rect r="r" b="b" t="t" l="l"/>
              <a:pathLst>
                <a:path h="2903641" w="5267985">
                  <a:moveTo>
                    <a:pt x="0" y="0"/>
                  </a:moveTo>
                  <a:lnTo>
                    <a:pt x="5267985" y="0"/>
                  </a:lnTo>
                  <a:lnTo>
                    <a:pt x="5267985" y="2903641"/>
                  </a:lnTo>
                  <a:lnTo>
                    <a:pt x="0" y="2903641"/>
                  </a:lnTo>
                  <a:close/>
                </a:path>
              </a:pathLst>
            </a:custGeom>
            <a:solidFill>
              <a:srgbClr val="FFFFFF">
                <a:alpha val="80000"/>
              </a:srgbClr>
            </a:solidFill>
          </p:spPr>
        </p:sp>
        <p:sp>
          <p:nvSpPr>
            <p:cNvPr name="TextBox 6" id="6"/>
            <p:cNvSpPr txBox="true"/>
            <p:nvPr/>
          </p:nvSpPr>
          <p:spPr>
            <a:xfrm>
              <a:off x="0" y="-47625"/>
              <a:ext cx="5267985" cy="2951266"/>
            </a:xfrm>
            <a:prstGeom prst="rect">
              <a:avLst/>
            </a:prstGeom>
          </p:spPr>
          <p:txBody>
            <a:bodyPr anchor="ctr" rtlCol="false" tIns="50800" lIns="50800" bIns="50800" rIns="50800"/>
            <a:lstStyle/>
            <a:p>
              <a:pPr algn="ctr">
                <a:lnSpc>
                  <a:spcPts val="3499"/>
                </a:lnSpc>
              </a:pPr>
            </a:p>
          </p:txBody>
        </p:sp>
      </p:grpSp>
      <p:sp>
        <p:nvSpPr>
          <p:cNvPr name="TextBox 7" id="7"/>
          <p:cNvSpPr txBox="true"/>
          <p:nvPr/>
        </p:nvSpPr>
        <p:spPr>
          <a:xfrm rot="0">
            <a:off x="920911" y="1843088"/>
            <a:ext cx="7944010" cy="2836545"/>
          </a:xfrm>
          <a:prstGeom prst="rect">
            <a:avLst/>
          </a:prstGeom>
        </p:spPr>
        <p:txBody>
          <a:bodyPr anchor="t" rtlCol="false" tIns="0" lIns="0" bIns="0" rIns="0">
            <a:spAutoFit/>
          </a:bodyPr>
          <a:lstStyle/>
          <a:p>
            <a:pPr algn="l">
              <a:lnSpc>
                <a:spcPts val="3779"/>
              </a:lnSpc>
            </a:pPr>
            <a:r>
              <a:rPr lang="en-US" sz="2699">
                <a:solidFill>
                  <a:srgbClr val="000000"/>
                </a:solidFill>
                <a:latin typeface="Montserrat"/>
                <a:ea typeface="Montserrat"/>
                <a:cs typeface="Montserrat"/>
                <a:sym typeface="Montserrat"/>
              </a:rPr>
              <a:t>Think of it as a high-tech command center that bridges the gap between data and frontline action — turning raw information into something officers can use right now to stay safe and be more effective.</a:t>
            </a:r>
          </a:p>
          <a:p>
            <a:pPr algn="l">
              <a:lnSpc>
                <a:spcPts val="3779"/>
              </a:lnSpc>
            </a:pPr>
          </a:p>
        </p:txBody>
      </p:sp>
      <p:sp>
        <p:nvSpPr>
          <p:cNvPr name="AutoShape 8" id="8"/>
          <p:cNvSpPr/>
          <p:nvPr/>
        </p:nvSpPr>
        <p:spPr>
          <a:xfrm flipV="true">
            <a:off x="0" y="1485011"/>
            <a:ext cx="7378521" cy="24702"/>
          </a:xfrm>
          <a:prstGeom prst="line">
            <a:avLst/>
          </a:prstGeom>
          <a:ln cap="flat" w="47625">
            <a:solidFill>
              <a:srgbClr val="A28231"/>
            </a:solidFill>
            <a:prstDash val="solid"/>
            <a:headEnd type="none" len="sm" w="sm"/>
            <a:tailEnd type="none" len="sm" w="sm"/>
          </a:ln>
        </p:spPr>
      </p:sp>
      <p:sp>
        <p:nvSpPr>
          <p:cNvPr name="TextBox 9" id="9"/>
          <p:cNvSpPr txBox="true"/>
          <p:nvPr/>
        </p:nvSpPr>
        <p:spPr>
          <a:xfrm rot="0">
            <a:off x="899459" y="684213"/>
            <a:ext cx="6866229" cy="854075"/>
          </a:xfrm>
          <a:prstGeom prst="rect">
            <a:avLst/>
          </a:prstGeom>
        </p:spPr>
        <p:txBody>
          <a:bodyPr anchor="t" rtlCol="false" tIns="0" lIns="0" bIns="0" rIns="0">
            <a:spAutoFit/>
          </a:bodyPr>
          <a:lstStyle/>
          <a:p>
            <a:pPr algn="l">
              <a:lnSpc>
                <a:spcPts val="7000"/>
              </a:lnSpc>
            </a:pPr>
            <a:r>
              <a:rPr lang="en-US" sz="5000" b="true">
                <a:solidFill>
                  <a:srgbClr val="002557"/>
                </a:solidFill>
                <a:latin typeface="Montserrat Bold"/>
                <a:ea typeface="Montserrat Bold"/>
                <a:cs typeface="Montserrat Bold"/>
                <a:sym typeface="Montserrat Bold"/>
              </a:rPr>
              <a:t>Who are we?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449241" y="1837671"/>
            <a:ext cx="5152319" cy="5152319"/>
          </a:xfrm>
          <a:custGeom>
            <a:avLst/>
            <a:gdLst/>
            <a:ahLst/>
            <a:cxnLst/>
            <a:rect r="r" b="b" t="t" l="l"/>
            <a:pathLst>
              <a:path h="5152319" w="5152319">
                <a:moveTo>
                  <a:pt x="0" y="0"/>
                </a:moveTo>
                <a:lnTo>
                  <a:pt x="5152320" y="0"/>
                </a:lnTo>
                <a:lnTo>
                  <a:pt x="5152320" y="5152320"/>
                </a:lnTo>
                <a:lnTo>
                  <a:pt x="0" y="5152320"/>
                </a:lnTo>
                <a:lnTo>
                  <a:pt x="0" y="0"/>
                </a:lnTo>
                <a:close/>
              </a:path>
            </a:pathLst>
          </a:custGeom>
          <a:blipFill>
            <a:blip r:embed="rId2"/>
            <a:stretch>
              <a:fillRect l="0" t="0" r="0" b="0"/>
            </a:stretch>
          </a:blipFill>
        </p:spPr>
      </p:sp>
      <p:grpSp>
        <p:nvGrpSpPr>
          <p:cNvPr name="Group 3" id="3"/>
          <p:cNvGrpSpPr/>
          <p:nvPr/>
        </p:nvGrpSpPr>
        <p:grpSpPr>
          <a:xfrm rot="0">
            <a:off x="1240196" y="3842599"/>
            <a:ext cx="4176273" cy="592772"/>
            <a:chOff x="0" y="0"/>
            <a:chExt cx="2947594" cy="418376"/>
          </a:xfrm>
        </p:grpSpPr>
        <p:sp>
          <p:nvSpPr>
            <p:cNvPr name="Freeform 4" id="4"/>
            <p:cNvSpPr/>
            <p:nvPr/>
          </p:nvSpPr>
          <p:spPr>
            <a:xfrm flipH="false" flipV="false" rot="0">
              <a:off x="0" y="0"/>
              <a:ext cx="2947594" cy="418376"/>
            </a:xfrm>
            <a:custGeom>
              <a:avLst/>
              <a:gdLst/>
              <a:ahLst/>
              <a:cxnLst/>
              <a:rect r="r" b="b" t="t" l="l"/>
              <a:pathLst>
                <a:path h="418376" w="2947594">
                  <a:moveTo>
                    <a:pt x="2744394" y="0"/>
                  </a:moveTo>
                  <a:cubicBezTo>
                    <a:pt x="2856618" y="0"/>
                    <a:pt x="2947594" y="93657"/>
                    <a:pt x="2947594" y="209188"/>
                  </a:cubicBezTo>
                  <a:cubicBezTo>
                    <a:pt x="2947594" y="324719"/>
                    <a:pt x="2856618" y="418376"/>
                    <a:pt x="2744394" y="418376"/>
                  </a:cubicBezTo>
                  <a:lnTo>
                    <a:pt x="203200" y="418376"/>
                  </a:lnTo>
                  <a:cubicBezTo>
                    <a:pt x="90976" y="418376"/>
                    <a:pt x="0" y="324719"/>
                    <a:pt x="0" y="209188"/>
                  </a:cubicBezTo>
                  <a:cubicBezTo>
                    <a:pt x="0" y="93657"/>
                    <a:pt x="90976" y="0"/>
                    <a:pt x="203200" y="0"/>
                  </a:cubicBezTo>
                  <a:close/>
                </a:path>
              </a:pathLst>
            </a:custGeom>
            <a:ln w="28575" cap="sq">
              <a:solidFill>
                <a:srgbClr val="054396"/>
              </a:solidFill>
              <a:prstDash val="solid"/>
              <a:miter/>
            </a:ln>
          </p:spPr>
        </p:sp>
        <p:sp>
          <p:nvSpPr>
            <p:cNvPr name="TextBox 5" id="5"/>
            <p:cNvSpPr txBox="true"/>
            <p:nvPr/>
          </p:nvSpPr>
          <p:spPr>
            <a:xfrm>
              <a:off x="0" y="-47625"/>
              <a:ext cx="2947594" cy="466001"/>
            </a:xfrm>
            <a:prstGeom prst="rect">
              <a:avLst/>
            </a:prstGeom>
          </p:spPr>
          <p:txBody>
            <a:bodyPr anchor="ctr" rtlCol="false" tIns="50800" lIns="50800" bIns="50800" rIns="50800"/>
            <a:lstStyle/>
            <a:p>
              <a:pPr algn="ctr" marL="0" indent="0" lvl="0">
                <a:lnSpc>
                  <a:spcPts val="3499"/>
                </a:lnSpc>
                <a:spcBef>
                  <a:spcPct val="0"/>
                </a:spcBef>
              </a:pPr>
              <a:r>
                <a:rPr lang="en-US" b="true" sz="2499" strike="noStrike" u="none">
                  <a:solidFill>
                    <a:srgbClr val="002557"/>
                  </a:solidFill>
                  <a:latin typeface="Open Sauce Bold"/>
                  <a:ea typeface="Open Sauce Bold"/>
                  <a:cs typeface="Open Sauce Bold"/>
                  <a:sym typeface="Open Sauce Bold"/>
                </a:rPr>
                <a:t>ALPR</a:t>
              </a:r>
            </a:p>
          </p:txBody>
        </p:sp>
      </p:grpSp>
      <p:grpSp>
        <p:nvGrpSpPr>
          <p:cNvPr name="Group 6" id="6"/>
          <p:cNvGrpSpPr/>
          <p:nvPr/>
        </p:nvGrpSpPr>
        <p:grpSpPr>
          <a:xfrm rot="0">
            <a:off x="6795983" y="7166203"/>
            <a:ext cx="4696035" cy="592772"/>
            <a:chOff x="0" y="0"/>
            <a:chExt cx="3314439" cy="418376"/>
          </a:xfrm>
        </p:grpSpPr>
        <p:sp>
          <p:nvSpPr>
            <p:cNvPr name="Freeform 7" id="7"/>
            <p:cNvSpPr/>
            <p:nvPr/>
          </p:nvSpPr>
          <p:spPr>
            <a:xfrm flipH="false" flipV="false" rot="0">
              <a:off x="0" y="0"/>
              <a:ext cx="3314440" cy="418376"/>
            </a:xfrm>
            <a:custGeom>
              <a:avLst/>
              <a:gdLst/>
              <a:ahLst/>
              <a:cxnLst/>
              <a:rect r="r" b="b" t="t" l="l"/>
              <a:pathLst>
                <a:path h="418376" w="3314440">
                  <a:moveTo>
                    <a:pt x="3111239" y="0"/>
                  </a:moveTo>
                  <a:cubicBezTo>
                    <a:pt x="3223464" y="0"/>
                    <a:pt x="3314440" y="93657"/>
                    <a:pt x="3314440" y="209188"/>
                  </a:cubicBezTo>
                  <a:cubicBezTo>
                    <a:pt x="3314440" y="324719"/>
                    <a:pt x="3223464" y="418376"/>
                    <a:pt x="3111239" y="418376"/>
                  </a:cubicBezTo>
                  <a:lnTo>
                    <a:pt x="203200" y="418376"/>
                  </a:lnTo>
                  <a:cubicBezTo>
                    <a:pt x="90976" y="418376"/>
                    <a:pt x="0" y="324719"/>
                    <a:pt x="0" y="209188"/>
                  </a:cubicBezTo>
                  <a:cubicBezTo>
                    <a:pt x="0" y="93657"/>
                    <a:pt x="90976" y="0"/>
                    <a:pt x="203200" y="0"/>
                  </a:cubicBezTo>
                  <a:close/>
                </a:path>
              </a:pathLst>
            </a:custGeom>
            <a:ln w="28575" cap="sq">
              <a:solidFill>
                <a:srgbClr val="054396"/>
              </a:solidFill>
              <a:prstDash val="solid"/>
              <a:miter/>
            </a:ln>
          </p:spPr>
        </p:sp>
        <p:sp>
          <p:nvSpPr>
            <p:cNvPr name="TextBox 8" id="8"/>
            <p:cNvSpPr txBox="true"/>
            <p:nvPr/>
          </p:nvSpPr>
          <p:spPr>
            <a:xfrm>
              <a:off x="0" y="-47625"/>
              <a:ext cx="3314439" cy="466001"/>
            </a:xfrm>
            <a:prstGeom prst="rect">
              <a:avLst/>
            </a:prstGeom>
          </p:spPr>
          <p:txBody>
            <a:bodyPr anchor="ctr" rtlCol="false" tIns="50800" lIns="50800" bIns="50800" rIns="50800"/>
            <a:lstStyle/>
            <a:p>
              <a:pPr algn="ctr">
                <a:lnSpc>
                  <a:spcPts val="3499"/>
                </a:lnSpc>
              </a:pPr>
              <a:r>
                <a:rPr lang="en-US" b="true" sz="2499">
                  <a:solidFill>
                    <a:srgbClr val="002557"/>
                  </a:solidFill>
                  <a:latin typeface="Open Sauce Bold"/>
                  <a:ea typeface="Open Sauce Bold"/>
                  <a:cs typeface="Open Sauce Bold"/>
                  <a:sym typeface="Open Sauce Bold"/>
                </a:rPr>
                <a:t>FUSUS</a:t>
              </a:r>
            </a:p>
          </p:txBody>
        </p:sp>
      </p:grpSp>
      <p:grpSp>
        <p:nvGrpSpPr>
          <p:cNvPr name="Group 9" id="9"/>
          <p:cNvGrpSpPr/>
          <p:nvPr/>
        </p:nvGrpSpPr>
        <p:grpSpPr>
          <a:xfrm rot="0">
            <a:off x="12688106" y="3842599"/>
            <a:ext cx="4176273" cy="592772"/>
            <a:chOff x="0" y="0"/>
            <a:chExt cx="2947594" cy="418376"/>
          </a:xfrm>
        </p:grpSpPr>
        <p:sp>
          <p:nvSpPr>
            <p:cNvPr name="Freeform 10" id="10"/>
            <p:cNvSpPr/>
            <p:nvPr/>
          </p:nvSpPr>
          <p:spPr>
            <a:xfrm flipH="false" flipV="false" rot="0">
              <a:off x="0" y="0"/>
              <a:ext cx="2947594" cy="418376"/>
            </a:xfrm>
            <a:custGeom>
              <a:avLst/>
              <a:gdLst/>
              <a:ahLst/>
              <a:cxnLst/>
              <a:rect r="r" b="b" t="t" l="l"/>
              <a:pathLst>
                <a:path h="418376" w="2947594">
                  <a:moveTo>
                    <a:pt x="2744394" y="0"/>
                  </a:moveTo>
                  <a:cubicBezTo>
                    <a:pt x="2856618" y="0"/>
                    <a:pt x="2947594" y="93657"/>
                    <a:pt x="2947594" y="209188"/>
                  </a:cubicBezTo>
                  <a:cubicBezTo>
                    <a:pt x="2947594" y="324719"/>
                    <a:pt x="2856618" y="418376"/>
                    <a:pt x="2744394" y="418376"/>
                  </a:cubicBezTo>
                  <a:lnTo>
                    <a:pt x="203200" y="418376"/>
                  </a:lnTo>
                  <a:cubicBezTo>
                    <a:pt x="90976" y="418376"/>
                    <a:pt x="0" y="324719"/>
                    <a:pt x="0" y="209188"/>
                  </a:cubicBezTo>
                  <a:cubicBezTo>
                    <a:pt x="0" y="93657"/>
                    <a:pt x="90976" y="0"/>
                    <a:pt x="203200" y="0"/>
                  </a:cubicBezTo>
                  <a:close/>
                </a:path>
              </a:pathLst>
            </a:custGeom>
            <a:ln w="28575" cap="sq">
              <a:solidFill>
                <a:srgbClr val="054396"/>
              </a:solidFill>
              <a:prstDash val="solid"/>
              <a:miter/>
            </a:ln>
          </p:spPr>
        </p:sp>
        <p:sp>
          <p:nvSpPr>
            <p:cNvPr name="TextBox 11" id="11"/>
            <p:cNvSpPr txBox="true"/>
            <p:nvPr/>
          </p:nvSpPr>
          <p:spPr>
            <a:xfrm>
              <a:off x="0" y="-47625"/>
              <a:ext cx="2947594" cy="466001"/>
            </a:xfrm>
            <a:prstGeom prst="rect">
              <a:avLst/>
            </a:prstGeom>
          </p:spPr>
          <p:txBody>
            <a:bodyPr anchor="ctr" rtlCol="false" tIns="50800" lIns="50800" bIns="50800" rIns="50800"/>
            <a:lstStyle/>
            <a:p>
              <a:pPr algn="ctr" marL="0" indent="0" lvl="0">
                <a:lnSpc>
                  <a:spcPts val="3499"/>
                </a:lnSpc>
                <a:spcBef>
                  <a:spcPct val="0"/>
                </a:spcBef>
              </a:pPr>
              <a:r>
                <a:rPr lang="en-US" b="true" sz="2499" strike="noStrike" u="none">
                  <a:solidFill>
                    <a:srgbClr val="002557"/>
                  </a:solidFill>
                  <a:latin typeface="Open Sauce Bold"/>
                  <a:ea typeface="Open Sauce Bold"/>
                  <a:cs typeface="Open Sauce Bold"/>
                  <a:sym typeface="Open Sauce Bold"/>
                </a:rPr>
                <a:t>INTELLIGENCE</a:t>
              </a:r>
            </a:p>
          </p:txBody>
        </p:sp>
      </p:grpSp>
      <p:sp>
        <p:nvSpPr>
          <p:cNvPr name="AutoShape 12" id="12"/>
          <p:cNvSpPr/>
          <p:nvPr/>
        </p:nvSpPr>
        <p:spPr>
          <a:xfrm>
            <a:off x="-3094605" y="1231177"/>
            <a:ext cx="7181826" cy="0"/>
          </a:xfrm>
          <a:prstGeom prst="line">
            <a:avLst/>
          </a:prstGeom>
          <a:ln cap="flat" w="47625">
            <a:solidFill>
              <a:srgbClr val="A28231"/>
            </a:solidFill>
            <a:prstDash val="solid"/>
            <a:headEnd type="none" len="sm" w="sm"/>
            <a:tailEnd type="none" len="sm" w="sm"/>
          </a:ln>
        </p:spPr>
      </p:sp>
      <p:sp>
        <p:nvSpPr>
          <p:cNvPr name="AutoShape 13" id="13"/>
          <p:cNvSpPr/>
          <p:nvPr/>
        </p:nvSpPr>
        <p:spPr>
          <a:xfrm>
            <a:off x="14431200" y="1254989"/>
            <a:ext cx="7181826" cy="0"/>
          </a:xfrm>
          <a:prstGeom prst="line">
            <a:avLst/>
          </a:prstGeom>
          <a:ln cap="flat" w="47625">
            <a:solidFill>
              <a:srgbClr val="A28231"/>
            </a:solidFill>
            <a:prstDash val="solid"/>
            <a:headEnd type="none" len="sm" w="sm"/>
            <a:tailEnd type="none" len="sm" w="sm"/>
          </a:ln>
        </p:spPr>
      </p:sp>
      <p:sp>
        <p:nvSpPr>
          <p:cNvPr name="TextBox 14" id="14"/>
          <p:cNvSpPr txBox="true"/>
          <p:nvPr/>
        </p:nvSpPr>
        <p:spPr>
          <a:xfrm rot="0">
            <a:off x="4706346" y="659677"/>
            <a:ext cx="9110478" cy="1028700"/>
          </a:xfrm>
          <a:prstGeom prst="rect">
            <a:avLst/>
          </a:prstGeom>
        </p:spPr>
        <p:txBody>
          <a:bodyPr anchor="t" rtlCol="false" tIns="0" lIns="0" bIns="0" rIns="0">
            <a:spAutoFit/>
          </a:bodyPr>
          <a:lstStyle/>
          <a:p>
            <a:pPr algn="ctr">
              <a:lnSpc>
                <a:spcPts val="8400"/>
              </a:lnSpc>
            </a:pPr>
            <a:r>
              <a:rPr lang="en-US" b="true" sz="6000">
                <a:solidFill>
                  <a:srgbClr val="002557"/>
                </a:solidFill>
                <a:latin typeface="Montserrat Bold"/>
                <a:ea typeface="Montserrat Bold"/>
                <a:cs typeface="Montserrat Bold"/>
                <a:sym typeface="Montserrat Bold"/>
              </a:rPr>
              <a:t>ELEMENTS OF AN RTIC</a:t>
            </a:r>
          </a:p>
        </p:txBody>
      </p:sp>
      <p:sp>
        <p:nvSpPr>
          <p:cNvPr name="TextBox 15" id="15"/>
          <p:cNvSpPr txBox="true"/>
          <p:nvPr/>
        </p:nvSpPr>
        <p:spPr>
          <a:xfrm rot="0">
            <a:off x="408628" y="4572491"/>
            <a:ext cx="5839410" cy="1397000"/>
          </a:xfrm>
          <a:prstGeom prst="rect">
            <a:avLst/>
          </a:prstGeom>
        </p:spPr>
        <p:txBody>
          <a:bodyPr anchor="t" rtlCol="false" tIns="0" lIns="0" bIns="0" rIns="0">
            <a:spAutoFit/>
          </a:bodyPr>
          <a:lstStyle/>
          <a:p>
            <a:pPr algn="ctr" marL="0" indent="0" lvl="0">
              <a:lnSpc>
                <a:spcPts val="2800"/>
              </a:lnSpc>
              <a:spcBef>
                <a:spcPct val="0"/>
              </a:spcBef>
            </a:pPr>
            <a:r>
              <a:rPr lang="en-US" sz="2000" strike="noStrike" u="none">
                <a:solidFill>
                  <a:srgbClr val="000000"/>
                </a:solidFill>
                <a:latin typeface="Montserrat"/>
                <a:ea typeface="Montserrat"/>
                <a:cs typeface="Montserrat"/>
                <a:sym typeface="Montserrat"/>
              </a:rPr>
              <a:t>Property crime is one of the most prevalent issues impacting communities within the bay area. Stolen vehicles often go hand in hand with package theft, retail theft, and robberies. </a:t>
            </a:r>
          </a:p>
        </p:txBody>
      </p:sp>
      <p:sp>
        <p:nvSpPr>
          <p:cNvPr name="TextBox 16" id="16"/>
          <p:cNvSpPr txBox="true"/>
          <p:nvPr/>
        </p:nvSpPr>
        <p:spPr>
          <a:xfrm rot="0">
            <a:off x="5831867" y="7897088"/>
            <a:ext cx="6624265" cy="1749425"/>
          </a:xfrm>
          <a:prstGeom prst="rect">
            <a:avLst/>
          </a:prstGeom>
        </p:spPr>
        <p:txBody>
          <a:bodyPr anchor="t" rtlCol="false" tIns="0" lIns="0" bIns="0" rIns="0">
            <a:spAutoFit/>
          </a:bodyPr>
          <a:lstStyle/>
          <a:p>
            <a:pPr algn="ctr" marL="0" indent="0" lvl="0">
              <a:lnSpc>
                <a:spcPts val="2800"/>
              </a:lnSpc>
              <a:spcBef>
                <a:spcPct val="0"/>
              </a:spcBef>
            </a:pPr>
            <a:r>
              <a:rPr lang="en-US" sz="2000" strike="noStrike" u="none">
                <a:solidFill>
                  <a:srgbClr val="000000"/>
                </a:solidFill>
                <a:latin typeface="Montserrat"/>
                <a:ea typeface="Montserrat"/>
                <a:cs typeface="Montserrat"/>
                <a:sym typeface="Montserrat"/>
              </a:rPr>
              <a:t>Integrating Department drones and public cameras allows the real time information center to get eyes on an active scene within seconds of the call for service - preserving resources and preparing officers for unfolding incidents. </a:t>
            </a:r>
          </a:p>
        </p:txBody>
      </p:sp>
      <p:sp>
        <p:nvSpPr>
          <p:cNvPr name="TextBox 17" id="17"/>
          <p:cNvSpPr txBox="true"/>
          <p:nvPr/>
        </p:nvSpPr>
        <p:spPr>
          <a:xfrm rot="0">
            <a:off x="11751898" y="4572491"/>
            <a:ext cx="6270215" cy="1397000"/>
          </a:xfrm>
          <a:prstGeom prst="rect">
            <a:avLst/>
          </a:prstGeom>
        </p:spPr>
        <p:txBody>
          <a:bodyPr anchor="t" rtlCol="false" tIns="0" lIns="0" bIns="0" rIns="0">
            <a:spAutoFit/>
          </a:bodyPr>
          <a:lstStyle/>
          <a:p>
            <a:pPr algn="ctr" marL="0" indent="0" lvl="0">
              <a:lnSpc>
                <a:spcPts val="2800"/>
              </a:lnSpc>
              <a:spcBef>
                <a:spcPct val="0"/>
              </a:spcBef>
            </a:pPr>
            <a:r>
              <a:rPr lang="en-US" sz="2000" strike="noStrike" u="none">
                <a:solidFill>
                  <a:srgbClr val="000000"/>
                </a:solidFill>
                <a:latin typeface="Montserrat"/>
                <a:ea typeface="Montserrat"/>
                <a:cs typeface="Montserrat"/>
                <a:sym typeface="Montserrat"/>
              </a:rPr>
              <a:t>The real time operators are well versed in various intelligence databases and tactics. Timely intelligence allows for officers to identify safety risks and respond more prepared.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4056" y="1803384"/>
            <a:ext cx="5591014" cy="5496132"/>
            <a:chOff x="0" y="0"/>
            <a:chExt cx="866194" cy="851495"/>
          </a:xfrm>
        </p:grpSpPr>
        <p:sp>
          <p:nvSpPr>
            <p:cNvPr name="Freeform 3" id="3"/>
            <p:cNvSpPr/>
            <p:nvPr/>
          </p:nvSpPr>
          <p:spPr>
            <a:xfrm flipH="false" flipV="false" rot="0">
              <a:off x="0" y="0"/>
              <a:ext cx="866194" cy="851495"/>
            </a:xfrm>
            <a:custGeom>
              <a:avLst/>
              <a:gdLst/>
              <a:ahLst/>
              <a:cxnLst/>
              <a:rect r="r" b="b" t="t" l="l"/>
              <a:pathLst>
                <a:path h="851495" w="866194">
                  <a:moveTo>
                    <a:pt x="0" y="0"/>
                  </a:moveTo>
                  <a:lnTo>
                    <a:pt x="866194" y="0"/>
                  </a:lnTo>
                  <a:lnTo>
                    <a:pt x="866194" y="851495"/>
                  </a:lnTo>
                  <a:lnTo>
                    <a:pt x="0" y="851495"/>
                  </a:lnTo>
                  <a:close/>
                </a:path>
              </a:pathLst>
            </a:custGeom>
            <a:blipFill>
              <a:blip r:embed="rId2"/>
              <a:stretch>
                <a:fillRect l="-40434" t="-5128" r="-14388" b="0"/>
              </a:stretch>
            </a:blipFill>
          </p:spPr>
        </p:sp>
      </p:grpSp>
      <p:grpSp>
        <p:nvGrpSpPr>
          <p:cNvPr name="Group 4" id="4"/>
          <p:cNvGrpSpPr/>
          <p:nvPr/>
        </p:nvGrpSpPr>
        <p:grpSpPr>
          <a:xfrm rot="0">
            <a:off x="12364900" y="2521777"/>
            <a:ext cx="4934167" cy="3857068"/>
            <a:chOff x="0" y="0"/>
            <a:chExt cx="1039777" cy="812800"/>
          </a:xfrm>
        </p:grpSpPr>
        <p:sp>
          <p:nvSpPr>
            <p:cNvPr name="Freeform 5" id="5"/>
            <p:cNvSpPr/>
            <p:nvPr/>
          </p:nvSpPr>
          <p:spPr>
            <a:xfrm flipH="false" flipV="false" rot="0">
              <a:off x="0" y="0"/>
              <a:ext cx="1039777" cy="812800"/>
            </a:xfrm>
            <a:custGeom>
              <a:avLst/>
              <a:gdLst/>
              <a:ahLst/>
              <a:cxnLst/>
              <a:rect r="r" b="b" t="t" l="l"/>
              <a:pathLst>
                <a:path h="812800" w="1039777">
                  <a:moveTo>
                    <a:pt x="0" y="0"/>
                  </a:moveTo>
                  <a:lnTo>
                    <a:pt x="1039777" y="0"/>
                  </a:lnTo>
                  <a:lnTo>
                    <a:pt x="1039777" y="812800"/>
                  </a:lnTo>
                  <a:lnTo>
                    <a:pt x="0" y="812800"/>
                  </a:lnTo>
                  <a:close/>
                </a:path>
              </a:pathLst>
            </a:custGeom>
            <a:blipFill>
              <a:blip r:embed="rId3"/>
              <a:stretch>
                <a:fillRect l="-23745" t="0" r="-23745" b="0"/>
              </a:stretch>
            </a:blipFill>
          </p:spPr>
        </p:sp>
      </p:grpSp>
      <p:sp>
        <p:nvSpPr>
          <p:cNvPr name="TextBox 6" id="6"/>
          <p:cNvSpPr txBox="true"/>
          <p:nvPr/>
        </p:nvSpPr>
        <p:spPr>
          <a:xfrm rot="0">
            <a:off x="6824939" y="3049497"/>
            <a:ext cx="5280605" cy="514350"/>
          </a:xfrm>
          <a:prstGeom prst="rect">
            <a:avLst/>
          </a:prstGeom>
        </p:spPr>
        <p:txBody>
          <a:bodyPr anchor="t" rtlCol="false" tIns="0" lIns="0" bIns="0" rIns="0">
            <a:spAutoFit/>
          </a:bodyPr>
          <a:lstStyle/>
          <a:p>
            <a:pPr algn="l">
              <a:lnSpc>
                <a:spcPts val="4200"/>
              </a:lnSpc>
            </a:pPr>
            <a:r>
              <a:rPr lang="en-US" sz="3000" b="true">
                <a:solidFill>
                  <a:srgbClr val="1E3A8A"/>
                </a:solidFill>
                <a:latin typeface="Montserrat Bold"/>
                <a:ea typeface="Montserrat Bold"/>
                <a:cs typeface="Montserrat Bold"/>
                <a:sym typeface="Montserrat Bold"/>
              </a:rPr>
              <a:t>Body Worn Cameras</a:t>
            </a:r>
          </a:p>
        </p:txBody>
      </p:sp>
      <p:sp>
        <p:nvSpPr>
          <p:cNvPr name="TextBox 7" id="7"/>
          <p:cNvSpPr txBox="true"/>
          <p:nvPr/>
        </p:nvSpPr>
        <p:spPr>
          <a:xfrm rot="0">
            <a:off x="6824939" y="3736923"/>
            <a:ext cx="4495000" cy="3149600"/>
          </a:xfrm>
          <a:prstGeom prst="rect">
            <a:avLst/>
          </a:prstGeom>
        </p:spPr>
        <p:txBody>
          <a:bodyPr anchor="t" rtlCol="false" tIns="0" lIns="0" bIns="0" rIns="0">
            <a:spAutoFit/>
          </a:bodyPr>
          <a:lstStyle/>
          <a:p>
            <a:pPr algn="l">
              <a:lnSpc>
                <a:spcPts val="2799"/>
              </a:lnSpc>
            </a:pPr>
            <a:r>
              <a:rPr lang="en-US" sz="1999">
                <a:solidFill>
                  <a:srgbClr val="000000"/>
                </a:solidFill>
                <a:latin typeface="Montserrat"/>
                <a:ea typeface="Montserrat"/>
                <a:cs typeface="Montserrat"/>
                <a:sym typeface="Montserrat"/>
              </a:rPr>
              <a:t>Ope</a:t>
            </a:r>
            <a:r>
              <a:rPr lang="en-US" sz="1999">
                <a:solidFill>
                  <a:srgbClr val="000000"/>
                </a:solidFill>
                <a:latin typeface="Montserrat"/>
                <a:ea typeface="Montserrat"/>
                <a:cs typeface="Montserrat"/>
                <a:sym typeface="Montserrat"/>
              </a:rPr>
              <a:t>rators can monitor officer’s body worn cameras in real time. When an officer responds to an incident and is thrust into an active situation, the operator can monitor their cameras until their cover responds. This enables a level of officer safety when situations quickly turn in the field.</a:t>
            </a:r>
          </a:p>
        </p:txBody>
      </p:sp>
      <p:sp>
        <p:nvSpPr>
          <p:cNvPr name="TextBox 8" id="8"/>
          <p:cNvSpPr txBox="true"/>
          <p:nvPr/>
        </p:nvSpPr>
        <p:spPr>
          <a:xfrm rot="0">
            <a:off x="12364900" y="6712220"/>
            <a:ext cx="3683166" cy="457200"/>
          </a:xfrm>
          <a:prstGeom prst="rect">
            <a:avLst/>
          </a:prstGeom>
        </p:spPr>
        <p:txBody>
          <a:bodyPr anchor="t" rtlCol="false" tIns="0" lIns="0" bIns="0" rIns="0">
            <a:spAutoFit/>
          </a:bodyPr>
          <a:lstStyle/>
          <a:p>
            <a:pPr algn="l">
              <a:lnSpc>
                <a:spcPts val="3600"/>
              </a:lnSpc>
            </a:pPr>
            <a:r>
              <a:rPr lang="en-US" sz="3000" b="true">
                <a:solidFill>
                  <a:srgbClr val="1E3A8A"/>
                </a:solidFill>
                <a:latin typeface="Montserrat Bold"/>
                <a:ea typeface="Montserrat Bold"/>
                <a:cs typeface="Montserrat Bold"/>
                <a:sym typeface="Montserrat Bold"/>
              </a:rPr>
              <a:t>City Cameras</a:t>
            </a:r>
          </a:p>
        </p:txBody>
      </p:sp>
      <p:sp>
        <p:nvSpPr>
          <p:cNvPr name="TextBox 9" id="9"/>
          <p:cNvSpPr txBox="true"/>
          <p:nvPr/>
        </p:nvSpPr>
        <p:spPr>
          <a:xfrm rot="0">
            <a:off x="12364900" y="7292969"/>
            <a:ext cx="5285150" cy="2444750"/>
          </a:xfrm>
          <a:prstGeom prst="rect">
            <a:avLst/>
          </a:prstGeom>
        </p:spPr>
        <p:txBody>
          <a:bodyPr anchor="t" rtlCol="false" tIns="0" lIns="0" bIns="0" rIns="0">
            <a:spAutoFit/>
          </a:bodyPr>
          <a:lstStyle/>
          <a:p>
            <a:pPr algn="l" marL="0" indent="0" lvl="0">
              <a:lnSpc>
                <a:spcPts val="2799"/>
              </a:lnSpc>
              <a:spcBef>
                <a:spcPct val="0"/>
              </a:spcBef>
            </a:pPr>
            <a:r>
              <a:rPr lang="en-US" sz="1999" strike="noStrike" u="none">
                <a:solidFill>
                  <a:srgbClr val="000000"/>
                </a:solidFill>
                <a:latin typeface="Montserrat"/>
                <a:ea typeface="Montserrat"/>
                <a:cs typeface="Montserrat"/>
                <a:sym typeface="Montserrat"/>
              </a:rPr>
              <a:t>RTIC operators utilize city-owned cameras to live stream calls for service and special events. The cameras were strategically placed to bring problem areas into view; helping reduce vandalism and other crimes occurring on City-owned property.</a:t>
            </a:r>
          </a:p>
        </p:txBody>
      </p:sp>
      <p:sp>
        <p:nvSpPr>
          <p:cNvPr name="AutoShape 10" id="10"/>
          <p:cNvSpPr/>
          <p:nvPr/>
        </p:nvSpPr>
        <p:spPr>
          <a:xfrm>
            <a:off x="-458268" y="1508823"/>
            <a:ext cx="7793056" cy="0"/>
          </a:xfrm>
          <a:prstGeom prst="line">
            <a:avLst/>
          </a:prstGeom>
          <a:ln cap="flat" w="47625">
            <a:solidFill>
              <a:srgbClr val="A28231"/>
            </a:solidFill>
            <a:prstDash val="solid"/>
            <a:headEnd type="none" len="sm" w="sm"/>
            <a:tailEnd type="none" len="sm" w="sm"/>
          </a:ln>
        </p:spPr>
      </p:sp>
      <p:sp>
        <p:nvSpPr>
          <p:cNvPr name="TextBox 11" id="11"/>
          <p:cNvSpPr txBox="true"/>
          <p:nvPr/>
        </p:nvSpPr>
        <p:spPr>
          <a:xfrm rot="0">
            <a:off x="899459" y="829372"/>
            <a:ext cx="8426911" cy="762000"/>
          </a:xfrm>
          <a:prstGeom prst="rect">
            <a:avLst/>
          </a:prstGeom>
        </p:spPr>
        <p:txBody>
          <a:bodyPr anchor="t" rtlCol="false" tIns="0" lIns="0" bIns="0" rIns="0">
            <a:spAutoFit/>
          </a:bodyPr>
          <a:lstStyle/>
          <a:p>
            <a:pPr algn="l" marL="0" indent="0" lvl="0">
              <a:lnSpc>
                <a:spcPts val="6299"/>
              </a:lnSpc>
              <a:spcBef>
                <a:spcPct val="0"/>
              </a:spcBef>
            </a:pPr>
            <a:r>
              <a:rPr lang="en-US" b="true" sz="4500" strike="noStrike" u="none">
                <a:solidFill>
                  <a:srgbClr val="002557"/>
                </a:solidFill>
                <a:latin typeface="Montserrat Bold"/>
                <a:ea typeface="Montserrat Bold"/>
                <a:cs typeface="Montserrat Bold"/>
                <a:sym typeface="Montserrat Bold"/>
              </a:rPr>
              <a:t>Video Technology in Fusus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0" y="1485011"/>
            <a:ext cx="7378521" cy="24702"/>
          </a:xfrm>
          <a:prstGeom prst="line">
            <a:avLst/>
          </a:prstGeom>
          <a:ln cap="flat" w="47625">
            <a:solidFill>
              <a:srgbClr val="A28231"/>
            </a:solidFill>
            <a:prstDash val="solid"/>
            <a:headEnd type="none" len="sm" w="sm"/>
            <a:tailEnd type="none" len="sm" w="sm"/>
          </a:ln>
        </p:spPr>
      </p:sp>
      <p:sp>
        <p:nvSpPr>
          <p:cNvPr name="TextBox 3" id="3"/>
          <p:cNvSpPr txBox="true"/>
          <p:nvPr/>
        </p:nvSpPr>
        <p:spPr>
          <a:xfrm rot="0">
            <a:off x="899459" y="756348"/>
            <a:ext cx="6866229" cy="762000"/>
          </a:xfrm>
          <a:prstGeom prst="rect">
            <a:avLst/>
          </a:prstGeom>
        </p:spPr>
        <p:txBody>
          <a:bodyPr anchor="t" rtlCol="false" tIns="0" lIns="0" bIns="0" rIns="0">
            <a:spAutoFit/>
          </a:bodyPr>
          <a:lstStyle/>
          <a:p>
            <a:pPr algn="l" marL="0" indent="0" lvl="0">
              <a:lnSpc>
                <a:spcPts val="6299"/>
              </a:lnSpc>
              <a:spcBef>
                <a:spcPct val="0"/>
              </a:spcBef>
            </a:pPr>
            <a:r>
              <a:rPr lang="en-US" b="true" sz="4500" strike="noStrike" u="none">
                <a:solidFill>
                  <a:srgbClr val="002557"/>
                </a:solidFill>
                <a:latin typeface="Montserrat Bold"/>
                <a:ea typeface="Montserrat Bold"/>
                <a:cs typeface="Montserrat Bold"/>
                <a:sym typeface="Montserrat Bold"/>
              </a:rPr>
              <a:t>Intelligence</a:t>
            </a:r>
          </a:p>
        </p:txBody>
      </p:sp>
      <p:grpSp>
        <p:nvGrpSpPr>
          <p:cNvPr name="Group 4" id="4"/>
          <p:cNvGrpSpPr/>
          <p:nvPr/>
        </p:nvGrpSpPr>
        <p:grpSpPr>
          <a:xfrm rot="0">
            <a:off x="581140" y="2306476"/>
            <a:ext cx="5447603" cy="6401909"/>
            <a:chOff x="0" y="0"/>
            <a:chExt cx="1434760" cy="1686099"/>
          </a:xfrm>
        </p:grpSpPr>
        <p:sp>
          <p:nvSpPr>
            <p:cNvPr name="Freeform 5" id="5"/>
            <p:cNvSpPr/>
            <p:nvPr/>
          </p:nvSpPr>
          <p:spPr>
            <a:xfrm flipH="false" flipV="false" rot="0">
              <a:off x="0" y="0"/>
              <a:ext cx="1434760" cy="1686099"/>
            </a:xfrm>
            <a:custGeom>
              <a:avLst/>
              <a:gdLst/>
              <a:ahLst/>
              <a:cxnLst/>
              <a:rect r="r" b="b" t="t" l="l"/>
              <a:pathLst>
                <a:path h="1686099" w="1434760">
                  <a:moveTo>
                    <a:pt x="72479" y="0"/>
                  </a:moveTo>
                  <a:lnTo>
                    <a:pt x="1362280" y="0"/>
                  </a:lnTo>
                  <a:cubicBezTo>
                    <a:pt x="1381503" y="0"/>
                    <a:pt x="1399938" y="7636"/>
                    <a:pt x="1413531" y="21229"/>
                  </a:cubicBezTo>
                  <a:cubicBezTo>
                    <a:pt x="1427123" y="34821"/>
                    <a:pt x="1434760" y="53257"/>
                    <a:pt x="1434760" y="72479"/>
                  </a:cubicBezTo>
                  <a:lnTo>
                    <a:pt x="1434760" y="1613620"/>
                  </a:lnTo>
                  <a:cubicBezTo>
                    <a:pt x="1434760" y="1653649"/>
                    <a:pt x="1402310" y="1686099"/>
                    <a:pt x="1362280" y="1686099"/>
                  </a:cubicBezTo>
                  <a:lnTo>
                    <a:pt x="72479" y="1686099"/>
                  </a:lnTo>
                  <a:cubicBezTo>
                    <a:pt x="53257" y="1686099"/>
                    <a:pt x="34821" y="1678463"/>
                    <a:pt x="21229" y="1664871"/>
                  </a:cubicBezTo>
                  <a:cubicBezTo>
                    <a:pt x="7636" y="1651278"/>
                    <a:pt x="0" y="1632843"/>
                    <a:pt x="0" y="1613620"/>
                  </a:cubicBezTo>
                  <a:lnTo>
                    <a:pt x="0" y="72479"/>
                  </a:lnTo>
                  <a:cubicBezTo>
                    <a:pt x="0" y="53257"/>
                    <a:pt x="7636" y="34821"/>
                    <a:pt x="21229" y="21229"/>
                  </a:cubicBezTo>
                  <a:cubicBezTo>
                    <a:pt x="34821" y="7636"/>
                    <a:pt x="53257" y="0"/>
                    <a:pt x="72479" y="0"/>
                  </a:cubicBezTo>
                  <a:close/>
                </a:path>
              </a:pathLst>
            </a:custGeom>
            <a:solidFill>
              <a:srgbClr val="1E498A">
                <a:alpha val="72157"/>
              </a:srgbClr>
            </a:solidFill>
            <a:ln w="57150" cap="rnd">
              <a:solidFill>
                <a:srgbClr val="0B1D51"/>
              </a:solidFill>
              <a:prstDash val="solid"/>
              <a:round/>
            </a:ln>
          </p:spPr>
        </p:sp>
        <p:sp>
          <p:nvSpPr>
            <p:cNvPr name="TextBox 6" id="6"/>
            <p:cNvSpPr txBox="true"/>
            <p:nvPr/>
          </p:nvSpPr>
          <p:spPr>
            <a:xfrm>
              <a:off x="0" y="-47625"/>
              <a:ext cx="1434760" cy="1733724"/>
            </a:xfrm>
            <a:prstGeom prst="rect">
              <a:avLst/>
            </a:prstGeom>
          </p:spPr>
          <p:txBody>
            <a:bodyPr anchor="ctr" rtlCol="false" tIns="50800" lIns="50800" bIns="50800" rIns="50800"/>
            <a:lstStyle/>
            <a:p>
              <a:pPr algn="ctr" marL="0" indent="0" lvl="0">
                <a:lnSpc>
                  <a:spcPts val="2800"/>
                </a:lnSpc>
                <a:spcBef>
                  <a:spcPct val="0"/>
                </a:spcBef>
              </a:pPr>
            </a:p>
          </p:txBody>
        </p:sp>
      </p:grpSp>
      <p:grpSp>
        <p:nvGrpSpPr>
          <p:cNvPr name="Group 7" id="7"/>
          <p:cNvGrpSpPr/>
          <p:nvPr/>
        </p:nvGrpSpPr>
        <p:grpSpPr>
          <a:xfrm rot="0">
            <a:off x="6420199" y="2306476"/>
            <a:ext cx="5447603" cy="6401909"/>
            <a:chOff x="0" y="0"/>
            <a:chExt cx="1434760" cy="1686099"/>
          </a:xfrm>
        </p:grpSpPr>
        <p:sp>
          <p:nvSpPr>
            <p:cNvPr name="Freeform 8" id="8"/>
            <p:cNvSpPr/>
            <p:nvPr/>
          </p:nvSpPr>
          <p:spPr>
            <a:xfrm flipH="false" flipV="false" rot="0">
              <a:off x="0" y="0"/>
              <a:ext cx="1434760" cy="1686099"/>
            </a:xfrm>
            <a:custGeom>
              <a:avLst/>
              <a:gdLst/>
              <a:ahLst/>
              <a:cxnLst/>
              <a:rect r="r" b="b" t="t" l="l"/>
              <a:pathLst>
                <a:path h="1686099" w="1434760">
                  <a:moveTo>
                    <a:pt x="72479" y="0"/>
                  </a:moveTo>
                  <a:lnTo>
                    <a:pt x="1362280" y="0"/>
                  </a:lnTo>
                  <a:cubicBezTo>
                    <a:pt x="1381503" y="0"/>
                    <a:pt x="1399938" y="7636"/>
                    <a:pt x="1413531" y="21229"/>
                  </a:cubicBezTo>
                  <a:cubicBezTo>
                    <a:pt x="1427123" y="34821"/>
                    <a:pt x="1434760" y="53257"/>
                    <a:pt x="1434760" y="72479"/>
                  </a:cubicBezTo>
                  <a:lnTo>
                    <a:pt x="1434760" y="1613620"/>
                  </a:lnTo>
                  <a:cubicBezTo>
                    <a:pt x="1434760" y="1653649"/>
                    <a:pt x="1402310" y="1686099"/>
                    <a:pt x="1362280" y="1686099"/>
                  </a:cubicBezTo>
                  <a:lnTo>
                    <a:pt x="72479" y="1686099"/>
                  </a:lnTo>
                  <a:cubicBezTo>
                    <a:pt x="53257" y="1686099"/>
                    <a:pt x="34821" y="1678463"/>
                    <a:pt x="21229" y="1664871"/>
                  </a:cubicBezTo>
                  <a:cubicBezTo>
                    <a:pt x="7636" y="1651278"/>
                    <a:pt x="0" y="1632843"/>
                    <a:pt x="0" y="1613620"/>
                  </a:cubicBezTo>
                  <a:lnTo>
                    <a:pt x="0" y="72479"/>
                  </a:lnTo>
                  <a:cubicBezTo>
                    <a:pt x="0" y="53257"/>
                    <a:pt x="7636" y="34821"/>
                    <a:pt x="21229" y="21229"/>
                  </a:cubicBezTo>
                  <a:cubicBezTo>
                    <a:pt x="34821" y="7636"/>
                    <a:pt x="53257" y="0"/>
                    <a:pt x="72479" y="0"/>
                  </a:cubicBezTo>
                  <a:close/>
                </a:path>
              </a:pathLst>
            </a:custGeom>
            <a:solidFill>
              <a:srgbClr val="1E498A">
                <a:alpha val="72157"/>
              </a:srgbClr>
            </a:solidFill>
            <a:ln w="57150" cap="rnd">
              <a:solidFill>
                <a:srgbClr val="0B1D51"/>
              </a:solidFill>
              <a:prstDash val="solid"/>
              <a:round/>
            </a:ln>
          </p:spPr>
        </p:sp>
        <p:sp>
          <p:nvSpPr>
            <p:cNvPr name="TextBox 9" id="9"/>
            <p:cNvSpPr txBox="true"/>
            <p:nvPr/>
          </p:nvSpPr>
          <p:spPr>
            <a:xfrm>
              <a:off x="0" y="-47625"/>
              <a:ext cx="1434760" cy="1733724"/>
            </a:xfrm>
            <a:prstGeom prst="rect">
              <a:avLst/>
            </a:prstGeom>
          </p:spPr>
          <p:txBody>
            <a:bodyPr anchor="ctr" rtlCol="false" tIns="50800" lIns="50800" bIns="50800" rIns="50800"/>
            <a:lstStyle/>
            <a:p>
              <a:pPr algn="ctr" marL="0" indent="0" lvl="0">
                <a:lnSpc>
                  <a:spcPts val="2800"/>
                </a:lnSpc>
                <a:spcBef>
                  <a:spcPct val="0"/>
                </a:spcBef>
              </a:pPr>
            </a:p>
          </p:txBody>
        </p:sp>
      </p:grpSp>
      <p:grpSp>
        <p:nvGrpSpPr>
          <p:cNvPr name="Group 10" id="10"/>
          <p:cNvGrpSpPr/>
          <p:nvPr/>
        </p:nvGrpSpPr>
        <p:grpSpPr>
          <a:xfrm rot="0">
            <a:off x="12259257" y="2306476"/>
            <a:ext cx="5447603" cy="6401909"/>
            <a:chOff x="0" y="0"/>
            <a:chExt cx="1434760" cy="1686099"/>
          </a:xfrm>
        </p:grpSpPr>
        <p:sp>
          <p:nvSpPr>
            <p:cNvPr name="Freeform 11" id="11"/>
            <p:cNvSpPr/>
            <p:nvPr/>
          </p:nvSpPr>
          <p:spPr>
            <a:xfrm flipH="false" flipV="false" rot="0">
              <a:off x="0" y="0"/>
              <a:ext cx="1434760" cy="1686099"/>
            </a:xfrm>
            <a:custGeom>
              <a:avLst/>
              <a:gdLst/>
              <a:ahLst/>
              <a:cxnLst/>
              <a:rect r="r" b="b" t="t" l="l"/>
              <a:pathLst>
                <a:path h="1686099" w="1434760">
                  <a:moveTo>
                    <a:pt x="72479" y="0"/>
                  </a:moveTo>
                  <a:lnTo>
                    <a:pt x="1362280" y="0"/>
                  </a:lnTo>
                  <a:cubicBezTo>
                    <a:pt x="1381503" y="0"/>
                    <a:pt x="1399938" y="7636"/>
                    <a:pt x="1413531" y="21229"/>
                  </a:cubicBezTo>
                  <a:cubicBezTo>
                    <a:pt x="1427123" y="34821"/>
                    <a:pt x="1434760" y="53257"/>
                    <a:pt x="1434760" y="72479"/>
                  </a:cubicBezTo>
                  <a:lnTo>
                    <a:pt x="1434760" y="1613620"/>
                  </a:lnTo>
                  <a:cubicBezTo>
                    <a:pt x="1434760" y="1653649"/>
                    <a:pt x="1402310" y="1686099"/>
                    <a:pt x="1362280" y="1686099"/>
                  </a:cubicBezTo>
                  <a:lnTo>
                    <a:pt x="72479" y="1686099"/>
                  </a:lnTo>
                  <a:cubicBezTo>
                    <a:pt x="53257" y="1686099"/>
                    <a:pt x="34821" y="1678463"/>
                    <a:pt x="21229" y="1664871"/>
                  </a:cubicBezTo>
                  <a:cubicBezTo>
                    <a:pt x="7636" y="1651278"/>
                    <a:pt x="0" y="1632843"/>
                    <a:pt x="0" y="1613620"/>
                  </a:cubicBezTo>
                  <a:lnTo>
                    <a:pt x="0" y="72479"/>
                  </a:lnTo>
                  <a:cubicBezTo>
                    <a:pt x="0" y="53257"/>
                    <a:pt x="7636" y="34821"/>
                    <a:pt x="21229" y="21229"/>
                  </a:cubicBezTo>
                  <a:cubicBezTo>
                    <a:pt x="34821" y="7636"/>
                    <a:pt x="53257" y="0"/>
                    <a:pt x="72479" y="0"/>
                  </a:cubicBezTo>
                  <a:close/>
                </a:path>
              </a:pathLst>
            </a:custGeom>
            <a:solidFill>
              <a:srgbClr val="1E498A">
                <a:alpha val="72157"/>
              </a:srgbClr>
            </a:solidFill>
            <a:ln w="57150" cap="rnd">
              <a:solidFill>
                <a:srgbClr val="0B1D51"/>
              </a:solidFill>
              <a:prstDash val="solid"/>
              <a:round/>
            </a:ln>
          </p:spPr>
        </p:sp>
        <p:sp>
          <p:nvSpPr>
            <p:cNvPr name="TextBox 12" id="12"/>
            <p:cNvSpPr txBox="true"/>
            <p:nvPr/>
          </p:nvSpPr>
          <p:spPr>
            <a:xfrm>
              <a:off x="0" y="-47625"/>
              <a:ext cx="1434760" cy="1733724"/>
            </a:xfrm>
            <a:prstGeom prst="rect">
              <a:avLst/>
            </a:prstGeom>
          </p:spPr>
          <p:txBody>
            <a:bodyPr anchor="ctr" rtlCol="false" tIns="50800" lIns="50800" bIns="50800" rIns="50800"/>
            <a:lstStyle/>
            <a:p>
              <a:pPr algn="ctr" marL="0" indent="0" lvl="0">
                <a:lnSpc>
                  <a:spcPts val="2800"/>
                </a:lnSpc>
                <a:spcBef>
                  <a:spcPct val="0"/>
                </a:spcBef>
              </a:pPr>
            </a:p>
          </p:txBody>
        </p:sp>
      </p:grpSp>
      <p:sp>
        <p:nvSpPr>
          <p:cNvPr name="AutoShape 13" id="13"/>
          <p:cNvSpPr/>
          <p:nvPr/>
        </p:nvSpPr>
        <p:spPr>
          <a:xfrm>
            <a:off x="1875333" y="7731448"/>
            <a:ext cx="2740479" cy="0"/>
          </a:xfrm>
          <a:prstGeom prst="line">
            <a:avLst/>
          </a:prstGeom>
          <a:ln cap="flat" w="38100">
            <a:solidFill>
              <a:srgbClr val="0B1D51"/>
            </a:solidFill>
            <a:prstDash val="solid"/>
            <a:headEnd type="none" len="sm" w="sm"/>
            <a:tailEnd type="none" len="sm" w="sm"/>
          </a:ln>
        </p:spPr>
      </p:sp>
      <p:sp>
        <p:nvSpPr>
          <p:cNvPr name="AutoShape 14" id="14"/>
          <p:cNvSpPr/>
          <p:nvPr/>
        </p:nvSpPr>
        <p:spPr>
          <a:xfrm>
            <a:off x="7773761" y="7750498"/>
            <a:ext cx="2740479" cy="0"/>
          </a:xfrm>
          <a:prstGeom prst="line">
            <a:avLst/>
          </a:prstGeom>
          <a:ln cap="flat" w="38100">
            <a:solidFill>
              <a:srgbClr val="0B1D51"/>
            </a:solidFill>
            <a:prstDash val="solid"/>
            <a:headEnd type="none" len="sm" w="sm"/>
            <a:tailEnd type="none" len="sm" w="sm"/>
          </a:ln>
        </p:spPr>
      </p:sp>
      <p:sp>
        <p:nvSpPr>
          <p:cNvPr name="AutoShape 15" id="15"/>
          <p:cNvSpPr/>
          <p:nvPr/>
        </p:nvSpPr>
        <p:spPr>
          <a:xfrm>
            <a:off x="13612819" y="7750498"/>
            <a:ext cx="2740479" cy="0"/>
          </a:xfrm>
          <a:prstGeom prst="line">
            <a:avLst/>
          </a:prstGeom>
          <a:ln cap="flat" w="38100">
            <a:solidFill>
              <a:srgbClr val="0B1D51"/>
            </a:solidFill>
            <a:prstDash val="solid"/>
            <a:headEnd type="none" len="sm" w="sm"/>
            <a:tailEnd type="none" len="sm" w="sm"/>
          </a:ln>
        </p:spPr>
      </p:sp>
      <p:sp>
        <p:nvSpPr>
          <p:cNvPr name="Freeform 16" id="16"/>
          <p:cNvSpPr/>
          <p:nvPr/>
        </p:nvSpPr>
        <p:spPr>
          <a:xfrm flipH="false" flipV="false" rot="0">
            <a:off x="14486515" y="2963641"/>
            <a:ext cx="993087" cy="993087"/>
          </a:xfrm>
          <a:custGeom>
            <a:avLst/>
            <a:gdLst/>
            <a:ahLst/>
            <a:cxnLst/>
            <a:rect r="r" b="b" t="t" l="l"/>
            <a:pathLst>
              <a:path h="993087" w="993087">
                <a:moveTo>
                  <a:pt x="0" y="0"/>
                </a:moveTo>
                <a:lnTo>
                  <a:pt x="993087" y="0"/>
                </a:lnTo>
                <a:lnTo>
                  <a:pt x="993087" y="993087"/>
                </a:lnTo>
                <a:lnTo>
                  <a:pt x="0" y="9930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8532729" y="2944591"/>
            <a:ext cx="993087" cy="993087"/>
          </a:xfrm>
          <a:custGeom>
            <a:avLst/>
            <a:gdLst/>
            <a:ahLst/>
            <a:cxnLst/>
            <a:rect r="r" b="b" t="t" l="l"/>
            <a:pathLst>
              <a:path h="993087" w="993087">
                <a:moveTo>
                  <a:pt x="0" y="0"/>
                </a:moveTo>
                <a:lnTo>
                  <a:pt x="993087" y="0"/>
                </a:lnTo>
                <a:lnTo>
                  <a:pt x="993087" y="993087"/>
                </a:lnTo>
                <a:lnTo>
                  <a:pt x="0" y="99308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8" id="18"/>
          <p:cNvSpPr/>
          <p:nvPr/>
        </p:nvSpPr>
        <p:spPr>
          <a:xfrm flipH="false" flipV="false" rot="0">
            <a:off x="2919114" y="2937061"/>
            <a:ext cx="652916" cy="1116324"/>
          </a:xfrm>
          <a:custGeom>
            <a:avLst/>
            <a:gdLst/>
            <a:ahLst/>
            <a:cxnLst/>
            <a:rect r="r" b="b" t="t" l="l"/>
            <a:pathLst>
              <a:path h="1116324" w="652916">
                <a:moveTo>
                  <a:pt x="0" y="0"/>
                </a:moveTo>
                <a:lnTo>
                  <a:pt x="652917" y="0"/>
                </a:lnTo>
                <a:lnTo>
                  <a:pt x="652917" y="1116324"/>
                </a:lnTo>
                <a:lnTo>
                  <a:pt x="0" y="111632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9" id="19"/>
          <p:cNvSpPr txBox="true"/>
          <p:nvPr/>
        </p:nvSpPr>
        <p:spPr>
          <a:xfrm rot="0">
            <a:off x="1558099" y="4966378"/>
            <a:ext cx="3374948" cy="1544320"/>
          </a:xfrm>
          <a:prstGeom prst="rect">
            <a:avLst/>
          </a:prstGeom>
        </p:spPr>
        <p:txBody>
          <a:bodyPr anchor="t" rtlCol="false" tIns="0" lIns="0" bIns="0" rIns="0">
            <a:spAutoFit/>
          </a:bodyPr>
          <a:lstStyle/>
          <a:p>
            <a:pPr algn="ctr">
              <a:lnSpc>
                <a:spcPts val="3080"/>
              </a:lnSpc>
            </a:pPr>
            <a:r>
              <a:rPr lang="en-US" sz="2200">
                <a:solidFill>
                  <a:srgbClr val="FFFFFF"/>
                </a:solidFill>
                <a:latin typeface="Montserrat"/>
                <a:ea typeface="Montserrat"/>
                <a:cs typeface="Montserrat"/>
                <a:sym typeface="Montserrat"/>
              </a:rPr>
              <a:t> Work directly with the reporting parties to get cell phone videos and pictures.</a:t>
            </a:r>
          </a:p>
        </p:txBody>
      </p:sp>
      <p:sp>
        <p:nvSpPr>
          <p:cNvPr name="TextBox 20" id="20"/>
          <p:cNvSpPr txBox="true"/>
          <p:nvPr/>
        </p:nvSpPr>
        <p:spPr>
          <a:xfrm rot="0">
            <a:off x="1722213" y="7897214"/>
            <a:ext cx="3046718" cy="339725"/>
          </a:xfrm>
          <a:prstGeom prst="rect">
            <a:avLst/>
          </a:prstGeom>
        </p:spPr>
        <p:txBody>
          <a:bodyPr anchor="t" rtlCol="false" tIns="0" lIns="0" bIns="0" rIns="0">
            <a:spAutoFit/>
          </a:bodyPr>
          <a:lstStyle/>
          <a:p>
            <a:pPr algn="ctr" marL="0" indent="0" lvl="0">
              <a:lnSpc>
                <a:spcPts val="2800"/>
              </a:lnSpc>
              <a:spcBef>
                <a:spcPct val="0"/>
              </a:spcBef>
            </a:pPr>
            <a:r>
              <a:rPr lang="en-US" b="true" sz="2000" spc="218" strike="noStrike" u="none">
                <a:solidFill>
                  <a:srgbClr val="FFFFFF"/>
                </a:solidFill>
                <a:latin typeface="Montserrat Bold"/>
                <a:ea typeface="Montserrat Bold"/>
                <a:cs typeface="Montserrat Bold"/>
                <a:sym typeface="Montserrat Bold"/>
              </a:rPr>
              <a:t> COMMUNICATION</a:t>
            </a:r>
          </a:p>
        </p:txBody>
      </p:sp>
      <p:sp>
        <p:nvSpPr>
          <p:cNvPr name="TextBox 21" id="21"/>
          <p:cNvSpPr txBox="true"/>
          <p:nvPr/>
        </p:nvSpPr>
        <p:spPr>
          <a:xfrm rot="0">
            <a:off x="8289522" y="7897214"/>
            <a:ext cx="1708956" cy="339725"/>
          </a:xfrm>
          <a:prstGeom prst="rect">
            <a:avLst/>
          </a:prstGeom>
        </p:spPr>
        <p:txBody>
          <a:bodyPr anchor="t" rtlCol="false" tIns="0" lIns="0" bIns="0" rIns="0">
            <a:spAutoFit/>
          </a:bodyPr>
          <a:lstStyle/>
          <a:p>
            <a:pPr algn="ctr">
              <a:lnSpc>
                <a:spcPts val="2800"/>
              </a:lnSpc>
            </a:pPr>
            <a:r>
              <a:rPr lang="en-US" b="true" sz="2000" spc="218">
                <a:solidFill>
                  <a:srgbClr val="FFFFFF"/>
                </a:solidFill>
                <a:latin typeface="Montserrat Bold"/>
                <a:ea typeface="Montserrat Bold"/>
                <a:cs typeface="Montserrat Bold"/>
                <a:sym typeface="Montserrat Bold"/>
              </a:rPr>
              <a:t>RESEARCH</a:t>
            </a:r>
          </a:p>
        </p:txBody>
      </p:sp>
      <p:sp>
        <p:nvSpPr>
          <p:cNvPr name="TextBox 22" id="22"/>
          <p:cNvSpPr txBox="true"/>
          <p:nvPr/>
        </p:nvSpPr>
        <p:spPr>
          <a:xfrm rot="0">
            <a:off x="14128581" y="7897214"/>
            <a:ext cx="1708956" cy="339725"/>
          </a:xfrm>
          <a:prstGeom prst="rect">
            <a:avLst/>
          </a:prstGeom>
        </p:spPr>
        <p:txBody>
          <a:bodyPr anchor="t" rtlCol="false" tIns="0" lIns="0" bIns="0" rIns="0">
            <a:spAutoFit/>
          </a:bodyPr>
          <a:lstStyle/>
          <a:p>
            <a:pPr algn="ctr" marL="0" indent="0" lvl="0">
              <a:lnSpc>
                <a:spcPts val="2800"/>
              </a:lnSpc>
              <a:spcBef>
                <a:spcPct val="0"/>
              </a:spcBef>
            </a:pPr>
            <a:r>
              <a:rPr lang="en-US" b="true" sz="2000" spc="218" strike="noStrike" u="none">
                <a:solidFill>
                  <a:srgbClr val="FFFFFF"/>
                </a:solidFill>
                <a:latin typeface="Montserrat Bold"/>
                <a:ea typeface="Montserrat Bold"/>
                <a:cs typeface="Montserrat Bold"/>
                <a:sym typeface="Montserrat Bold"/>
              </a:rPr>
              <a:t>STRATEGY</a:t>
            </a:r>
          </a:p>
        </p:txBody>
      </p:sp>
      <p:sp>
        <p:nvSpPr>
          <p:cNvPr name="TextBox 23" id="23"/>
          <p:cNvSpPr txBox="true"/>
          <p:nvPr/>
        </p:nvSpPr>
        <p:spPr>
          <a:xfrm rot="0">
            <a:off x="7456526" y="4966378"/>
            <a:ext cx="3374948" cy="1934845"/>
          </a:xfrm>
          <a:prstGeom prst="rect">
            <a:avLst/>
          </a:prstGeom>
        </p:spPr>
        <p:txBody>
          <a:bodyPr anchor="t" rtlCol="false" tIns="0" lIns="0" bIns="0" rIns="0">
            <a:spAutoFit/>
          </a:bodyPr>
          <a:lstStyle/>
          <a:p>
            <a:pPr algn="ctr" marL="0" indent="0" lvl="0">
              <a:lnSpc>
                <a:spcPts val="3080"/>
              </a:lnSpc>
              <a:spcBef>
                <a:spcPct val="0"/>
              </a:spcBef>
            </a:pPr>
            <a:r>
              <a:rPr lang="en-US" sz="2200" strike="noStrike" u="none">
                <a:solidFill>
                  <a:srgbClr val="FFFFFF"/>
                </a:solidFill>
                <a:latin typeface="Montserrat"/>
                <a:ea typeface="Montserrat"/>
                <a:cs typeface="Montserrat"/>
                <a:sym typeface="Montserrat"/>
              </a:rPr>
              <a:t>Utilize police databases to retrieve intel within moments of receiving the call- even before an officer arrives on scene.</a:t>
            </a:r>
          </a:p>
        </p:txBody>
      </p:sp>
      <p:sp>
        <p:nvSpPr>
          <p:cNvPr name="TextBox 24" id="24"/>
          <p:cNvSpPr txBox="true"/>
          <p:nvPr/>
        </p:nvSpPr>
        <p:spPr>
          <a:xfrm rot="0">
            <a:off x="13158532" y="4966378"/>
            <a:ext cx="3649053" cy="1544320"/>
          </a:xfrm>
          <a:prstGeom prst="rect">
            <a:avLst/>
          </a:prstGeom>
        </p:spPr>
        <p:txBody>
          <a:bodyPr anchor="t" rtlCol="false" tIns="0" lIns="0" bIns="0" rIns="0">
            <a:spAutoFit/>
          </a:bodyPr>
          <a:lstStyle/>
          <a:p>
            <a:pPr algn="ctr" marL="0" indent="0" lvl="0">
              <a:lnSpc>
                <a:spcPts val="3080"/>
              </a:lnSpc>
              <a:spcBef>
                <a:spcPct val="0"/>
              </a:spcBef>
            </a:pPr>
            <a:r>
              <a:rPr lang="en-US" sz="2200" strike="noStrike" u="none">
                <a:solidFill>
                  <a:srgbClr val="FFFFFF"/>
                </a:solidFill>
                <a:latin typeface="Montserrat"/>
                <a:ea typeface="Montserrat"/>
                <a:cs typeface="Montserrat"/>
                <a:sym typeface="Montserrat"/>
              </a:rPr>
              <a:t>Work with field personnel to strategize best use for the operators during preplanned events.</a:t>
            </a:r>
          </a:p>
        </p:txBody>
      </p:sp>
      <p:sp>
        <p:nvSpPr>
          <p:cNvPr name="AutoShape 25" id="25"/>
          <p:cNvSpPr/>
          <p:nvPr/>
        </p:nvSpPr>
        <p:spPr>
          <a:xfrm flipV="true">
            <a:off x="-117230" y="10287000"/>
            <a:ext cx="19376532" cy="12351"/>
          </a:xfrm>
          <a:prstGeom prst="line">
            <a:avLst/>
          </a:prstGeom>
          <a:ln cap="flat" w="85725">
            <a:solidFill>
              <a:srgbClr val="1E498A"/>
            </a:solidFill>
            <a:prstDash val="solid"/>
            <a:headEnd type="none" len="sm" w="sm"/>
            <a:tailEnd type="none" len="sm" w="sm"/>
          </a:ln>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99459" y="840821"/>
            <a:ext cx="11873652" cy="762000"/>
          </a:xfrm>
          <a:prstGeom prst="rect">
            <a:avLst/>
          </a:prstGeom>
        </p:spPr>
        <p:txBody>
          <a:bodyPr anchor="t" rtlCol="false" tIns="0" lIns="0" bIns="0" rIns="0">
            <a:spAutoFit/>
          </a:bodyPr>
          <a:lstStyle/>
          <a:p>
            <a:pPr algn="l" marL="0" indent="0" lvl="0">
              <a:lnSpc>
                <a:spcPts val="6299"/>
              </a:lnSpc>
              <a:spcBef>
                <a:spcPct val="0"/>
              </a:spcBef>
            </a:pPr>
            <a:r>
              <a:rPr lang="en-US" b="true" sz="4500" strike="noStrike" u="none">
                <a:solidFill>
                  <a:srgbClr val="002557"/>
                </a:solidFill>
                <a:latin typeface="Montserrat Bold"/>
                <a:ea typeface="Montserrat Bold"/>
                <a:cs typeface="Montserrat Bold"/>
                <a:sym typeface="Montserrat Bold"/>
              </a:rPr>
              <a:t>RTIC-Assisted Incidents</a:t>
            </a:r>
          </a:p>
        </p:txBody>
      </p:sp>
      <p:pic>
        <p:nvPicPr>
          <p:cNvPr name="Picture 3" id="3"/>
          <p:cNvPicPr>
            <a:picLocks noChangeAspect="true"/>
          </p:cNvPicPr>
          <p:nvPr/>
        </p:nvPicPr>
        <p:blipFill>
          <a:blip r:embed="rId2"/>
          <a:stretch>
            <a:fillRect/>
          </a:stretch>
        </p:blipFill>
        <p:spPr>
          <a:xfrm rot="0">
            <a:off x="-148651" y="1177717"/>
            <a:ext cx="18585301" cy="9259741"/>
          </a:xfrm>
          <a:prstGeom prst="rect">
            <a:avLst/>
          </a:prstGeom>
        </p:spPr>
      </p:pic>
      <p:sp>
        <p:nvSpPr>
          <p:cNvPr name="AutoShape 4" id="4"/>
          <p:cNvSpPr/>
          <p:nvPr/>
        </p:nvSpPr>
        <p:spPr>
          <a:xfrm>
            <a:off x="-694882" y="1545671"/>
            <a:ext cx="9131783" cy="0"/>
          </a:xfrm>
          <a:prstGeom prst="line">
            <a:avLst/>
          </a:prstGeom>
          <a:ln cap="flat" w="38100">
            <a:solidFill>
              <a:srgbClr val="A28231"/>
            </a:solidFill>
            <a:prstDash val="solid"/>
            <a:headEnd type="none" len="sm" w="sm"/>
            <a:tailEnd type="none" len="sm" w="sm"/>
          </a:ln>
        </p:spPr>
      </p:sp>
      <p:sp>
        <p:nvSpPr>
          <p:cNvPr name="AutoShape 5" id="5"/>
          <p:cNvSpPr/>
          <p:nvPr/>
        </p:nvSpPr>
        <p:spPr>
          <a:xfrm flipV="true">
            <a:off x="-107705" y="10287000"/>
            <a:ext cx="19376532" cy="12351"/>
          </a:xfrm>
          <a:prstGeom prst="line">
            <a:avLst/>
          </a:prstGeom>
          <a:ln cap="flat" w="85725">
            <a:solidFill>
              <a:srgbClr val="1E498A"/>
            </a:solidFill>
            <a:prstDash val="solid"/>
            <a:headEnd type="none" len="sm" w="sm"/>
            <a:tailEnd type="none" len="sm" w="sm"/>
          </a:ln>
        </p:spPr>
      </p:sp>
      <p:sp>
        <p:nvSpPr>
          <p:cNvPr name="TextBox 6" id="6"/>
          <p:cNvSpPr txBox="true"/>
          <p:nvPr/>
        </p:nvSpPr>
        <p:spPr>
          <a:xfrm rot="0">
            <a:off x="804085" y="9546188"/>
            <a:ext cx="1780519" cy="192599"/>
          </a:xfrm>
          <a:prstGeom prst="rect">
            <a:avLst/>
          </a:prstGeom>
        </p:spPr>
        <p:txBody>
          <a:bodyPr anchor="t" rtlCol="false" tIns="0" lIns="0" bIns="0" rIns="0">
            <a:spAutoFit/>
          </a:bodyPr>
          <a:lstStyle/>
          <a:p>
            <a:pPr algn="ctr">
              <a:lnSpc>
                <a:spcPts val="1608"/>
              </a:lnSpc>
            </a:pPr>
            <a:r>
              <a:rPr lang="en-US" sz="1148">
                <a:solidFill>
                  <a:srgbClr val="000000"/>
                </a:solidFill>
                <a:latin typeface="Canva Sans"/>
                <a:ea typeface="Canva Sans"/>
                <a:cs typeface="Canva Sans"/>
                <a:sym typeface="Canva Sans"/>
              </a:rPr>
              <a:t>Data from 10/24 to 08/26</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9872612"/>
            <a:ext cx="4329410" cy="165100"/>
          </a:xfrm>
          <a:prstGeom prst="rect">
            <a:avLst/>
          </a:prstGeom>
        </p:spPr>
        <p:txBody>
          <a:bodyPr anchor="t" rtlCol="false" tIns="0" lIns="0" bIns="0" rIns="0">
            <a:spAutoFit/>
          </a:bodyPr>
          <a:lstStyle/>
          <a:p>
            <a:pPr algn="ctr">
              <a:lnSpc>
                <a:spcPts val="1399"/>
              </a:lnSpc>
              <a:spcBef>
                <a:spcPct val="0"/>
              </a:spcBef>
            </a:pPr>
            <a:r>
              <a:rPr lang="en-US" b="true" sz="999">
                <a:solidFill>
                  <a:srgbClr val="000000"/>
                </a:solidFill>
                <a:latin typeface="Montserrat Bold"/>
                <a:ea typeface="Montserrat Bold"/>
                <a:cs typeface="Montserrat Bold"/>
                <a:sym typeface="Montserrat Bold"/>
              </a:rPr>
              <a:t>STATE OF CALIFORNIA DEPARTMENT OF JUSTICE - OPENJUSTICE</a:t>
            </a:r>
          </a:p>
        </p:txBody>
      </p:sp>
      <p:pic>
        <p:nvPicPr>
          <p:cNvPr name="Picture 3" id="3"/>
          <p:cNvPicPr>
            <a:picLocks noChangeAspect="true"/>
          </p:cNvPicPr>
          <p:nvPr/>
        </p:nvPicPr>
        <p:blipFill>
          <a:blip r:embed="rId2"/>
          <a:stretch>
            <a:fillRect/>
          </a:stretch>
        </p:blipFill>
        <p:spPr>
          <a:xfrm rot="0">
            <a:off x="1284716" y="680113"/>
            <a:ext cx="15766193" cy="9330816"/>
          </a:xfrm>
          <a:prstGeom prst="rect">
            <a:avLst/>
          </a:prstGeom>
        </p:spPr>
      </p:pic>
      <p:grpSp>
        <p:nvGrpSpPr>
          <p:cNvPr name="Group 4" id="4"/>
          <p:cNvGrpSpPr/>
          <p:nvPr/>
        </p:nvGrpSpPr>
        <p:grpSpPr>
          <a:xfrm rot="0">
            <a:off x="9167812" y="8854440"/>
            <a:ext cx="742950" cy="190500"/>
            <a:chOff x="0" y="0"/>
            <a:chExt cx="990600" cy="254000"/>
          </a:xfrm>
        </p:grpSpPr>
        <p:sp>
          <p:nvSpPr>
            <p:cNvPr name="Freeform 5" id="5"/>
            <p:cNvSpPr/>
            <p:nvPr/>
          </p:nvSpPr>
          <p:spPr>
            <a:xfrm flipH="false" flipV="false" rot="0">
              <a:off x="0" y="0"/>
              <a:ext cx="990600" cy="254000"/>
            </a:xfrm>
            <a:custGeom>
              <a:avLst/>
              <a:gdLst/>
              <a:ahLst/>
              <a:cxnLst/>
              <a:rect r="r" b="b" t="t" l="l"/>
              <a:pathLst>
                <a:path h="254000" w="990600">
                  <a:moveTo>
                    <a:pt x="0" y="0"/>
                  </a:moveTo>
                  <a:lnTo>
                    <a:pt x="990600" y="0"/>
                  </a:lnTo>
                  <a:lnTo>
                    <a:pt x="990600" y="254000"/>
                  </a:lnTo>
                  <a:lnTo>
                    <a:pt x="0" y="254000"/>
                  </a:lnTo>
                  <a:close/>
                </a:path>
              </a:pathLst>
            </a:custGeom>
            <a:solidFill>
              <a:srgbClr val="FFFFFF"/>
            </a:solidFill>
          </p:spPr>
        </p:sp>
        <p:sp>
          <p:nvSpPr>
            <p:cNvPr name="TextBox 6" id="6"/>
            <p:cNvSpPr txBox="true"/>
            <p:nvPr/>
          </p:nvSpPr>
          <p:spPr>
            <a:xfrm>
              <a:off x="0" y="-38100"/>
              <a:ext cx="990600" cy="292100"/>
            </a:xfrm>
            <a:prstGeom prst="rect">
              <a:avLst/>
            </a:prstGeom>
          </p:spPr>
          <p:txBody>
            <a:bodyPr anchor="ctr" rtlCol="false" tIns="50800" lIns="50800" bIns="50800" rIns="50800"/>
            <a:lstStyle/>
            <a:p>
              <a:pPr algn="l">
                <a:lnSpc>
                  <a:spcPts val="1679"/>
                </a:lnSpc>
              </a:pPr>
            </a:p>
          </p:txBody>
        </p:sp>
      </p:grpSp>
      <p:sp>
        <p:nvSpPr>
          <p:cNvPr name="AutoShape 7" id="7"/>
          <p:cNvSpPr/>
          <p:nvPr/>
        </p:nvSpPr>
        <p:spPr>
          <a:xfrm flipH="true">
            <a:off x="12561420" y="3014707"/>
            <a:ext cx="0" cy="5518256"/>
          </a:xfrm>
          <a:prstGeom prst="line">
            <a:avLst/>
          </a:prstGeom>
          <a:ln cap="flat" w="28575">
            <a:solidFill>
              <a:srgbClr val="A28231"/>
            </a:solidFill>
            <a:prstDash val="lgDash"/>
            <a:headEnd type="none" len="sm" w="sm"/>
            <a:tailEnd type="none" len="sm" w="sm"/>
          </a:ln>
        </p:spPr>
      </p:sp>
      <p:grpSp>
        <p:nvGrpSpPr>
          <p:cNvPr name="Group 8" id="8"/>
          <p:cNvGrpSpPr/>
          <p:nvPr/>
        </p:nvGrpSpPr>
        <p:grpSpPr>
          <a:xfrm rot="0">
            <a:off x="11356843" y="3014707"/>
            <a:ext cx="2857500" cy="384683"/>
            <a:chOff x="0" y="0"/>
            <a:chExt cx="3810000" cy="512911"/>
          </a:xfrm>
        </p:grpSpPr>
        <p:sp>
          <p:nvSpPr>
            <p:cNvPr name="Freeform 9" id="9"/>
            <p:cNvSpPr/>
            <p:nvPr/>
          </p:nvSpPr>
          <p:spPr>
            <a:xfrm flipH="false" flipV="false" rot="0">
              <a:off x="0" y="0"/>
              <a:ext cx="3810000" cy="512911"/>
            </a:xfrm>
            <a:custGeom>
              <a:avLst/>
              <a:gdLst/>
              <a:ahLst/>
              <a:cxnLst/>
              <a:rect r="r" b="b" t="t" l="l"/>
              <a:pathLst>
                <a:path h="512911" w="3810000">
                  <a:moveTo>
                    <a:pt x="101600" y="0"/>
                  </a:moveTo>
                  <a:lnTo>
                    <a:pt x="3708400" y="0"/>
                  </a:lnTo>
                  <a:cubicBezTo>
                    <a:pt x="3764512" y="0"/>
                    <a:pt x="3810000" y="45928"/>
                    <a:pt x="3810000" y="102582"/>
                  </a:cubicBezTo>
                  <a:lnTo>
                    <a:pt x="3810000" y="410328"/>
                  </a:lnTo>
                  <a:cubicBezTo>
                    <a:pt x="3810000" y="466983"/>
                    <a:pt x="3764512" y="512911"/>
                    <a:pt x="3708400" y="512911"/>
                  </a:cubicBezTo>
                  <a:lnTo>
                    <a:pt x="101600" y="512911"/>
                  </a:lnTo>
                  <a:cubicBezTo>
                    <a:pt x="45488" y="512911"/>
                    <a:pt x="0" y="466983"/>
                    <a:pt x="0" y="410328"/>
                  </a:cubicBezTo>
                  <a:lnTo>
                    <a:pt x="0" y="102582"/>
                  </a:lnTo>
                  <a:cubicBezTo>
                    <a:pt x="0" y="45928"/>
                    <a:pt x="45488" y="0"/>
                    <a:pt x="101600" y="0"/>
                  </a:cubicBezTo>
                  <a:close/>
                </a:path>
              </a:pathLst>
            </a:custGeom>
            <a:solidFill>
              <a:srgbClr val="FFFFFF">
                <a:alpha val="95686"/>
              </a:srgbClr>
            </a:solidFill>
            <a:ln w="19050" cap="sq">
              <a:solidFill>
                <a:srgbClr val="A28231">
                  <a:alpha val="95686"/>
                </a:srgbClr>
              </a:solidFill>
              <a:prstDash val="solid"/>
              <a:miter/>
            </a:ln>
          </p:spPr>
        </p:sp>
        <p:sp>
          <p:nvSpPr>
            <p:cNvPr name="TextBox 10" id="10"/>
            <p:cNvSpPr txBox="true"/>
            <p:nvPr/>
          </p:nvSpPr>
          <p:spPr>
            <a:xfrm>
              <a:off x="0" y="-19050"/>
              <a:ext cx="3810000" cy="531961"/>
            </a:xfrm>
            <a:prstGeom prst="rect">
              <a:avLst/>
            </a:prstGeom>
          </p:spPr>
          <p:txBody>
            <a:bodyPr anchor="ctr" rtlCol="false" tIns="101600" lIns="101600" bIns="101600" rIns="101600"/>
            <a:lstStyle/>
            <a:p>
              <a:pPr algn="ctr">
                <a:lnSpc>
                  <a:spcPts val="1399"/>
                </a:lnSpc>
              </a:pPr>
              <a:r>
                <a:rPr lang="en-US" sz="999" b="true">
                  <a:solidFill>
                    <a:srgbClr val="002557">
                      <a:alpha val="95686"/>
                    </a:srgbClr>
                  </a:solidFill>
                  <a:latin typeface="Montserrat Bold"/>
                  <a:ea typeface="Montserrat Bold"/>
                  <a:cs typeface="Montserrat Bold"/>
                  <a:sym typeface="Montserrat Bold"/>
                </a:rPr>
                <a:t>RTIC/DFR Launch — 2024</a:t>
              </a:r>
            </a:p>
          </p:txBody>
        </p:sp>
      </p:grpSp>
      <p:sp>
        <p:nvSpPr>
          <p:cNvPr name="AutoShape 11" id="11"/>
          <p:cNvSpPr/>
          <p:nvPr/>
        </p:nvSpPr>
        <p:spPr>
          <a:xfrm flipH="true">
            <a:off x="4194949" y="2813185"/>
            <a:ext cx="33309" cy="5719778"/>
          </a:xfrm>
          <a:prstGeom prst="line">
            <a:avLst/>
          </a:prstGeom>
          <a:ln cap="flat" w="28575">
            <a:solidFill>
              <a:srgbClr val="A28231"/>
            </a:solidFill>
            <a:prstDash val="lgDash"/>
            <a:headEnd type="none" len="sm" w="sm"/>
            <a:tailEnd type="none" len="sm" w="sm"/>
          </a:ln>
        </p:spPr>
      </p:sp>
      <p:grpSp>
        <p:nvGrpSpPr>
          <p:cNvPr name="Group 12" id="12"/>
          <p:cNvGrpSpPr/>
          <p:nvPr/>
        </p:nvGrpSpPr>
        <p:grpSpPr>
          <a:xfrm rot="0">
            <a:off x="2500610" y="2428502"/>
            <a:ext cx="2857500" cy="384683"/>
            <a:chOff x="0" y="0"/>
            <a:chExt cx="3810000" cy="512911"/>
          </a:xfrm>
        </p:grpSpPr>
        <p:sp>
          <p:nvSpPr>
            <p:cNvPr name="Freeform 13" id="13"/>
            <p:cNvSpPr/>
            <p:nvPr/>
          </p:nvSpPr>
          <p:spPr>
            <a:xfrm flipH="false" flipV="false" rot="0">
              <a:off x="0" y="0"/>
              <a:ext cx="3810000" cy="512911"/>
            </a:xfrm>
            <a:custGeom>
              <a:avLst/>
              <a:gdLst/>
              <a:ahLst/>
              <a:cxnLst/>
              <a:rect r="r" b="b" t="t" l="l"/>
              <a:pathLst>
                <a:path h="512911" w="3810000">
                  <a:moveTo>
                    <a:pt x="101600" y="0"/>
                  </a:moveTo>
                  <a:lnTo>
                    <a:pt x="3708400" y="0"/>
                  </a:lnTo>
                  <a:cubicBezTo>
                    <a:pt x="3764512" y="0"/>
                    <a:pt x="3810000" y="45928"/>
                    <a:pt x="3810000" y="102582"/>
                  </a:cubicBezTo>
                  <a:lnTo>
                    <a:pt x="3810000" y="410328"/>
                  </a:lnTo>
                  <a:cubicBezTo>
                    <a:pt x="3810000" y="466983"/>
                    <a:pt x="3764512" y="512911"/>
                    <a:pt x="3708400" y="512911"/>
                  </a:cubicBezTo>
                  <a:lnTo>
                    <a:pt x="101600" y="512911"/>
                  </a:lnTo>
                  <a:cubicBezTo>
                    <a:pt x="45488" y="512911"/>
                    <a:pt x="0" y="466983"/>
                    <a:pt x="0" y="410328"/>
                  </a:cubicBezTo>
                  <a:lnTo>
                    <a:pt x="0" y="102582"/>
                  </a:lnTo>
                  <a:cubicBezTo>
                    <a:pt x="0" y="45928"/>
                    <a:pt x="45488" y="0"/>
                    <a:pt x="101600" y="0"/>
                  </a:cubicBezTo>
                  <a:close/>
                </a:path>
              </a:pathLst>
            </a:custGeom>
            <a:solidFill>
              <a:srgbClr val="FFFFFF">
                <a:alpha val="95686"/>
              </a:srgbClr>
            </a:solidFill>
            <a:ln w="19050" cap="sq">
              <a:solidFill>
                <a:srgbClr val="A28231">
                  <a:alpha val="95686"/>
                </a:srgbClr>
              </a:solidFill>
              <a:prstDash val="solid"/>
              <a:miter/>
            </a:ln>
          </p:spPr>
        </p:sp>
        <p:sp>
          <p:nvSpPr>
            <p:cNvPr name="TextBox 14" id="14"/>
            <p:cNvSpPr txBox="true"/>
            <p:nvPr/>
          </p:nvSpPr>
          <p:spPr>
            <a:xfrm>
              <a:off x="0" y="-19050"/>
              <a:ext cx="3810000" cy="531961"/>
            </a:xfrm>
            <a:prstGeom prst="rect">
              <a:avLst/>
            </a:prstGeom>
          </p:spPr>
          <p:txBody>
            <a:bodyPr anchor="ctr" rtlCol="false" tIns="101600" lIns="101600" bIns="101600" rIns="101600"/>
            <a:lstStyle/>
            <a:p>
              <a:pPr algn="ctr">
                <a:lnSpc>
                  <a:spcPts val="1399"/>
                </a:lnSpc>
              </a:pPr>
              <a:r>
                <a:rPr lang="en-US" sz="999" b="true">
                  <a:solidFill>
                    <a:srgbClr val="002557">
                      <a:alpha val="95686"/>
                    </a:srgbClr>
                  </a:solidFill>
                  <a:latin typeface="Montserrat Bold"/>
                  <a:ea typeface="Montserrat Bold"/>
                  <a:cs typeface="Montserrat Bold"/>
                  <a:sym typeface="Montserrat Bold"/>
                </a:rPr>
                <a:t>Flock Introduced — End of 2020</a:t>
              </a:r>
            </a:p>
          </p:txBody>
        </p:sp>
      </p:grpSp>
      <p:sp>
        <p:nvSpPr>
          <p:cNvPr name="TextBox 15" id="15"/>
          <p:cNvSpPr txBox="true"/>
          <p:nvPr/>
        </p:nvSpPr>
        <p:spPr>
          <a:xfrm rot="0">
            <a:off x="4884837" y="775399"/>
            <a:ext cx="8518327" cy="771525"/>
          </a:xfrm>
          <a:prstGeom prst="rect">
            <a:avLst/>
          </a:prstGeom>
        </p:spPr>
        <p:txBody>
          <a:bodyPr anchor="t" rtlCol="false" tIns="0" lIns="0" bIns="0" rIns="0">
            <a:spAutoFit/>
          </a:bodyPr>
          <a:lstStyle/>
          <a:p>
            <a:pPr algn="l" marL="0" indent="0" lvl="0">
              <a:lnSpc>
                <a:spcPts val="6300"/>
              </a:lnSpc>
              <a:spcBef>
                <a:spcPct val="0"/>
              </a:spcBef>
            </a:pPr>
            <a:r>
              <a:rPr lang="en-US" b="true" sz="4500" strike="noStrike" u="none">
                <a:solidFill>
                  <a:srgbClr val="002557"/>
                </a:solidFill>
                <a:latin typeface="Open Sauce Bold"/>
                <a:ea typeface="Open Sauce Bold"/>
                <a:cs typeface="Open Sauce Bold"/>
                <a:sym typeface="Open Sauce Bold"/>
              </a:rPr>
              <a:t>SMPD Five Year Crime Trends</a:t>
            </a:r>
          </a:p>
        </p:txBody>
      </p:sp>
      <p:sp>
        <p:nvSpPr>
          <p:cNvPr name="AutoShape 16" id="16"/>
          <p:cNvSpPr/>
          <p:nvPr/>
        </p:nvSpPr>
        <p:spPr>
          <a:xfrm flipV="true">
            <a:off x="-117230" y="10287000"/>
            <a:ext cx="19376532" cy="12351"/>
          </a:xfrm>
          <a:prstGeom prst="line">
            <a:avLst/>
          </a:prstGeom>
          <a:ln cap="flat" w="85725">
            <a:solidFill>
              <a:srgbClr val="1E498A"/>
            </a:solidFill>
            <a:prstDash val="solid"/>
            <a:headEnd type="none" len="sm" w="sm"/>
            <a:tailEnd type="none" len="sm" w="sm"/>
          </a:ln>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884837" y="775399"/>
            <a:ext cx="8518327" cy="771525"/>
          </a:xfrm>
          <a:prstGeom prst="rect">
            <a:avLst/>
          </a:prstGeom>
        </p:spPr>
        <p:txBody>
          <a:bodyPr anchor="t" rtlCol="false" tIns="0" lIns="0" bIns="0" rIns="0">
            <a:spAutoFit/>
          </a:bodyPr>
          <a:lstStyle/>
          <a:p>
            <a:pPr algn="l" marL="0" indent="0" lvl="0">
              <a:lnSpc>
                <a:spcPts val="6300"/>
              </a:lnSpc>
              <a:spcBef>
                <a:spcPct val="0"/>
              </a:spcBef>
            </a:pPr>
            <a:r>
              <a:rPr lang="en-US" b="true" sz="4500" strike="noStrike" u="none">
                <a:solidFill>
                  <a:srgbClr val="002557"/>
                </a:solidFill>
                <a:latin typeface="Open Sauce Bold"/>
                <a:ea typeface="Open Sauce Bold"/>
                <a:cs typeface="Open Sauce Bold"/>
                <a:sym typeface="Open Sauce Bold"/>
              </a:rPr>
              <a:t>SMPD Five Year Crime Trends</a:t>
            </a:r>
          </a:p>
        </p:txBody>
      </p:sp>
      <p:sp>
        <p:nvSpPr>
          <p:cNvPr name="TextBox 3" id="3"/>
          <p:cNvSpPr txBox="true"/>
          <p:nvPr/>
        </p:nvSpPr>
        <p:spPr>
          <a:xfrm rot="0">
            <a:off x="1028700" y="9872612"/>
            <a:ext cx="4329410" cy="165100"/>
          </a:xfrm>
          <a:prstGeom prst="rect">
            <a:avLst/>
          </a:prstGeom>
        </p:spPr>
        <p:txBody>
          <a:bodyPr anchor="t" rtlCol="false" tIns="0" lIns="0" bIns="0" rIns="0">
            <a:spAutoFit/>
          </a:bodyPr>
          <a:lstStyle/>
          <a:p>
            <a:pPr algn="ctr">
              <a:lnSpc>
                <a:spcPts val="1399"/>
              </a:lnSpc>
              <a:spcBef>
                <a:spcPct val="0"/>
              </a:spcBef>
            </a:pPr>
            <a:r>
              <a:rPr lang="en-US" b="true" sz="999">
                <a:solidFill>
                  <a:srgbClr val="000000"/>
                </a:solidFill>
                <a:latin typeface="Montserrat Bold"/>
                <a:ea typeface="Montserrat Bold"/>
                <a:cs typeface="Montserrat Bold"/>
                <a:sym typeface="Montserrat Bold"/>
              </a:rPr>
              <a:t>STATE OF CALIFORNIA DEPARTMENT OF JUSTICE - OPENJUSTICE</a:t>
            </a:r>
          </a:p>
        </p:txBody>
      </p:sp>
      <p:pic>
        <p:nvPicPr>
          <p:cNvPr name="Picture 4" id="4"/>
          <p:cNvPicPr>
            <a:picLocks noChangeAspect="true"/>
          </p:cNvPicPr>
          <p:nvPr/>
        </p:nvPicPr>
        <p:blipFill>
          <a:blip r:embed="rId2"/>
          <a:stretch>
            <a:fillRect/>
          </a:stretch>
        </p:blipFill>
        <p:spPr>
          <a:xfrm rot="0">
            <a:off x="1110219" y="721385"/>
            <a:ext cx="16141588" cy="9563301"/>
          </a:xfrm>
          <a:prstGeom prst="rect">
            <a:avLst/>
          </a:prstGeom>
        </p:spPr>
      </p:pic>
      <p:sp>
        <p:nvSpPr>
          <p:cNvPr name="AutoShape 5" id="5"/>
          <p:cNvSpPr/>
          <p:nvPr/>
        </p:nvSpPr>
        <p:spPr>
          <a:xfrm>
            <a:off x="3693795" y="2903915"/>
            <a:ext cx="14287" cy="5382141"/>
          </a:xfrm>
          <a:prstGeom prst="line">
            <a:avLst/>
          </a:prstGeom>
          <a:ln cap="flat" w="28575">
            <a:solidFill>
              <a:srgbClr val="A28231"/>
            </a:solidFill>
            <a:prstDash val="lgDash"/>
            <a:headEnd type="none" len="sm" w="sm"/>
            <a:tailEnd type="none" len="sm" w="sm"/>
          </a:ln>
        </p:spPr>
      </p:sp>
      <p:grpSp>
        <p:nvGrpSpPr>
          <p:cNvPr name="Group 6" id="6"/>
          <p:cNvGrpSpPr/>
          <p:nvPr/>
        </p:nvGrpSpPr>
        <p:grpSpPr>
          <a:xfrm rot="0">
            <a:off x="3122295" y="8408670"/>
            <a:ext cx="12784455" cy="447675"/>
            <a:chOff x="0" y="0"/>
            <a:chExt cx="17045940" cy="596900"/>
          </a:xfrm>
        </p:grpSpPr>
        <p:sp>
          <p:nvSpPr>
            <p:cNvPr name="Freeform 7" id="7"/>
            <p:cNvSpPr/>
            <p:nvPr/>
          </p:nvSpPr>
          <p:spPr>
            <a:xfrm flipH="false" flipV="false" rot="0">
              <a:off x="0" y="0"/>
              <a:ext cx="17045939" cy="596900"/>
            </a:xfrm>
            <a:custGeom>
              <a:avLst/>
              <a:gdLst/>
              <a:ahLst/>
              <a:cxnLst/>
              <a:rect r="r" b="b" t="t" l="l"/>
              <a:pathLst>
                <a:path h="596900" w="17045939">
                  <a:moveTo>
                    <a:pt x="0" y="0"/>
                  </a:moveTo>
                  <a:lnTo>
                    <a:pt x="17045939" y="0"/>
                  </a:lnTo>
                  <a:lnTo>
                    <a:pt x="17045939" y="596900"/>
                  </a:lnTo>
                  <a:lnTo>
                    <a:pt x="0" y="596900"/>
                  </a:lnTo>
                  <a:close/>
                </a:path>
              </a:pathLst>
            </a:custGeom>
            <a:solidFill>
              <a:srgbClr val="FFFFFF"/>
            </a:solidFill>
          </p:spPr>
        </p:sp>
        <p:sp>
          <p:nvSpPr>
            <p:cNvPr name="TextBox 8" id="8"/>
            <p:cNvSpPr txBox="true"/>
            <p:nvPr/>
          </p:nvSpPr>
          <p:spPr>
            <a:xfrm>
              <a:off x="0" y="-38100"/>
              <a:ext cx="17045940" cy="635000"/>
            </a:xfrm>
            <a:prstGeom prst="rect">
              <a:avLst/>
            </a:prstGeom>
          </p:spPr>
          <p:txBody>
            <a:bodyPr anchor="ctr" rtlCol="false" tIns="50800" lIns="50800" bIns="50800" rIns="50800"/>
            <a:lstStyle/>
            <a:p>
              <a:pPr algn="l">
                <a:lnSpc>
                  <a:spcPts val="1679"/>
                </a:lnSpc>
              </a:pPr>
            </a:p>
          </p:txBody>
        </p:sp>
      </p:grpSp>
      <p:sp>
        <p:nvSpPr>
          <p:cNvPr name="TextBox 9" id="9"/>
          <p:cNvSpPr txBox="true"/>
          <p:nvPr/>
        </p:nvSpPr>
        <p:spPr>
          <a:xfrm rot="0">
            <a:off x="3236595" y="8408670"/>
            <a:ext cx="914400" cy="259715"/>
          </a:xfrm>
          <a:prstGeom prst="rect">
            <a:avLst/>
          </a:prstGeom>
        </p:spPr>
        <p:txBody>
          <a:bodyPr anchor="t" rtlCol="false" tIns="0" lIns="0" bIns="0" rIns="0">
            <a:spAutoFit/>
          </a:bodyPr>
          <a:lstStyle/>
          <a:p>
            <a:pPr algn="ctr">
              <a:lnSpc>
                <a:spcPts val="1960"/>
              </a:lnSpc>
            </a:pPr>
            <a:r>
              <a:rPr lang="en-US" sz="1400">
                <a:solidFill>
                  <a:srgbClr val="1D1D1F"/>
                </a:solidFill>
                <a:latin typeface="Arimo"/>
                <a:ea typeface="Arimo"/>
                <a:cs typeface="Arimo"/>
                <a:sym typeface="Arimo"/>
              </a:rPr>
              <a:t>2020</a:t>
            </a:r>
          </a:p>
        </p:txBody>
      </p:sp>
      <p:sp>
        <p:nvSpPr>
          <p:cNvPr name="TextBox 10" id="10"/>
          <p:cNvSpPr txBox="true"/>
          <p:nvPr/>
        </p:nvSpPr>
        <p:spPr>
          <a:xfrm rot="0">
            <a:off x="5526405" y="8408670"/>
            <a:ext cx="914400" cy="259715"/>
          </a:xfrm>
          <a:prstGeom prst="rect">
            <a:avLst/>
          </a:prstGeom>
        </p:spPr>
        <p:txBody>
          <a:bodyPr anchor="t" rtlCol="false" tIns="0" lIns="0" bIns="0" rIns="0">
            <a:spAutoFit/>
          </a:bodyPr>
          <a:lstStyle/>
          <a:p>
            <a:pPr algn="ctr">
              <a:lnSpc>
                <a:spcPts val="1960"/>
              </a:lnSpc>
            </a:pPr>
            <a:r>
              <a:rPr lang="en-US" sz="1400">
                <a:solidFill>
                  <a:srgbClr val="1D1D1F"/>
                </a:solidFill>
                <a:latin typeface="Arimo"/>
                <a:ea typeface="Arimo"/>
                <a:cs typeface="Arimo"/>
                <a:sym typeface="Arimo"/>
              </a:rPr>
              <a:t>2021</a:t>
            </a:r>
          </a:p>
        </p:txBody>
      </p:sp>
      <p:sp>
        <p:nvSpPr>
          <p:cNvPr name="TextBox 11" id="11"/>
          <p:cNvSpPr txBox="true"/>
          <p:nvPr/>
        </p:nvSpPr>
        <p:spPr>
          <a:xfrm rot="0">
            <a:off x="7816215" y="8408670"/>
            <a:ext cx="914400" cy="259715"/>
          </a:xfrm>
          <a:prstGeom prst="rect">
            <a:avLst/>
          </a:prstGeom>
        </p:spPr>
        <p:txBody>
          <a:bodyPr anchor="t" rtlCol="false" tIns="0" lIns="0" bIns="0" rIns="0">
            <a:spAutoFit/>
          </a:bodyPr>
          <a:lstStyle/>
          <a:p>
            <a:pPr algn="ctr">
              <a:lnSpc>
                <a:spcPts val="1960"/>
              </a:lnSpc>
            </a:pPr>
            <a:r>
              <a:rPr lang="en-US" sz="1400">
                <a:solidFill>
                  <a:srgbClr val="1D1D1F"/>
                </a:solidFill>
                <a:latin typeface="Arimo"/>
                <a:ea typeface="Arimo"/>
                <a:cs typeface="Arimo"/>
                <a:sym typeface="Arimo"/>
              </a:rPr>
              <a:t>2022</a:t>
            </a:r>
          </a:p>
        </p:txBody>
      </p:sp>
      <p:sp>
        <p:nvSpPr>
          <p:cNvPr name="TextBox 12" id="12"/>
          <p:cNvSpPr txBox="true"/>
          <p:nvPr/>
        </p:nvSpPr>
        <p:spPr>
          <a:xfrm rot="0">
            <a:off x="10106025" y="8408670"/>
            <a:ext cx="914400" cy="259715"/>
          </a:xfrm>
          <a:prstGeom prst="rect">
            <a:avLst/>
          </a:prstGeom>
        </p:spPr>
        <p:txBody>
          <a:bodyPr anchor="t" rtlCol="false" tIns="0" lIns="0" bIns="0" rIns="0">
            <a:spAutoFit/>
          </a:bodyPr>
          <a:lstStyle/>
          <a:p>
            <a:pPr algn="ctr">
              <a:lnSpc>
                <a:spcPts val="1960"/>
              </a:lnSpc>
            </a:pPr>
            <a:r>
              <a:rPr lang="en-US" sz="1400">
                <a:solidFill>
                  <a:srgbClr val="1D1D1F"/>
                </a:solidFill>
                <a:latin typeface="Arimo"/>
                <a:ea typeface="Arimo"/>
                <a:cs typeface="Arimo"/>
                <a:sym typeface="Arimo"/>
              </a:rPr>
              <a:t>2023</a:t>
            </a:r>
          </a:p>
        </p:txBody>
      </p:sp>
      <p:sp>
        <p:nvSpPr>
          <p:cNvPr name="TextBox 13" id="13"/>
          <p:cNvSpPr txBox="true"/>
          <p:nvPr/>
        </p:nvSpPr>
        <p:spPr>
          <a:xfrm rot="0">
            <a:off x="12395835" y="8408670"/>
            <a:ext cx="914400" cy="259715"/>
          </a:xfrm>
          <a:prstGeom prst="rect">
            <a:avLst/>
          </a:prstGeom>
        </p:spPr>
        <p:txBody>
          <a:bodyPr anchor="t" rtlCol="false" tIns="0" lIns="0" bIns="0" rIns="0">
            <a:spAutoFit/>
          </a:bodyPr>
          <a:lstStyle/>
          <a:p>
            <a:pPr algn="ctr">
              <a:lnSpc>
                <a:spcPts val="1960"/>
              </a:lnSpc>
            </a:pPr>
            <a:r>
              <a:rPr lang="en-US" sz="1400">
                <a:solidFill>
                  <a:srgbClr val="1D1D1F"/>
                </a:solidFill>
                <a:latin typeface="Arimo"/>
                <a:ea typeface="Arimo"/>
                <a:cs typeface="Arimo"/>
                <a:sym typeface="Arimo"/>
              </a:rPr>
              <a:t>2024</a:t>
            </a:r>
          </a:p>
        </p:txBody>
      </p:sp>
      <p:sp>
        <p:nvSpPr>
          <p:cNvPr name="TextBox 14" id="14"/>
          <p:cNvSpPr txBox="true"/>
          <p:nvPr/>
        </p:nvSpPr>
        <p:spPr>
          <a:xfrm rot="0">
            <a:off x="14685645" y="8408670"/>
            <a:ext cx="914400" cy="259715"/>
          </a:xfrm>
          <a:prstGeom prst="rect">
            <a:avLst/>
          </a:prstGeom>
        </p:spPr>
        <p:txBody>
          <a:bodyPr anchor="t" rtlCol="false" tIns="0" lIns="0" bIns="0" rIns="0">
            <a:spAutoFit/>
          </a:bodyPr>
          <a:lstStyle/>
          <a:p>
            <a:pPr algn="ctr">
              <a:lnSpc>
                <a:spcPts val="1960"/>
              </a:lnSpc>
            </a:pPr>
            <a:r>
              <a:rPr lang="en-US" sz="1400">
                <a:solidFill>
                  <a:srgbClr val="1D1D1F"/>
                </a:solidFill>
                <a:latin typeface="Arimo"/>
                <a:ea typeface="Arimo"/>
                <a:cs typeface="Arimo"/>
                <a:sym typeface="Arimo"/>
              </a:rPr>
              <a:t>2025</a:t>
            </a:r>
          </a:p>
        </p:txBody>
      </p:sp>
      <p:grpSp>
        <p:nvGrpSpPr>
          <p:cNvPr name="Group 15" id="15"/>
          <p:cNvGrpSpPr/>
          <p:nvPr/>
        </p:nvGrpSpPr>
        <p:grpSpPr>
          <a:xfrm rot="0">
            <a:off x="3236595" y="2497909"/>
            <a:ext cx="2857500" cy="406006"/>
            <a:chOff x="0" y="0"/>
            <a:chExt cx="3810000" cy="541342"/>
          </a:xfrm>
        </p:grpSpPr>
        <p:sp>
          <p:nvSpPr>
            <p:cNvPr name="Freeform 16" id="16"/>
            <p:cNvSpPr/>
            <p:nvPr/>
          </p:nvSpPr>
          <p:spPr>
            <a:xfrm flipH="false" flipV="false" rot="0">
              <a:off x="0" y="0"/>
              <a:ext cx="3810000" cy="541342"/>
            </a:xfrm>
            <a:custGeom>
              <a:avLst/>
              <a:gdLst/>
              <a:ahLst/>
              <a:cxnLst/>
              <a:rect r="r" b="b" t="t" l="l"/>
              <a:pathLst>
                <a:path h="541342" w="3810000">
                  <a:moveTo>
                    <a:pt x="101600" y="0"/>
                  </a:moveTo>
                  <a:lnTo>
                    <a:pt x="3708400" y="0"/>
                  </a:lnTo>
                  <a:cubicBezTo>
                    <a:pt x="3764512" y="0"/>
                    <a:pt x="3810000" y="48473"/>
                    <a:pt x="3810000" y="108268"/>
                  </a:cubicBezTo>
                  <a:lnTo>
                    <a:pt x="3810000" y="433073"/>
                  </a:lnTo>
                  <a:cubicBezTo>
                    <a:pt x="3810000" y="492868"/>
                    <a:pt x="3764512" y="541342"/>
                    <a:pt x="3708400" y="541342"/>
                  </a:cubicBezTo>
                  <a:lnTo>
                    <a:pt x="101600" y="541342"/>
                  </a:lnTo>
                  <a:cubicBezTo>
                    <a:pt x="45488" y="541342"/>
                    <a:pt x="0" y="492868"/>
                    <a:pt x="0" y="433073"/>
                  </a:cubicBezTo>
                  <a:lnTo>
                    <a:pt x="0" y="108268"/>
                  </a:lnTo>
                  <a:cubicBezTo>
                    <a:pt x="0" y="48473"/>
                    <a:pt x="45488" y="0"/>
                    <a:pt x="101600" y="0"/>
                  </a:cubicBezTo>
                  <a:close/>
                </a:path>
              </a:pathLst>
            </a:custGeom>
            <a:solidFill>
              <a:srgbClr val="FFFFFF">
                <a:alpha val="95686"/>
              </a:srgbClr>
            </a:solidFill>
            <a:ln w="19050" cap="sq">
              <a:solidFill>
                <a:srgbClr val="A28231">
                  <a:alpha val="95686"/>
                </a:srgbClr>
              </a:solidFill>
              <a:prstDash val="solid"/>
              <a:miter/>
            </a:ln>
          </p:spPr>
        </p:sp>
        <p:sp>
          <p:nvSpPr>
            <p:cNvPr name="TextBox 17" id="17"/>
            <p:cNvSpPr txBox="true"/>
            <p:nvPr/>
          </p:nvSpPr>
          <p:spPr>
            <a:xfrm>
              <a:off x="0" y="-28575"/>
              <a:ext cx="3810000" cy="569917"/>
            </a:xfrm>
            <a:prstGeom prst="rect">
              <a:avLst/>
            </a:prstGeom>
          </p:spPr>
          <p:txBody>
            <a:bodyPr anchor="ctr" rtlCol="false" tIns="101600" lIns="101600" bIns="101600" rIns="101600"/>
            <a:lstStyle/>
            <a:p>
              <a:pPr algn="ctr">
                <a:lnSpc>
                  <a:spcPts val="1539"/>
                </a:lnSpc>
              </a:pPr>
              <a:r>
                <a:rPr lang="en-US" sz="1099" b="true">
                  <a:solidFill>
                    <a:srgbClr val="002557">
                      <a:alpha val="95686"/>
                    </a:srgbClr>
                  </a:solidFill>
                  <a:latin typeface="Montserrat Bold"/>
                  <a:ea typeface="Montserrat Bold"/>
                  <a:cs typeface="Montserrat Bold"/>
                  <a:sym typeface="Montserrat Bold"/>
                </a:rPr>
                <a:t>Flock Introduced — 2020</a:t>
              </a:r>
            </a:p>
          </p:txBody>
        </p:sp>
      </p:grpSp>
      <p:sp>
        <p:nvSpPr>
          <p:cNvPr name="AutoShape 18" id="18"/>
          <p:cNvSpPr/>
          <p:nvPr/>
        </p:nvSpPr>
        <p:spPr>
          <a:xfrm>
            <a:off x="12853035" y="5516600"/>
            <a:ext cx="20002" cy="3045740"/>
          </a:xfrm>
          <a:prstGeom prst="line">
            <a:avLst/>
          </a:prstGeom>
          <a:ln cap="flat" w="28575">
            <a:solidFill>
              <a:srgbClr val="A28231"/>
            </a:solidFill>
            <a:prstDash val="lgDash"/>
            <a:headEnd type="none" len="sm" w="sm"/>
            <a:tailEnd type="none" len="sm" w="sm"/>
          </a:ln>
        </p:spPr>
      </p:sp>
      <p:grpSp>
        <p:nvGrpSpPr>
          <p:cNvPr name="Group 19" id="19"/>
          <p:cNvGrpSpPr/>
          <p:nvPr/>
        </p:nvGrpSpPr>
        <p:grpSpPr>
          <a:xfrm rot="0">
            <a:off x="11424285" y="5131917"/>
            <a:ext cx="2857500" cy="384683"/>
            <a:chOff x="0" y="0"/>
            <a:chExt cx="3810000" cy="512911"/>
          </a:xfrm>
        </p:grpSpPr>
        <p:sp>
          <p:nvSpPr>
            <p:cNvPr name="Freeform 20" id="20"/>
            <p:cNvSpPr/>
            <p:nvPr/>
          </p:nvSpPr>
          <p:spPr>
            <a:xfrm flipH="false" flipV="false" rot="0">
              <a:off x="0" y="0"/>
              <a:ext cx="3810000" cy="512911"/>
            </a:xfrm>
            <a:custGeom>
              <a:avLst/>
              <a:gdLst/>
              <a:ahLst/>
              <a:cxnLst/>
              <a:rect r="r" b="b" t="t" l="l"/>
              <a:pathLst>
                <a:path h="512911" w="3810000">
                  <a:moveTo>
                    <a:pt x="101600" y="0"/>
                  </a:moveTo>
                  <a:lnTo>
                    <a:pt x="3708400" y="0"/>
                  </a:lnTo>
                  <a:cubicBezTo>
                    <a:pt x="3764512" y="0"/>
                    <a:pt x="3810000" y="45928"/>
                    <a:pt x="3810000" y="102582"/>
                  </a:cubicBezTo>
                  <a:lnTo>
                    <a:pt x="3810000" y="410328"/>
                  </a:lnTo>
                  <a:cubicBezTo>
                    <a:pt x="3810000" y="466983"/>
                    <a:pt x="3764512" y="512911"/>
                    <a:pt x="3708400" y="512911"/>
                  </a:cubicBezTo>
                  <a:lnTo>
                    <a:pt x="101600" y="512911"/>
                  </a:lnTo>
                  <a:cubicBezTo>
                    <a:pt x="45488" y="512911"/>
                    <a:pt x="0" y="466983"/>
                    <a:pt x="0" y="410328"/>
                  </a:cubicBezTo>
                  <a:lnTo>
                    <a:pt x="0" y="102582"/>
                  </a:lnTo>
                  <a:cubicBezTo>
                    <a:pt x="0" y="45928"/>
                    <a:pt x="45488" y="0"/>
                    <a:pt x="101600" y="0"/>
                  </a:cubicBezTo>
                  <a:close/>
                </a:path>
              </a:pathLst>
            </a:custGeom>
            <a:solidFill>
              <a:srgbClr val="FFFFFF">
                <a:alpha val="95686"/>
              </a:srgbClr>
            </a:solidFill>
            <a:ln w="19050" cap="sq">
              <a:solidFill>
                <a:srgbClr val="A28231">
                  <a:alpha val="95686"/>
                </a:srgbClr>
              </a:solidFill>
              <a:prstDash val="solid"/>
              <a:miter/>
            </a:ln>
          </p:spPr>
        </p:sp>
        <p:sp>
          <p:nvSpPr>
            <p:cNvPr name="TextBox 21" id="21"/>
            <p:cNvSpPr txBox="true"/>
            <p:nvPr/>
          </p:nvSpPr>
          <p:spPr>
            <a:xfrm>
              <a:off x="0" y="-19050"/>
              <a:ext cx="3810000" cy="531961"/>
            </a:xfrm>
            <a:prstGeom prst="rect">
              <a:avLst/>
            </a:prstGeom>
          </p:spPr>
          <p:txBody>
            <a:bodyPr anchor="ctr" rtlCol="false" tIns="101600" lIns="101600" bIns="101600" rIns="101600"/>
            <a:lstStyle/>
            <a:p>
              <a:pPr algn="ctr">
                <a:lnSpc>
                  <a:spcPts val="1399"/>
                </a:lnSpc>
              </a:pPr>
              <a:r>
                <a:rPr lang="en-US" sz="999" b="true">
                  <a:solidFill>
                    <a:srgbClr val="002557">
                      <a:alpha val="95686"/>
                    </a:srgbClr>
                  </a:solidFill>
                  <a:latin typeface="Montserrat Bold"/>
                  <a:ea typeface="Montserrat Bold"/>
                  <a:cs typeface="Montserrat Bold"/>
                  <a:sym typeface="Montserrat Bold"/>
                </a:rPr>
                <a:t>RTIC/DFR Launch — 2024</a:t>
              </a:r>
            </a:p>
          </p:txBody>
        </p:sp>
      </p:grpSp>
      <p:sp>
        <p:nvSpPr>
          <p:cNvPr name="AutoShape 22" id="22"/>
          <p:cNvSpPr/>
          <p:nvPr/>
        </p:nvSpPr>
        <p:spPr>
          <a:xfrm flipV="true">
            <a:off x="-117230" y="10287000"/>
            <a:ext cx="19376532" cy="12351"/>
          </a:xfrm>
          <a:prstGeom prst="line">
            <a:avLst/>
          </a:prstGeom>
          <a:ln cap="flat" w="85725">
            <a:solidFill>
              <a:srgbClr val="1E498A"/>
            </a:solidFill>
            <a:prstDash val="solid"/>
            <a:headEnd type="none" len="sm" w="sm"/>
            <a:tailEnd type="none" len="sm" w="sm"/>
          </a:ln>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884837" y="765874"/>
            <a:ext cx="8518327" cy="771525"/>
          </a:xfrm>
          <a:prstGeom prst="rect">
            <a:avLst/>
          </a:prstGeom>
        </p:spPr>
        <p:txBody>
          <a:bodyPr anchor="t" rtlCol="false" tIns="0" lIns="0" bIns="0" rIns="0">
            <a:spAutoFit/>
          </a:bodyPr>
          <a:lstStyle/>
          <a:p>
            <a:pPr algn="l" marL="0" indent="0" lvl="0">
              <a:lnSpc>
                <a:spcPts val="6300"/>
              </a:lnSpc>
              <a:spcBef>
                <a:spcPct val="0"/>
              </a:spcBef>
            </a:pPr>
            <a:r>
              <a:rPr lang="en-US" b="true" sz="4500" strike="noStrike" u="none">
                <a:solidFill>
                  <a:srgbClr val="002557"/>
                </a:solidFill>
                <a:latin typeface="Open Sauce Bold"/>
                <a:ea typeface="Open Sauce Bold"/>
                <a:cs typeface="Open Sauce Bold"/>
                <a:sym typeface="Open Sauce Bold"/>
              </a:rPr>
              <a:t>SMPD Five Year Crime Trends</a:t>
            </a:r>
          </a:p>
        </p:txBody>
      </p:sp>
      <p:sp>
        <p:nvSpPr>
          <p:cNvPr name="TextBox 3" id="3"/>
          <p:cNvSpPr txBox="true"/>
          <p:nvPr/>
        </p:nvSpPr>
        <p:spPr>
          <a:xfrm rot="0">
            <a:off x="1028700" y="9872612"/>
            <a:ext cx="4329410" cy="165100"/>
          </a:xfrm>
          <a:prstGeom prst="rect">
            <a:avLst/>
          </a:prstGeom>
        </p:spPr>
        <p:txBody>
          <a:bodyPr anchor="t" rtlCol="false" tIns="0" lIns="0" bIns="0" rIns="0">
            <a:spAutoFit/>
          </a:bodyPr>
          <a:lstStyle/>
          <a:p>
            <a:pPr algn="ctr">
              <a:lnSpc>
                <a:spcPts val="1399"/>
              </a:lnSpc>
              <a:spcBef>
                <a:spcPct val="0"/>
              </a:spcBef>
            </a:pPr>
            <a:r>
              <a:rPr lang="en-US" b="true" sz="999">
                <a:solidFill>
                  <a:srgbClr val="000000"/>
                </a:solidFill>
                <a:latin typeface="Montserrat Bold"/>
                <a:ea typeface="Montserrat Bold"/>
                <a:cs typeface="Montserrat Bold"/>
                <a:sym typeface="Montserrat Bold"/>
              </a:rPr>
              <a:t>STATE OF CALIFORNIA DEPARTMENT OF JUSTICE - OPENJUSTICE</a:t>
            </a:r>
          </a:p>
        </p:txBody>
      </p:sp>
      <p:pic>
        <p:nvPicPr>
          <p:cNvPr name="Picture 4" id="4"/>
          <p:cNvPicPr>
            <a:picLocks noChangeAspect="true"/>
          </p:cNvPicPr>
          <p:nvPr/>
        </p:nvPicPr>
        <p:blipFill>
          <a:blip r:embed="rId2"/>
          <a:stretch>
            <a:fillRect/>
          </a:stretch>
        </p:blipFill>
        <p:spPr>
          <a:xfrm rot="0">
            <a:off x="1143742" y="679321"/>
            <a:ext cx="15971408" cy="9571295"/>
          </a:xfrm>
          <a:prstGeom prst="rect">
            <a:avLst/>
          </a:prstGeom>
        </p:spPr>
      </p:pic>
      <p:grpSp>
        <p:nvGrpSpPr>
          <p:cNvPr name="Group 5" id="5"/>
          <p:cNvGrpSpPr/>
          <p:nvPr/>
        </p:nvGrpSpPr>
        <p:grpSpPr>
          <a:xfrm rot="0">
            <a:off x="2503801" y="8500566"/>
            <a:ext cx="13280399" cy="419100"/>
            <a:chOff x="0" y="0"/>
            <a:chExt cx="17707198" cy="558800"/>
          </a:xfrm>
        </p:grpSpPr>
        <p:sp>
          <p:nvSpPr>
            <p:cNvPr name="Freeform 6" id="6"/>
            <p:cNvSpPr/>
            <p:nvPr/>
          </p:nvSpPr>
          <p:spPr>
            <a:xfrm flipH="false" flipV="false" rot="0">
              <a:off x="0" y="0"/>
              <a:ext cx="17707198" cy="558800"/>
            </a:xfrm>
            <a:custGeom>
              <a:avLst/>
              <a:gdLst/>
              <a:ahLst/>
              <a:cxnLst/>
              <a:rect r="r" b="b" t="t" l="l"/>
              <a:pathLst>
                <a:path h="558800" w="17707198">
                  <a:moveTo>
                    <a:pt x="0" y="0"/>
                  </a:moveTo>
                  <a:lnTo>
                    <a:pt x="17707198" y="0"/>
                  </a:lnTo>
                  <a:lnTo>
                    <a:pt x="17707198" y="558800"/>
                  </a:lnTo>
                  <a:lnTo>
                    <a:pt x="0" y="558800"/>
                  </a:lnTo>
                  <a:close/>
                </a:path>
              </a:pathLst>
            </a:custGeom>
            <a:solidFill>
              <a:srgbClr val="FFFFFF"/>
            </a:solidFill>
          </p:spPr>
        </p:sp>
        <p:sp>
          <p:nvSpPr>
            <p:cNvPr name="TextBox 7" id="7"/>
            <p:cNvSpPr txBox="true"/>
            <p:nvPr/>
          </p:nvSpPr>
          <p:spPr>
            <a:xfrm>
              <a:off x="0" y="-38100"/>
              <a:ext cx="17707198" cy="596900"/>
            </a:xfrm>
            <a:prstGeom prst="rect">
              <a:avLst/>
            </a:prstGeom>
          </p:spPr>
          <p:txBody>
            <a:bodyPr anchor="ctr" rtlCol="false" tIns="50800" lIns="50800" bIns="50800" rIns="50800"/>
            <a:lstStyle/>
            <a:p>
              <a:pPr algn="l">
                <a:lnSpc>
                  <a:spcPts val="1679"/>
                </a:lnSpc>
              </a:pPr>
            </a:p>
          </p:txBody>
        </p:sp>
      </p:grpSp>
      <p:grpSp>
        <p:nvGrpSpPr>
          <p:cNvPr name="Group 8" id="8"/>
          <p:cNvGrpSpPr/>
          <p:nvPr/>
        </p:nvGrpSpPr>
        <p:grpSpPr>
          <a:xfrm rot="0">
            <a:off x="2503801" y="4718518"/>
            <a:ext cx="276225" cy="1761771"/>
            <a:chOff x="0" y="0"/>
            <a:chExt cx="368300" cy="2349029"/>
          </a:xfrm>
        </p:grpSpPr>
        <p:sp>
          <p:nvSpPr>
            <p:cNvPr name="Freeform 9" id="9"/>
            <p:cNvSpPr/>
            <p:nvPr/>
          </p:nvSpPr>
          <p:spPr>
            <a:xfrm flipH="false" flipV="false" rot="0">
              <a:off x="0" y="0"/>
              <a:ext cx="368300" cy="2349029"/>
            </a:xfrm>
            <a:custGeom>
              <a:avLst/>
              <a:gdLst/>
              <a:ahLst/>
              <a:cxnLst/>
              <a:rect r="r" b="b" t="t" l="l"/>
              <a:pathLst>
                <a:path h="2349029" w="368300">
                  <a:moveTo>
                    <a:pt x="0" y="0"/>
                  </a:moveTo>
                  <a:lnTo>
                    <a:pt x="368300" y="0"/>
                  </a:lnTo>
                  <a:lnTo>
                    <a:pt x="368300" y="2349029"/>
                  </a:lnTo>
                  <a:lnTo>
                    <a:pt x="0" y="2349029"/>
                  </a:lnTo>
                  <a:close/>
                </a:path>
              </a:pathLst>
            </a:custGeom>
            <a:solidFill>
              <a:srgbClr val="FFFFFF"/>
            </a:solidFill>
          </p:spPr>
        </p:sp>
        <p:sp>
          <p:nvSpPr>
            <p:cNvPr name="TextBox 10" id="10"/>
            <p:cNvSpPr txBox="true"/>
            <p:nvPr/>
          </p:nvSpPr>
          <p:spPr>
            <a:xfrm>
              <a:off x="0" y="-38100"/>
              <a:ext cx="368300" cy="2387129"/>
            </a:xfrm>
            <a:prstGeom prst="rect">
              <a:avLst/>
            </a:prstGeom>
          </p:spPr>
          <p:txBody>
            <a:bodyPr anchor="ctr" rtlCol="false" tIns="50800" lIns="50800" bIns="50800" rIns="50800"/>
            <a:lstStyle/>
            <a:p>
              <a:pPr algn="l">
                <a:lnSpc>
                  <a:spcPts val="1679"/>
                </a:lnSpc>
              </a:pPr>
            </a:p>
          </p:txBody>
        </p:sp>
      </p:grpSp>
      <p:sp>
        <p:nvSpPr>
          <p:cNvPr name="TextBox 11" id="11"/>
          <p:cNvSpPr txBox="true"/>
          <p:nvPr/>
        </p:nvSpPr>
        <p:spPr>
          <a:xfrm rot="0">
            <a:off x="3875813" y="8500566"/>
            <a:ext cx="762000" cy="306705"/>
          </a:xfrm>
          <a:prstGeom prst="rect">
            <a:avLst/>
          </a:prstGeom>
        </p:spPr>
        <p:txBody>
          <a:bodyPr anchor="t" rtlCol="false" tIns="0" lIns="0" bIns="0" rIns="0">
            <a:spAutoFit/>
          </a:bodyPr>
          <a:lstStyle/>
          <a:p>
            <a:pPr algn="ctr">
              <a:lnSpc>
                <a:spcPts val="2520"/>
              </a:lnSpc>
            </a:pPr>
            <a:r>
              <a:rPr lang="en-US" sz="1800">
                <a:solidFill>
                  <a:srgbClr val="1D1D1F"/>
                </a:solidFill>
                <a:latin typeface="Montserrat"/>
                <a:ea typeface="Montserrat"/>
                <a:cs typeface="Montserrat"/>
                <a:sym typeface="Montserrat"/>
              </a:rPr>
              <a:t>2020</a:t>
            </a:r>
          </a:p>
        </p:txBody>
      </p:sp>
      <p:sp>
        <p:nvSpPr>
          <p:cNvPr name="TextBox 12" id="12"/>
          <p:cNvSpPr txBox="true"/>
          <p:nvPr/>
        </p:nvSpPr>
        <p:spPr>
          <a:xfrm rot="0">
            <a:off x="5958180" y="8500566"/>
            <a:ext cx="762000" cy="306705"/>
          </a:xfrm>
          <a:prstGeom prst="rect">
            <a:avLst/>
          </a:prstGeom>
        </p:spPr>
        <p:txBody>
          <a:bodyPr anchor="t" rtlCol="false" tIns="0" lIns="0" bIns="0" rIns="0">
            <a:spAutoFit/>
          </a:bodyPr>
          <a:lstStyle/>
          <a:p>
            <a:pPr algn="ctr">
              <a:lnSpc>
                <a:spcPts val="2520"/>
              </a:lnSpc>
            </a:pPr>
            <a:r>
              <a:rPr lang="en-US" sz="1800">
                <a:solidFill>
                  <a:srgbClr val="1D1D1F"/>
                </a:solidFill>
                <a:latin typeface="Montserrat"/>
                <a:ea typeface="Montserrat"/>
                <a:cs typeface="Montserrat"/>
                <a:sym typeface="Montserrat"/>
              </a:rPr>
              <a:t>2021</a:t>
            </a:r>
          </a:p>
        </p:txBody>
      </p:sp>
      <p:sp>
        <p:nvSpPr>
          <p:cNvPr name="TextBox 13" id="13"/>
          <p:cNvSpPr txBox="true"/>
          <p:nvPr/>
        </p:nvSpPr>
        <p:spPr>
          <a:xfrm rot="0">
            <a:off x="8040546" y="8500566"/>
            <a:ext cx="762000" cy="306705"/>
          </a:xfrm>
          <a:prstGeom prst="rect">
            <a:avLst/>
          </a:prstGeom>
        </p:spPr>
        <p:txBody>
          <a:bodyPr anchor="t" rtlCol="false" tIns="0" lIns="0" bIns="0" rIns="0">
            <a:spAutoFit/>
          </a:bodyPr>
          <a:lstStyle/>
          <a:p>
            <a:pPr algn="ctr">
              <a:lnSpc>
                <a:spcPts val="2520"/>
              </a:lnSpc>
            </a:pPr>
            <a:r>
              <a:rPr lang="en-US" sz="1800">
                <a:solidFill>
                  <a:srgbClr val="1D1D1F"/>
                </a:solidFill>
                <a:latin typeface="Montserrat"/>
                <a:ea typeface="Montserrat"/>
                <a:cs typeface="Montserrat"/>
                <a:sym typeface="Montserrat"/>
              </a:rPr>
              <a:t>2022</a:t>
            </a:r>
          </a:p>
        </p:txBody>
      </p:sp>
      <p:sp>
        <p:nvSpPr>
          <p:cNvPr name="TextBox 14" id="14"/>
          <p:cNvSpPr txBox="true"/>
          <p:nvPr/>
        </p:nvSpPr>
        <p:spPr>
          <a:xfrm rot="0">
            <a:off x="10122913" y="8500566"/>
            <a:ext cx="762000" cy="306705"/>
          </a:xfrm>
          <a:prstGeom prst="rect">
            <a:avLst/>
          </a:prstGeom>
        </p:spPr>
        <p:txBody>
          <a:bodyPr anchor="t" rtlCol="false" tIns="0" lIns="0" bIns="0" rIns="0">
            <a:spAutoFit/>
          </a:bodyPr>
          <a:lstStyle/>
          <a:p>
            <a:pPr algn="ctr">
              <a:lnSpc>
                <a:spcPts val="2520"/>
              </a:lnSpc>
            </a:pPr>
            <a:r>
              <a:rPr lang="en-US" sz="1800">
                <a:solidFill>
                  <a:srgbClr val="1D1D1F"/>
                </a:solidFill>
                <a:latin typeface="Montserrat"/>
                <a:ea typeface="Montserrat"/>
                <a:cs typeface="Montserrat"/>
                <a:sym typeface="Montserrat"/>
              </a:rPr>
              <a:t>2023</a:t>
            </a:r>
          </a:p>
        </p:txBody>
      </p:sp>
      <p:sp>
        <p:nvSpPr>
          <p:cNvPr name="TextBox 15" id="15"/>
          <p:cNvSpPr txBox="true"/>
          <p:nvPr/>
        </p:nvSpPr>
        <p:spPr>
          <a:xfrm rot="0">
            <a:off x="12205279" y="8500566"/>
            <a:ext cx="762000" cy="306705"/>
          </a:xfrm>
          <a:prstGeom prst="rect">
            <a:avLst/>
          </a:prstGeom>
        </p:spPr>
        <p:txBody>
          <a:bodyPr anchor="t" rtlCol="false" tIns="0" lIns="0" bIns="0" rIns="0">
            <a:spAutoFit/>
          </a:bodyPr>
          <a:lstStyle/>
          <a:p>
            <a:pPr algn="ctr">
              <a:lnSpc>
                <a:spcPts val="2520"/>
              </a:lnSpc>
            </a:pPr>
            <a:r>
              <a:rPr lang="en-US" sz="1800">
                <a:solidFill>
                  <a:srgbClr val="1D1D1F"/>
                </a:solidFill>
                <a:latin typeface="Montserrat"/>
                <a:ea typeface="Montserrat"/>
                <a:cs typeface="Montserrat"/>
                <a:sym typeface="Montserrat"/>
              </a:rPr>
              <a:t>2024</a:t>
            </a:r>
          </a:p>
        </p:txBody>
      </p:sp>
      <p:sp>
        <p:nvSpPr>
          <p:cNvPr name="TextBox 16" id="16"/>
          <p:cNvSpPr txBox="true"/>
          <p:nvPr/>
        </p:nvSpPr>
        <p:spPr>
          <a:xfrm rot="0">
            <a:off x="14287646" y="8500566"/>
            <a:ext cx="762000" cy="306705"/>
          </a:xfrm>
          <a:prstGeom prst="rect">
            <a:avLst/>
          </a:prstGeom>
        </p:spPr>
        <p:txBody>
          <a:bodyPr anchor="t" rtlCol="false" tIns="0" lIns="0" bIns="0" rIns="0">
            <a:spAutoFit/>
          </a:bodyPr>
          <a:lstStyle/>
          <a:p>
            <a:pPr algn="ctr">
              <a:lnSpc>
                <a:spcPts val="2520"/>
              </a:lnSpc>
            </a:pPr>
            <a:r>
              <a:rPr lang="en-US" sz="1800">
                <a:solidFill>
                  <a:srgbClr val="1D1D1F"/>
                </a:solidFill>
                <a:latin typeface="Montserrat"/>
                <a:ea typeface="Montserrat"/>
                <a:cs typeface="Montserrat"/>
                <a:sym typeface="Montserrat"/>
              </a:rPr>
              <a:t>2025</a:t>
            </a:r>
          </a:p>
        </p:txBody>
      </p:sp>
      <p:sp>
        <p:nvSpPr>
          <p:cNvPr name="AutoShape 17" id="17"/>
          <p:cNvSpPr/>
          <p:nvPr/>
        </p:nvSpPr>
        <p:spPr>
          <a:xfrm>
            <a:off x="12713963" y="4612542"/>
            <a:ext cx="0" cy="3926707"/>
          </a:xfrm>
          <a:prstGeom prst="line">
            <a:avLst/>
          </a:prstGeom>
          <a:ln cap="flat" w="28575">
            <a:solidFill>
              <a:srgbClr val="A28231"/>
            </a:solidFill>
            <a:prstDash val="lgDash"/>
            <a:headEnd type="none" len="sm" w="sm"/>
            <a:tailEnd type="none" len="sm" w="sm"/>
          </a:ln>
        </p:spPr>
      </p:sp>
      <p:grpSp>
        <p:nvGrpSpPr>
          <p:cNvPr name="Group 18" id="18"/>
          <p:cNvGrpSpPr/>
          <p:nvPr/>
        </p:nvGrpSpPr>
        <p:grpSpPr>
          <a:xfrm rot="0">
            <a:off x="11285213" y="4227859"/>
            <a:ext cx="2857500" cy="384683"/>
            <a:chOff x="0" y="0"/>
            <a:chExt cx="3810000" cy="512911"/>
          </a:xfrm>
        </p:grpSpPr>
        <p:sp>
          <p:nvSpPr>
            <p:cNvPr name="Freeform 19" id="19"/>
            <p:cNvSpPr/>
            <p:nvPr/>
          </p:nvSpPr>
          <p:spPr>
            <a:xfrm flipH="false" flipV="false" rot="0">
              <a:off x="0" y="0"/>
              <a:ext cx="3810000" cy="512911"/>
            </a:xfrm>
            <a:custGeom>
              <a:avLst/>
              <a:gdLst/>
              <a:ahLst/>
              <a:cxnLst/>
              <a:rect r="r" b="b" t="t" l="l"/>
              <a:pathLst>
                <a:path h="512911" w="3810000">
                  <a:moveTo>
                    <a:pt x="101600" y="0"/>
                  </a:moveTo>
                  <a:lnTo>
                    <a:pt x="3708400" y="0"/>
                  </a:lnTo>
                  <a:cubicBezTo>
                    <a:pt x="3764512" y="0"/>
                    <a:pt x="3810000" y="45928"/>
                    <a:pt x="3810000" y="102582"/>
                  </a:cubicBezTo>
                  <a:lnTo>
                    <a:pt x="3810000" y="410328"/>
                  </a:lnTo>
                  <a:cubicBezTo>
                    <a:pt x="3810000" y="466983"/>
                    <a:pt x="3764512" y="512911"/>
                    <a:pt x="3708400" y="512911"/>
                  </a:cubicBezTo>
                  <a:lnTo>
                    <a:pt x="101600" y="512911"/>
                  </a:lnTo>
                  <a:cubicBezTo>
                    <a:pt x="45488" y="512911"/>
                    <a:pt x="0" y="466983"/>
                    <a:pt x="0" y="410328"/>
                  </a:cubicBezTo>
                  <a:lnTo>
                    <a:pt x="0" y="102582"/>
                  </a:lnTo>
                  <a:cubicBezTo>
                    <a:pt x="0" y="45928"/>
                    <a:pt x="45488" y="0"/>
                    <a:pt x="101600" y="0"/>
                  </a:cubicBezTo>
                  <a:close/>
                </a:path>
              </a:pathLst>
            </a:custGeom>
            <a:solidFill>
              <a:srgbClr val="FFFFFF">
                <a:alpha val="95686"/>
              </a:srgbClr>
            </a:solidFill>
            <a:ln w="19050" cap="sq">
              <a:solidFill>
                <a:srgbClr val="A28231">
                  <a:alpha val="95686"/>
                </a:srgbClr>
              </a:solidFill>
              <a:prstDash val="solid"/>
              <a:miter/>
            </a:ln>
          </p:spPr>
        </p:sp>
        <p:sp>
          <p:nvSpPr>
            <p:cNvPr name="TextBox 20" id="20"/>
            <p:cNvSpPr txBox="true"/>
            <p:nvPr/>
          </p:nvSpPr>
          <p:spPr>
            <a:xfrm>
              <a:off x="0" y="-19050"/>
              <a:ext cx="3810000" cy="531961"/>
            </a:xfrm>
            <a:prstGeom prst="rect">
              <a:avLst/>
            </a:prstGeom>
          </p:spPr>
          <p:txBody>
            <a:bodyPr anchor="ctr" rtlCol="false" tIns="101600" lIns="101600" bIns="101600" rIns="101600"/>
            <a:lstStyle/>
            <a:p>
              <a:pPr algn="ctr">
                <a:lnSpc>
                  <a:spcPts val="1399"/>
                </a:lnSpc>
              </a:pPr>
              <a:r>
                <a:rPr lang="en-US" sz="999" b="true">
                  <a:solidFill>
                    <a:srgbClr val="002557">
                      <a:alpha val="95686"/>
                    </a:srgbClr>
                  </a:solidFill>
                  <a:latin typeface="Montserrat Bold"/>
                  <a:ea typeface="Montserrat Bold"/>
                  <a:cs typeface="Montserrat Bold"/>
                  <a:sym typeface="Montserrat Bold"/>
                </a:rPr>
                <a:t>RTIC/DFR Launch — 2024</a:t>
              </a:r>
            </a:p>
          </p:txBody>
        </p:sp>
      </p:grpSp>
      <p:sp>
        <p:nvSpPr>
          <p:cNvPr name="AutoShape 21" id="21"/>
          <p:cNvSpPr/>
          <p:nvPr/>
        </p:nvSpPr>
        <p:spPr>
          <a:xfrm flipH="true">
            <a:off x="4256813" y="3789790"/>
            <a:ext cx="0" cy="4651002"/>
          </a:xfrm>
          <a:prstGeom prst="line">
            <a:avLst/>
          </a:prstGeom>
          <a:ln cap="flat" w="28575">
            <a:solidFill>
              <a:srgbClr val="A28231"/>
            </a:solidFill>
            <a:prstDash val="lgDash"/>
            <a:headEnd type="none" len="sm" w="sm"/>
            <a:tailEnd type="none" len="sm" w="sm"/>
          </a:ln>
        </p:spPr>
      </p:sp>
      <p:grpSp>
        <p:nvGrpSpPr>
          <p:cNvPr name="Group 22" id="22"/>
          <p:cNvGrpSpPr/>
          <p:nvPr/>
        </p:nvGrpSpPr>
        <p:grpSpPr>
          <a:xfrm rot="0">
            <a:off x="3100680" y="3405107"/>
            <a:ext cx="2857500" cy="384683"/>
            <a:chOff x="0" y="0"/>
            <a:chExt cx="3810000" cy="512911"/>
          </a:xfrm>
        </p:grpSpPr>
        <p:sp>
          <p:nvSpPr>
            <p:cNvPr name="Freeform 23" id="23"/>
            <p:cNvSpPr/>
            <p:nvPr/>
          </p:nvSpPr>
          <p:spPr>
            <a:xfrm flipH="false" flipV="false" rot="0">
              <a:off x="0" y="0"/>
              <a:ext cx="3810000" cy="512911"/>
            </a:xfrm>
            <a:custGeom>
              <a:avLst/>
              <a:gdLst/>
              <a:ahLst/>
              <a:cxnLst/>
              <a:rect r="r" b="b" t="t" l="l"/>
              <a:pathLst>
                <a:path h="512911" w="3810000">
                  <a:moveTo>
                    <a:pt x="101600" y="0"/>
                  </a:moveTo>
                  <a:lnTo>
                    <a:pt x="3708400" y="0"/>
                  </a:lnTo>
                  <a:cubicBezTo>
                    <a:pt x="3764512" y="0"/>
                    <a:pt x="3810000" y="45928"/>
                    <a:pt x="3810000" y="102582"/>
                  </a:cubicBezTo>
                  <a:lnTo>
                    <a:pt x="3810000" y="410328"/>
                  </a:lnTo>
                  <a:cubicBezTo>
                    <a:pt x="3810000" y="466983"/>
                    <a:pt x="3764512" y="512911"/>
                    <a:pt x="3708400" y="512911"/>
                  </a:cubicBezTo>
                  <a:lnTo>
                    <a:pt x="101600" y="512911"/>
                  </a:lnTo>
                  <a:cubicBezTo>
                    <a:pt x="45488" y="512911"/>
                    <a:pt x="0" y="466983"/>
                    <a:pt x="0" y="410328"/>
                  </a:cubicBezTo>
                  <a:lnTo>
                    <a:pt x="0" y="102582"/>
                  </a:lnTo>
                  <a:cubicBezTo>
                    <a:pt x="0" y="45928"/>
                    <a:pt x="45488" y="0"/>
                    <a:pt x="101600" y="0"/>
                  </a:cubicBezTo>
                  <a:close/>
                </a:path>
              </a:pathLst>
            </a:custGeom>
            <a:solidFill>
              <a:srgbClr val="FFFFFF">
                <a:alpha val="95686"/>
              </a:srgbClr>
            </a:solidFill>
            <a:ln w="19050" cap="sq">
              <a:solidFill>
                <a:srgbClr val="A28231">
                  <a:alpha val="95686"/>
                </a:srgbClr>
              </a:solidFill>
              <a:prstDash val="solid"/>
              <a:miter/>
            </a:ln>
          </p:spPr>
        </p:sp>
        <p:sp>
          <p:nvSpPr>
            <p:cNvPr name="TextBox 24" id="24"/>
            <p:cNvSpPr txBox="true"/>
            <p:nvPr/>
          </p:nvSpPr>
          <p:spPr>
            <a:xfrm>
              <a:off x="0" y="-19050"/>
              <a:ext cx="3810000" cy="531961"/>
            </a:xfrm>
            <a:prstGeom prst="rect">
              <a:avLst/>
            </a:prstGeom>
          </p:spPr>
          <p:txBody>
            <a:bodyPr anchor="ctr" rtlCol="false" tIns="101600" lIns="101600" bIns="101600" rIns="101600"/>
            <a:lstStyle/>
            <a:p>
              <a:pPr algn="ctr">
                <a:lnSpc>
                  <a:spcPts val="1399"/>
                </a:lnSpc>
              </a:pPr>
              <a:r>
                <a:rPr lang="en-US" sz="999" b="true">
                  <a:solidFill>
                    <a:srgbClr val="002557">
                      <a:alpha val="95686"/>
                    </a:srgbClr>
                  </a:solidFill>
                  <a:latin typeface="Montserrat Bold"/>
                  <a:ea typeface="Montserrat Bold"/>
                  <a:cs typeface="Montserrat Bold"/>
                  <a:sym typeface="Montserrat Bold"/>
                </a:rPr>
                <a:t>Flock Introduced — 2021</a:t>
              </a:r>
            </a:p>
          </p:txBody>
        </p:sp>
      </p:grpSp>
      <p:sp>
        <p:nvSpPr>
          <p:cNvPr name="AutoShape 25" id="25"/>
          <p:cNvSpPr/>
          <p:nvPr/>
        </p:nvSpPr>
        <p:spPr>
          <a:xfrm flipV="true">
            <a:off x="-117230" y="10287000"/>
            <a:ext cx="19376532" cy="12351"/>
          </a:xfrm>
          <a:prstGeom prst="line">
            <a:avLst/>
          </a:prstGeom>
          <a:ln cap="flat" w="85725">
            <a:solidFill>
              <a:srgbClr val="1E498A"/>
            </a:solidFill>
            <a:prstDash val="solid"/>
            <a:headEnd type="none" len="sm" w="sm"/>
            <a:tailEnd type="none" len="sm" w="sm"/>
          </a:ln>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04085" y="9546188"/>
            <a:ext cx="1780519" cy="192599"/>
          </a:xfrm>
          <a:prstGeom prst="rect">
            <a:avLst/>
          </a:prstGeom>
        </p:spPr>
        <p:txBody>
          <a:bodyPr anchor="t" rtlCol="false" tIns="0" lIns="0" bIns="0" rIns="0">
            <a:spAutoFit/>
          </a:bodyPr>
          <a:lstStyle/>
          <a:p>
            <a:pPr algn="ctr">
              <a:lnSpc>
                <a:spcPts val="1608"/>
              </a:lnSpc>
            </a:pPr>
            <a:r>
              <a:rPr lang="en-US" sz="1148">
                <a:solidFill>
                  <a:srgbClr val="000000"/>
                </a:solidFill>
                <a:latin typeface="Canva Sans"/>
                <a:ea typeface="Canva Sans"/>
                <a:cs typeface="Canva Sans"/>
                <a:sym typeface="Canva Sans"/>
              </a:rPr>
              <a:t>Data from 10/24 to 08/26</a:t>
            </a:r>
          </a:p>
        </p:txBody>
      </p:sp>
      <p:grpSp>
        <p:nvGrpSpPr>
          <p:cNvPr name="Group 3" id="3"/>
          <p:cNvGrpSpPr/>
          <p:nvPr/>
        </p:nvGrpSpPr>
        <p:grpSpPr>
          <a:xfrm rot="0">
            <a:off x="1047750" y="2714625"/>
            <a:ext cx="3676650" cy="4095750"/>
            <a:chOff x="0" y="0"/>
            <a:chExt cx="4902200" cy="5461000"/>
          </a:xfrm>
        </p:grpSpPr>
        <p:sp>
          <p:nvSpPr>
            <p:cNvPr name="Freeform 4" id="4"/>
            <p:cNvSpPr/>
            <p:nvPr/>
          </p:nvSpPr>
          <p:spPr>
            <a:xfrm flipH="false" flipV="false" rot="0">
              <a:off x="0" y="0"/>
              <a:ext cx="4902200" cy="5461000"/>
            </a:xfrm>
            <a:custGeom>
              <a:avLst/>
              <a:gdLst/>
              <a:ahLst/>
              <a:cxnLst/>
              <a:rect r="r" b="b" t="t" l="l"/>
              <a:pathLst>
                <a:path h="5461000" w="4902200">
                  <a:moveTo>
                    <a:pt x="228600" y="0"/>
                  </a:moveTo>
                  <a:lnTo>
                    <a:pt x="4673600" y="0"/>
                  </a:lnTo>
                  <a:cubicBezTo>
                    <a:pt x="4799852" y="0"/>
                    <a:pt x="4902200" y="102348"/>
                    <a:pt x="4902200" y="228600"/>
                  </a:cubicBezTo>
                  <a:lnTo>
                    <a:pt x="4902200" y="5232400"/>
                  </a:lnTo>
                  <a:cubicBezTo>
                    <a:pt x="4902200" y="5358652"/>
                    <a:pt x="4799852" y="5461000"/>
                    <a:pt x="4673600" y="5461000"/>
                  </a:cubicBezTo>
                  <a:lnTo>
                    <a:pt x="228600" y="5461000"/>
                  </a:lnTo>
                  <a:cubicBezTo>
                    <a:pt x="102348" y="5461000"/>
                    <a:pt x="0" y="5358652"/>
                    <a:pt x="0" y="5232400"/>
                  </a:cubicBezTo>
                  <a:lnTo>
                    <a:pt x="0" y="228600"/>
                  </a:lnTo>
                  <a:cubicBezTo>
                    <a:pt x="0" y="102348"/>
                    <a:pt x="102348" y="0"/>
                    <a:pt x="228600" y="0"/>
                  </a:cubicBezTo>
                  <a:close/>
                </a:path>
              </a:pathLst>
            </a:custGeom>
            <a:solidFill>
              <a:srgbClr val="F4F7FB"/>
            </a:solidFill>
            <a:ln w="19050" cap="sq">
              <a:solidFill>
                <a:srgbClr val="C8D2E1"/>
              </a:solidFill>
              <a:prstDash val="solid"/>
              <a:miter/>
            </a:ln>
          </p:spPr>
        </p:sp>
        <p:sp>
          <p:nvSpPr>
            <p:cNvPr name="TextBox 5" id="5"/>
            <p:cNvSpPr txBox="true"/>
            <p:nvPr/>
          </p:nvSpPr>
          <p:spPr>
            <a:xfrm>
              <a:off x="0" y="-38100"/>
              <a:ext cx="4902200" cy="5499100"/>
            </a:xfrm>
            <a:prstGeom prst="rect">
              <a:avLst/>
            </a:prstGeom>
          </p:spPr>
          <p:txBody>
            <a:bodyPr anchor="ctr" rtlCol="false" tIns="50800" lIns="50800" bIns="50800" rIns="50800"/>
            <a:lstStyle/>
            <a:p>
              <a:pPr algn="l">
                <a:lnSpc>
                  <a:spcPts val="1679"/>
                </a:lnSpc>
              </a:pPr>
            </a:p>
          </p:txBody>
        </p:sp>
      </p:grpSp>
      <p:grpSp>
        <p:nvGrpSpPr>
          <p:cNvPr name="Group 6" id="6"/>
          <p:cNvGrpSpPr/>
          <p:nvPr/>
        </p:nvGrpSpPr>
        <p:grpSpPr>
          <a:xfrm rot="0">
            <a:off x="1047750" y="2724150"/>
            <a:ext cx="3676650" cy="114300"/>
            <a:chOff x="0" y="0"/>
            <a:chExt cx="4902200" cy="152400"/>
          </a:xfrm>
        </p:grpSpPr>
        <p:sp>
          <p:nvSpPr>
            <p:cNvPr name="Freeform 7" id="7"/>
            <p:cNvSpPr/>
            <p:nvPr/>
          </p:nvSpPr>
          <p:spPr>
            <a:xfrm flipH="false" flipV="false" rot="0">
              <a:off x="0" y="0"/>
              <a:ext cx="4902200" cy="152400"/>
            </a:xfrm>
            <a:custGeom>
              <a:avLst/>
              <a:gdLst/>
              <a:ahLst/>
              <a:cxnLst/>
              <a:rect r="r" b="b" t="t" l="l"/>
              <a:pathLst>
                <a:path h="152400" w="4902200">
                  <a:moveTo>
                    <a:pt x="76200" y="0"/>
                  </a:moveTo>
                  <a:lnTo>
                    <a:pt x="4826000" y="0"/>
                  </a:lnTo>
                  <a:cubicBezTo>
                    <a:pt x="4868084" y="0"/>
                    <a:pt x="4902200" y="34116"/>
                    <a:pt x="4902200" y="76200"/>
                  </a:cubicBezTo>
                  <a:cubicBezTo>
                    <a:pt x="4902200" y="118284"/>
                    <a:pt x="4868084" y="152400"/>
                    <a:pt x="4826000" y="152400"/>
                  </a:cubicBezTo>
                  <a:lnTo>
                    <a:pt x="76200" y="152400"/>
                  </a:lnTo>
                  <a:cubicBezTo>
                    <a:pt x="34116" y="152400"/>
                    <a:pt x="0" y="118284"/>
                    <a:pt x="0" y="76200"/>
                  </a:cubicBezTo>
                  <a:cubicBezTo>
                    <a:pt x="0" y="34116"/>
                    <a:pt x="34116" y="0"/>
                    <a:pt x="76200" y="0"/>
                  </a:cubicBezTo>
                  <a:close/>
                </a:path>
              </a:pathLst>
            </a:custGeom>
            <a:solidFill>
              <a:srgbClr val="1E3A8A"/>
            </a:solidFill>
          </p:spPr>
        </p:sp>
        <p:sp>
          <p:nvSpPr>
            <p:cNvPr name="TextBox 8" id="8"/>
            <p:cNvSpPr txBox="true"/>
            <p:nvPr/>
          </p:nvSpPr>
          <p:spPr>
            <a:xfrm>
              <a:off x="0" y="-38100"/>
              <a:ext cx="4902200" cy="190500"/>
            </a:xfrm>
            <a:prstGeom prst="rect">
              <a:avLst/>
            </a:prstGeom>
          </p:spPr>
          <p:txBody>
            <a:bodyPr anchor="ctr" rtlCol="false" tIns="50800" lIns="50800" bIns="50800" rIns="50800"/>
            <a:lstStyle/>
            <a:p>
              <a:pPr algn="l">
                <a:lnSpc>
                  <a:spcPts val="1679"/>
                </a:lnSpc>
              </a:pPr>
            </a:p>
          </p:txBody>
        </p:sp>
      </p:grpSp>
      <p:sp>
        <p:nvSpPr>
          <p:cNvPr name="TextBox 9" id="9"/>
          <p:cNvSpPr txBox="true"/>
          <p:nvPr/>
        </p:nvSpPr>
        <p:spPr>
          <a:xfrm rot="0">
            <a:off x="1314450" y="3314700"/>
            <a:ext cx="3143250" cy="712470"/>
          </a:xfrm>
          <a:prstGeom prst="rect">
            <a:avLst/>
          </a:prstGeom>
        </p:spPr>
        <p:txBody>
          <a:bodyPr anchor="t" rtlCol="false" tIns="0" lIns="0" bIns="0" rIns="0">
            <a:spAutoFit/>
          </a:bodyPr>
          <a:lstStyle/>
          <a:p>
            <a:pPr algn="ctr">
              <a:lnSpc>
                <a:spcPts val="5880"/>
              </a:lnSpc>
            </a:pPr>
            <a:r>
              <a:rPr lang="en-US" sz="4200" b="true">
                <a:solidFill>
                  <a:srgbClr val="1E3A8A"/>
                </a:solidFill>
                <a:latin typeface="Montserrat Bold"/>
                <a:ea typeface="Montserrat Bold"/>
                <a:cs typeface="Montserrat Bold"/>
                <a:sym typeface="Montserrat Bold"/>
              </a:rPr>
              <a:t>1,500+</a:t>
            </a:r>
          </a:p>
        </p:txBody>
      </p:sp>
      <p:grpSp>
        <p:nvGrpSpPr>
          <p:cNvPr name="Group 10" id="10"/>
          <p:cNvGrpSpPr/>
          <p:nvPr/>
        </p:nvGrpSpPr>
        <p:grpSpPr>
          <a:xfrm rot="0">
            <a:off x="1428750" y="4762500"/>
            <a:ext cx="2914650" cy="19050"/>
            <a:chOff x="0" y="0"/>
            <a:chExt cx="3886200" cy="25400"/>
          </a:xfrm>
        </p:grpSpPr>
        <p:sp>
          <p:nvSpPr>
            <p:cNvPr name="Freeform 11" id="11"/>
            <p:cNvSpPr/>
            <p:nvPr/>
          </p:nvSpPr>
          <p:spPr>
            <a:xfrm flipH="false" flipV="false" rot="0">
              <a:off x="0" y="0"/>
              <a:ext cx="3886200" cy="25400"/>
            </a:xfrm>
            <a:custGeom>
              <a:avLst/>
              <a:gdLst/>
              <a:ahLst/>
              <a:cxnLst/>
              <a:rect r="r" b="b" t="t" l="l"/>
              <a:pathLst>
                <a:path h="25400" w="3886200">
                  <a:moveTo>
                    <a:pt x="0" y="0"/>
                  </a:moveTo>
                  <a:lnTo>
                    <a:pt x="3886200" y="0"/>
                  </a:lnTo>
                  <a:lnTo>
                    <a:pt x="3886200" y="25400"/>
                  </a:lnTo>
                  <a:lnTo>
                    <a:pt x="0" y="25400"/>
                  </a:lnTo>
                  <a:close/>
                </a:path>
              </a:pathLst>
            </a:custGeom>
            <a:solidFill>
              <a:srgbClr val="1E3A8A">
                <a:alpha val="54902"/>
              </a:srgbClr>
            </a:solidFill>
          </p:spPr>
        </p:sp>
        <p:sp>
          <p:nvSpPr>
            <p:cNvPr name="TextBox 12" id="12"/>
            <p:cNvSpPr txBox="true"/>
            <p:nvPr/>
          </p:nvSpPr>
          <p:spPr>
            <a:xfrm>
              <a:off x="0" y="-38100"/>
              <a:ext cx="3886200" cy="63500"/>
            </a:xfrm>
            <a:prstGeom prst="rect">
              <a:avLst/>
            </a:prstGeom>
          </p:spPr>
          <p:txBody>
            <a:bodyPr anchor="ctr" rtlCol="false" tIns="50800" lIns="50800" bIns="50800" rIns="50800"/>
            <a:lstStyle/>
            <a:p>
              <a:pPr algn="l">
                <a:lnSpc>
                  <a:spcPts val="1679"/>
                </a:lnSpc>
              </a:pPr>
            </a:p>
          </p:txBody>
        </p:sp>
      </p:grpSp>
      <p:sp>
        <p:nvSpPr>
          <p:cNvPr name="TextBox 13" id="13"/>
          <p:cNvSpPr txBox="true"/>
          <p:nvPr/>
        </p:nvSpPr>
        <p:spPr>
          <a:xfrm rot="0">
            <a:off x="1333500" y="4991100"/>
            <a:ext cx="3105150" cy="304800"/>
          </a:xfrm>
          <a:prstGeom prst="rect">
            <a:avLst/>
          </a:prstGeom>
        </p:spPr>
        <p:txBody>
          <a:bodyPr anchor="t" rtlCol="false" tIns="0" lIns="0" bIns="0" rIns="0">
            <a:spAutoFit/>
          </a:bodyPr>
          <a:lstStyle/>
          <a:p>
            <a:pPr algn="ctr">
              <a:lnSpc>
                <a:spcPts val="2400"/>
              </a:lnSpc>
            </a:pPr>
            <a:r>
              <a:rPr lang="en-US" sz="2000" b="true">
                <a:solidFill>
                  <a:srgbClr val="002557"/>
                </a:solidFill>
                <a:latin typeface="Montserrat Bold"/>
                <a:ea typeface="Montserrat Bold"/>
                <a:cs typeface="Montserrat Bold"/>
                <a:sym typeface="Montserrat Bold"/>
              </a:rPr>
              <a:t>Incidents Assisted</a:t>
            </a:r>
          </a:p>
        </p:txBody>
      </p:sp>
      <p:sp>
        <p:nvSpPr>
          <p:cNvPr name="AutoShape 14" id="14"/>
          <p:cNvSpPr/>
          <p:nvPr/>
        </p:nvSpPr>
        <p:spPr>
          <a:xfrm>
            <a:off x="4819650" y="4772025"/>
            <a:ext cx="304800" cy="0"/>
          </a:xfrm>
          <a:prstGeom prst="line">
            <a:avLst/>
          </a:prstGeom>
          <a:ln cap="flat" w="47625">
            <a:solidFill>
              <a:srgbClr val="A28231"/>
            </a:solidFill>
            <a:prstDash val="solid"/>
            <a:headEnd type="none" len="sm" w="sm"/>
            <a:tailEnd type="arrow" len="sm" w="med"/>
          </a:ln>
        </p:spPr>
      </p:sp>
      <p:sp>
        <p:nvSpPr>
          <p:cNvPr name="Freeform 15" id="15"/>
          <p:cNvSpPr/>
          <p:nvPr/>
        </p:nvSpPr>
        <p:spPr>
          <a:xfrm flipH="false" flipV="false" rot="0">
            <a:off x="5939190" y="3225984"/>
            <a:ext cx="5152319" cy="5152319"/>
          </a:xfrm>
          <a:custGeom>
            <a:avLst/>
            <a:gdLst/>
            <a:ahLst/>
            <a:cxnLst/>
            <a:rect r="r" b="b" t="t" l="l"/>
            <a:pathLst>
              <a:path h="5152319" w="5152319">
                <a:moveTo>
                  <a:pt x="0" y="0"/>
                </a:moveTo>
                <a:lnTo>
                  <a:pt x="5152320" y="0"/>
                </a:lnTo>
                <a:lnTo>
                  <a:pt x="5152320" y="5152319"/>
                </a:lnTo>
                <a:lnTo>
                  <a:pt x="0" y="5152319"/>
                </a:lnTo>
                <a:lnTo>
                  <a:pt x="0" y="0"/>
                </a:lnTo>
                <a:close/>
              </a:path>
            </a:pathLst>
          </a:custGeom>
          <a:blipFill>
            <a:blip r:embed="rId2">
              <a:alphaModFix amt="41000"/>
            </a:blip>
            <a:stretch>
              <a:fillRect l="0" t="0" r="0" b="0"/>
            </a:stretch>
          </a:blipFill>
        </p:spPr>
      </p:sp>
      <p:grpSp>
        <p:nvGrpSpPr>
          <p:cNvPr name="Group 16" id="16"/>
          <p:cNvGrpSpPr/>
          <p:nvPr/>
        </p:nvGrpSpPr>
        <p:grpSpPr>
          <a:xfrm rot="0">
            <a:off x="5219700" y="2724150"/>
            <a:ext cx="3676650" cy="4095750"/>
            <a:chOff x="0" y="0"/>
            <a:chExt cx="4902200" cy="5461000"/>
          </a:xfrm>
        </p:grpSpPr>
        <p:sp>
          <p:nvSpPr>
            <p:cNvPr name="Freeform 17" id="17"/>
            <p:cNvSpPr/>
            <p:nvPr/>
          </p:nvSpPr>
          <p:spPr>
            <a:xfrm flipH="false" flipV="false" rot="0">
              <a:off x="0" y="0"/>
              <a:ext cx="4902200" cy="5461000"/>
            </a:xfrm>
            <a:custGeom>
              <a:avLst/>
              <a:gdLst/>
              <a:ahLst/>
              <a:cxnLst/>
              <a:rect r="r" b="b" t="t" l="l"/>
              <a:pathLst>
                <a:path h="5461000" w="4902200">
                  <a:moveTo>
                    <a:pt x="228600" y="0"/>
                  </a:moveTo>
                  <a:lnTo>
                    <a:pt x="4673600" y="0"/>
                  </a:lnTo>
                  <a:cubicBezTo>
                    <a:pt x="4799852" y="0"/>
                    <a:pt x="4902200" y="102348"/>
                    <a:pt x="4902200" y="228600"/>
                  </a:cubicBezTo>
                  <a:lnTo>
                    <a:pt x="4902200" y="5232400"/>
                  </a:lnTo>
                  <a:cubicBezTo>
                    <a:pt x="4902200" y="5358652"/>
                    <a:pt x="4799852" y="5461000"/>
                    <a:pt x="4673600" y="5461000"/>
                  </a:cubicBezTo>
                  <a:lnTo>
                    <a:pt x="228600" y="5461000"/>
                  </a:lnTo>
                  <a:cubicBezTo>
                    <a:pt x="102348" y="5461000"/>
                    <a:pt x="0" y="5358652"/>
                    <a:pt x="0" y="5232400"/>
                  </a:cubicBezTo>
                  <a:lnTo>
                    <a:pt x="0" y="228600"/>
                  </a:lnTo>
                  <a:cubicBezTo>
                    <a:pt x="0" y="102348"/>
                    <a:pt x="102348" y="0"/>
                    <a:pt x="228600" y="0"/>
                  </a:cubicBezTo>
                  <a:close/>
                </a:path>
              </a:pathLst>
            </a:custGeom>
            <a:solidFill>
              <a:srgbClr val="F4F7FB"/>
            </a:solidFill>
            <a:ln w="19050" cap="sq">
              <a:solidFill>
                <a:srgbClr val="C8D2E1"/>
              </a:solidFill>
              <a:prstDash val="solid"/>
              <a:miter/>
            </a:ln>
          </p:spPr>
        </p:sp>
        <p:sp>
          <p:nvSpPr>
            <p:cNvPr name="TextBox 18" id="18"/>
            <p:cNvSpPr txBox="true"/>
            <p:nvPr/>
          </p:nvSpPr>
          <p:spPr>
            <a:xfrm>
              <a:off x="0" y="-38100"/>
              <a:ext cx="4902200" cy="5499100"/>
            </a:xfrm>
            <a:prstGeom prst="rect">
              <a:avLst/>
            </a:prstGeom>
          </p:spPr>
          <p:txBody>
            <a:bodyPr anchor="ctr" rtlCol="false" tIns="50800" lIns="50800" bIns="50800" rIns="50800"/>
            <a:lstStyle/>
            <a:p>
              <a:pPr algn="l">
                <a:lnSpc>
                  <a:spcPts val="1679"/>
                </a:lnSpc>
              </a:pPr>
            </a:p>
          </p:txBody>
        </p:sp>
      </p:grpSp>
      <p:grpSp>
        <p:nvGrpSpPr>
          <p:cNvPr name="Group 19" id="19"/>
          <p:cNvGrpSpPr/>
          <p:nvPr/>
        </p:nvGrpSpPr>
        <p:grpSpPr>
          <a:xfrm rot="0">
            <a:off x="5219700" y="2724150"/>
            <a:ext cx="3676650" cy="114300"/>
            <a:chOff x="0" y="0"/>
            <a:chExt cx="4902200" cy="152400"/>
          </a:xfrm>
        </p:grpSpPr>
        <p:sp>
          <p:nvSpPr>
            <p:cNvPr name="Freeform 20" id="20"/>
            <p:cNvSpPr/>
            <p:nvPr/>
          </p:nvSpPr>
          <p:spPr>
            <a:xfrm flipH="false" flipV="false" rot="0">
              <a:off x="0" y="0"/>
              <a:ext cx="4902200" cy="152400"/>
            </a:xfrm>
            <a:custGeom>
              <a:avLst/>
              <a:gdLst/>
              <a:ahLst/>
              <a:cxnLst/>
              <a:rect r="r" b="b" t="t" l="l"/>
              <a:pathLst>
                <a:path h="152400" w="4902200">
                  <a:moveTo>
                    <a:pt x="76200" y="0"/>
                  </a:moveTo>
                  <a:lnTo>
                    <a:pt x="4826000" y="0"/>
                  </a:lnTo>
                  <a:cubicBezTo>
                    <a:pt x="4868084" y="0"/>
                    <a:pt x="4902200" y="34116"/>
                    <a:pt x="4902200" y="76200"/>
                  </a:cubicBezTo>
                  <a:cubicBezTo>
                    <a:pt x="4902200" y="118284"/>
                    <a:pt x="4868084" y="152400"/>
                    <a:pt x="4826000" y="152400"/>
                  </a:cubicBezTo>
                  <a:lnTo>
                    <a:pt x="76200" y="152400"/>
                  </a:lnTo>
                  <a:cubicBezTo>
                    <a:pt x="34116" y="152400"/>
                    <a:pt x="0" y="118284"/>
                    <a:pt x="0" y="76200"/>
                  </a:cubicBezTo>
                  <a:cubicBezTo>
                    <a:pt x="0" y="34116"/>
                    <a:pt x="34116" y="0"/>
                    <a:pt x="76200" y="0"/>
                  </a:cubicBezTo>
                  <a:close/>
                </a:path>
              </a:pathLst>
            </a:custGeom>
            <a:solidFill>
              <a:srgbClr val="4A90E2"/>
            </a:solidFill>
          </p:spPr>
        </p:sp>
        <p:sp>
          <p:nvSpPr>
            <p:cNvPr name="TextBox 21" id="21"/>
            <p:cNvSpPr txBox="true"/>
            <p:nvPr/>
          </p:nvSpPr>
          <p:spPr>
            <a:xfrm>
              <a:off x="0" y="-38100"/>
              <a:ext cx="4902200" cy="190500"/>
            </a:xfrm>
            <a:prstGeom prst="rect">
              <a:avLst/>
            </a:prstGeom>
          </p:spPr>
          <p:txBody>
            <a:bodyPr anchor="ctr" rtlCol="false" tIns="50800" lIns="50800" bIns="50800" rIns="50800"/>
            <a:lstStyle/>
            <a:p>
              <a:pPr algn="l">
                <a:lnSpc>
                  <a:spcPts val="1679"/>
                </a:lnSpc>
              </a:pPr>
            </a:p>
          </p:txBody>
        </p:sp>
      </p:grpSp>
      <p:sp>
        <p:nvSpPr>
          <p:cNvPr name="TextBox 22" id="22"/>
          <p:cNvSpPr txBox="true"/>
          <p:nvPr/>
        </p:nvSpPr>
        <p:spPr>
          <a:xfrm rot="0">
            <a:off x="5486400" y="3314700"/>
            <a:ext cx="3143250" cy="712470"/>
          </a:xfrm>
          <a:prstGeom prst="rect">
            <a:avLst/>
          </a:prstGeom>
        </p:spPr>
        <p:txBody>
          <a:bodyPr anchor="t" rtlCol="false" tIns="0" lIns="0" bIns="0" rIns="0">
            <a:spAutoFit/>
          </a:bodyPr>
          <a:lstStyle/>
          <a:p>
            <a:pPr algn="ctr">
              <a:lnSpc>
                <a:spcPts val="5880"/>
              </a:lnSpc>
            </a:pPr>
            <a:r>
              <a:rPr lang="en-US" b="true" sz="4200">
                <a:solidFill>
                  <a:srgbClr val="4A90E2"/>
                </a:solidFill>
                <a:latin typeface="Montserrat Bold"/>
                <a:ea typeface="Montserrat Bold"/>
                <a:cs typeface="Montserrat Bold"/>
                <a:sym typeface="Montserrat Bold"/>
              </a:rPr>
              <a:t>418</a:t>
            </a:r>
          </a:p>
        </p:txBody>
      </p:sp>
      <p:grpSp>
        <p:nvGrpSpPr>
          <p:cNvPr name="Group 23" id="23"/>
          <p:cNvGrpSpPr/>
          <p:nvPr/>
        </p:nvGrpSpPr>
        <p:grpSpPr>
          <a:xfrm rot="0">
            <a:off x="5600700" y="4762500"/>
            <a:ext cx="2914650" cy="19050"/>
            <a:chOff x="0" y="0"/>
            <a:chExt cx="3886200" cy="25400"/>
          </a:xfrm>
        </p:grpSpPr>
        <p:sp>
          <p:nvSpPr>
            <p:cNvPr name="Freeform 24" id="24"/>
            <p:cNvSpPr/>
            <p:nvPr/>
          </p:nvSpPr>
          <p:spPr>
            <a:xfrm flipH="false" flipV="false" rot="0">
              <a:off x="0" y="0"/>
              <a:ext cx="3886200" cy="25400"/>
            </a:xfrm>
            <a:custGeom>
              <a:avLst/>
              <a:gdLst/>
              <a:ahLst/>
              <a:cxnLst/>
              <a:rect r="r" b="b" t="t" l="l"/>
              <a:pathLst>
                <a:path h="25400" w="3886200">
                  <a:moveTo>
                    <a:pt x="0" y="0"/>
                  </a:moveTo>
                  <a:lnTo>
                    <a:pt x="3886200" y="0"/>
                  </a:lnTo>
                  <a:lnTo>
                    <a:pt x="3886200" y="25400"/>
                  </a:lnTo>
                  <a:lnTo>
                    <a:pt x="0" y="25400"/>
                  </a:lnTo>
                  <a:close/>
                </a:path>
              </a:pathLst>
            </a:custGeom>
            <a:solidFill>
              <a:srgbClr val="A28231">
                <a:alpha val="54902"/>
              </a:srgbClr>
            </a:solidFill>
          </p:spPr>
        </p:sp>
        <p:sp>
          <p:nvSpPr>
            <p:cNvPr name="TextBox 25" id="25"/>
            <p:cNvSpPr txBox="true"/>
            <p:nvPr/>
          </p:nvSpPr>
          <p:spPr>
            <a:xfrm>
              <a:off x="0" y="-38100"/>
              <a:ext cx="3886200" cy="63500"/>
            </a:xfrm>
            <a:prstGeom prst="rect">
              <a:avLst/>
            </a:prstGeom>
          </p:spPr>
          <p:txBody>
            <a:bodyPr anchor="ctr" rtlCol="false" tIns="50800" lIns="50800" bIns="50800" rIns="50800"/>
            <a:lstStyle/>
            <a:p>
              <a:pPr algn="l">
                <a:lnSpc>
                  <a:spcPts val="1679"/>
                </a:lnSpc>
              </a:pPr>
            </a:p>
          </p:txBody>
        </p:sp>
      </p:grpSp>
      <p:sp>
        <p:nvSpPr>
          <p:cNvPr name="TextBox 26" id="26"/>
          <p:cNvSpPr txBox="true"/>
          <p:nvPr/>
        </p:nvSpPr>
        <p:spPr>
          <a:xfrm rot="0">
            <a:off x="5505450" y="4991100"/>
            <a:ext cx="3105150" cy="304800"/>
          </a:xfrm>
          <a:prstGeom prst="rect">
            <a:avLst/>
          </a:prstGeom>
        </p:spPr>
        <p:txBody>
          <a:bodyPr anchor="t" rtlCol="false" tIns="0" lIns="0" bIns="0" rIns="0">
            <a:spAutoFit/>
          </a:bodyPr>
          <a:lstStyle/>
          <a:p>
            <a:pPr algn="ctr">
              <a:lnSpc>
                <a:spcPts val="2400"/>
              </a:lnSpc>
            </a:pPr>
            <a:r>
              <a:rPr lang="en-US" sz="2000" b="true">
                <a:solidFill>
                  <a:srgbClr val="002557"/>
                </a:solidFill>
                <a:latin typeface="Montserrat Bold"/>
                <a:ea typeface="Montserrat Bold"/>
                <a:cs typeface="Montserrat Bold"/>
                <a:sym typeface="Montserrat Bold"/>
              </a:rPr>
              <a:t>Cases Generated</a:t>
            </a:r>
          </a:p>
        </p:txBody>
      </p:sp>
      <p:sp>
        <p:nvSpPr>
          <p:cNvPr name="AutoShape 27" id="27"/>
          <p:cNvSpPr/>
          <p:nvPr/>
        </p:nvSpPr>
        <p:spPr>
          <a:xfrm>
            <a:off x="8991600" y="4772025"/>
            <a:ext cx="304800" cy="0"/>
          </a:xfrm>
          <a:prstGeom prst="line">
            <a:avLst/>
          </a:prstGeom>
          <a:ln cap="flat" w="47625">
            <a:solidFill>
              <a:srgbClr val="A28231"/>
            </a:solidFill>
            <a:prstDash val="solid"/>
            <a:headEnd type="none" len="sm" w="sm"/>
            <a:tailEnd type="arrow" len="sm" w="med"/>
          </a:ln>
        </p:spPr>
      </p:sp>
      <p:grpSp>
        <p:nvGrpSpPr>
          <p:cNvPr name="Group 28" id="28"/>
          <p:cNvGrpSpPr/>
          <p:nvPr/>
        </p:nvGrpSpPr>
        <p:grpSpPr>
          <a:xfrm rot="0">
            <a:off x="9391650" y="2724150"/>
            <a:ext cx="3676650" cy="4095750"/>
            <a:chOff x="0" y="0"/>
            <a:chExt cx="4902200" cy="5461000"/>
          </a:xfrm>
        </p:grpSpPr>
        <p:sp>
          <p:nvSpPr>
            <p:cNvPr name="Freeform 29" id="29"/>
            <p:cNvSpPr/>
            <p:nvPr/>
          </p:nvSpPr>
          <p:spPr>
            <a:xfrm flipH="false" flipV="false" rot="0">
              <a:off x="0" y="0"/>
              <a:ext cx="4902200" cy="5461000"/>
            </a:xfrm>
            <a:custGeom>
              <a:avLst/>
              <a:gdLst/>
              <a:ahLst/>
              <a:cxnLst/>
              <a:rect r="r" b="b" t="t" l="l"/>
              <a:pathLst>
                <a:path h="5461000" w="4902200">
                  <a:moveTo>
                    <a:pt x="228600" y="0"/>
                  </a:moveTo>
                  <a:lnTo>
                    <a:pt x="4673600" y="0"/>
                  </a:lnTo>
                  <a:cubicBezTo>
                    <a:pt x="4799852" y="0"/>
                    <a:pt x="4902200" y="102348"/>
                    <a:pt x="4902200" y="228600"/>
                  </a:cubicBezTo>
                  <a:lnTo>
                    <a:pt x="4902200" y="5232400"/>
                  </a:lnTo>
                  <a:cubicBezTo>
                    <a:pt x="4902200" y="5358652"/>
                    <a:pt x="4799852" y="5461000"/>
                    <a:pt x="4673600" y="5461000"/>
                  </a:cubicBezTo>
                  <a:lnTo>
                    <a:pt x="228600" y="5461000"/>
                  </a:lnTo>
                  <a:cubicBezTo>
                    <a:pt x="102348" y="5461000"/>
                    <a:pt x="0" y="5358652"/>
                    <a:pt x="0" y="5232400"/>
                  </a:cubicBezTo>
                  <a:lnTo>
                    <a:pt x="0" y="228600"/>
                  </a:lnTo>
                  <a:cubicBezTo>
                    <a:pt x="0" y="102348"/>
                    <a:pt x="102348" y="0"/>
                    <a:pt x="228600" y="0"/>
                  </a:cubicBezTo>
                  <a:close/>
                </a:path>
              </a:pathLst>
            </a:custGeom>
            <a:solidFill>
              <a:srgbClr val="F4F7FB"/>
            </a:solidFill>
            <a:ln w="19050" cap="sq">
              <a:solidFill>
                <a:srgbClr val="C8D2E1"/>
              </a:solidFill>
              <a:prstDash val="solid"/>
              <a:miter/>
            </a:ln>
          </p:spPr>
        </p:sp>
        <p:sp>
          <p:nvSpPr>
            <p:cNvPr name="TextBox 30" id="30"/>
            <p:cNvSpPr txBox="true"/>
            <p:nvPr/>
          </p:nvSpPr>
          <p:spPr>
            <a:xfrm>
              <a:off x="0" y="-38100"/>
              <a:ext cx="4902200" cy="5499100"/>
            </a:xfrm>
            <a:prstGeom prst="rect">
              <a:avLst/>
            </a:prstGeom>
          </p:spPr>
          <p:txBody>
            <a:bodyPr anchor="ctr" rtlCol="false" tIns="50800" lIns="50800" bIns="50800" rIns="50800"/>
            <a:lstStyle/>
            <a:p>
              <a:pPr algn="l">
                <a:lnSpc>
                  <a:spcPts val="1679"/>
                </a:lnSpc>
              </a:pPr>
            </a:p>
          </p:txBody>
        </p:sp>
      </p:grpSp>
      <p:grpSp>
        <p:nvGrpSpPr>
          <p:cNvPr name="Group 31" id="31"/>
          <p:cNvGrpSpPr/>
          <p:nvPr/>
        </p:nvGrpSpPr>
        <p:grpSpPr>
          <a:xfrm rot="0">
            <a:off x="9391650" y="2724150"/>
            <a:ext cx="3676650" cy="114300"/>
            <a:chOff x="0" y="0"/>
            <a:chExt cx="4902200" cy="152400"/>
          </a:xfrm>
        </p:grpSpPr>
        <p:sp>
          <p:nvSpPr>
            <p:cNvPr name="Freeform 32" id="32"/>
            <p:cNvSpPr/>
            <p:nvPr/>
          </p:nvSpPr>
          <p:spPr>
            <a:xfrm flipH="false" flipV="false" rot="0">
              <a:off x="0" y="0"/>
              <a:ext cx="4902200" cy="152400"/>
            </a:xfrm>
            <a:custGeom>
              <a:avLst/>
              <a:gdLst/>
              <a:ahLst/>
              <a:cxnLst/>
              <a:rect r="r" b="b" t="t" l="l"/>
              <a:pathLst>
                <a:path h="152400" w="4902200">
                  <a:moveTo>
                    <a:pt x="76200" y="0"/>
                  </a:moveTo>
                  <a:lnTo>
                    <a:pt x="4826000" y="0"/>
                  </a:lnTo>
                  <a:cubicBezTo>
                    <a:pt x="4868084" y="0"/>
                    <a:pt x="4902200" y="34116"/>
                    <a:pt x="4902200" y="76200"/>
                  </a:cubicBezTo>
                  <a:cubicBezTo>
                    <a:pt x="4902200" y="118284"/>
                    <a:pt x="4868084" y="152400"/>
                    <a:pt x="4826000" y="152400"/>
                  </a:cubicBezTo>
                  <a:lnTo>
                    <a:pt x="76200" y="152400"/>
                  </a:lnTo>
                  <a:cubicBezTo>
                    <a:pt x="34116" y="152400"/>
                    <a:pt x="0" y="118284"/>
                    <a:pt x="0" y="76200"/>
                  </a:cubicBezTo>
                  <a:cubicBezTo>
                    <a:pt x="0" y="34116"/>
                    <a:pt x="34116" y="0"/>
                    <a:pt x="76200" y="0"/>
                  </a:cubicBezTo>
                  <a:close/>
                </a:path>
              </a:pathLst>
            </a:custGeom>
            <a:solidFill>
              <a:srgbClr val="002557"/>
            </a:solidFill>
          </p:spPr>
        </p:sp>
        <p:sp>
          <p:nvSpPr>
            <p:cNvPr name="TextBox 33" id="33"/>
            <p:cNvSpPr txBox="true"/>
            <p:nvPr/>
          </p:nvSpPr>
          <p:spPr>
            <a:xfrm>
              <a:off x="0" y="-38100"/>
              <a:ext cx="4902200" cy="190500"/>
            </a:xfrm>
            <a:prstGeom prst="rect">
              <a:avLst/>
            </a:prstGeom>
          </p:spPr>
          <p:txBody>
            <a:bodyPr anchor="ctr" rtlCol="false" tIns="50800" lIns="50800" bIns="50800" rIns="50800"/>
            <a:lstStyle/>
            <a:p>
              <a:pPr algn="l">
                <a:lnSpc>
                  <a:spcPts val="1679"/>
                </a:lnSpc>
              </a:pPr>
            </a:p>
          </p:txBody>
        </p:sp>
      </p:grpSp>
      <p:sp>
        <p:nvSpPr>
          <p:cNvPr name="TextBox 34" id="34"/>
          <p:cNvSpPr txBox="true"/>
          <p:nvPr/>
        </p:nvSpPr>
        <p:spPr>
          <a:xfrm rot="0">
            <a:off x="9658350" y="3314700"/>
            <a:ext cx="3143250" cy="712470"/>
          </a:xfrm>
          <a:prstGeom prst="rect">
            <a:avLst/>
          </a:prstGeom>
        </p:spPr>
        <p:txBody>
          <a:bodyPr anchor="t" rtlCol="false" tIns="0" lIns="0" bIns="0" rIns="0">
            <a:spAutoFit/>
          </a:bodyPr>
          <a:lstStyle/>
          <a:p>
            <a:pPr algn="ctr">
              <a:lnSpc>
                <a:spcPts val="5880"/>
              </a:lnSpc>
            </a:pPr>
            <a:r>
              <a:rPr lang="en-US" sz="4200" b="true">
                <a:solidFill>
                  <a:srgbClr val="002557"/>
                </a:solidFill>
                <a:latin typeface="Montserrat Bold"/>
                <a:ea typeface="Montserrat Bold"/>
                <a:cs typeface="Montserrat Bold"/>
                <a:sym typeface="Montserrat Bold"/>
              </a:rPr>
              <a:t>339</a:t>
            </a:r>
          </a:p>
        </p:txBody>
      </p:sp>
      <p:grpSp>
        <p:nvGrpSpPr>
          <p:cNvPr name="Group 35" id="35"/>
          <p:cNvGrpSpPr/>
          <p:nvPr/>
        </p:nvGrpSpPr>
        <p:grpSpPr>
          <a:xfrm rot="0">
            <a:off x="9772650" y="4762500"/>
            <a:ext cx="2914650" cy="19050"/>
            <a:chOff x="0" y="0"/>
            <a:chExt cx="3886200" cy="25400"/>
          </a:xfrm>
        </p:grpSpPr>
        <p:sp>
          <p:nvSpPr>
            <p:cNvPr name="Freeform 36" id="36"/>
            <p:cNvSpPr/>
            <p:nvPr/>
          </p:nvSpPr>
          <p:spPr>
            <a:xfrm flipH="false" flipV="false" rot="0">
              <a:off x="0" y="0"/>
              <a:ext cx="3886200" cy="25400"/>
            </a:xfrm>
            <a:custGeom>
              <a:avLst/>
              <a:gdLst/>
              <a:ahLst/>
              <a:cxnLst/>
              <a:rect r="r" b="b" t="t" l="l"/>
              <a:pathLst>
                <a:path h="25400" w="3886200">
                  <a:moveTo>
                    <a:pt x="0" y="0"/>
                  </a:moveTo>
                  <a:lnTo>
                    <a:pt x="3886200" y="0"/>
                  </a:lnTo>
                  <a:lnTo>
                    <a:pt x="3886200" y="25400"/>
                  </a:lnTo>
                  <a:lnTo>
                    <a:pt x="0" y="25400"/>
                  </a:lnTo>
                  <a:close/>
                </a:path>
              </a:pathLst>
            </a:custGeom>
            <a:solidFill>
              <a:srgbClr val="002557">
                <a:alpha val="54902"/>
              </a:srgbClr>
            </a:solidFill>
          </p:spPr>
        </p:sp>
        <p:sp>
          <p:nvSpPr>
            <p:cNvPr name="TextBox 37" id="37"/>
            <p:cNvSpPr txBox="true"/>
            <p:nvPr/>
          </p:nvSpPr>
          <p:spPr>
            <a:xfrm>
              <a:off x="0" y="-38100"/>
              <a:ext cx="3886200" cy="63500"/>
            </a:xfrm>
            <a:prstGeom prst="rect">
              <a:avLst/>
            </a:prstGeom>
          </p:spPr>
          <p:txBody>
            <a:bodyPr anchor="ctr" rtlCol="false" tIns="50800" lIns="50800" bIns="50800" rIns="50800"/>
            <a:lstStyle/>
            <a:p>
              <a:pPr algn="l">
                <a:lnSpc>
                  <a:spcPts val="1679"/>
                </a:lnSpc>
              </a:pPr>
            </a:p>
          </p:txBody>
        </p:sp>
      </p:grpSp>
      <p:sp>
        <p:nvSpPr>
          <p:cNvPr name="TextBox 38" id="38"/>
          <p:cNvSpPr txBox="true"/>
          <p:nvPr/>
        </p:nvSpPr>
        <p:spPr>
          <a:xfrm rot="0">
            <a:off x="9677400" y="4991100"/>
            <a:ext cx="3105150" cy="609600"/>
          </a:xfrm>
          <a:prstGeom prst="rect">
            <a:avLst/>
          </a:prstGeom>
        </p:spPr>
        <p:txBody>
          <a:bodyPr anchor="t" rtlCol="false" tIns="0" lIns="0" bIns="0" rIns="0">
            <a:spAutoFit/>
          </a:bodyPr>
          <a:lstStyle/>
          <a:p>
            <a:pPr algn="ctr">
              <a:lnSpc>
                <a:spcPts val="2400"/>
              </a:lnSpc>
            </a:pPr>
            <a:r>
              <a:rPr lang="en-US" sz="2000" b="true">
                <a:solidFill>
                  <a:srgbClr val="002557"/>
                </a:solidFill>
                <a:latin typeface="Montserrat Bold"/>
                <a:ea typeface="Montserrat Bold"/>
                <a:cs typeface="Montserrat Bold"/>
                <a:sym typeface="Montserrat Bold"/>
              </a:rPr>
              <a:t>Cases with a Criminal Component</a:t>
            </a:r>
          </a:p>
        </p:txBody>
      </p:sp>
      <p:sp>
        <p:nvSpPr>
          <p:cNvPr name="AutoShape 39" id="39"/>
          <p:cNvSpPr/>
          <p:nvPr/>
        </p:nvSpPr>
        <p:spPr>
          <a:xfrm>
            <a:off x="13163550" y="4772025"/>
            <a:ext cx="304800" cy="0"/>
          </a:xfrm>
          <a:prstGeom prst="line">
            <a:avLst/>
          </a:prstGeom>
          <a:ln cap="flat" w="47625">
            <a:solidFill>
              <a:srgbClr val="A28231"/>
            </a:solidFill>
            <a:prstDash val="solid"/>
            <a:headEnd type="none" len="sm" w="sm"/>
            <a:tailEnd type="arrow" len="sm" w="med"/>
          </a:ln>
        </p:spPr>
      </p:sp>
      <p:grpSp>
        <p:nvGrpSpPr>
          <p:cNvPr name="Group 40" id="40"/>
          <p:cNvGrpSpPr/>
          <p:nvPr/>
        </p:nvGrpSpPr>
        <p:grpSpPr>
          <a:xfrm rot="0">
            <a:off x="13563600" y="2724150"/>
            <a:ext cx="3676650" cy="4095750"/>
            <a:chOff x="0" y="0"/>
            <a:chExt cx="4902200" cy="5461000"/>
          </a:xfrm>
        </p:grpSpPr>
        <p:sp>
          <p:nvSpPr>
            <p:cNvPr name="Freeform 41" id="41"/>
            <p:cNvSpPr/>
            <p:nvPr/>
          </p:nvSpPr>
          <p:spPr>
            <a:xfrm flipH="false" flipV="false" rot="0">
              <a:off x="0" y="0"/>
              <a:ext cx="4902200" cy="5461000"/>
            </a:xfrm>
            <a:custGeom>
              <a:avLst/>
              <a:gdLst/>
              <a:ahLst/>
              <a:cxnLst/>
              <a:rect r="r" b="b" t="t" l="l"/>
              <a:pathLst>
                <a:path h="5461000" w="4902200">
                  <a:moveTo>
                    <a:pt x="228600" y="0"/>
                  </a:moveTo>
                  <a:lnTo>
                    <a:pt x="4673600" y="0"/>
                  </a:lnTo>
                  <a:cubicBezTo>
                    <a:pt x="4799852" y="0"/>
                    <a:pt x="4902200" y="102348"/>
                    <a:pt x="4902200" y="228600"/>
                  </a:cubicBezTo>
                  <a:lnTo>
                    <a:pt x="4902200" y="5232400"/>
                  </a:lnTo>
                  <a:cubicBezTo>
                    <a:pt x="4902200" y="5358652"/>
                    <a:pt x="4799852" y="5461000"/>
                    <a:pt x="4673600" y="5461000"/>
                  </a:cubicBezTo>
                  <a:lnTo>
                    <a:pt x="228600" y="5461000"/>
                  </a:lnTo>
                  <a:cubicBezTo>
                    <a:pt x="102348" y="5461000"/>
                    <a:pt x="0" y="5358652"/>
                    <a:pt x="0" y="5232400"/>
                  </a:cubicBezTo>
                  <a:lnTo>
                    <a:pt x="0" y="228600"/>
                  </a:lnTo>
                  <a:cubicBezTo>
                    <a:pt x="0" y="102348"/>
                    <a:pt x="102348" y="0"/>
                    <a:pt x="228600" y="0"/>
                  </a:cubicBezTo>
                  <a:close/>
                </a:path>
              </a:pathLst>
            </a:custGeom>
            <a:solidFill>
              <a:srgbClr val="F4F7FB"/>
            </a:solidFill>
            <a:ln w="19050" cap="sq">
              <a:solidFill>
                <a:srgbClr val="C8D2E1"/>
              </a:solidFill>
              <a:prstDash val="solid"/>
              <a:miter/>
            </a:ln>
          </p:spPr>
        </p:sp>
        <p:sp>
          <p:nvSpPr>
            <p:cNvPr name="TextBox 42" id="42"/>
            <p:cNvSpPr txBox="true"/>
            <p:nvPr/>
          </p:nvSpPr>
          <p:spPr>
            <a:xfrm>
              <a:off x="0" y="-38100"/>
              <a:ext cx="4902200" cy="5499100"/>
            </a:xfrm>
            <a:prstGeom prst="rect">
              <a:avLst/>
            </a:prstGeom>
          </p:spPr>
          <p:txBody>
            <a:bodyPr anchor="ctr" rtlCol="false" tIns="50800" lIns="50800" bIns="50800" rIns="50800"/>
            <a:lstStyle/>
            <a:p>
              <a:pPr algn="l">
                <a:lnSpc>
                  <a:spcPts val="1679"/>
                </a:lnSpc>
              </a:pPr>
            </a:p>
          </p:txBody>
        </p:sp>
      </p:grpSp>
      <p:grpSp>
        <p:nvGrpSpPr>
          <p:cNvPr name="Group 43" id="43"/>
          <p:cNvGrpSpPr/>
          <p:nvPr/>
        </p:nvGrpSpPr>
        <p:grpSpPr>
          <a:xfrm rot="0">
            <a:off x="13563600" y="2724150"/>
            <a:ext cx="3676650" cy="114300"/>
            <a:chOff x="0" y="0"/>
            <a:chExt cx="4902200" cy="152400"/>
          </a:xfrm>
        </p:grpSpPr>
        <p:sp>
          <p:nvSpPr>
            <p:cNvPr name="Freeform 44" id="44"/>
            <p:cNvSpPr/>
            <p:nvPr/>
          </p:nvSpPr>
          <p:spPr>
            <a:xfrm flipH="false" flipV="false" rot="0">
              <a:off x="0" y="0"/>
              <a:ext cx="4902200" cy="152400"/>
            </a:xfrm>
            <a:custGeom>
              <a:avLst/>
              <a:gdLst/>
              <a:ahLst/>
              <a:cxnLst/>
              <a:rect r="r" b="b" t="t" l="l"/>
              <a:pathLst>
                <a:path h="152400" w="4902200">
                  <a:moveTo>
                    <a:pt x="76200" y="0"/>
                  </a:moveTo>
                  <a:lnTo>
                    <a:pt x="4826000" y="0"/>
                  </a:lnTo>
                  <a:cubicBezTo>
                    <a:pt x="4868084" y="0"/>
                    <a:pt x="4902200" y="34116"/>
                    <a:pt x="4902200" y="76200"/>
                  </a:cubicBezTo>
                  <a:cubicBezTo>
                    <a:pt x="4902200" y="118284"/>
                    <a:pt x="4868084" y="152400"/>
                    <a:pt x="4826000" y="152400"/>
                  </a:cubicBezTo>
                  <a:lnTo>
                    <a:pt x="76200" y="152400"/>
                  </a:lnTo>
                  <a:cubicBezTo>
                    <a:pt x="34116" y="152400"/>
                    <a:pt x="0" y="118284"/>
                    <a:pt x="0" y="76200"/>
                  </a:cubicBezTo>
                  <a:cubicBezTo>
                    <a:pt x="0" y="34116"/>
                    <a:pt x="34116" y="0"/>
                    <a:pt x="76200" y="0"/>
                  </a:cubicBezTo>
                  <a:close/>
                </a:path>
              </a:pathLst>
            </a:custGeom>
            <a:solidFill>
              <a:srgbClr val="A28231"/>
            </a:solidFill>
          </p:spPr>
        </p:sp>
        <p:sp>
          <p:nvSpPr>
            <p:cNvPr name="TextBox 45" id="45"/>
            <p:cNvSpPr txBox="true"/>
            <p:nvPr/>
          </p:nvSpPr>
          <p:spPr>
            <a:xfrm>
              <a:off x="0" y="-38100"/>
              <a:ext cx="4902200" cy="190500"/>
            </a:xfrm>
            <a:prstGeom prst="rect">
              <a:avLst/>
            </a:prstGeom>
          </p:spPr>
          <p:txBody>
            <a:bodyPr anchor="ctr" rtlCol="false" tIns="50800" lIns="50800" bIns="50800" rIns="50800"/>
            <a:lstStyle/>
            <a:p>
              <a:pPr algn="l">
                <a:lnSpc>
                  <a:spcPts val="1679"/>
                </a:lnSpc>
              </a:pPr>
            </a:p>
          </p:txBody>
        </p:sp>
      </p:grpSp>
      <p:sp>
        <p:nvSpPr>
          <p:cNvPr name="TextBox 46" id="46"/>
          <p:cNvSpPr txBox="true"/>
          <p:nvPr/>
        </p:nvSpPr>
        <p:spPr>
          <a:xfrm rot="0">
            <a:off x="13830300" y="3314700"/>
            <a:ext cx="3143250" cy="712470"/>
          </a:xfrm>
          <a:prstGeom prst="rect">
            <a:avLst/>
          </a:prstGeom>
        </p:spPr>
        <p:txBody>
          <a:bodyPr anchor="t" rtlCol="false" tIns="0" lIns="0" bIns="0" rIns="0">
            <a:spAutoFit/>
          </a:bodyPr>
          <a:lstStyle/>
          <a:p>
            <a:pPr algn="ctr">
              <a:lnSpc>
                <a:spcPts val="5880"/>
              </a:lnSpc>
            </a:pPr>
            <a:r>
              <a:rPr lang="en-US" b="true" sz="4200">
                <a:solidFill>
                  <a:srgbClr val="A28231"/>
                </a:solidFill>
                <a:latin typeface="Montserrat Bold"/>
                <a:ea typeface="Montserrat Bold"/>
                <a:cs typeface="Montserrat Bold"/>
                <a:sym typeface="Montserrat Bold"/>
              </a:rPr>
              <a:t>79%</a:t>
            </a:r>
          </a:p>
        </p:txBody>
      </p:sp>
      <p:grpSp>
        <p:nvGrpSpPr>
          <p:cNvPr name="Group 47" id="47"/>
          <p:cNvGrpSpPr/>
          <p:nvPr/>
        </p:nvGrpSpPr>
        <p:grpSpPr>
          <a:xfrm rot="0">
            <a:off x="13944600" y="4762500"/>
            <a:ext cx="2914650" cy="19050"/>
            <a:chOff x="0" y="0"/>
            <a:chExt cx="3886200" cy="25400"/>
          </a:xfrm>
        </p:grpSpPr>
        <p:sp>
          <p:nvSpPr>
            <p:cNvPr name="Freeform 48" id="48"/>
            <p:cNvSpPr/>
            <p:nvPr/>
          </p:nvSpPr>
          <p:spPr>
            <a:xfrm flipH="false" flipV="false" rot="0">
              <a:off x="0" y="0"/>
              <a:ext cx="3886200" cy="25400"/>
            </a:xfrm>
            <a:custGeom>
              <a:avLst/>
              <a:gdLst/>
              <a:ahLst/>
              <a:cxnLst/>
              <a:rect r="r" b="b" t="t" l="l"/>
              <a:pathLst>
                <a:path h="25400" w="3886200">
                  <a:moveTo>
                    <a:pt x="0" y="0"/>
                  </a:moveTo>
                  <a:lnTo>
                    <a:pt x="3886200" y="0"/>
                  </a:lnTo>
                  <a:lnTo>
                    <a:pt x="3886200" y="25400"/>
                  </a:lnTo>
                  <a:lnTo>
                    <a:pt x="0" y="25400"/>
                  </a:lnTo>
                  <a:close/>
                </a:path>
              </a:pathLst>
            </a:custGeom>
            <a:solidFill>
              <a:srgbClr val="4F6FAE">
                <a:alpha val="54902"/>
              </a:srgbClr>
            </a:solidFill>
          </p:spPr>
        </p:sp>
        <p:sp>
          <p:nvSpPr>
            <p:cNvPr name="TextBox 49" id="49"/>
            <p:cNvSpPr txBox="true"/>
            <p:nvPr/>
          </p:nvSpPr>
          <p:spPr>
            <a:xfrm>
              <a:off x="0" y="-38100"/>
              <a:ext cx="3886200" cy="63500"/>
            </a:xfrm>
            <a:prstGeom prst="rect">
              <a:avLst/>
            </a:prstGeom>
          </p:spPr>
          <p:txBody>
            <a:bodyPr anchor="ctr" rtlCol="false" tIns="50800" lIns="50800" bIns="50800" rIns="50800"/>
            <a:lstStyle/>
            <a:p>
              <a:pPr algn="l">
                <a:lnSpc>
                  <a:spcPts val="1679"/>
                </a:lnSpc>
              </a:pPr>
            </a:p>
          </p:txBody>
        </p:sp>
      </p:grpSp>
      <p:sp>
        <p:nvSpPr>
          <p:cNvPr name="TextBox 50" id="50"/>
          <p:cNvSpPr txBox="true"/>
          <p:nvPr/>
        </p:nvSpPr>
        <p:spPr>
          <a:xfrm rot="0">
            <a:off x="13849350" y="4991100"/>
            <a:ext cx="3105150" cy="609600"/>
          </a:xfrm>
          <a:prstGeom prst="rect">
            <a:avLst/>
          </a:prstGeom>
        </p:spPr>
        <p:txBody>
          <a:bodyPr anchor="t" rtlCol="false" tIns="0" lIns="0" bIns="0" rIns="0">
            <a:spAutoFit/>
          </a:bodyPr>
          <a:lstStyle/>
          <a:p>
            <a:pPr algn="ctr">
              <a:lnSpc>
                <a:spcPts val="2400"/>
              </a:lnSpc>
            </a:pPr>
            <a:r>
              <a:rPr lang="en-US" sz="2000" b="true">
                <a:solidFill>
                  <a:srgbClr val="002557"/>
                </a:solidFill>
                <a:latin typeface="Montserrat Bold"/>
                <a:ea typeface="Montserrat Bold"/>
                <a:cs typeface="Montserrat Bold"/>
                <a:sym typeface="Montserrat Bold"/>
              </a:rPr>
              <a:t>Cases with a Suspect Identified</a:t>
            </a:r>
          </a:p>
        </p:txBody>
      </p:sp>
      <p:sp>
        <p:nvSpPr>
          <p:cNvPr name="TextBox 51" id="51"/>
          <p:cNvSpPr txBox="true"/>
          <p:nvPr/>
        </p:nvSpPr>
        <p:spPr>
          <a:xfrm rot="0">
            <a:off x="899459" y="838898"/>
            <a:ext cx="17054762" cy="762000"/>
          </a:xfrm>
          <a:prstGeom prst="rect">
            <a:avLst/>
          </a:prstGeom>
        </p:spPr>
        <p:txBody>
          <a:bodyPr anchor="t" rtlCol="false" tIns="0" lIns="0" bIns="0" rIns="0">
            <a:spAutoFit/>
          </a:bodyPr>
          <a:lstStyle/>
          <a:p>
            <a:pPr algn="l" marL="0" indent="0" lvl="0">
              <a:lnSpc>
                <a:spcPts val="6299"/>
              </a:lnSpc>
              <a:spcBef>
                <a:spcPct val="0"/>
              </a:spcBef>
            </a:pPr>
            <a:r>
              <a:rPr lang="en-US" b="true" sz="4500" strike="noStrike" u="none">
                <a:solidFill>
                  <a:srgbClr val="002557"/>
                </a:solidFill>
                <a:latin typeface="Montserrat Bold"/>
                <a:ea typeface="Montserrat Bold"/>
                <a:cs typeface="Montserrat Bold"/>
                <a:sym typeface="Montserrat Bold"/>
              </a:rPr>
              <a:t>RTIC Activity Since October 2024</a:t>
            </a:r>
          </a:p>
        </p:txBody>
      </p:sp>
      <p:sp>
        <p:nvSpPr>
          <p:cNvPr name="AutoShape 52" id="52"/>
          <p:cNvSpPr/>
          <p:nvPr/>
        </p:nvSpPr>
        <p:spPr>
          <a:xfrm>
            <a:off x="-694882" y="1527873"/>
            <a:ext cx="9131783" cy="0"/>
          </a:xfrm>
          <a:prstGeom prst="line">
            <a:avLst/>
          </a:prstGeom>
          <a:ln cap="flat" w="38100">
            <a:solidFill>
              <a:srgbClr val="A28231"/>
            </a:solidFill>
            <a:prstDash val="solid"/>
            <a:headEnd type="none" len="sm" w="sm"/>
            <a:tailEnd type="none" len="sm" w="sm"/>
          </a:ln>
        </p:spPr>
      </p:sp>
      <p:sp>
        <p:nvSpPr>
          <p:cNvPr name="AutoShape 53" id="53"/>
          <p:cNvSpPr/>
          <p:nvPr/>
        </p:nvSpPr>
        <p:spPr>
          <a:xfrm flipV="true">
            <a:off x="-117230" y="10287000"/>
            <a:ext cx="19376532" cy="12351"/>
          </a:xfrm>
          <a:prstGeom prst="line">
            <a:avLst/>
          </a:prstGeom>
          <a:ln cap="flat" w="85725">
            <a:solidFill>
              <a:srgbClr val="1E498A"/>
            </a:solidFill>
            <a:prstDash val="solid"/>
            <a:headEnd type="none" len="sm" w="sm"/>
            <a:tailEnd type="none" len="sm" w="sm"/>
          </a:ln>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271631" y="0"/>
            <a:ext cx="1093780" cy="10287000"/>
          </a:xfrm>
          <a:custGeom>
            <a:avLst/>
            <a:gdLst/>
            <a:ahLst/>
            <a:cxnLst/>
            <a:rect r="r" b="b" t="t" l="l"/>
            <a:pathLst>
              <a:path h="10287000" w="1093780">
                <a:moveTo>
                  <a:pt x="0" y="0"/>
                </a:moveTo>
                <a:lnTo>
                  <a:pt x="1093780" y="0"/>
                </a:lnTo>
                <a:lnTo>
                  <a:pt x="1093780" y="10287000"/>
                </a:lnTo>
                <a:lnTo>
                  <a:pt x="0" y="10287000"/>
                </a:lnTo>
                <a:lnTo>
                  <a:pt x="0" y="0"/>
                </a:lnTo>
                <a:close/>
              </a:path>
            </a:pathLst>
          </a:custGeom>
          <a:blipFill>
            <a:blip r:embed="rId3"/>
            <a:stretch>
              <a:fillRect l="0" t="0" r="0" b="0"/>
            </a:stretch>
          </a:blipFill>
        </p:spPr>
      </p:sp>
      <p:sp>
        <p:nvSpPr>
          <p:cNvPr name="Freeform 4" id="4"/>
          <p:cNvSpPr/>
          <p:nvPr/>
        </p:nvSpPr>
        <p:spPr>
          <a:xfrm flipH="false" flipV="false" rot="0">
            <a:off x="1520354" y="2140392"/>
            <a:ext cx="7842402" cy="5793953"/>
          </a:xfrm>
          <a:custGeom>
            <a:avLst/>
            <a:gdLst/>
            <a:ahLst/>
            <a:cxnLst/>
            <a:rect r="r" b="b" t="t" l="l"/>
            <a:pathLst>
              <a:path h="5793953" w="7842402">
                <a:moveTo>
                  <a:pt x="0" y="0"/>
                </a:moveTo>
                <a:lnTo>
                  <a:pt x="7842402" y="0"/>
                </a:lnTo>
                <a:lnTo>
                  <a:pt x="7842402" y="5793953"/>
                </a:lnTo>
                <a:lnTo>
                  <a:pt x="0" y="5793953"/>
                </a:lnTo>
                <a:lnTo>
                  <a:pt x="0" y="0"/>
                </a:lnTo>
                <a:close/>
              </a:path>
            </a:pathLst>
          </a:custGeom>
          <a:blipFill>
            <a:blip r:embed="rId4"/>
            <a:stretch>
              <a:fillRect l="0" t="0" r="0" b="0"/>
            </a:stretch>
          </a:blipFill>
        </p:spPr>
      </p:sp>
      <p:sp>
        <p:nvSpPr>
          <p:cNvPr name="TextBox 5" id="5"/>
          <p:cNvSpPr txBox="true"/>
          <p:nvPr/>
        </p:nvSpPr>
        <p:spPr>
          <a:xfrm rot="0">
            <a:off x="3090672" y="2473244"/>
            <a:ext cx="4676086" cy="314325"/>
          </a:xfrm>
          <a:prstGeom prst="rect">
            <a:avLst/>
          </a:prstGeom>
        </p:spPr>
        <p:txBody>
          <a:bodyPr anchor="t" rtlCol="false" tIns="0" lIns="0" bIns="0" rIns="0">
            <a:spAutoFit/>
          </a:bodyPr>
          <a:lstStyle/>
          <a:p>
            <a:pPr algn="ctr">
              <a:lnSpc>
                <a:spcPts val="2544"/>
              </a:lnSpc>
            </a:pPr>
            <a:r>
              <a:rPr lang="en-US" b="true" sz="2120">
                <a:solidFill>
                  <a:srgbClr val="132E52"/>
                </a:solidFill>
                <a:latin typeface="Montserrat Bold"/>
                <a:ea typeface="Montserrat Bold"/>
                <a:cs typeface="Montserrat Bold"/>
                <a:sym typeface="Montserrat Bold"/>
              </a:rPr>
              <a:t>RTIC-ASSISTED CRIMINAL CASES</a:t>
            </a:r>
          </a:p>
        </p:txBody>
      </p:sp>
      <p:sp>
        <p:nvSpPr>
          <p:cNvPr name="Freeform 6" id="6"/>
          <p:cNvSpPr/>
          <p:nvPr/>
        </p:nvSpPr>
        <p:spPr>
          <a:xfrm flipH="false" flipV="false" rot="0">
            <a:off x="3478220" y="2993087"/>
            <a:ext cx="3926670" cy="3869923"/>
          </a:xfrm>
          <a:custGeom>
            <a:avLst/>
            <a:gdLst/>
            <a:ahLst/>
            <a:cxnLst/>
            <a:rect r="r" b="b" t="t" l="l"/>
            <a:pathLst>
              <a:path h="3869923" w="3926670">
                <a:moveTo>
                  <a:pt x="0" y="0"/>
                </a:moveTo>
                <a:lnTo>
                  <a:pt x="3926670" y="0"/>
                </a:lnTo>
                <a:lnTo>
                  <a:pt x="3926670" y="3869923"/>
                </a:lnTo>
                <a:lnTo>
                  <a:pt x="0" y="3869923"/>
                </a:lnTo>
                <a:lnTo>
                  <a:pt x="0" y="0"/>
                </a:lnTo>
                <a:close/>
              </a:path>
            </a:pathLst>
          </a:custGeom>
          <a:blipFill>
            <a:blip r:embed="rId5"/>
            <a:stretch>
              <a:fillRect l="0" t="0" r="0" b="0"/>
            </a:stretch>
          </a:blipFill>
        </p:spPr>
      </p:sp>
      <p:sp>
        <p:nvSpPr>
          <p:cNvPr name="TextBox 7" id="7"/>
          <p:cNvSpPr txBox="true"/>
          <p:nvPr/>
        </p:nvSpPr>
        <p:spPr>
          <a:xfrm rot="0">
            <a:off x="4553712" y="4486651"/>
            <a:ext cx="1810512" cy="940318"/>
          </a:xfrm>
          <a:prstGeom prst="rect">
            <a:avLst/>
          </a:prstGeom>
        </p:spPr>
        <p:txBody>
          <a:bodyPr anchor="t" rtlCol="false" tIns="0" lIns="0" bIns="0" rIns="0">
            <a:spAutoFit/>
          </a:bodyPr>
          <a:lstStyle/>
          <a:p>
            <a:pPr algn="ctr">
              <a:lnSpc>
                <a:spcPts val="7037"/>
              </a:lnSpc>
            </a:pPr>
            <a:r>
              <a:rPr lang="en-US" sz="7037" b="true">
                <a:solidFill>
                  <a:srgbClr val="132E52"/>
                </a:solidFill>
                <a:latin typeface="Roboto Bold"/>
                <a:ea typeface="Roboto Bold"/>
                <a:cs typeface="Roboto Bold"/>
                <a:sym typeface="Roboto Bold"/>
              </a:rPr>
              <a:t>57%</a:t>
            </a:r>
          </a:p>
        </p:txBody>
      </p:sp>
      <p:sp>
        <p:nvSpPr>
          <p:cNvPr name="TextBox 8" id="8"/>
          <p:cNvSpPr txBox="true"/>
          <p:nvPr/>
        </p:nvSpPr>
        <p:spPr>
          <a:xfrm rot="0">
            <a:off x="3206877" y="7024802"/>
            <a:ext cx="4746914" cy="285639"/>
          </a:xfrm>
          <a:prstGeom prst="rect">
            <a:avLst/>
          </a:prstGeom>
        </p:spPr>
        <p:txBody>
          <a:bodyPr anchor="t" rtlCol="false" tIns="0" lIns="0" bIns="0" rIns="0">
            <a:spAutoFit/>
          </a:bodyPr>
          <a:lstStyle/>
          <a:p>
            <a:pPr algn="ctr" marL="0" indent="0" lvl="0">
              <a:lnSpc>
                <a:spcPts val="2399"/>
              </a:lnSpc>
              <a:spcBef>
                <a:spcPct val="0"/>
              </a:spcBef>
            </a:pPr>
            <a:r>
              <a:rPr lang="en-US" sz="1999" strike="noStrike" u="none">
                <a:solidFill>
                  <a:srgbClr val="132E52"/>
                </a:solidFill>
                <a:latin typeface="Montserrat"/>
                <a:ea typeface="Montserrat"/>
                <a:cs typeface="Montserrat"/>
                <a:sym typeface="Montserrat"/>
              </a:rPr>
              <a:t>339 cases with a criminal component</a:t>
            </a:r>
          </a:p>
        </p:txBody>
      </p:sp>
      <p:sp>
        <p:nvSpPr>
          <p:cNvPr name="Freeform 9" id="9"/>
          <p:cNvSpPr/>
          <p:nvPr/>
        </p:nvSpPr>
        <p:spPr>
          <a:xfrm flipH="false" flipV="false" rot="0">
            <a:off x="9570574" y="2140392"/>
            <a:ext cx="8072096" cy="5793953"/>
          </a:xfrm>
          <a:custGeom>
            <a:avLst/>
            <a:gdLst/>
            <a:ahLst/>
            <a:cxnLst/>
            <a:rect r="r" b="b" t="t" l="l"/>
            <a:pathLst>
              <a:path h="5793953" w="8072096">
                <a:moveTo>
                  <a:pt x="0" y="0"/>
                </a:moveTo>
                <a:lnTo>
                  <a:pt x="8072096" y="0"/>
                </a:lnTo>
                <a:lnTo>
                  <a:pt x="8072096" y="5793953"/>
                </a:lnTo>
                <a:lnTo>
                  <a:pt x="0" y="5793953"/>
                </a:lnTo>
                <a:lnTo>
                  <a:pt x="0" y="0"/>
                </a:lnTo>
                <a:close/>
              </a:path>
            </a:pathLst>
          </a:custGeom>
          <a:blipFill>
            <a:blip r:embed="rId6"/>
            <a:stretch>
              <a:fillRect l="0" t="0" r="0" b="0"/>
            </a:stretch>
          </a:blipFill>
        </p:spPr>
      </p:sp>
      <p:sp>
        <p:nvSpPr>
          <p:cNvPr name="TextBox 10" id="10"/>
          <p:cNvSpPr txBox="true"/>
          <p:nvPr/>
        </p:nvSpPr>
        <p:spPr>
          <a:xfrm rot="0">
            <a:off x="11745543" y="2467778"/>
            <a:ext cx="3594770" cy="317028"/>
          </a:xfrm>
          <a:prstGeom prst="rect">
            <a:avLst/>
          </a:prstGeom>
        </p:spPr>
        <p:txBody>
          <a:bodyPr anchor="t" rtlCol="false" tIns="0" lIns="0" bIns="0" rIns="0">
            <a:spAutoFit/>
          </a:bodyPr>
          <a:lstStyle/>
          <a:p>
            <a:pPr algn="ctr" marL="0" indent="0" lvl="0">
              <a:lnSpc>
                <a:spcPts val="2544"/>
              </a:lnSpc>
              <a:spcBef>
                <a:spcPct val="0"/>
              </a:spcBef>
            </a:pPr>
            <a:r>
              <a:rPr lang="en-US" b="true" sz="2120" strike="noStrike" u="none">
                <a:solidFill>
                  <a:srgbClr val="132E52"/>
                </a:solidFill>
                <a:latin typeface="Montserrat Bold"/>
                <a:ea typeface="Montserrat Bold"/>
                <a:cs typeface="Montserrat Bold"/>
                <a:sym typeface="Montserrat Bold"/>
              </a:rPr>
              <a:t>DEPARTMENT OVERALL</a:t>
            </a:r>
          </a:p>
        </p:txBody>
      </p:sp>
      <p:sp>
        <p:nvSpPr>
          <p:cNvPr name="Freeform 11" id="11"/>
          <p:cNvSpPr/>
          <p:nvPr/>
        </p:nvSpPr>
        <p:spPr>
          <a:xfrm flipH="false" flipV="false" rot="0">
            <a:off x="11528440" y="2993087"/>
            <a:ext cx="3937608" cy="3869923"/>
          </a:xfrm>
          <a:custGeom>
            <a:avLst/>
            <a:gdLst/>
            <a:ahLst/>
            <a:cxnLst/>
            <a:rect r="r" b="b" t="t" l="l"/>
            <a:pathLst>
              <a:path h="3869923" w="3937608">
                <a:moveTo>
                  <a:pt x="0" y="0"/>
                </a:moveTo>
                <a:lnTo>
                  <a:pt x="3937608" y="0"/>
                </a:lnTo>
                <a:lnTo>
                  <a:pt x="3937608" y="3869923"/>
                </a:lnTo>
                <a:lnTo>
                  <a:pt x="0" y="3869923"/>
                </a:lnTo>
                <a:lnTo>
                  <a:pt x="0" y="0"/>
                </a:lnTo>
                <a:close/>
              </a:path>
            </a:pathLst>
          </a:custGeom>
          <a:blipFill>
            <a:blip r:embed="rId7"/>
            <a:stretch>
              <a:fillRect l="0" t="0" r="0" b="0"/>
            </a:stretch>
          </a:blipFill>
        </p:spPr>
      </p:sp>
      <p:sp>
        <p:nvSpPr>
          <p:cNvPr name="TextBox 12" id="12"/>
          <p:cNvSpPr txBox="true"/>
          <p:nvPr/>
        </p:nvSpPr>
        <p:spPr>
          <a:xfrm rot="0">
            <a:off x="12691872" y="4486651"/>
            <a:ext cx="1810512" cy="940318"/>
          </a:xfrm>
          <a:prstGeom prst="rect">
            <a:avLst/>
          </a:prstGeom>
        </p:spPr>
        <p:txBody>
          <a:bodyPr anchor="t" rtlCol="false" tIns="0" lIns="0" bIns="0" rIns="0">
            <a:spAutoFit/>
          </a:bodyPr>
          <a:lstStyle/>
          <a:p>
            <a:pPr algn="ctr">
              <a:lnSpc>
                <a:spcPts val="7037"/>
              </a:lnSpc>
            </a:pPr>
            <a:r>
              <a:rPr lang="en-US" sz="7037" b="true">
                <a:solidFill>
                  <a:srgbClr val="132E52"/>
                </a:solidFill>
                <a:latin typeface="Roboto Bold"/>
                <a:ea typeface="Roboto Bold"/>
                <a:cs typeface="Roboto Bold"/>
                <a:sym typeface="Roboto Bold"/>
              </a:rPr>
              <a:t>48%</a:t>
            </a:r>
          </a:p>
        </p:txBody>
      </p:sp>
      <p:sp>
        <p:nvSpPr>
          <p:cNvPr name="TextBox 13" id="13"/>
          <p:cNvSpPr txBox="true"/>
          <p:nvPr/>
        </p:nvSpPr>
        <p:spPr>
          <a:xfrm rot="0">
            <a:off x="10783824" y="7024802"/>
            <a:ext cx="5876787" cy="285750"/>
          </a:xfrm>
          <a:prstGeom prst="rect">
            <a:avLst/>
          </a:prstGeom>
        </p:spPr>
        <p:txBody>
          <a:bodyPr anchor="t" rtlCol="false" tIns="0" lIns="0" bIns="0" rIns="0">
            <a:spAutoFit/>
          </a:bodyPr>
          <a:lstStyle/>
          <a:p>
            <a:pPr algn="ctr" marL="0" indent="0" lvl="0">
              <a:lnSpc>
                <a:spcPts val="2399"/>
              </a:lnSpc>
              <a:spcBef>
                <a:spcPct val="0"/>
              </a:spcBef>
            </a:pPr>
            <a:r>
              <a:rPr lang="en-US" sz="1999" strike="noStrike" u="none">
                <a:solidFill>
                  <a:srgbClr val="132E52"/>
                </a:solidFill>
                <a:latin typeface="Montserrat"/>
                <a:ea typeface="Montserrat"/>
                <a:cs typeface="Montserrat"/>
                <a:sym typeface="Montserrat"/>
              </a:rPr>
              <a:t>All Department cases during the same period</a:t>
            </a:r>
          </a:p>
        </p:txBody>
      </p:sp>
      <p:sp>
        <p:nvSpPr>
          <p:cNvPr name="Freeform 14" id="14"/>
          <p:cNvSpPr/>
          <p:nvPr/>
        </p:nvSpPr>
        <p:spPr>
          <a:xfrm flipH="false" flipV="false" rot="0">
            <a:off x="1520354" y="8210570"/>
            <a:ext cx="16122316" cy="1508614"/>
          </a:xfrm>
          <a:custGeom>
            <a:avLst/>
            <a:gdLst/>
            <a:ahLst/>
            <a:cxnLst/>
            <a:rect r="r" b="b" t="t" l="l"/>
            <a:pathLst>
              <a:path h="1508614" w="16122316">
                <a:moveTo>
                  <a:pt x="0" y="0"/>
                </a:moveTo>
                <a:lnTo>
                  <a:pt x="16122316" y="0"/>
                </a:lnTo>
                <a:lnTo>
                  <a:pt x="16122316" y="1508614"/>
                </a:lnTo>
                <a:lnTo>
                  <a:pt x="0" y="1508614"/>
                </a:lnTo>
                <a:lnTo>
                  <a:pt x="0" y="0"/>
                </a:lnTo>
                <a:close/>
              </a:path>
            </a:pathLst>
          </a:custGeom>
          <a:blipFill>
            <a:blip r:embed="rId8"/>
            <a:stretch>
              <a:fillRect l="0" t="0" r="0" b="0"/>
            </a:stretch>
          </a:blipFill>
        </p:spPr>
      </p:sp>
      <p:sp>
        <p:nvSpPr>
          <p:cNvPr name="Freeform 15" id="15"/>
          <p:cNvSpPr/>
          <p:nvPr/>
        </p:nvSpPr>
        <p:spPr>
          <a:xfrm flipH="false" flipV="false" rot="0">
            <a:off x="1957866" y="8636918"/>
            <a:ext cx="875024" cy="874559"/>
          </a:xfrm>
          <a:custGeom>
            <a:avLst/>
            <a:gdLst/>
            <a:ahLst/>
            <a:cxnLst/>
            <a:rect r="r" b="b" t="t" l="l"/>
            <a:pathLst>
              <a:path h="874559" w="875024">
                <a:moveTo>
                  <a:pt x="0" y="0"/>
                </a:moveTo>
                <a:lnTo>
                  <a:pt x="875024" y="0"/>
                </a:lnTo>
                <a:lnTo>
                  <a:pt x="875024" y="874559"/>
                </a:lnTo>
                <a:lnTo>
                  <a:pt x="0" y="874559"/>
                </a:lnTo>
                <a:lnTo>
                  <a:pt x="0" y="0"/>
                </a:lnTo>
                <a:close/>
              </a:path>
            </a:pathLst>
          </a:custGeom>
          <a:blipFill>
            <a:blip r:embed="rId9"/>
            <a:stretch>
              <a:fillRect l="0" t="0" r="0" b="0"/>
            </a:stretch>
          </a:blipFill>
        </p:spPr>
      </p:sp>
      <p:sp>
        <p:nvSpPr>
          <p:cNvPr name="TextBox 16" id="16"/>
          <p:cNvSpPr txBox="true"/>
          <p:nvPr/>
        </p:nvSpPr>
        <p:spPr>
          <a:xfrm rot="0">
            <a:off x="3090672" y="8728440"/>
            <a:ext cx="13551408" cy="666750"/>
          </a:xfrm>
          <a:prstGeom prst="rect">
            <a:avLst/>
          </a:prstGeom>
        </p:spPr>
        <p:txBody>
          <a:bodyPr anchor="t" rtlCol="false" tIns="0" lIns="0" bIns="0" rIns="0">
            <a:spAutoFit/>
          </a:bodyPr>
          <a:lstStyle/>
          <a:p>
            <a:pPr algn="l">
              <a:lnSpc>
                <a:spcPts val="2639"/>
              </a:lnSpc>
            </a:pPr>
            <a:r>
              <a:rPr lang="en-US" sz="2199">
                <a:solidFill>
                  <a:srgbClr val="132E52"/>
                </a:solidFill>
                <a:latin typeface="Montserrat"/>
                <a:ea typeface="Montserrat"/>
                <a:cs typeface="Montserrat"/>
                <a:sym typeface="Montserrat"/>
              </a:rPr>
              <a:t>The two case populations may differ in case type, seriousness, available evidence, or other factors. The rates are shown for descriptive context only; no causal relationship is implied.</a:t>
            </a:r>
          </a:p>
        </p:txBody>
      </p:sp>
      <p:sp>
        <p:nvSpPr>
          <p:cNvPr name="TextBox 17" id="17"/>
          <p:cNvSpPr txBox="true"/>
          <p:nvPr/>
        </p:nvSpPr>
        <p:spPr>
          <a:xfrm rot="0">
            <a:off x="1233238" y="829373"/>
            <a:ext cx="17054762" cy="762000"/>
          </a:xfrm>
          <a:prstGeom prst="rect">
            <a:avLst/>
          </a:prstGeom>
        </p:spPr>
        <p:txBody>
          <a:bodyPr anchor="t" rtlCol="false" tIns="0" lIns="0" bIns="0" rIns="0">
            <a:spAutoFit/>
          </a:bodyPr>
          <a:lstStyle/>
          <a:p>
            <a:pPr algn="l" marL="0" indent="0" lvl="0">
              <a:lnSpc>
                <a:spcPts val="6299"/>
              </a:lnSpc>
              <a:spcBef>
                <a:spcPct val="0"/>
              </a:spcBef>
            </a:pPr>
            <a:r>
              <a:rPr lang="en-US" b="true" sz="4500" strike="noStrike" u="none">
                <a:solidFill>
                  <a:srgbClr val="002557"/>
                </a:solidFill>
                <a:latin typeface="Montserrat Bold"/>
                <a:ea typeface="Montserrat Bold"/>
                <a:cs typeface="Montserrat Bold"/>
                <a:sym typeface="Montserrat Bold"/>
              </a:rPr>
              <a:t>Arrest Rates</a:t>
            </a:r>
          </a:p>
        </p:txBody>
      </p:sp>
      <p:sp>
        <p:nvSpPr>
          <p:cNvPr name="AutoShape 18" id="18"/>
          <p:cNvSpPr/>
          <p:nvPr/>
        </p:nvSpPr>
        <p:spPr>
          <a:xfrm>
            <a:off x="-694882" y="1527873"/>
            <a:ext cx="9131783" cy="0"/>
          </a:xfrm>
          <a:prstGeom prst="line">
            <a:avLst/>
          </a:prstGeom>
          <a:ln cap="flat" w="38100">
            <a:solidFill>
              <a:srgbClr val="A28231"/>
            </a:solidFill>
            <a:prstDash val="solid"/>
            <a:headEnd type="none" len="sm" w="sm"/>
            <a:tailEnd type="none" len="sm" w="sm"/>
          </a:ln>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3290001" y="6186287"/>
            <a:ext cx="4042297" cy="457200"/>
          </a:xfrm>
          <a:prstGeom prst="rect">
            <a:avLst/>
          </a:prstGeom>
        </p:spPr>
        <p:txBody>
          <a:bodyPr anchor="t" rtlCol="false" tIns="0" lIns="0" bIns="0" rIns="0">
            <a:spAutoFit/>
          </a:bodyPr>
          <a:lstStyle/>
          <a:p>
            <a:pPr algn="l">
              <a:lnSpc>
                <a:spcPts val="3600"/>
              </a:lnSpc>
            </a:pPr>
            <a:r>
              <a:rPr lang="en-US" sz="3000" b="true">
                <a:solidFill>
                  <a:srgbClr val="1E3A8A"/>
                </a:solidFill>
                <a:latin typeface="Montserrat Bold"/>
                <a:ea typeface="Montserrat Bold"/>
                <a:cs typeface="Montserrat Bold"/>
                <a:sym typeface="Montserrat Bold"/>
              </a:rPr>
              <a:t>Outcome</a:t>
            </a:r>
          </a:p>
        </p:txBody>
      </p:sp>
      <p:sp>
        <p:nvSpPr>
          <p:cNvPr name="TextBox 3" id="3"/>
          <p:cNvSpPr txBox="true"/>
          <p:nvPr/>
        </p:nvSpPr>
        <p:spPr>
          <a:xfrm rot="0">
            <a:off x="13290001" y="6713851"/>
            <a:ext cx="4402217" cy="1189355"/>
          </a:xfrm>
          <a:prstGeom prst="rect">
            <a:avLst/>
          </a:prstGeom>
        </p:spPr>
        <p:txBody>
          <a:bodyPr anchor="t" rtlCol="false" tIns="0" lIns="0" bIns="0" rIns="0">
            <a:spAutoFit/>
          </a:bodyPr>
          <a:lstStyle/>
          <a:p>
            <a:pPr algn="l" marL="0" indent="0" lvl="0">
              <a:lnSpc>
                <a:spcPts val="3219"/>
              </a:lnSpc>
              <a:spcBef>
                <a:spcPct val="0"/>
              </a:spcBef>
            </a:pPr>
            <a:r>
              <a:rPr lang="en-US" sz="2299" strike="noStrike" u="none">
                <a:solidFill>
                  <a:srgbClr val="000000"/>
                </a:solidFill>
                <a:latin typeface="Montserrat"/>
                <a:ea typeface="Montserrat"/>
                <a:cs typeface="Montserrat"/>
                <a:sym typeface="Montserrat"/>
              </a:rPr>
              <a:t>Officers located and arrested the suspect; the weapon was a replica firearm.</a:t>
            </a:r>
          </a:p>
        </p:txBody>
      </p:sp>
      <p:sp>
        <p:nvSpPr>
          <p:cNvPr name="AutoShape 4" id="4"/>
          <p:cNvSpPr/>
          <p:nvPr/>
        </p:nvSpPr>
        <p:spPr>
          <a:xfrm>
            <a:off x="6824273" y="1220124"/>
            <a:ext cx="11794786" cy="0"/>
          </a:xfrm>
          <a:prstGeom prst="line">
            <a:avLst/>
          </a:prstGeom>
          <a:ln cap="flat" w="38100">
            <a:solidFill>
              <a:srgbClr val="A28231"/>
            </a:solidFill>
            <a:prstDash val="solid"/>
            <a:headEnd type="none" len="sm" w="sm"/>
            <a:tailEnd type="none" len="sm" w="sm"/>
          </a:ln>
        </p:spPr>
      </p:sp>
      <p:sp>
        <p:nvSpPr>
          <p:cNvPr name="TextBox 5" id="5"/>
          <p:cNvSpPr txBox="true"/>
          <p:nvPr/>
        </p:nvSpPr>
        <p:spPr>
          <a:xfrm rot="0">
            <a:off x="881386" y="629574"/>
            <a:ext cx="5942887" cy="1028700"/>
          </a:xfrm>
          <a:prstGeom prst="rect">
            <a:avLst/>
          </a:prstGeom>
        </p:spPr>
        <p:txBody>
          <a:bodyPr anchor="t" rtlCol="false" tIns="0" lIns="0" bIns="0" rIns="0">
            <a:spAutoFit/>
          </a:bodyPr>
          <a:lstStyle/>
          <a:p>
            <a:pPr algn="l">
              <a:lnSpc>
                <a:spcPts val="8400"/>
              </a:lnSpc>
            </a:pPr>
            <a:r>
              <a:rPr lang="en-US" sz="6000" b="true">
                <a:solidFill>
                  <a:srgbClr val="1E3A8A"/>
                </a:solidFill>
                <a:latin typeface="Montserrat Bold"/>
                <a:ea typeface="Montserrat Bold"/>
                <a:cs typeface="Montserrat Bold"/>
                <a:sym typeface="Montserrat Bold"/>
              </a:rPr>
              <a:t>CASE STUDY</a:t>
            </a:r>
          </a:p>
        </p:txBody>
      </p:sp>
      <p:sp>
        <p:nvSpPr>
          <p:cNvPr name="TextBox 6" id="6"/>
          <p:cNvSpPr txBox="true"/>
          <p:nvPr/>
        </p:nvSpPr>
        <p:spPr>
          <a:xfrm rot="0">
            <a:off x="502076" y="2055516"/>
            <a:ext cx="1434610" cy="794521"/>
          </a:xfrm>
          <a:prstGeom prst="rect">
            <a:avLst/>
          </a:prstGeom>
        </p:spPr>
        <p:txBody>
          <a:bodyPr anchor="t" rtlCol="false" tIns="0" lIns="0" bIns="0" rIns="0">
            <a:spAutoFit/>
          </a:bodyPr>
          <a:lstStyle/>
          <a:p>
            <a:pPr algn="l">
              <a:lnSpc>
                <a:spcPts val="6511"/>
              </a:lnSpc>
            </a:pPr>
            <a:r>
              <a:rPr lang="en-US" sz="4650" b="true">
                <a:solidFill>
                  <a:srgbClr val="1E3A8A">
                    <a:alpha val="29804"/>
                  </a:srgbClr>
                </a:solidFill>
                <a:latin typeface="Montserrat Bold"/>
                <a:ea typeface="Montserrat Bold"/>
                <a:cs typeface="Montserrat Bold"/>
                <a:sym typeface="Montserrat Bold"/>
              </a:rPr>
              <a:t>01</a:t>
            </a:r>
          </a:p>
        </p:txBody>
      </p:sp>
      <p:sp>
        <p:nvSpPr>
          <p:cNvPr name="TextBox 7" id="7"/>
          <p:cNvSpPr txBox="true"/>
          <p:nvPr/>
        </p:nvSpPr>
        <p:spPr>
          <a:xfrm rot="0">
            <a:off x="3132098" y="2071291"/>
            <a:ext cx="1115619" cy="794521"/>
          </a:xfrm>
          <a:prstGeom prst="rect">
            <a:avLst/>
          </a:prstGeom>
        </p:spPr>
        <p:txBody>
          <a:bodyPr anchor="t" rtlCol="false" tIns="0" lIns="0" bIns="0" rIns="0">
            <a:spAutoFit/>
          </a:bodyPr>
          <a:lstStyle/>
          <a:p>
            <a:pPr algn="l">
              <a:lnSpc>
                <a:spcPts val="6511"/>
              </a:lnSpc>
            </a:pPr>
            <a:r>
              <a:rPr lang="en-US" sz="4650" b="true">
                <a:solidFill>
                  <a:srgbClr val="1E3A8A">
                    <a:alpha val="29804"/>
                  </a:srgbClr>
                </a:solidFill>
                <a:latin typeface="Montserrat Bold"/>
                <a:ea typeface="Montserrat Bold"/>
                <a:cs typeface="Montserrat Bold"/>
                <a:sym typeface="Montserrat Bold"/>
              </a:rPr>
              <a:t>02</a:t>
            </a:r>
          </a:p>
        </p:txBody>
      </p:sp>
      <p:sp>
        <p:nvSpPr>
          <p:cNvPr name="TextBox 8" id="8"/>
          <p:cNvSpPr txBox="true"/>
          <p:nvPr/>
        </p:nvSpPr>
        <p:spPr>
          <a:xfrm rot="0">
            <a:off x="5784053" y="2071291"/>
            <a:ext cx="1090100" cy="794521"/>
          </a:xfrm>
          <a:prstGeom prst="rect">
            <a:avLst/>
          </a:prstGeom>
        </p:spPr>
        <p:txBody>
          <a:bodyPr anchor="t" rtlCol="false" tIns="0" lIns="0" bIns="0" rIns="0">
            <a:spAutoFit/>
          </a:bodyPr>
          <a:lstStyle/>
          <a:p>
            <a:pPr algn="l">
              <a:lnSpc>
                <a:spcPts val="6511"/>
              </a:lnSpc>
            </a:pPr>
            <a:r>
              <a:rPr lang="en-US" sz="4650" b="true">
                <a:solidFill>
                  <a:srgbClr val="1E3A8A">
                    <a:alpha val="29804"/>
                  </a:srgbClr>
                </a:solidFill>
                <a:latin typeface="Montserrat Bold"/>
                <a:ea typeface="Montserrat Bold"/>
                <a:cs typeface="Montserrat Bold"/>
                <a:sym typeface="Montserrat Bold"/>
              </a:rPr>
              <a:t>03</a:t>
            </a:r>
          </a:p>
        </p:txBody>
      </p:sp>
      <p:sp>
        <p:nvSpPr>
          <p:cNvPr name="TextBox 9" id="9"/>
          <p:cNvSpPr txBox="true"/>
          <p:nvPr/>
        </p:nvSpPr>
        <p:spPr>
          <a:xfrm rot="0">
            <a:off x="9039347" y="2071291"/>
            <a:ext cx="1000783" cy="794521"/>
          </a:xfrm>
          <a:prstGeom prst="rect">
            <a:avLst/>
          </a:prstGeom>
        </p:spPr>
        <p:txBody>
          <a:bodyPr anchor="t" rtlCol="false" tIns="0" lIns="0" bIns="0" rIns="0">
            <a:spAutoFit/>
          </a:bodyPr>
          <a:lstStyle/>
          <a:p>
            <a:pPr algn="l">
              <a:lnSpc>
                <a:spcPts val="6511"/>
              </a:lnSpc>
            </a:pPr>
            <a:r>
              <a:rPr lang="en-US" sz="4650" b="true">
                <a:solidFill>
                  <a:srgbClr val="1E3A8A">
                    <a:alpha val="29804"/>
                  </a:srgbClr>
                </a:solidFill>
                <a:latin typeface="Montserrat Bold"/>
                <a:ea typeface="Montserrat Bold"/>
                <a:cs typeface="Montserrat Bold"/>
                <a:sym typeface="Montserrat Bold"/>
              </a:rPr>
              <a:t>04</a:t>
            </a:r>
          </a:p>
        </p:txBody>
      </p:sp>
      <p:sp>
        <p:nvSpPr>
          <p:cNvPr name="TextBox 10" id="10"/>
          <p:cNvSpPr txBox="true"/>
          <p:nvPr/>
        </p:nvSpPr>
        <p:spPr>
          <a:xfrm rot="0">
            <a:off x="923818" y="2475359"/>
            <a:ext cx="1893955" cy="815487"/>
          </a:xfrm>
          <a:prstGeom prst="rect">
            <a:avLst/>
          </a:prstGeom>
        </p:spPr>
        <p:txBody>
          <a:bodyPr anchor="t" rtlCol="false" tIns="0" lIns="0" bIns="0" rIns="0">
            <a:spAutoFit/>
          </a:bodyPr>
          <a:lstStyle/>
          <a:p>
            <a:pPr algn="l">
              <a:lnSpc>
                <a:spcPts val="3255"/>
              </a:lnSpc>
            </a:pPr>
            <a:r>
              <a:rPr lang="en-US" sz="2325" b="true">
                <a:solidFill>
                  <a:srgbClr val="0B1D51"/>
                </a:solidFill>
                <a:latin typeface="Montserrat Bold"/>
                <a:ea typeface="Montserrat Bold"/>
                <a:cs typeface="Montserrat Bold"/>
                <a:sym typeface="Montserrat Bold"/>
              </a:rPr>
              <a:t>Initial Report</a:t>
            </a:r>
          </a:p>
        </p:txBody>
      </p:sp>
      <p:sp>
        <p:nvSpPr>
          <p:cNvPr name="TextBox 11" id="11"/>
          <p:cNvSpPr txBox="true"/>
          <p:nvPr/>
        </p:nvSpPr>
        <p:spPr>
          <a:xfrm rot="0">
            <a:off x="3648279" y="2491134"/>
            <a:ext cx="1851418" cy="815487"/>
          </a:xfrm>
          <a:prstGeom prst="rect">
            <a:avLst/>
          </a:prstGeom>
        </p:spPr>
        <p:txBody>
          <a:bodyPr anchor="t" rtlCol="false" tIns="0" lIns="0" bIns="0" rIns="0">
            <a:spAutoFit/>
          </a:bodyPr>
          <a:lstStyle/>
          <a:p>
            <a:pPr algn="l">
              <a:lnSpc>
                <a:spcPts val="3255"/>
              </a:lnSpc>
            </a:pPr>
            <a:r>
              <a:rPr lang="en-US" sz="2325" b="true">
                <a:solidFill>
                  <a:srgbClr val="0B1D51"/>
                </a:solidFill>
                <a:latin typeface="Montserrat Bold"/>
                <a:ea typeface="Montserrat Bold"/>
                <a:cs typeface="Montserrat Bold"/>
                <a:sym typeface="Montserrat Bold"/>
              </a:rPr>
              <a:t>Limited Details</a:t>
            </a:r>
          </a:p>
        </p:txBody>
      </p:sp>
      <p:sp>
        <p:nvSpPr>
          <p:cNvPr name="TextBox 12" id="12"/>
          <p:cNvSpPr txBox="true"/>
          <p:nvPr/>
        </p:nvSpPr>
        <p:spPr>
          <a:xfrm rot="0">
            <a:off x="6267078" y="2491134"/>
            <a:ext cx="2164193" cy="815487"/>
          </a:xfrm>
          <a:prstGeom prst="rect">
            <a:avLst/>
          </a:prstGeom>
        </p:spPr>
        <p:txBody>
          <a:bodyPr anchor="t" rtlCol="false" tIns="0" lIns="0" bIns="0" rIns="0">
            <a:spAutoFit/>
          </a:bodyPr>
          <a:lstStyle/>
          <a:p>
            <a:pPr algn="l">
              <a:lnSpc>
                <a:spcPts val="3255"/>
              </a:lnSpc>
            </a:pPr>
            <a:r>
              <a:rPr lang="en-US" sz="2325" b="true">
                <a:solidFill>
                  <a:srgbClr val="0B1D51"/>
                </a:solidFill>
                <a:latin typeface="Montserrat Bold"/>
                <a:ea typeface="Montserrat Bold"/>
                <a:cs typeface="Montserrat Bold"/>
                <a:sym typeface="Montserrat Bold"/>
              </a:rPr>
              <a:t>RTIC Intervention</a:t>
            </a:r>
          </a:p>
        </p:txBody>
      </p:sp>
      <p:sp>
        <p:nvSpPr>
          <p:cNvPr name="TextBox 13" id="13"/>
          <p:cNvSpPr txBox="true"/>
          <p:nvPr/>
        </p:nvSpPr>
        <p:spPr>
          <a:xfrm rot="0">
            <a:off x="9750163" y="2491134"/>
            <a:ext cx="2259326" cy="815487"/>
          </a:xfrm>
          <a:prstGeom prst="rect">
            <a:avLst/>
          </a:prstGeom>
        </p:spPr>
        <p:txBody>
          <a:bodyPr anchor="t" rtlCol="false" tIns="0" lIns="0" bIns="0" rIns="0">
            <a:spAutoFit/>
          </a:bodyPr>
          <a:lstStyle/>
          <a:p>
            <a:pPr algn="l">
              <a:lnSpc>
                <a:spcPts val="3255"/>
              </a:lnSpc>
            </a:pPr>
            <a:r>
              <a:rPr lang="en-US" sz="2325" b="true">
                <a:solidFill>
                  <a:srgbClr val="0B1D51"/>
                </a:solidFill>
                <a:latin typeface="Montserrat Bold"/>
                <a:ea typeface="Montserrat Bold"/>
                <a:cs typeface="Montserrat Bold"/>
                <a:sym typeface="Montserrat Bold"/>
              </a:rPr>
              <a:t>Case </a:t>
            </a:r>
          </a:p>
          <a:p>
            <a:pPr algn="l">
              <a:lnSpc>
                <a:spcPts val="3255"/>
              </a:lnSpc>
            </a:pPr>
            <a:r>
              <a:rPr lang="en-US" sz="2325" b="true">
                <a:solidFill>
                  <a:srgbClr val="0B1D51"/>
                </a:solidFill>
                <a:latin typeface="Montserrat Bold"/>
                <a:ea typeface="Montserrat Bold"/>
                <a:cs typeface="Montserrat Bold"/>
                <a:sym typeface="Montserrat Bold"/>
              </a:rPr>
              <a:t>Link</a:t>
            </a:r>
          </a:p>
        </p:txBody>
      </p:sp>
      <p:sp>
        <p:nvSpPr>
          <p:cNvPr name="TextBox 14" id="14"/>
          <p:cNvSpPr txBox="true"/>
          <p:nvPr/>
        </p:nvSpPr>
        <p:spPr>
          <a:xfrm rot="0">
            <a:off x="11554413" y="2071377"/>
            <a:ext cx="1090100" cy="794521"/>
          </a:xfrm>
          <a:prstGeom prst="rect">
            <a:avLst/>
          </a:prstGeom>
        </p:spPr>
        <p:txBody>
          <a:bodyPr anchor="t" rtlCol="false" tIns="0" lIns="0" bIns="0" rIns="0">
            <a:spAutoFit/>
          </a:bodyPr>
          <a:lstStyle/>
          <a:p>
            <a:pPr algn="l">
              <a:lnSpc>
                <a:spcPts val="6511"/>
              </a:lnSpc>
            </a:pPr>
            <a:r>
              <a:rPr lang="en-US" sz="4650" b="true">
                <a:solidFill>
                  <a:srgbClr val="1E3A8A">
                    <a:alpha val="29804"/>
                  </a:srgbClr>
                </a:solidFill>
                <a:latin typeface="Montserrat Bold"/>
                <a:ea typeface="Montserrat Bold"/>
                <a:cs typeface="Montserrat Bold"/>
                <a:sym typeface="Montserrat Bold"/>
              </a:rPr>
              <a:t>05</a:t>
            </a:r>
          </a:p>
        </p:txBody>
      </p:sp>
      <p:sp>
        <p:nvSpPr>
          <p:cNvPr name="TextBox 15" id="15"/>
          <p:cNvSpPr txBox="true"/>
          <p:nvPr/>
        </p:nvSpPr>
        <p:spPr>
          <a:xfrm rot="0">
            <a:off x="14949132" y="2071377"/>
            <a:ext cx="1000783" cy="794521"/>
          </a:xfrm>
          <a:prstGeom prst="rect">
            <a:avLst/>
          </a:prstGeom>
        </p:spPr>
        <p:txBody>
          <a:bodyPr anchor="t" rtlCol="false" tIns="0" lIns="0" bIns="0" rIns="0">
            <a:spAutoFit/>
          </a:bodyPr>
          <a:lstStyle/>
          <a:p>
            <a:pPr algn="l">
              <a:lnSpc>
                <a:spcPts val="6511"/>
              </a:lnSpc>
            </a:pPr>
            <a:r>
              <a:rPr lang="en-US" sz="4650" b="true">
                <a:solidFill>
                  <a:srgbClr val="1E3A8A">
                    <a:alpha val="29804"/>
                  </a:srgbClr>
                </a:solidFill>
                <a:latin typeface="Montserrat Bold"/>
                <a:ea typeface="Montserrat Bold"/>
                <a:cs typeface="Montserrat Bold"/>
                <a:sym typeface="Montserrat Bold"/>
              </a:rPr>
              <a:t>06</a:t>
            </a:r>
          </a:p>
        </p:txBody>
      </p:sp>
      <p:sp>
        <p:nvSpPr>
          <p:cNvPr name="TextBox 16" id="16"/>
          <p:cNvSpPr txBox="true"/>
          <p:nvPr/>
        </p:nvSpPr>
        <p:spPr>
          <a:xfrm rot="0">
            <a:off x="12037438" y="2504892"/>
            <a:ext cx="2071843" cy="402023"/>
          </a:xfrm>
          <a:prstGeom prst="rect">
            <a:avLst/>
          </a:prstGeom>
        </p:spPr>
        <p:txBody>
          <a:bodyPr anchor="t" rtlCol="false" tIns="0" lIns="0" bIns="0" rIns="0">
            <a:spAutoFit/>
          </a:bodyPr>
          <a:lstStyle/>
          <a:p>
            <a:pPr algn="l">
              <a:lnSpc>
                <a:spcPts val="3255"/>
              </a:lnSpc>
            </a:pPr>
            <a:r>
              <a:rPr lang="en-US" sz="2325" b="true">
                <a:solidFill>
                  <a:srgbClr val="0B1D51"/>
                </a:solidFill>
                <a:latin typeface="Montserrat Bold"/>
                <a:ea typeface="Montserrat Bold"/>
                <a:cs typeface="Montserrat Bold"/>
                <a:sym typeface="Montserrat Bold"/>
              </a:rPr>
              <a:t>Confirmation</a:t>
            </a:r>
          </a:p>
        </p:txBody>
      </p:sp>
      <p:sp>
        <p:nvSpPr>
          <p:cNvPr name="TextBox 17" id="17"/>
          <p:cNvSpPr txBox="true"/>
          <p:nvPr/>
        </p:nvSpPr>
        <p:spPr>
          <a:xfrm rot="0">
            <a:off x="15526598" y="2491220"/>
            <a:ext cx="2259326" cy="815487"/>
          </a:xfrm>
          <a:prstGeom prst="rect">
            <a:avLst/>
          </a:prstGeom>
        </p:spPr>
        <p:txBody>
          <a:bodyPr anchor="t" rtlCol="false" tIns="0" lIns="0" bIns="0" rIns="0">
            <a:spAutoFit/>
          </a:bodyPr>
          <a:lstStyle/>
          <a:p>
            <a:pPr algn="l">
              <a:lnSpc>
                <a:spcPts val="3255"/>
              </a:lnSpc>
            </a:pPr>
            <a:r>
              <a:rPr lang="en-US" sz="2325" b="true">
                <a:solidFill>
                  <a:srgbClr val="0B1D51"/>
                </a:solidFill>
                <a:latin typeface="Montserrat Bold"/>
                <a:ea typeface="Montserrat Bold"/>
                <a:cs typeface="Montserrat Bold"/>
                <a:sym typeface="Montserrat Bold"/>
              </a:rPr>
              <a:t>Technology </a:t>
            </a:r>
          </a:p>
          <a:p>
            <a:pPr algn="l">
              <a:lnSpc>
                <a:spcPts val="3255"/>
              </a:lnSpc>
            </a:pPr>
            <a:r>
              <a:rPr lang="en-US" sz="2325" b="true">
                <a:solidFill>
                  <a:srgbClr val="0B1D51"/>
                </a:solidFill>
                <a:latin typeface="Montserrat Bold"/>
                <a:ea typeface="Montserrat Bold"/>
                <a:cs typeface="Montserrat Bold"/>
                <a:sym typeface="Montserrat Bold"/>
              </a:rPr>
              <a:t>Utilized </a:t>
            </a:r>
          </a:p>
        </p:txBody>
      </p:sp>
      <p:sp>
        <p:nvSpPr>
          <p:cNvPr name="TextBox 18" id="18"/>
          <p:cNvSpPr txBox="true"/>
          <p:nvPr/>
        </p:nvSpPr>
        <p:spPr>
          <a:xfrm rot="0">
            <a:off x="502076" y="3453117"/>
            <a:ext cx="2001505" cy="1749425"/>
          </a:xfrm>
          <a:prstGeom prst="rect">
            <a:avLst/>
          </a:prstGeom>
        </p:spPr>
        <p:txBody>
          <a:bodyPr anchor="t" rtlCol="false" tIns="0" lIns="0" bIns="0" rIns="0">
            <a:spAutoFit/>
          </a:bodyPr>
          <a:lstStyle/>
          <a:p>
            <a:pPr algn="ctr">
              <a:lnSpc>
                <a:spcPts val="2800"/>
              </a:lnSpc>
            </a:pPr>
            <a:r>
              <a:rPr lang="en-US" sz="2000">
                <a:solidFill>
                  <a:srgbClr val="000000"/>
                </a:solidFill>
                <a:latin typeface="Montserrat"/>
                <a:ea typeface="Montserrat"/>
                <a:cs typeface="Montserrat"/>
                <a:sym typeface="Montserrat"/>
              </a:rPr>
              <a:t>Male in</a:t>
            </a:r>
            <a:r>
              <a:rPr lang="en-US" sz="2000">
                <a:solidFill>
                  <a:srgbClr val="000000"/>
                </a:solidFill>
                <a:latin typeface="Montserrat"/>
                <a:ea typeface="Montserrat"/>
                <a:cs typeface="Montserrat"/>
                <a:sym typeface="Montserrat"/>
              </a:rPr>
              <a:t> a white Jeep driving erratically and pointing a gun at pedestrians.</a:t>
            </a:r>
          </a:p>
        </p:txBody>
      </p:sp>
      <p:sp>
        <p:nvSpPr>
          <p:cNvPr name="TextBox 19" id="19"/>
          <p:cNvSpPr txBox="true"/>
          <p:nvPr/>
        </p:nvSpPr>
        <p:spPr>
          <a:xfrm rot="0">
            <a:off x="3132098" y="3461004"/>
            <a:ext cx="2001505" cy="1749425"/>
          </a:xfrm>
          <a:prstGeom prst="rect">
            <a:avLst/>
          </a:prstGeom>
        </p:spPr>
        <p:txBody>
          <a:bodyPr anchor="t" rtlCol="false" tIns="0" lIns="0" bIns="0" rIns="0">
            <a:spAutoFit/>
          </a:bodyPr>
          <a:lstStyle/>
          <a:p>
            <a:pPr algn="ctr">
              <a:lnSpc>
                <a:spcPts val="2800"/>
              </a:lnSpc>
            </a:pPr>
            <a:r>
              <a:rPr lang="en-US" sz="2000">
                <a:solidFill>
                  <a:srgbClr val="000000"/>
                </a:solidFill>
                <a:latin typeface="Montserrat"/>
                <a:ea typeface="Montserrat"/>
                <a:cs typeface="Montserrat"/>
                <a:sym typeface="Montserrat"/>
              </a:rPr>
              <a:t>Officers h</a:t>
            </a:r>
            <a:r>
              <a:rPr lang="en-US" sz="2000">
                <a:solidFill>
                  <a:srgbClr val="000000"/>
                </a:solidFill>
                <a:latin typeface="Montserrat"/>
                <a:ea typeface="Montserrat"/>
                <a:cs typeface="Montserrat"/>
                <a:sym typeface="Montserrat"/>
              </a:rPr>
              <a:t>ad minimal information—only a vehicle description.</a:t>
            </a:r>
          </a:p>
        </p:txBody>
      </p:sp>
      <p:sp>
        <p:nvSpPr>
          <p:cNvPr name="TextBox 20" id="20"/>
          <p:cNvSpPr txBox="true"/>
          <p:nvPr/>
        </p:nvSpPr>
        <p:spPr>
          <a:xfrm rot="0">
            <a:off x="5803430" y="3461004"/>
            <a:ext cx="2627841" cy="1749425"/>
          </a:xfrm>
          <a:prstGeom prst="rect">
            <a:avLst/>
          </a:prstGeom>
        </p:spPr>
        <p:txBody>
          <a:bodyPr anchor="t" rtlCol="false" tIns="0" lIns="0" bIns="0" rIns="0">
            <a:spAutoFit/>
          </a:bodyPr>
          <a:lstStyle/>
          <a:p>
            <a:pPr algn="ctr">
              <a:lnSpc>
                <a:spcPts val="2800"/>
              </a:lnSpc>
            </a:pPr>
            <a:r>
              <a:rPr lang="en-US" sz="2000">
                <a:solidFill>
                  <a:srgbClr val="000000"/>
                </a:solidFill>
                <a:latin typeface="Montserrat"/>
                <a:ea typeface="Montserrat"/>
                <a:cs typeface="Montserrat"/>
                <a:sym typeface="Montserrat"/>
              </a:rPr>
              <a:t>Oper</a:t>
            </a:r>
            <a:r>
              <a:rPr lang="en-US" sz="2000">
                <a:solidFill>
                  <a:srgbClr val="000000"/>
                </a:solidFill>
                <a:latin typeface="Montserrat"/>
                <a:ea typeface="Montserrat"/>
                <a:cs typeface="Montserrat"/>
                <a:sym typeface="Montserrat"/>
              </a:rPr>
              <a:t>ator recognized the suspect’s M.O. from a similar incident the previous month.</a:t>
            </a:r>
          </a:p>
        </p:txBody>
      </p:sp>
      <p:sp>
        <p:nvSpPr>
          <p:cNvPr name="TextBox 21" id="21"/>
          <p:cNvSpPr txBox="true"/>
          <p:nvPr/>
        </p:nvSpPr>
        <p:spPr>
          <a:xfrm rot="0">
            <a:off x="8926571" y="3453117"/>
            <a:ext cx="2433979" cy="1749425"/>
          </a:xfrm>
          <a:prstGeom prst="rect">
            <a:avLst/>
          </a:prstGeom>
        </p:spPr>
        <p:txBody>
          <a:bodyPr anchor="t" rtlCol="false" tIns="0" lIns="0" bIns="0" rIns="0">
            <a:spAutoFit/>
          </a:bodyPr>
          <a:lstStyle/>
          <a:p>
            <a:pPr algn="ctr">
              <a:lnSpc>
                <a:spcPts val="2800"/>
              </a:lnSpc>
            </a:pPr>
            <a:r>
              <a:rPr lang="en-US" sz="2000">
                <a:solidFill>
                  <a:srgbClr val="000000"/>
                </a:solidFill>
                <a:latin typeface="Montserrat"/>
                <a:ea typeface="Montserrat"/>
                <a:cs typeface="Montserrat"/>
                <a:sym typeface="Montserrat"/>
              </a:rPr>
              <a:t>Re</a:t>
            </a:r>
            <a:r>
              <a:rPr lang="en-US" sz="2000">
                <a:solidFill>
                  <a:srgbClr val="000000"/>
                </a:solidFill>
                <a:latin typeface="Montserrat"/>
                <a:ea typeface="Montserrat"/>
                <a:cs typeface="Montserrat"/>
                <a:sym typeface="Montserrat"/>
              </a:rPr>
              <a:t>trieved prior case file, identified license plate, and contacted original reporting party.</a:t>
            </a:r>
          </a:p>
        </p:txBody>
      </p:sp>
      <p:sp>
        <p:nvSpPr>
          <p:cNvPr name="TextBox 22" id="22"/>
          <p:cNvSpPr txBox="true"/>
          <p:nvPr/>
        </p:nvSpPr>
        <p:spPr>
          <a:xfrm rot="0">
            <a:off x="11856370" y="3453117"/>
            <a:ext cx="2433979" cy="1397000"/>
          </a:xfrm>
          <a:prstGeom prst="rect">
            <a:avLst/>
          </a:prstGeom>
        </p:spPr>
        <p:txBody>
          <a:bodyPr anchor="t" rtlCol="false" tIns="0" lIns="0" bIns="0" rIns="0">
            <a:spAutoFit/>
          </a:bodyPr>
          <a:lstStyle/>
          <a:p>
            <a:pPr algn="ctr">
              <a:lnSpc>
                <a:spcPts val="2800"/>
              </a:lnSpc>
            </a:pPr>
            <a:r>
              <a:rPr lang="en-US" sz="2000">
                <a:solidFill>
                  <a:srgbClr val="000000"/>
                </a:solidFill>
                <a:latin typeface="Montserrat"/>
                <a:ea typeface="Montserrat"/>
                <a:cs typeface="Montserrat"/>
                <a:sym typeface="Montserrat"/>
              </a:rPr>
              <a:t>Repo</a:t>
            </a:r>
            <a:r>
              <a:rPr lang="en-US" sz="2000">
                <a:solidFill>
                  <a:srgbClr val="000000"/>
                </a:solidFill>
                <a:latin typeface="Montserrat"/>
                <a:ea typeface="Montserrat"/>
                <a:cs typeface="Montserrat"/>
                <a:sym typeface="Montserrat"/>
              </a:rPr>
              <a:t>rting party verified the vehicle through unique identifiers.</a:t>
            </a:r>
          </a:p>
        </p:txBody>
      </p:sp>
      <p:sp>
        <p:nvSpPr>
          <p:cNvPr name="TextBox 23" id="23"/>
          <p:cNvSpPr txBox="true"/>
          <p:nvPr/>
        </p:nvSpPr>
        <p:spPr>
          <a:xfrm rot="0">
            <a:off x="14949132" y="3453117"/>
            <a:ext cx="2714002" cy="1749425"/>
          </a:xfrm>
          <a:prstGeom prst="rect">
            <a:avLst/>
          </a:prstGeom>
        </p:spPr>
        <p:txBody>
          <a:bodyPr anchor="t" rtlCol="false" tIns="0" lIns="0" bIns="0" rIns="0">
            <a:spAutoFit/>
          </a:bodyPr>
          <a:lstStyle/>
          <a:p>
            <a:pPr algn="ctr" marL="0" indent="0" lvl="0">
              <a:lnSpc>
                <a:spcPts val="2800"/>
              </a:lnSpc>
              <a:spcBef>
                <a:spcPct val="0"/>
              </a:spcBef>
            </a:pPr>
            <a:r>
              <a:rPr lang="en-US" sz="2000" strike="noStrike" u="none">
                <a:solidFill>
                  <a:srgbClr val="000000"/>
                </a:solidFill>
                <a:latin typeface="Montserrat"/>
                <a:ea typeface="Montserrat"/>
                <a:cs typeface="Montserrat"/>
                <a:sym typeface="Montserrat"/>
              </a:rPr>
              <a:t>Operator used ALPR to locate the vehicle near the scene.</a:t>
            </a:r>
          </a:p>
          <a:p>
            <a:pPr algn="ctr" marL="0" indent="0" lvl="0">
              <a:lnSpc>
                <a:spcPts val="2800"/>
              </a:lnSpc>
              <a:spcBef>
                <a:spcPct val="0"/>
              </a:spcBef>
            </a:pPr>
          </a:p>
          <a:p>
            <a:pPr algn="ctr" marL="0" indent="0" lvl="0">
              <a:lnSpc>
                <a:spcPts val="2800"/>
              </a:lnSpc>
              <a:spcBef>
                <a:spcPct val="0"/>
              </a:spcBef>
            </a:pPr>
          </a:p>
        </p:txBody>
      </p:sp>
      <p:sp>
        <p:nvSpPr>
          <p:cNvPr name="Freeform 24" id="24"/>
          <p:cNvSpPr/>
          <p:nvPr/>
        </p:nvSpPr>
        <p:spPr>
          <a:xfrm flipH="false" flipV="false" rot="0">
            <a:off x="5982423" y="6086729"/>
            <a:ext cx="6996259" cy="3128762"/>
          </a:xfrm>
          <a:custGeom>
            <a:avLst/>
            <a:gdLst/>
            <a:ahLst/>
            <a:cxnLst/>
            <a:rect r="r" b="b" t="t" l="l"/>
            <a:pathLst>
              <a:path h="3128762" w="6996259">
                <a:moveTo>
                  <a:pt x="0" y="0"/>
                </a:moveTo>
                <a:lnTo>
                  <a:pt x="6996259" y="0"/>
                </a:lnTo>
                <a:lnTo>
                  <a:pt x="6996259" y="3128762"/>
                </a:lnTo>
                <a:lnTo>
                  <a:pt x="0" y="3128762"/>
                </a:lnTo>
                <a:lnTo>
                  <a:pt x="0" y="0"/>
                </a:lnTo>
                <a:close/>
              </a:path>
            </a:pathLst>
          </a:custGeom>
          <a:blipFill>
            <a:blip r:embed="rId2"/>
            <a:stretch>
              <a:fillRect l="0" t="0" r="0" b="0"/>
            </a:stretch>
          </a:blipFill>
        </p:spPr>
      </p:sp>
      <p:sp>
        <p:nvSpPr>
          <p:cNvPr name="AutoShape 25" id="25"/>
          <p:cNvSpPr/>
          <p:nvPr/>
        </p:nvSpPr>
        <p:spPr>
          <a:xfrm flipV="true">
            <a:off x="-117230" y="10287000"/>
            <a:ext cx="19376532" cy="12351"/>
          </a:xfrm>
          <a:prstGeom prst="line">
            <a:avLst/>
          </a:prstGeom>
          <a:ln cap="flat" w="85725">
            <a:solidFill>
              <a:srgbClr val="1E498A"/>
            </a:solidFill>
            <a:prstDash val="solid"/>
            <a:headEnd type="none" len="sm" w="sm"/>
            <a:tailEnd type="none" len="sm" w="sm"/>
          </a:ln>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32097"/>
            <a:ext cx="18288000" cy="13021962"/>
          </a:xfrm>
          <a:custGeom>
            <a:avLst/>
            <a:gdLst/>
            <a:ahLst/>
            <a:cxnLst/>
            <a:rect r="r" b="b" t="t" l="l"/>
            <a:pathLst>
              <a:path h="13021962" w="18288000">
                <a:moveTo>
                  <a:pt x="0" y="0"/>
                </a:moveTo>
                <a:lnTo>
                  <a:pt x="18288000" y="0"/>
                </a:lnTo>
                <a:lnTo>
                  <a:pt x="18288000" y="13021962"/>
                </a:lnTo>
                <a:lnTo>
                  <a:pt x="0" y="13021962"/>
                </a:lnTo>
                <a:lnTo>
                  <a:pt x="0" y="0"/>
                </a:lnTo>
                <a:close/>
              </a:path>
            </a:pathLst>
          </a:custGeom>
          <a:blipFill>
            <a:blip r:embed="rId2"/>
            <a:stretch>
              <a:fillRect l="-13604" t="-17597" r="0" b="-10762"/>
            </a:stretch>
          </a:blipFill>
        </p:spPr>
      </p:sp>
      <p:sp>
        <p:nvSpPr>
          <p:cNvPr name="Freeform 3" id="3"/>
          <p:cNvSpPr/>
          <p:nvPr/>
        </p:nvSpPr>
        <p:spPr>
          <a:xfrm flipH="false" flipV="false" rot="0">
            <a:off x="-696844" y="-268255"/>
            <a:ext cx="19681688" cy="10824929"/>
          </a:xfrm>
          <a:custGeom>
            <a:avLst/>
            <a:gdLst/>
            <a:ahLst/>
            <a:cxnLst/>
            <a:rect r="r" b="b" t="t" l="l"/>
            <a:pathLst>
              <a:path h="10824929" w="19681688">
                <a:moveTo>
                  <a:pt x="0" y="0"/>
                </a:moveTo>
                <a:lnTo>
                  <a:pt x="19681688" y="0"/>
                </a:lnTo>
                <a:lnTo>
                  <a:pt x="19681688" y="10824928"/>
                </a:lnTo>
                <a:lnTo>
                  <a:pt x="0" y="10824928"/>
                </a:lnTo>
                <a:lnTo>
                  <a:pt x="0" y="0"/>
                </a:lnTo>
                <a:close/>
              </a:path>
            </a:pathLst>
          </a:custGeom>
          <a:blipFill>
            <a:blip r:embed="rId3">
              <a:alphaModFix amt="70000"/>
              <a:extLst>
                <a:ext uri="{96DAC541-7B7A-43D3-8B79-37D633B846F1}">
                  <asvg:svgBlip xmlns:asvg="http://schemas.microsoft.com/office/drawing/2016/SVG/main" r:embed="rId4"/>
                </a:ext>
              </a:extLst>
            </a:blip>
            <a:stretch>
              <a:fillRect l="0" t="0" r="0" b="0"/>
            </a:stretch>
          </a:blipFill>
        </p:spPr>
      </p:sp>
      <p:sp>
        <p:nvSpPr>
          <p:cNvPr name="AutoShape 4" id="4"/>
          <p:cNvSpPr/>
          <p:nvPr/>
        </p:nvSpPr>
        <p:spPr>
          <a:xfrm>
            <a:off x="4305210" y="1837207"/>
            <a:ext cx="9131783" cy="0"/>
          </a:xfrm>
          <a:prstGeom prst="line">
            <a:avLst/>
          </a:prstGeom>
          <a:ln cap="flat" w="38100">
            <a:solidFill>
              <a:srgbClr val="A28231"/>
            </a:solidFill>
            <a:prstDash val="solid"/>
            <a:headEnd type="none" len="sm" w="sm"/>
            <a:tailEnd type="none" len="sm" w="sm"/>
          </a:ln>
        </p:spPr>
      </p:sp>
      <p:grpSp>
        <p:nvGrpSpPr>
          <p:cNvPr name="Group 5" id="5"/>
          <p:cNvGrpSpPr/>
          <p:nvPr/>
        </p:nvGrpSpPr>
        <p:grpSpPr>
          <a:xfrm rot="0">
            <a:off x="8090330" y="409783"/>
            <a:ext cx="9154220" cy="9468853"/>
            <a:chOff x="0" y="0"/>
            <a:chExt cx="2410988" cy="2493854"/>
          </a:xfrm>
        </p:grpSpPr>
        <p:sp>
          <p:nvSpPr>
            <p:cNvPr name="Freeform 6" id="6"/>
            <p:cNvSpPr/>
            <p:nvPr/>
          </p:nvSpPr>
          <p:spPr>
            <a:xfrm flipH="false" flipV="false" rot="0">
              <a:off x="0" y="0"/>
              <a:ext cx="2410988" cy="2493854"/>
            </a:xfrm>
            <a:custGeom>
              <a:avLst/>
              <a:gdLst/>
              <a:ahLst/>
              <a:cxnLst/>
              <a:rect r="r" b="b" t="t" l="l"/>
              <a:pathLst>
                <a:path h="2493854" w="2410988">
                  <a:moveTo>
                    <a:pt x="0" y="0"/>
                  </a:moveTo>
                  <a:lnTo>
                    <a:pt x="2410988" y="0"/>
                  </a:lnTo>
                  <a:lnTo>
                    <a:pt x="2410988" y="2493854"/>
                  </a:lnTo>
                  <a:lnTo>
                    <a:pt x="0" y="2493854"/>
                  </a:lnTo>
                  <a:close/>
                </a:path>
              </a:pathLst>
            </a:custGeom>
            <a:solidFill>
              <a:srgbClr val="FFFFFF"/>
            </a:solidFill>
            <a:ln w="57150" cap="sq">
              <a:solidFill>
                <a:srgbClr val="054396"/>
              </a:solidFill>
              <a:prstDash val="solid"/>
              <a:miter/>
            </a:ln>
          </p:spPr>
        </p:sp>
        <p:sp>
          <p:nvSpPr>
            <p:cNvPr name="TextBox 7" id="7"/>
            <p:cNvSpPr txBox="true"/>
            <p:nvPr/>
          </p:nvSpPr>
          <p:spPr>
            <a:xfrm>
              <a:off x="0" y="-47625"/>
              <a:ext cx="2410988" cy="2541479"/>
            </a:xfrm>
            <a:prstGeom prst="rect">
              <a:avLst/>
            </a:prstGeom>
          </p:spPr>
          <p:txBody>
            <a:bodyPr anchor="ctr" rtlCol="false" tIns="50800" lIns="50800" bIns="50800" rIns="50800"/>
            <a:lstStyle/>
            <a:p>
              <a:pPr algn="ctr">
                <a:lnSpc>
                  <a:spcPts val="3255"/>
                </a:lnSpc>
              </a:pPr>
            </a:p>
          </p:txBody>
        </p:sp>
      </p:grpSp>
      <p:sp>
        <p:nvSpPr>
          <p:cNvPr name="TextBox 8" id="8"/>
          <p:cNvSpPr txBox="true"/>
          <p:nvPr/>
        </p:nvSpPr>
        <p:spPr>
          <a:xfrm rot="0">
            <a:off x="8821219" y="1619250"/>
            <a:ext cx="7692442" cy="7639050"/>
          </a:xfrm>
          <a:prstGeom prst="rect">
            <a:avLst/>
          </a:prstGeom>
        </p:spPr>
        <p:txBody>
          <a:bodyPr anchor="t" rtlCol="false" tIns="0" lIns="0" bIns="0" rIns="0">
            <a:spAutoFit/>
          </a:bodyPr>
          <a:lstStyle/>
          <a:p>
            <a:pPr algn="l">
              <a:lnSpc>
                <a:spcPts val="3499"/>
              </a:lnSpc>
              <a:spcBef>
                <a:spcPct val="0"/>
              </a:spcBef>
            </a:pPr>
            <a:r>
              <a:rPr lang="en-US" b="true" sz="2499">
                <a:solidFill>
                  <a:srgbClr val="002557"/>
                </a:solidFill>
                <a:latin typeface="Montserrat Bold"/>
                <a:ea typeface="Montserrat Bold"/>
                <a:cs typeface="Montserrat Bold"/>
                <a:sym typeface="Montserrat Bold"/>
              </a:rPr>
              <a:t>Collaboration &amp; Partnerships</a:t>
            </a:r>
          </a:p>
          <a:p>
            <a:pPr algn="l">
              <a:lnSpc>
                <a:spcPts val="2800"/>
              </a:lnSpc>
              <a:spcBef>
                <a:spcPct val="0"/>
              </a:spcBef>
            </a:pPr>
            <a:r>
              <a:rPr lang="en-US" sz="2000">
                <a:solidFill>
                  <a:srgbClr val="002557"/>
                </a:solidFill>
                <a:latin typeface="Montserrat"/>
                <a:ea typeface="Montserrat"/>
                <a:cs typeface="Montserrat"/>
                <a:sym typeface="Montserrat"/>
              </a:rPr>
              <a:t>Support multi-agency responses and collaborate with other City Departments including Public Works, Community Development, and San Mateo Consolidated Fire.</a:t>
            </a:r>
          </a:p>
          <a:p>
            <a:pPr algn="l">
              <a:lnSpc>
                <a:spcPts val="2800"/>
              </a:lnSpc>
              <a:spcBef>
                <a:spcPct val="0"/>
              </a:spcBef>
            </a:pPr>
          </a:p>
          <a:p>
            <a:pPr algn="l">
              <a:lnSpc>
                <a:spcPts val="2800"/>
              </a:lnSpc>
              <a:spcBef>
                <a:spcPct val="0"/>
              </a:spcBef>
            </a:pPr>
          </a:p>
          <a:p>
            <a:pPr algn="l">
              <a:lnSpc>
                <a:spcPts val="3499"/>
              </a:lnSpc>
              <a:spcBef>
                <a:spcPct val="0"/>
              </a:spcBef>
            </a:pPr>
            <a:r>
              <a:rPr lang="en-US" b="true" sz="2499">
                <a:solidFill>
                  <a:srgbClr val="002557"/>
                </a:solidFill>
                <a:latin typeface="Montserrat Bold"/>
                <a:ea typeface="Montserrat Bold"/>
                <a:cs typeface="Montserrat Bold"/>
                <a:sym typeface="Montserrat Bold"/>
              </a:rPr>
              <a:t>Data-Driven Strategy</a:t>
            </a:r>
          </a:p>
          <a:p>
            <a:pPr algn="l">
              <a:lnSpc>
                <a:spcPts val="2800"/>
              </a:lnSpc>
              <a:spcBef>
                <a:spcPct val="0"/>
              </a:spcBef>
            </a:pPr>
            <a:r>
              <a:rPr lang="en-US" sz="2000">
                <a:solidFill>
                  <a:srgbClr val="002557"/>
                </a:solidFill>
                <a:latin typeface="Montserrat"/>
                <a:ea typeface="Montserrat"/>
                <a:cs typeface="Montserrat"/>
                <a:sym typeface="Montserrat"/>
              </a:rPr>
              <a:t>Use trends and incident data to guide patrol deployments and city resource allocation.</a:t>
            </a:r>
          </a:p>
          <a:p>
            <a:pPr algn="l">
              <a:lnSpc>
                <a:spcPts val="2800"/>
              </a:lnSpc>
              <a:spcBef>
                <a:spcPct val="0"/>
              </a:spcBef>
            </a:pPr>
          </a:p>
          <a:p>
            <a:pPr algn="l">
              <a:lnSpc>
                <a:spcPts val="2800"/>
              </a:lnSpc>
              <a:spcBef>
                <a:spcPct val="0"/>
              </a:spcBef>
            </a:pPr>
          </a:p>
          <a:p>
            <a:pPr algn="l">
              <a:lnSpc>
                <a:spcPts val="3499"/>
              </a:lnSpc>
              <a:spcBef>
                <a:spcPct val="0"/>
              </a:spcBef>
            </a:pPr>
            <a:r>
              <a:rPr lang="en-US" b="true" sz="2499">
                <a:solidFill>
                  <a:srgbClr val="002557"/>
                </a:solidFill>
                <a:latin typeface="Montserrat Bold"/>
                <a:ea typeface="Montserrat Bold"/>
                <a:cs typeface="Montserrat Bold"/>
                <a:sym typeface="Montserrat Bold"/>
              </a:rPr>
              <a:t>Vision Forward</a:t>
            </a:r>
          </a:p>
          <a:p>
            <a:pPr algn="l">
              <a:lnSpc>
                <a:spcPts val="2800"/>
              </a:lnSpc>
              <a:spcBef>
                <a:spcPct val="0"/>
              </a:spcBef>
            </a:pPr>
            <a:r>
              <a:rPr lang="en-US" sz="2000">
                <a:solidFill>
                  <a:srgbClr val="002557"/>
                </a:solidFill>
                <a:latin typeface="Montserrat"/>
                <a:ea typeface="Montserrat"/>
                <a:cs typeface="Montserrat"/>
                <a:sym typeface="Montserrat"/>
              </a:rPr>
              <a:t>Serve multiple jurisdictions and operate as a regional </a:t>
            </a:r>
            <a:r>
              <a:rPr lang="en-US" sz="2000">
                <a:solidFill>
                  <a:srgbClr val="002557"/>
                </a:solidFill>
                <a:latin typeface="Montserrat"/>
                <a:ea typeface="Montserrat"/>
                <a:cs typeface="Montserrat"/>
                <a:sym typeface="Montserrat"/>
              </a:rPr>
              <a:t>hub for surrounding agencies</a:t>
            </a:r>
          </a:p>
          <a:p>
            <a:pPr algn="l">
              <a:lnSpc>
                <a:spcPts val="2800"/>
              </a:lnSpc>
              <a:spcBef>
                <a:spcPct val="0"/>
              </a:spcBef>
            </a:pPr>
          </a:p>
          <a:p>
            <a:pPr algn="l">
              <a:lnSpc>
                <a:spcPts val="2800"/>
              </a:lnSpc>
              <a:spcBef>
                <a:spcPct val="0"/>
              </a:spcBef>
            </a:pPr>
            <a:r>
              <a:rPr lang="en-US" sz="2000">
                <a:solidFill>
                  <a:srgbClr val="002557"/>
                </a:solidFill>
                <a:latin typeface="Montserrat"/>
                <a:ea typeface="Montserrat"/>
                <a:cs typeface="Montserrat"/>
                <a:sym typeface="Montserrat"/>
              </a:rPr>
              <a:t>Promote community involvement in the project and continue to establish best practices.</a:t>
            </a:r>
          </a:p>
          <a:p>
            <a:pPr algn="l">
              <a:lnSpc>
                <a:spcPts val="2800"/>
              </a:lnSpc>
              <a:spcBef>
                <a:spcPct val="0"/>
              </a:spcBef>
            </a:pPr>
          </a:p>
          <a:p>
            <a:pPr algn="l">
              <a:lnSpc>
                <a:spcPts val="2800"/>
              </a:lnSpc>
              <a:spcBef>
                <a:spcPct val="0"/>
              </a:spcBef>
            </a:pPr>
          </a:p>
          <a:p>
            <a:pPr algn="l">
              <a:lnSpc>
                <a:spcPts val="2800"/>
              </a:lnSpc>
              <a:spcBef>
                <a:spcPct val="0"/>
              </a:spcBef>
            </a:pPr>
          </a:p>
          <a:p>
            <a:pPr algn="l">
              <a:lnSpc>
                <a:spcPts val="2800"/>
              </a:lnSpc>
              <a:spcBef>
                <a:spcPct val="0"/>
              </a:spcBef>
            </a:pPr>
          </a:p>
        </p:txBody>
      </p:sp>
      <p:sp>
        <p:nvSpPr>
          <p:cNvPr name="TextBox 9" id="9"/>
          <p:cNvSpPr txBox="true"/>
          <p:nvPr/>
        </p:nvSpPr>
        <p:spPr>
          <a:xfrm rot="0">
            <a:off x="881386" y="953424"/>
            <a:ext cx="5942887" cy="1341120"/>
          </a:xfrm>
          <a:prstGeom prst="rect">
            <a:avLst/>
          </a:prstGeom>
        </p:spPr>
        <p:txBody>
          <a:bodyPr anchor="t" rtlCol="false" tIns="0" lIns="0" bIns="0" rIns="0">
            <a:spAutoFit/>
          </a:bodyPr>
          <a:lstStyle/>
          <a:p>
            <a:pPr algn="l">
              <a:lnSpc>
                <a:spcPts val="5040"/>
              </a:lnSpc>
            </a:pPr>
            <a:r>
              <a:rPr lang="en-US" sz="6000" b="true">
                <a:solidFill>
                  <a:srgbClr val="1E3A8A"/>
                </a:solidFill>
                <a:latin typeface="Montserrat Bold"/>
                <a:ea typeface="Montserrat Bold"/>
                <a:cs typeface="Montserrat Bold"/>
                <a:sym typeface="Montserrat Bold"/>
              </a:rPr>
              <a:t>THE FUTURE OF RTIC</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833290" cy="1593725"/>
          </a:xfrm>
        </p:grpSpPr>
        <p:sp>
          <p:nvSpPr>
            <p:cNvPr name="Freeform 3" id="3"/>
            <p:cNvSpPr/>
            <p:nvPr/>
          </p:nvSpPr>
          <p:spPr>
            <a:xfrm flipH="false" flipV="false" rot="0">
              <a:off x="0" y="0"/>
              <a:ext cx="2833290" cy="1593725"/>
            </a:xfrm>
            <a:custGeom>
              <a:avLst/>
              <a:gdLst/>
              <a:ahLst/>
              <a:cxnLst/>
              <a:rect r="r" b="b" t="t" l="l"/>
              <a:pathLst>
                <a:path h="1593725" w="2833290">
                  <a:moveTo>
                    <a:pt x="0" y="0"/>
                  </a:moveTo>
                  <a:lnTo>
                    <a:pt x="2833290" y="0"/>
                  </a:lnTo>
                  <a:lnTo>
                    <a:pt x="2833290" y="1593725"/>
                  </a:lnTo>
                  <a:lnTo>
                    <a:pt x="0" y="1593725"/>
                  </a:lnTo>
                  <a:close/>
                </a:path>
              </a:pathLst>
            </a:custGeom>
            <a:blipFill>
              <a:blip r:embed="rId2"/>
              <a:stretch>
                <a:fillRect l="-21575" t="-43069" r="-8225" b="0"/>
              </a:stretch>
            </a:blipFill>
          </p:spPr>
        </p:sp>
      </p:grpSp>
      <p:grpSp>
        <p:nvGrpSpPr>
          <p:cNvPr name="Group 4" id="4"/>
          <p:cNvGrpSpPr/>
          <p:nvPr/>
        </p:nvGrpSpPr>
        <p:grpSpPr>
          <a:xfrm rot="0">
            <a:off x="-499397" y="-272443"/>
            <a:ext cx="19286795" cy="10831887"/>
            <a:chOff x="0" y="0"/>
            <a:chExt cx="5079650" cy="2852843"/>
          </a:xfrm>
        </p:grpSpPr>
        <p:sp>
          <p:nvSpPr>
            <p:cNvPr name="Freeform 5" id="5"/>
            <p:cNvSpPr/>
            <p:nvPr/>
          </p:nvSpPr>
          <p:spPr>
            <a:xfrm flipH="false" flipV="false" rot="0">
              <a:off x="0" y="0"/>
              <a:ext cx="5079650" cy="2852843"/>
            </a:xfrm>
            <a:custGeom>
              <a:avLst/>
              <a:gdLst/>
              <a:ahLst/>
              <a:cxnLst/>
              <a:rect r="r" b="b" t="t" l="l"/>
              <a:pathLst>
                <a:path h="2852843" w="5079650">
                  <a:moveTo>
                    <a:pt x="0" y="0"/>
                  </a:moveTo>
                  <a:lnTo>
                    <a:pt x="5079650" y="0"/>
                  </a:lnTo>
                  <a:lnTo>
                    <a:pt x="5079650" y="2852843"/>
                  </a:lnTo>
                  <a:lnTo>
                    <a:pt x="0" y="2852843"/>
                  </a:lnTo>
                  <a:close/>
                </a:path>
              </a:pathLst>
            </a:custGeom>
            <a:gradFill rotWithShape="true">
              <a:gsLst>
                <a:gs pos="0">
                  <a:srgbClr val="000000">
                    <a:alpha val="59000"/>
                  </a:srgbClr>
                </a:gs>
                <a:gs pos="100000">
                  <a:srgbClr val="3253C7">
                    <a:alpha val="59000"/>
                  </a:srgbClr>
                </a:gs>
              </a:gsLst>
              <a:lin ang="16200000"/>
            </a:gradFill>
          </p:spPr>
        </p:sp>
        <p:sp>
          <p:nvSpPr>
            <p:cNvPr name="TextBox 6" id="6"/>
            <p:cNvSpPr txBox="true"/>
            <p:nvPr/>
          </p:nvSpPr>
          <p:spPr>
            <a:xfrm>
              <a:off x="0" y="19050"/>
              <a:ext cx="5079650" cy="2833793"/>
            </a:xfrm>
            <a:prstGeom prst="rect">
              <a:avLst/>
            </a:prstGeom>
          </p:spPr>
          <p:txBody>
            <a:bodyPr anchor="ctr" rtlCol="false" tIns="50800" lIns="50800" bIns="50800" rIns="50800"/>
            <a:lstStyle/>
            <a:p>
              <a:pPr algn="ctr">
                <a:lnSpc>
                  <a:spcPts val="2221"/>
                </a:lnSpc>
              </a:pPr>
            </a:p>
          </p:txBody>
        </p:sp>
      </p:grpSp>
      <p:grpSp>
        <p:nvGrpSpPr>
          <p:cNvPr name="Group 7" id="7"/>
          <p:cNvGrpSpPr/>
          <p:nvPr/>
        </p:nvGrpSpPr>
        <p:grpSpPr>
          <a:xfrm rot="0">
            <a:off x="-70261" y="-2933896"/>
            <a:ext cx="18388863" cy="16230600"/>
            <a:chOff x="0" y="0"/>
            <a:chExt cx="24518484" cy="21640800"/>
          </a:xfrm>
        </p:grpSpPr>
        <p:sp>
          <p:nvSpPr>
            <p:cNvPr name="Freeform 8" id="8"/>
            <p:cNvSpPr/>
            <p:nvPr/>
          </p:nvSpPr>
          <p:spPr>
            <a:xfrm flipH="false" flipV="false" rot="-5400000">
              <a:off x="1077610" y="-1077610"/>
              <a:ext cx="21640800" cy="23796020"/>
            </a:xfrm>
            <a:custGeom>
              <a:avLst/>
              <a:gdLst/>
              <a:ahLst/>
              <a:cxnLst/>
              <a:rect r="r" b="b" t="t" l="l"/>
              <a:pathLst>
                <a:path h="23796020" w="21640800">
                  <a:moveTo>
                    <a:pt x="0" y="0"/>
                  </a:moveTo>
                  <a:lnTo>
                    <a:pt x="21640800" y="0"/>
                  </a:lnTo>
                  <a:lnTo>
                    <a:pt x="21640800" y="23796020"/>
                  </a:lnTo>
                  <a:lnTo>
                    <a:pt x="0" y="23796020"/>
                  </a:lnTo>
                  <a:lnTo>
                    <a:pt x="0" y="0"/>
                  </a:lnTo>
                  <a:close/>
                </a:path>
              </a:pathLst>
            </a:custGeom>
            <a:blipFill>
              <a:blip r:embed="rId3"/>
              <a:stretch>
                <a:fillRect l="-169918" t="0" r="-169918" b="0"/>
              </a:stretch>
            </a:blipFill>
          </p:spPr>
        </p:sp>
        <p:sp>
          <p:nvSpPr>
            <p:cNvPr name="Freeform 9" id="9"/>
            <p:cNvSpPr/>
            <p:nvPr/>
          </p:nvSpPr>
          <p:spPr>
            <a:xfrm flipH="false" flipV="false" rot="-5400000">
              <a:off x="-3071215" y="6924357"/>
              <a:ext cx="17200993" cy="10972800"/>
            </a:xfrm>
            <a:custGeom>
              <a:avLst/>
              <a:gdLst/>
              <a:ahLst/>
              <a:cxnLst/>
              <a:rect r="r" b="b" t="t" l="l"/>
              <a:pathLst>
                <a:path h="10972800" w="17200993">
                  <a:moveTo>
                    <a:pt x="0" y="0"/>
                  </a:moveTo>
                  <a:lnTo>
                    <a:pt x="17200993" y="0"/>
                  </a:lnTo>
                  <a:lnTo>
                    <a:pt x="17200993" y="10972800"/>
                  </a:lnTo>
                  <a:lnTo>
                    <a:pt x="0" y="10972800"/>
                  </a:lnTo>
                  <a:lnTo>
                    <a:pt x="0" y="0"/>
                  </a:lnTo>
                  <a:close/>
                </a:path>
              </a:pathLst>
            </a:custGeom>
            <a:blipFill>
              <a:blip r:embed="rId4"/>
              <a:stretch>
                <a:fillRect l="0" t="0" r="0" b="0"/>
              </a:stretch>
            </a:blipFill>
          </p:spPr>
        </p:sp>
        <p:sp>
          <p:nvSpPr>
            <p:cNvPr name="Freeform 10" id="10"/>
            <p:cNvSpPr/>
            <p:nvPr/>
          </p:nvSpPr>
          <p:spPr>
            <a:xfrm flipH="false" flipV="false" rot="-5482550">
              <a:off x="3964383" y="-807672"/>
              <a:ext cx="17145000" cy="23558331"/>
            </a:xfrm>
            <a:custGeom>
              <a:avLst/>
              <a:gdLst/>
              <a:ahLst/>
              <a:cxnLst/>
              <a:rect r="r" b="b" t="t" l="l"/>
              <a:pathLst>
                <a:path h="23558331" w="17145000">
                  <a:moveTo>
                    <a:pt x="0" y="0"/>
                  </a:moveTo>
                  <a:lnTo>
                    <a:pt x="17145000" y="0"/>
                  </a:lnTo>
                  <a:lnTo>
                    <a:pt x="17145000" y="23558331"/>
                  </a:lnTo>
                  <a:lnTo>
                    <a:pt x="0" y="23558331"/>
                  </a:lnTo>
                  <a:lnTo>
                    <a:pt x="0" y="0"/>
                  </a:lnTo>
                  <a:close/>
                </a:path>
              </a:pathLst>
            </a:custGeom>
            <a:blipFill>
              <a:blip r:embed="rId4"/>
              <a:stretch>
                <a:fillRect l="-57348" t="0" r="-57348" b="0"/>
              </a:stretch>
            </a:blipFill>
          </p:spPr>
        </p:sp>
      </p:grpSp>
      <p:sp>
        <p:nvSpPr>
          <p:cNvPr name="Freeform 11" id="11"/>
          <p:cNvSpPr/>
          <p:nvPr/>
        </p:nvSpPr>
        <p:spPr>
          <a:xfrm flipH="false" flipV="false" rot="-5400000">
            <a:off x="-2628475" y="1208204"/>
            <a:ext cx="26920720" cy="21804292"/>
          </a:xfrm>
          <a:custGeom>
            <a:avLst/>
            <a:gdLst/>
            <a:ahLst/>
            <a:cxnLst/>
            <a:rect r="r" b="b" t="t" l="l"/>
            <a:pathLst>
              <a:path h="21804292" w="26920720">
                <a:moveTo>
                  <a:pt x="0" y="0"/>
                </a:moveTo>
                <a:lnTo>
                  <a:pt x="26920720" y="0"/>
                </a:lnTo>
                <a:lnTo>
                  <a:pt x="26920720" y="21804292"/>
                </a:lnTo>
                <a:lnTo>
                  <a:pt x="0" y="21804292"/>
                </a:lnTo>
                <a:lnTo>
                  <a:pt x="0" y="0"/>
                </a:lnTo>
                <a:close/>
              </a:path>
            </a:pathLst>
          </a:custGeom>
          <a:blipFill>
            <a:blip r:embed="rId4"/>
            <a:stretch>
              <a:fillRect l="-13276" t="0" r="-13276" b="0"/>
            </a:stretch>
          </a:blipFill>
        </p:spPr>
      </p:sp>
      <p:sp>
        <p:nvSpPr>
          <p:cNvPr name="Freeform 12" id="12"/>
          <p:cNvSpPr/>
          <p:nvPr/>
        </p:nvSpPr>
        <p:spPr>
          <a:xfrm flipH="false" flipV="false" rot="-5400000">
            <a:off x="2719419" y="-4922751"/>
            <a:ext cx="12858750" cy="20131649"/>
          </a:xfrm>
          <a:custGeom>
            <a:avLst/>
            <a:gdLst/>
            <a:ahLst/>
            <a:cxnLst/>
            <a:rect r="r" b="b" t="t" l="l"/>
            <a:pathLst>
              <a:path h="20131649" w="12858750">
                <a:moveTo>
                  <a:pt x="0" y="0"/>
                </a:moveTo>
                <a:lnTo>
                  <a:pt x="12858750" y="0"/>
                </a:lnTo>
                <a:lnTo>
                  <a:pt x="12858750" y="20131649"/>
                </a:lnTo>
                <a:lnTo>
                  <a:pt x="0" y="20131649"/>
                </a:lnTo>
                <a:lnTo>
                  <a:pt x="0" y="0"/>
                </a:lnTo>
                <a:close/>
              </a:path>
            </a:pathLst>
          </a:custGeom>
          <a:blipFill>
            <a:blip r:embed="rId4"/>
            <a:stretch>
              <a:fillRect l="-72312" t="0" r="-72312" b="0"/>
            </a:stretch>
          </a:blipFill>
        </p:spPr>
      </p:sp>
      <p:sp>
        <p:nvSpPr>
          <p:cNvPr name="TextBox 13" id="13"/>
          <p:cNvSpPr txBox="true"/>
          <p:nvPr/>
        </p:nvSpPr>
        <p:spPr>
          <a:xfrm rot="0">
            <a:off x="1028700" y="4656549"/>
            <a:ext cx="11897226" cy="1352550"/>
          </a:xfrm>
          <a:prstGeom prst="rect">
            <a:avLst/>
          </a:prstGeom>
        </p:spPr>
        <p:txBody>
          <a:bodyPr anchor="t" rtlCol="false" tIns="0" lIns="0" bIns="0" rIns="0">
            <a:spAutoFit/>
          </a:bodyPr>
          <a:lstStyle/>
          <a:p>
            <a:pPr algn="l" marL="0" indent="0" lvl="0">
              <a:lnSpc>
                <a:spcPts val="5250"/>
              </a:lnSpc>
              <a:spcBef>
                <a:spcPct val="0"/>
              </a:spcBef>
            </a:pPr>
            <a:r>
              <a:rPr lang="en-US" b="true" sz="5000" strike="noStrike" u="none">
                <a:solidFill>
                  <a:srgbClr val="002557"/>
                </a:solidFill>
                <a:latin typeface="Montserrat Bold"/>
                <a:ea typeface="Montserrat Bold"/>
                <a:cs typeface="Montserrat Bold"/>
                <a:sym typeface="Montserrat Bold"/>
              </a:rPr>
              <a:t>AUTOMATED LICENSE PLATE READER (ALPR) TECHNOLOGY</a:t>
            </a:r>
          </a:p>
        </p:txBody>
      </p:sp>
      <p:sp>
        <p:nvSpPr>
          <p:cNvPr name="AutoShape 14" id="14"/>
          <p:cNvSpPr/>
          <p:nvPr/>
        </p:nvSpPr>
        <p:spPr>
          <a:xfrm>
            <a:off x="-4817473" y="1009650"/>
            <a:ext cx="11794786" cy="0"/>
          </a:xfrm>
          <a:prstGeom prst="line">
            <a:avLst/>
          </a:prstGeom>
          <a:ln cap="flat" w="95250">
            <a:solidFill>
              <a:srgbClr val="A28231"/>
            </a:solidFill>
            <a:prstDash val="solid"/>
            <a:headEnd type="none" len="sm" w="sm"/>
            <a:tailEnd type="none" len="sm" w="sm"/>
          </a:ln>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55510" y="3900188"/>
            <a:ext cx="4402486" cy="4528791"/>
            <a:chOff x="0" y="0"/>
            <a:chExt cx="1159503" cy="1192768"/>
          </a:xfrm>
        </p:grpSpPr>
        <p:sp>
          <p:nvSpPr>
            <p:cNvPr name="Freeform 3" id="3"/>
            <p:cNvSpPr/>
            <p:nvPr/>
          </p:nvSpPr>
          <p:spPr>
            <a:xfrm flipH="false" flipV="false" rot="0">
              <a:off x="0" y="0"/>
              <a:ext cx="1159503" cy="1192768"/>
            </a:xfrm>
            <a:custGeom>
              <a:avLst/>
              <a:gdLst/>
              <a:ahLst/>
              <a:cxnLst/>
              <a:rect r="r" b="b" t="t" l="l"/>
              <a:pathLst>
                <a:path h="1192768" w="1159503">
                  <a:moveTo>
                    <a:pt x="0" y="0"/>
                  </a:moveTo>
                  <a:lnTo>
                    <a:pt x="1159503" y="0"/>
                  </a:lnTo>
                  <a:lnTo>
                    <a:pt x="1159503" y="1192768"/>
                  </a:lnTo>
                  <a:lnTo>
                    <a:pt x="0" y="1192768"/>
                  </a:lnTo>
                  <a:close/>
                </a:path>
              </a:pathLst>
            </a:custGeom>
            <a:solidFill>
              <a:srgbClr val="1E3A8A"/>
            </a:solidFill>
          </p:spPr>
        </p:sp>
        <p:sp>
          <p:nvSpPr>
            <p:cNvPr name="TextBox 4" id="4"/>
            <p:cNvSpPr txBox="true"/>
            <p:nvPr/>
          </p:nvSpPr>
          <p:spPr>
            <a:xfrm>
              <a:off x="0" y="-47625"/>
              <a:ext cx="1159503" cy="1240393"/>
            </a:xfrm>
            <a:prstGeom prst="rect">
              <a:avLst/>
            </a:prstGeom>
          </p:spPr>
          <p:txBody>
            <a:bodyPr anchor="ctr" rtlCol="false" tIns="50800" lIns="50800" bIns="50800" rIns="50800"/>
            <a:lstStyle/>
            <a:p>
              <a:pPr algn="ctr">
                <a:lnSpc>
                  <a:spcPts val="3499"/>
                </a:lnSpc>
              </a:pPr>
            </a:p>
          </p:txBody>
        </p:sp>
      </p:grpSp>
      <p:grpSp>
        <p:nvGrpSpPr>
          <p:cNvPr name="Group 5" id="5"/>
          <p:cNvGrpSpPr/>
          <p:nvPr/>
        </p:nvGrpSpPr>
        <p:grpSpPr>
          <a:xfrm rot="0">
            <a:off x="1405338" y="3781351"/>
            <a:ext cx="4371671" cy="437167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2"/>
              <a:stretch>
                <a:fillRect l="-2578" t="0" r="-2578" b="0"/>
              </a:stretch>
            </a:blipFill>
            <a:ln w="19050" cap="sq">
              <a:solidFill>
                <a:srgbClr val="054396"/>
              </a:solidFill>
              <a:prstDash val="solid"/>
              <a:miter/>
            </a:ln>
          </p:spPr>
        </p:sp>
      </p:grpSp>
      <p:sp>
        <p:nvSpPr>
          <p:cNvPr name="TextBox 7" id="7"/>
          <p:cNvSpPr txBox="true"/>
          <p:nvPr/>
        </p:nvSpPr>
        <p:spPr>
          <a:xfrm rot="0">
            <a:off x="668456" y="901683"/>
            <a:ext cx="16738158" cy="762000"/>
          </a:xfrm>
          <a:prstGeom prst="rect">
            <a:avLst/>
          </a:prstGeom>
        </p:spPr>
        <p:txBody>
          <a:bodyPr anchor="t" rtlCol="false" tIns="0" lIns="0" bIns="0" rIns="0">
            <a:spAutoFit/>
          </a:bodyPr>
          <a:lstStyle/>
          <a:p>
            <a:pPr algn="r" marL="0" indent="0" lvl="0">
              <a:lnSpc>
                <a:spcPts val="6299"/>
              </a:lnSpc>
              <a:spcBef>
                <a:spcPct val="0"/>
              </a:spcBef>
            </a:pPr>
            <a:r>
              <a:rPr lang="en-US" b="true" sz="4500" strike="noStrike" u="none">
                <a:solidFill>
                  <a:srgbClr val="002557"/>
                </a:solidFill>
                <a:latin typeface="Montserrat Bold"/>
                <a:ea typeface="Montserrat Bold"/>
                <a:cs typeface="Montserrat Bold"/>
                <a:sym typeface="Montserrat Bold"/>
              </a:rPr>
              <a:t>What is an Automated License Plate Reader?</a:t>
            </a:r>
          </a:p>
        </p:txBody>
      </p:sp>
      <p:sp>
        <p:nvSpPr>
          <p:cNvPr name="TextBox 8" id="8"/>
          <p:cNvSpPr txBox="true"/>
          <p:nvPr/>
        </p:nvSpPr>
        <p:spPr>
          <a:xfrm rot="0">
            <a:off x="6990882" y="6253293"/>
            <a:ext cx="10435121" cy="850900"/>
          </a:xfrm>
          <a:prstGeom prst="rect">
            <a:avLst/>
          </a:prstGeom>
        </p:spPr>
        <p:txBody>
          <a:bodyPr anchor="t" rtlCol="false" tIns="0" lIns="0" bIns="0" rIns="0">
            <a:spAutoFit/>
          </a:bodyPr>
          <a:lstStyle/>
          <a:p>
            <a:pPr algn="just" marL="0" indent="0" lvl="0">
              <a:lnSpc>
                <a:spcPts val="3499"/>
              </a:lnSpc>
              <a:spcBef>
                <a:spcPct val="0"/>
              </a:spcBef>
            </a:pPr>
            <a:r>
              <a:rPr lang="en-US" sz="2499" strike="noStrike" u="none">
                <a:solidFill>
                  <a:srgbClr val="000000"/>
                </a:solidFill>
                <a:latin typeface="Montserrat"/>
                <a:ea typeface="Montserrat"/>
                <a:cs typeface="Montserrat"/>
                <a:sym typeface="Montserrat"/>
              </a:rPr>
              <a:t>Authorized personnel can search the information to help identify vehicles, generate investigative leads, and enhance public safety.</a:t>
            </a:r>
          </a:p>
        </p:txBody>
      </p:sp>
      <p:sp>
        <p:nvSpPr>
          <p:cNvPr name="TextBox 9" id="9"/>
          <p:cNvSpPr txBox="true"/>
          <p:nvPr/>
        </p:nvSpPr>
        <p:spPr>
          <a:xfrm rot="0">
            <a:off x="6990882" y="3025758"/>
            <a:ext cx="10435121" cy="1289050"/>
          </a:xfrm>
          <a:prstGeom prst="rect">
            <a:avLst/>
          </a:prstGeom>
        </p:spPr>
        <p:txBody>
          <a:bodyPr anchor="t" rtlCol="false" tIns="0" lIns="0" bIns="0" rIns="0">
            <a:spAutoFit/>
          </a:bodyPr>
          <a:lstStyle/>
          <a:p>
            <a:pPr algn="l" marL="0" indent="0" lvl="0">
              <a:lnSpc>
                <a:spcPts val="3499"/>
              </a:lnSpc>
              <a:spcBef>
                <a:spcPct val="0"/>
              </a:spcBef>
            </a:pPr>
            <a:r>
              <a:rPr lang="en-US" sz="2499" strike="noStrike" u="none">
                <a:solidFill>
                  <a:srgbClr val="000000"/>
                </a:solidFill>
                <a:latin typeface="Montserrat"/>
                <a:ea typeface="Montserrat"/>
                <a:cs typeface="Montserrat"/>
                <a:sym typeface="Montserrat"/>
              </a:rPr>
              <a:t>A camera that captures license plates and vehicle characteristics-such as make, color, and body type-along with the date, time, and location of the observation. </a:t>
            </a:r>
          </a:p>
        </p:txBody>
      </p:sp>
      <p:sp>
        <p:nvSpPr>
          <p:cNvPr name="TextBox 10" id="10"/>
          <p:cNvSpPr txBox="true"/>
          <p:nvPr/>
        </p:nvSpPr>
        <p:spPr>
          <a:xfrm rot="0">
            <a:off x="6990882" y="5669283"/>
            <a:ext cx="10435121" cy="495300"/>
          </a:xfrm>
          <a:prstGeom prst="rect">
            <a:avLst/>
          </a:prstGeom>
        </p:spPr>
        <p:txBody>
          <a:bodyPr anchor="t" rtlCol="false" tIns="0" lIns="0" bIns="0" rIns="0">
            <a:spAutoFit/>
          </a:bodyPr>
          <a:lstStyle/>
          <a:p>
            <a:pPr algn="l" marL="0" indent="0" lvl="0">
              <a:lnSpc>
                <a:spcPts val="4199"/>
              </a:lnSpc>
              <a:spcBef>
                <a:spcPct val="0"/>
              </a:spcBef>
            </a:pPr>
            <a:r>
              <a:rPr lang="en-US" b="true" sz="2999" strike="noStrike" u="none">
                <a:solidFill>
                  <a:srgbClr val="1E498A"/>
                </a:solidFill>
                <a:latin typeface="Canva Sans Bold"/>
                <a:ea typeface="Canva Sans Bold"/>
                <a:cs typeface="Canva Sans Bold"/>
                <a:sym typeface="Canva Sans Bold"/>
              </a:rPr>
              <a:t>HOW THE INFORMATION IS USED</a:t>
            </a:r>
          </a:p>
        </p:txBody>
      </p:sp>
      <p:sp>
        <p:nvSpPr>
          <p:cNvPr name="AutoShape 11" id="11"/>
          <p:cNvSpPr/>
          <p:nvPr/>
        </p:nvSpPr>
        <p:spPr>
          <a:xfrm>
            <a:off x="6990882" y="5087427"/>
            <a:ext cx="10435121" cy="0"/>
          </a:xfrm>
          <a:prstGeom prst="line">
            <a:avLst/>
          </a:prstGeom>
          <a:ln cap="flat" w="38100">
            <a:solidFill>
              <a:srgbClr val="A28231"/>
            </a:solidFill>
            <a:prstDash val="solid"/>
            <a:headEnd type="none" len="sm" w="sm"/>
            <a:tailEnd type="none" len="sm" w="sm"/>
          </a:ln>
        </p:spPr>
      </p:sp>
      <p:sp>
        <p:nvSpPr>
          <p:cNvPr name="AutoShape 12" id="12"/>
          <p:cNvSpPr/>
          <p:nvPr/>
        </p:nvSpPr>
        <p:spPr>
          <a:xfrm>
            <a:off x="9294979" y="1635108"/>
            <a:ext cx="9131783" cy="0"/>
          </a:xfrm>
          <a:prstGeom prst="line">
            <a:avLst/>
          </a:prstGeom>
          <a:ln cap="flat" w="38100">
            <a:solidFill>
              <a:srgbClr val="A28231"/>
            </a:solidFill>
            <a:prstDash val="solid"/>
            <a:headEnd type="none" len="sm" w="sm"/>
            <a:tailEnd type="none" len="sm" w="sm"/>
          </a:ln>
        </p:spPr>
      </p:sp>
      <p:sp>
        <p:nvSpPr>
          <p:cNvPr name="AutoShape 13" id="13"/>
          <p:cNvSpPr/>
          <p:nvPr/>
        </p:nvSpPr>
        <p:spPr>
          <a:xfrm flipV="true">
            <a:off x="-117230" y="10287000"/>
            <a:ext cx="19376532" cy="12351"/>
          </a:xfrm>
          <a:prstGeom prst="line">
            <a:avLst/>
          </a:prstGeom>
          <a:ln cap="flat" w="85725">
            <a:solidFill>
              <a:srgbClr val="1E498A"/>
            </a:solidFill>
            <a:prstDash val="solid"/>
            <a:headEnd type="none" len="sm" w="sm"/>
            <a:tailEnd type="none" len="sm" w="sm"/>
          </a:ln>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0" y="1285875"/>
            <a:ext cx="7410450" cy="428625"/>
          </a:xfrm>
          <a:custGeom>
            <a:avLst/>
            <a:gdLst/>
            <a:ahLst/>
            <a:cxnLst/>
            <a:rect r="r" b="b" t="t" l="l"/>
            <a:pathLst>
              <a:path h="428625" w="7410450">
                <a:moveTo>
                  <a:pt x="0" y="0"/>
                </a:moveTo>
                <a:lnTo>
                  <a:pt x="7410450" y="0"/>
                </a:lnTo>
                <a:lnTo>
                  <a:pt x="7410450" y="428625"/>
                </a:lnTo>
                <a:lnTo>
                  <a:pt x="0" y="428625"/>
                </a:lnTo>
                <a:lnTo>
                  <a:pt x="0" y="0"/>
                </a:lnTo>
                <a:close/>
              </a:path>
            </a:pathLst>
          </a:custGeom>
          <a:blipFill>
            <a:blip r:embed="rId3"/>
            <a:stretch>
              <a:fillRect l="0" t="0" r="0" b="0"/>
            </a:stretch>
          </a:blipFill>
        </p:spPr>
      </p:sp>
      <p:sp>
        <p:nvSpPr>
          <p:cNvPr name="TextBox 4" id="4"/>
          <p:cNvSpPr txBox="true"/>
          <p:nvPr/>
        </p:nvSpPr>
        <p:spPr>
          <a:xfrm rot="0">
            <a:off x="697868" y="1809155"/>
            <a:ext cx="13825860" cy="334566"/>
          </a:xfrm>
          <a:prstGeom prst="rect">
            <a:avLst/>
          </a:prstGeom>
        </p:spPr>
        <p:txBody>
          <a:bodyPr anchor="t" rtlCol="false" tIns="0" lIns="0" bIns="0" rIns="0">
            <a:spAutoFit/>
          </a:bodyPr>
          <a:lstStyle/>
          <a:p>
            <a:pPr algn="l">
              <a:lnSpc>
                <a:spcPts val="2578"/>
              </a:lnSpc>
            </a:pPr>
            <a:r>
              <a:rPr lang="en-US" sz="2343">
                <a:solidFill>
                  <a:srgbClr val="091E4D"/>
                </a:solidFill>
                <a:latin typeface="Montserrat"/>
                <a:ea typeface="Montserrat"/>
                <a:cs typeface="Montserrat"/>
                <a:sym typeface="Montserrat"/>
              </a:rPr>
              <a:t>San Mateo Police Department uses both mobile and fixed ALPR technology.</a:t>
            </a:r>
          </a:p>
        </p:txBody>
      </p:sp>
      <p:sp>
        <p:nvSpPr>
          <p:cNvPr name="TextBox 5" id="5"/>
          <p:cNvSpPr txBox="true"/>
          <p:nvPr/>
        </p:nvSpPr>
        <p:spPr>
          <a:xfrm rot="0">
            <a:off x="696222" y="1056680"/>
            <a:ext cx="14262084" cy="561975"/>
          </a:xfrm>
          <a:prstGeom prst="rect">
            <a:avLst/>
          </a:prstGeom>
        </p:spPr>
        <p:txBody>
          <a:bodyPr anchor="t" rtlCol="false" tIns="0" lIns="0" bIns="0" rIns="0">
            <a:spAutoFit/>
          </a:bodyPr>
          <a:lstStyle/>
          <a:p>
            <a:pPr algn="l">
              <a:lnSpc>
                <a:spcPts val="4565"/>
              </a:lnSpc>
            </a:pPr>
            <a:r>
              <a:rPr lang="en-US" sz="3804">
                <a:solidFill>
                  <a:srgbClr val="091E4D"/>
                </a:solidFill>
                <a:latin typeface="League Spartan"/>
                <a:ea typeface="League Spartan"/>
                <a:cs typeface="League Spartan"/>
                <a:sym typeface="League Spartan"/>
              </a:rPr>
              <a:t>ALPR Systems Used by San Mateo Police Department</a:t>
            </a:r>
          </a:p>
        </p:txBody>
      </p:sp>
      <p:grpSp>
        <p:nvGrpSpPr>
          <p:cNvPr name="Group 6" id="6"/>
          <p:cNvGrpSpPr/>
          <p:nvPr/>
        </p:nvGrpSpPr>
        <p:grpSpPr>
          <a:xfrm rot="0">
            <a:off x="9209437" y="2486620"/>
            <a:ext cx="8521889" cy="7217807"/>
            <a:chOff x="0" y="0"/>
            <a:chExt cx="11362518" cy="9623743"/>
          </a:xfrm>
        </p:grpSpPr>
        <p:sp>
          <p:nvSpPr>
            <p:cNvPr name="Freeform 7" id="7"/>
            <p:cNvSpPr/>
            <p:nvPr/>
          </p:nvSpPr>
          <p:spPr>
            <a:xfrm flipH="false" flipV="false" rot="0">
              <a:off x="0" y="0"/>
              <a:ext cx="11362518" cy="9623742"/>
            </a:xfrm>
            <a:custGeom>
              <a:avLst/>
              <a:gdLst/>
              <a:ahLst/>
              <a:cxnLst/>
              <a:rect r="r" b="b" t="t" l="l"/>
              <a:pathLst>
                <a:path h="9623742" w="11362518">
                  <a:moveTo>
                    <a:pt x="363274" y="0"/>
                  </a:moveTo>
                  <a:lnTo>
                    <a:pt x="10999245" y="0"/>
                  </a:lnTo>
                  <a:cubicBezTo>
                    <a:pt x="11199875" y="0"/>
                    <a:pt x="11362518" y="179740"/>
                    <a:pt x="11362518" y="401460"/>
                  </a:cubicBezTo>
                  <a:lnTo>
                    <a:pt x="11362518" y="9222283"/>
                  </a:lnTo>
                  <a:cubicBezTo>
                    <a:pt x="11362518" y="9444003"/>
                    <a:pt x="11199875" y="9623742"/>
                    <a:pt x="10999245" y="9623742"/>
                  </a:cubicBezTo>
                  <a:lnTo>
                    <a:pt x="363274" y="9623742"/>
                  </a:lnTo>
                  <a:cubicBezTo>
                    <a:pt x="162643" y="9623742"/>
                    <a:pt x="0" y="9444003"/>
                    <a:pt x="0" y="9222283"/>
                  </a:cubicBezTo>
                  <a:lnTo>
                    <a:pt x="0" y="401460"/>
                  </a:lnTo>
                  <a:cubicBezTo>
                    <a:pt x="0" y="179740"/>
                    <a:pt x="162643" y="0"/>
                    <a:pt x="363274" y="0"/>
                  </a:cubicBezTo>
                  <a:close/>
                </a:path>
              </a:pathLst>
            </a:custGeom>
            <a:solidFill>
              <a:srgbClr val="F4F7FB"/>
            </a:solidFill>
            <a:ln w="28575" cap="sq">
              <a:solidFill>
                <a:srgbClr val="1E498A"/>
              </a:solidFill>
              <a:prstDash val="solid"/>
              <a:miter/>
            </a:ln>
          </p:spPr>
        </p:sp>
        <p:sp>
          <p:nvSpPr>
            <p:cNvPr name="TextBox 8" id="8"/>
            <p:cNvSpPr txBox="true"/>
            <p:nvPr/>
          </p:nvSpPr>
          <p:spPr>
            <a:xfrm>
              <a:off x="0" y="-38100"/>
              <a:ext cx="11362518" cy="9661843"/>
            </a:xfrm>
            <a:prstGeom prst="rect">
              <a:avLst/>
            </a:prstGeom>
          </p:spPr>
          <p:txBody>
            <a:bodyPr anchor="ctr" rtlCol="false" tIns="50800" lIns="50800" bIns="50800" rIns="50800"/>
            <a:lstStyle/>
            <a:p>
              <a:pPr algn="l" marL="0" indent="0" lvl="0">
                <a:lnSpc>
                  <a:spcPts val="1679"/>
                </a:lnSpc>
                <a:spcBef>
                  <a:spcPct val="0"/>
                </a:spcBef>
              </a:pPr>
            </a:p>
          </p:txBody>
        </p:sp>
      </p:grpSp>
      <p:sp>
        <p:nvSpPr>
          <p:cNvPr name="Freeform 9" id="9"/>
          <p:cNvSpPr/>
          <p:nvPr/>
        </p:nvSpPr>
        <p:spPr>
          <a:xfrm flipH="false" flipV="false" rot="0">
            <a:off x="9401482" y="2627352"/>
            <a:ext cx="1713691" cy="647700"/>
          </a:xfrm>
          <a:custGeom>
            <a:avLst/>
            <a:gdLst/>
            <a:ahLst/>
            <a:cxnLst/>
            <a:rect r="r" b="b" t="t" l="l"/>
            <a:pathLst>
              <a:path h="647700" w="1713691">
                <a:moveTo>
                  <a:pt x="0" y="0"/>
                </a:moveTo>
                <a:lnTo>
                  <a:pt x="1713692" y="0"/>
                </a:lnTo>
                <a:lnTo>
                  <a:pt x="1713692" y="647700"/>
                </a:lnTo>
                <a:lnTo>
                  <a:pt x="0" y="647700"/>
                </a:lnTo>
                <a:lnTo>
                  <a:pt x="0" y="0"/>
                </a:lnTo>
                <a:close/>
              </a:path>
            </a:pathLst>
          </a:custGeom>
          <a:blipFill>
            <a:blip r:embed="rId4"/>
            <a:stretch>
              <a:fillRect l="-1135" t="0" r="-1135" b="0"/>
            </a:stretch>
          </a:blipFill>
        </p:spPr>
      </p:sp>
      <p:sp>
        <p:nvSpPr>
          <p:cNvPr name="TextBox 10" id="10"/>
          <p:cNvSpPr txBox="true"/>
          <p:nvPr/>
        </p:nvSpPr>
        <p:spPr>
          <a:xfrm rot="0">
            <a:off x="9572107" y="3438692"/>
            <a:ext cx="3812428" cy="447675"/>
          </a:xfrm>
          <a:prstGeom prst="rect">
            <a:avLst/>
          </a:prstGeom>
        </p:spPr>
        <p:txBody>
          <a:bodyPr anchor="t" rtlCol="false" tIns="0" lIns="0" bIns="0" rIns="0">
            <a:spAutoFit/>
          </a:bodyPr>
          <a:lstStyle/>
          <a:p>
            <a:pPr algn="l">
              <a:lnSpc>
                <a:spcPts val="3554"/>
              </a:lnSpc>
            </a:pPr>
            <a:r>
              <a:rPr lang="en-US" sz="2962">
                <a:solidFill>
                  <a:srgbClr val="091E4D"/>
                </a:solidFill>
                <a:latin typeface="League Spartan"/>
                <a:ea typeface="League Spartan"/>
                <a:cs typeface="League Spartan"/>
                <a:sym typeface="League Spartan"/>
              </a:rPr>
              <a:t>FLOCK SAFETY</a:t>
            </a:r>
          </a:p>
        </p:txBody>
      </p:sp>
      <p:sp>
        <p:nvSpPr>
          <p:cNvPr name="TextBox 11" id="11"/>
          <p:cNvSpPr txBox="true"/>
          <p:nvPr/>
        </p:nvSpPr>
        <p:spPr>
          <a:xfrm rot="0">
            <a:off x="9572107" y="3934373"/>
            <a:ext cx="2916015" cy="247650"/>
          </a:xfrm>
          <a:prstGeom prst="rect">
            <a:avLst/>
          </a:prstGeom>
        </p:spPr>
        <p:txBody>
          <a:bodyPr anchor="t" rtlCol="false" tIns="0" lIns="0" bIns="0" rIns="0">
            <a:spAutoFit/>
          </a:bodyPr>
          <a:lstStyle/>
          <a:p>
            <a:pPr algn="l">
              <a:lnSpc>
                <a:spcPts val="2070"/>
              </a:lnSpc>
            </a:pPr>
            <a:r>
              <a:rPr lang="en-US" sz="1725">
                <a:solidFill>
                  <a:srgbClr val="2C60E8"/>
                </a:solidFill>
                <a:latin typeface="League Spartan"/>
                <a:ea typeface="League Spartan"/>
                <a:cs typeface="League Spartan"/>
                <a:sym typeface="League Spartan"/>
              </a:rPr>
              <a:t>FIXED ALPR</a:t>
            </a:r>
          </a:p>
        </p:txBody>
      </p:sp>
      <p:sp>
        <p:nvSpPr>
          <p:cNvPr name="TextBox 12" id="12"/>
          <p:cNvSpPr txBox="true"/>
          <p:nvPr/>
        </p:nvSpPr>
        <p:spPr>
          <a:xfrm rot="0">
            <a:off x="9572107" y="4343424"/>
            <a:ext cx="7717944" cy="548799"/>
          </a:xfrm>
          <a:prstGeom prst="rect">
            <a:avLst/>
          </a:prstGeom>
        </p:spPr>
        <p:txBody>
          <a:bodyPr anchor="t" rtlCol="false" tIns="0" lIns="0" bIns="0" rIns="0">
            <a:spAutoFit/>
          </a:bodyPr>
          <a:lstStyle/>
          <a:p>
            <a:pPr algn="l" marL="0" indent="0" lvl="0">
              <a:lnSpc>
                <a:spcPts val="2158"/>
              </a:lnSpc>
              <a:spcBef>
                <a:spcPct val="0"/>
              </a:spcBef>
            </a:pPr>
            <a:r>
              <a:rPr lang="en-US" sz="1962" strike="noStrike" u="none">
                <a:solidFill>
                  <a:srgbClr val="091E4D"/>
                </a:solidFill>
                <a:latin typeface="Montserrat"/>
                <a:ea typeface="Montserrat"/>
                <a:cs typeface="Montserrat"/>
                <a:sym typeface="Montserrat"/>
              </a:rPr>
              <a:t>Uses stationary cameras strategically placed throughout the community.</a:t>
            </a:r>
          </a:p>
        </p:txBody>
      </p:sp>
      <p:sp>
        <p:nvSpPr>
          <p:cNvPr name="Freeform 13" id="13"/>
          <p:cNvSpPr/>
          <p:nvPr/>
        </p:nvSpPr>
        <p:spPr>
          <a:xfrm flipH="false" flipV="false" rot="0">
            <a:off x="15527431" y="2846427"/>
            <a:ext cx="885825" cy="647700"/>
          </a:xfrm>
          <a:custGeom>
            <a:avLst/>
            <a:gdLst/>
            <a:ahLst/>
            <a:cxnLst/>
            <a:rect r="r" b="b" t="t" l="l"/>
            <a:pathLst>
              <a:path h="647700" w="885825">
                <a:moveTo>
                  <a:pt x="0" y="0"/>
                </a:moveTo>
                <a:lnTo>
                  <a:pt x="885825" y="0"/>
                </a:lnTo>
                <a:lnTo>
                  <a:pt x="885825" y="647700"/>
                </a:lnTo>
                <a:lnTo>
                  <a:pt x="0" y="647700"/>
                </a:lnTo>
                <a:lnTo>
                  <a:pt x="0" y="0"/>
                </a:lnTo>
                <a:close/>
              </a:path>
            </a:pathLst>
          </a:custGeom>
          <a:blipFill>
            <a:blip r:embed="rId5"/>
            <a:stretch>
              <a:fillRect l="0" t="0" r="0" b="0"/>
            </a:stretch>
          </a:blipFill>
        </p:spPr>
      </p:sp>
      <p:sp>
        <p:nvSpPr>
          <p:cNvPr name="TextBox 14" id="14"/>
          <p:cNvSpPr txBox="true"/>
          <p:nvPr/>
        </p:nvSpPr>
        <p:spPr>
          <a:xfrm rot="0">
            <a:off x="15220726" y="3623667"/>
            <a:ext cx="1664208" cy="314325"/>
          </a:xfrm>
          <a:prstGeom prst="rect">
            <a:avLst/>
          </a:prstGeom>
        </p:spPr>
        <p:txBody>
          <a:bodyPr anchor="t" rtlCol="false" tIns="0" lIns="0" bIns="0" rIns="0">
            <a:spAutoFit/>
          </a:bodyPr>
          <a:lstStyle/>
          <a:p>
            <a:pPr algn="ctr">
              <a:lnSpc>
                <a:spcPts val="2491"/>
              </a:lnSpc>
            </a:pPr>
            <a:r>
              <a:rPr lang="en-US" sz="2076">
                <a:solidFill>
                  <a:srgbClr val="091E4D"/>
                </a:solidFill>
                <a:latin typeface="League Spartan"/>
                <a:ea typeface="League Spartan"/>
                <a:cs typeface="League Spartan"/>
                <a:sym typeface="League Spartan"/>
              </a:rPr>
              <a:t>flock safety</a:t>
            </a:r>
          </a:p>
        </p:txBody>
      </p:sp>
      <p:sp>
        <p:nvSpPr>
          <p:cNvPr name="Freeform 15" id="15"/>
          <p:cNvSpPr/>
          <p:nvPr/>
        </p:nvSpPr>
        <p:spPr>
          <a:xfrm flipH="false" flipV="false" rot="0">
            <a:off x="9401482" y="5032468"/>
            <a:ext cx="2570537" cy="647700"/>
          </a:xfrm>
          <a:custGeom>
            <a:avLst/>
            <a:gdLst/>
            <a:ahLst/>
            <a:cxnLst/>
            <a:rect r="r" b="b" t="t" l="l"/>
            <a:pathLst>
              <a:path h="647700" w="2570537">
                <a:moveTo>
                  <a:pt x="0" y="0"/>
                </a:moveTo>
                <a:lnTo>
                  <a:pt x="2570537" y="0"/>
                </a:lnTo>
                <a:lnTo>
                  <a:pt x="2570537" y="647700"/>
                </a:lnTo>
                <a:lnTo>
                  <a:pt x="0" y="647700"/>
                </a:lnTo>
                <a:lnTo>
                  <a:pt x="0" y="0"/>
                </a:lnTo>
                <a:close/>
              </a:path>
            </a:pathLst>
          </a:custGeom>
          <a:blipFill>
            <a:blip r:embed="rId6"/>
            <a:stretch>
              <a:fillRect l="-1135" t="0" r="-1135" b="0"/>
            </a:stretch>
          </a:blipFill>
        </p:spPr>
      </p:sp>
      <p:sp>
        <p:nvSpPr>
          <p:cNvPr name="TextBox 16" id="16"/>
          <p:cNvSpPr txBox="true"/>
          <p:nvPr/>
        </p:nvSpPr>
        <p:spPr>
          <a:xfrm rot="0">
            <a:off x="9607871" y="5195309"/>
            <a:ext cx="2092193" cy="273248"/>
          </a:xfrm>
          <a:prstGeom prst="rect">
            <a:avLst/>
          </a:prstGeom>
        </p:spPr>
        <p:txBody>
          <a:bodyPr anchor="t" rtlCol="false" tIns="0" lIns="0" bIns="0" rIns="0">
            <a:spAutoFit/>
          </a:bodyPr>
          <a:lstStyle/>
          <a:p>
            <a:pPr algn="ctr">
              <a:lnSpc>
                <a:spcPts val="2264"/>
              </a:lnSpc>
            </a:pPr>
            <a:r>
              <a:rPr lang="en-US" sz="1617">
                <a:solidFill>
                  <a:srgbClr val="FFFFFF"/>
                </a:solidFill>
                <a:latin typeface="League Spartan"/>
                <a:ea typeface="League Spartan"/>
                <a:cs typeface="League Spartan"/>
                <a:sym typeface="League Spartan"/>
              </a:rPr>
              <a:t>KEY FEATURES</a:t>
            </a:r>
          </a:p>
        </p:txBody>
      </p:sp>
      <p:sp>
        <p:nvSpPr>
          <p:cNvPr name="TextBox 17" id="17"/>
          <p:cNvSpPr txBox="true"/>
          <p:nvPr/>
        </p:nvSpPr>
        <p:spPr>
          <a:xfrm rot="0">
            <a:off x="9723484" y="2897029"/>
            <a:ext cx="1255959" cy="273248"/>
          </a:xfrm>
          <a:prstGeom prst="rect">
            <a:avLst/>
          </a:prstGeom>
        </p:spPr>
        <p:txBody>
          <a:bodyPr anchor="t" rtlCol="false" tIns="0" lIns="0" bIns="0" rIns="0">
            <a:spAutoFit/>
          </a:bodyPr>
          <a:lstStyle/>
          <a:p>
            <a:pPr algn="ctr">
              <a:lnSpc>
                <a:spcPts val="2264"/>
              </a:lnSpc>
            </a:pPr>
            <a:r>
              <a:rPr lang="en-US" sz="1617">
                <a:solidFill>
                  <a:srgbClr val="FFFFFF"/>
                </a:solidFill>
                <a:latin typeface="League Spartan"/>
                <a:ea typeface="League Spartan"/>
                <a:cs typeface="League Spartan"/>
                <a:sym typeface="League Spartan"/>
              </a:rPr>
              <a:t>FIXED</a:t>
            </a:r>
          </a:p>
        </p:txBody>
      </p:sp>
      <p:sp>
        <p:nvSpPr>
          <p:cNvPr name="AutoShape 18" id="18"/>
          <p:cNvSpPr/>
          <p:nvPr/>
        </p:nvSpPr>
        <p:spPr>
          <a:xfrm flipV="true">
            <a:off x="819534" y="5006792"/>
            <a:ext cx="7781670" cy="7611"/>
          </a:xfrm>
          <a:prstGeom prst="line">
            <a:avLst/>
          </a:prstGeom>
          <a:ln cap="flat" w="38100">
            <a:solidFill>
              <a:srgbClr val="A28231"/>
            </a:solidFill>
            <a:prstDash val="solid"/>
            <a:headEnd type="none" len="sm" w="sm"/>
            <a:tailEnd type="none" len="sm" w="sm"/>
          </a:ln>
        </p:spPr>
      </p:sp>
      <p:grpSp>
        <p:nvGrpSpPr>
          <p:cNvPr name="Group 19" id="19"/>
          <p:cNvGrpSpPr/>
          <p:nvPr/>
        </p:nvGrpSpPr>
        <p:grpSpPr>
          <a:xfrm rot="0">
            <a:off x="556674" y="2494336"/>
            <a:ext cx="8508744" cy="7202376"/>
            <a:chOff x="0" y="0"/>
            <a:chExt cx="11344992" cy="9603169"/>
          </a:xfrm>
        </p:grpSpPr>
        <p:sp>
          <p:nvSpPr>
            <p:cNvPr name="Freeform 20" id="20"/>
            <p:cNvSpPr/>
            <p:nvPr/>
          </p:nvSpPr>
          <p:spPr>
            <a:xfrm flipH="false" flipV="false" rot="0">
              <a:off x="0" y="0"/>
              <a:ext cx="11344992" cy="9603168"/>
            </a:xfrm>
            <a:custGeom>
              <a:avLst/>
              <a:gdLst/>
              <a:ahLst/>
              <a:cxnLst/>
              <a:rect r="r" b="b" t="t" l="l"/>
              <a:pathLst>
                <a:path h="9603168" w="11344992">
                  <a:moveTo>
                    <a:pt x="362713" y="0"/>
                  </a:moveTo>
                  <a:lnTo>
                    <a:pt x="10982279" y="0"/>
                  </a:lnTo>
                  <a:cubicBezTo>
                    <a:pt x="11182600" y="0"/>
                    <a:pt x="11344992" y="179355"/>
                    <a:pt x="11344992" y="400601"/>
                  </a:cubicBezTo>
                  <a:lnTo>
                    <a:pt x="11344992" y="9202567"/>
                  </a:lnTo>
                  <a:cubicBezTo>
                    <a:pt x="11344992" y="9423812"/>
                    <a:pt x="11182600" y="9603168"/>
                    <a:pt x="10982279" y="9603168"/>
                  </a:cubicBezTo>
                  <a:lnTo>
                    <a:pt x="362713" y="9603168"/>
                  </a:lnTo>
                  <a:cubicBezTo>
                    <a:pt x="162392" y="9603168"/>
                    <a:pt x="0" y="9423812"/>
                    <a:pt x="0" y="9202567"/>
                  </a:cubicBezTo>
                  <a:lnTo>
                    <a:pt x="0" y="400601"/>
                  </a:lnTo>
                  <a:cubicBezTo>
                    <a:pt x="0" y="179355"/>
                    <a:pt x="162392" y="0"/>
                    <a:pt x="362713" y="0"/>
                  </a:cubicBezTo>
                  <a:close/>
                </a:path>
              </a:pathLst>
            </a:custGeom>
            <a:solidFill>
              <a:srgbClr val="F4F7FB"/>
            </a:solidFill>
            <a:ln w="28575" cap="sq">
              <a:solidFill>
                <a:srgbClr val="1E498A"/>
              </a:solidFill>
              <a:prstDash val="solid"/>
              <a:miter/>
            </a:ln>
          </p:spPr>
        </p:sp>
        <p:sp>
          <p:nvSpPr>
            <p:cNvPr name="TextBox 21" id="21"/>
            <p:cNvSpPr txBox="true"/>
            <p:nvPr/>
          </p:nvSpPr>
          <p:spPr>
            <a:xfrm>
              <a:off x="0" y="-38100"/>
              <a:ext cx="11344992" cy="9641269"/>
            </a:xfrm>
            <a:prstGeom prst="rect">
              <a:avLst/>
            </a:prstGeom>
          </p:spPr>
          <p:txBody>
            <a:bodyPr anchor="ctr" rtlCol="false" tIns="50800" lIns="50800" bIns="50800" rIns="50800"/>
            <a:lstStyle/>
            <a:p>
              <a:pPr algn="l" marL="0" indent="0" lvl="0">
                <a:lnSpc>
                  <a:spcPts val="1679"/>
                </a:lnSpc>
                <a:spcBef>
                  <a:spcPct val="0"/>
                </a:spcBef>
              </a:pPr>
            </a:p>
          </p:txBody>
        </p:sp>
      </p:grpSp>
      <p:sp>
        <p:nvSpPr>
          <p:cNvPr name="TextBox 22" id="22"/>
          <p:cNvSpPr txBox="true"/>
          <p:nvPr/>
        </p:nvSpPr>
        <p:spPr>
          <a:xfrm rot="0">
            <a:off x="959514" y="2876395"/>
            <a:ext cx="1481916" cy="273248"/>
          </a:xfrm>
          <a:prstGeom prst="rect">
            <a:avLst/>
          </a:prstGeom>
        </p:spPr>
        <p:txBody>
          <a:bodyPr anchor="t" rtlCol="false" tIns="0" lIns="0" bIns="0" rIns="0">
            <a:spAutoFit/>
          </a:bodyPr>
          <a:lstStyle/>
          <a:p>
            <a:pPr algn="ctr">
              <a:lnSpc>
                <a:spcPts val="2264"/>
              </a:lnSpc>
            </a:pPr>
            <a:r>
              <a:rPr lang="en-US" sz="1617">
                <a:solidFill>
                  <a:srgbClr val="FFFFFF"/>
                </a:solidFill>
                <a:latin typeface="League Spartan"/>
                <a:ea typeface="League Spartan"/>
                <a:cs typeface="League Spartan"/>
                <a:sym typeface="League Spartan"/>
              </a:rPr>
              <a:t>MOBILE</a:t>
            </a:r>
          </a:p>
        </p:txBody>
      </p:sp>
      <p:sp>
        <p:nvSpPr>
          <p:cNvPr name="TextBox 23" id="23"/>
          <p:cNvSpPr txBox="true"/>
          <p:nvPr/>
        </p:nvSpPr>
        <p:spPr>
          <a:xfrm rot="0">
            <a:off x="905951" y="3446407"/>
            <a:ext cx="3213078" cy="447675"/>
          </a:xfrm>
          <a:prstGeom prst="rect">
            <a:avLst/>
          </a:prstGeom>
        </p:spPr>
        <p:txBody>
          <a:bodyPr anchor="t" rtlCol="false" tIns="0" lIns="0" bIns="0" rIns="0">
            <a:spAutoFit/>
          </a:bodyPr>
          <a:lstStyle/>
          <a:p>
            <a:pPr algn="l">
              <a:lnSpc>
                <a:spcPts val="3554"/>
              </a:lnSpc>
            </a:pPr>
            <a:r>
              <a:rPr lang="en-US" sz="2962">
                <a:solidFill>
                  <a:srgbClr val="091E4D"/>
                </a:solidFill>
                <a:latin typeface="League Spartan"/>
                <a:ea typeface="League Spartan"/>
                <a:cs typeface="League Spartan"/>
                <a:sym typeface="League Spartan"/>
              </a:rPr>
              <a:t>AXON FLEET</a:t>
            </a:r>
          </a:p>
        </p:txBody>
      </p:sp>
      <p:sp>
        <p:nvSpPr>
          <p:cNvPr name="TextBox 24" id="24"/>
          <p:cNvSpPr txBox="true"/>
          <p:nvPr/>
        </p:nvSpPr>
        <p:spPr>
          <a:xfrm rot="0">
            <a:off x="905951" y="3932563"/>
            <a:ext cx="2882963" cy="257175"/>
          </a:xfrm>
          <a:prstGeom prst="rect">
            <a:avLst/>
          </a:prstGeom>
        </p:spPr>
        <p:txBody>
          <a:bodyPr anchor="t" rtlCol="false" tIns="0" lIns="0" bIns="0" rIns="0">
            <a:spAutoFit/>
          </a:bodyPr>
          <a:lstStyle/>
          <a:p>
            <a:pPr algn="l">
              <a:lnSpc>
                <a:spcPts val="2025"/>
              </a:lnSpc>
            </a:pPr>
            <a:r>
              <a:rPr lang="en-US" sz="1687">
                <a:solidFill>
                  <a:srgbClr val="2C60E8"/>
                </a:solidFill>
                <a:latin typeface="League Spartan"/>
                <a:ea typeface="League Spartan"/>
                <a:cs typeface="League Spartan"/>
                <a:sym typeface="League Spartan"/>
              </a:rPr>
              <a:t>MOBILE ALPR</a:t>
            </a:r>
          </a:p>
        </p:txBody>
      </p:sp>
      <p:sp>
        <p:nvSpPr>
          <p:cNvPr name="TextBox 25" id="25"/>
          <p:cNvSpPr txBox="true"/>
          <p:nvPr/>
        </p:nvSpPr>
        <p:spPr>
          <a:xfrm rot="0">
            <a:off x="905951" y="4296069"/>
            <a:ext cx="7695252" cy="548799"/>
          </a:xfrm>
          <a:prstGeom prst="rect">
            <a:avLst/>
          </a:prstGeom>
        </p:spPr>
        <p:txBody>
          <a:bodyPr anchor="t" rtlCol="false" tIns="0" lIns="0" bIns="0" rIns="0">
            <a:spAutoFit/>
          </a:bodyPr>
          <a:lstStyle/>
          <a:p>
            <a:pPr algn="l">
              <a:lnSpc>
                <a:spcPts val="2158"/>
              </a:lnSpc>
            </a:pPr>
            <a:r>
              <a:rPr lang="en-US" sz="1962">
                <a:solidFill>
                  <a:srgbClr val="091E4D"/>
                </a:solidFill>
                <a:latin typeface="Montserrat"/>
                <a:ea typeface="Montserrat"/>
                <a:cs typeface="Montserrat"/>
                <a:sym typeface="Montserrat"/>
              </a:rPr>
              <a:t>Installed on equipped patrol vehicles and used while officers are in the field.</a:t>
            </a:r>
          </a:p>
        </p:txBody>
      </p:sp>
      <p:sp>
        <p:nvSpPr>
          <p:cNvPr name="Freeform 26" id="26"/>
          <p:cNvSpPr/>
          <p:nvPr/>
        </p:nvSpPr>
        <p:spPr>
          <a:xfrm flipH="false" flipV="false" rot="0">
            <a:off x="6508145" y="2854142"/>
            <a:ext cx="1711048" cy="1285875"/>
          </a:xfrm>
          <a:custGeom>
            <a:avLst/>
            <a:gdLst/>
            <a:ahLst/>
            <a:cxnLst/>
            <a:rect r="r" b="b" t="t" l="l"/>
            <a:pathLst>
              <a:path h="1285875" w="1711048">
                <a:moveTo>
                  <a:pt x="0" y="0"/>
                </a:moveTo>
                <a:lnTo>
                  <a:pt x="1711048" y="0"/>
                </a:lnTo>
                <a:lnTo>
                  <a:pt x="1711048" y="1285875"/>
                </a:lnTo>
                <a:lnTo>
                  <a:pt x="0" y="1285875"/>
                </a:lnTo>
                <a:lnTo>
                  <a:pt x="0" y="0"/>
                </a:lnTo>
                <a:close/>
              </a:path>
            </a:pathLst>
          </a:custGeom>
          <a:blipFill>
            <a:blip r:embed="rId7"/>
            <a:stretch>
              <a:fillRect l="-1214" t="0" r="-1214" b="0"/>
            </a:stretch>
          </a:blipFill>
        </p:spPr>
      </p:sp>
      <p:sp>
        <p:nvSpPr>
          <p:cNvPr name="Freeform 27" id="27"/>
          <p:cNvSpPr/>
          <p:nvPr/>
        </p:nvSpPr>
        <p:spPr>
          <a:xfrm flipH="false" flipV="false" rot="0">
            <a:off x="770555" y="5014404"/>
            <a:ext cx="2343392" cy="647700"/>
          </a:xfrm>
          <a:custGeom>
            <a:avLst/>
            <a:gdLst/>
            <a:ahLst/>
            <a:cxnLst/>
            <a:rect r="r" b="b" t="t" l="l"/>
            <a:pathLst>
              <a:path h="647700" w="2343392">
                <a:moveTo>
                  <a:pt x="0" y="0"/>
                </a:moveTo>
                <a:lnTo>
                  <a:pt x="2343392" y="0"/>
                </a:lnTo>
                <a:lnTo>
                  <a:pt x="2343392" y="647700"/>
                </a:lnTo>
                <a:lnTo>
                  <a:pt x="0" y="647700"/>
                </a:lnTo>
                <a:lnTo>
                  <a:pt x="0" y="0"/>
                </a:lnTo>
                <a:close/>
              </a:path>
            </a:pathLst>
          </a:custGeom>
          <a:blipFill>
            <a:blip r:embed="rId8"/>
            <a:stretch>
              <a:fillRect l="-1214" t="0" r="-1214" b="0"/>
            </a:stretch>
          </a:blipFill>
        </p:spPr>
      </p:sp>
      <p:sp>
        <p:nvSpPr>
          <p:cNvPr name="TextBox 28" id="28"/>
          <p:cNvSpPr txBox="true"/>
          <p:nvPr/>
        </p:nvSpPr>
        <p:spPr>
          <a:xfrm rot="0">
            <a:off x="959514" y="5230684"/>
            <a:ext cx="2088966" cy="273248"/>
          </a:xfrm>
          <a:prstGeom prst="rect">
            <a:avLst/>
          </a:prstGeom>
        </p:spPr>
        <p:txBody>
          <a:bodyPr anchor="t" rtlCol="false" tIns="0" lIns="0" bIns="0" rIns="0">
            <a:spAutoFit/>
          </a:bodyPr>
          <a:lstStyle/>
          <a:p>
            <a:pPr algn="ctr">
              <a:lnSpc>
                <a:spcPts val="2264"/>
              </a:lnSpc>
            </a:pPr>
            <a:r>
              <a:rPr lang="en-US" sz="1617">
                <a:solidFill>
                  <a:srgbClr val="FFFFFF"/>
                </a:solidFill>
                <a:latin typeface="League Spartan"/>
                <a:ea typeface="League Spartan"/>
                <a:cs typeface="League Spartan"/>
                <a:sym typeface="League Spartan"/>
              </a:rPr>
              <a:t>KEY FEATURES</a:t>
            </a:r>
          </a:p>
        </p:txBody>
      </p:sp>
      <p:sp>
        <p:nvSpPr>
          <p:cNvPr name="TextBox 29" id="29"/>
          <p:cNvSpPr txBox="true"/>
          <p:nvPr/>
        </p:nvSpPr>
        <p:spPr>
          <a:xfrm rot="0">
            <a:off x="895476" y="5700204"/>
            <a:ext cx="7810830" cy="3918585"/>
          </a:xfrm>
          <a:prstGeom prst="rect">
            <a:avLst/>
          </a:prstGeom>
        </p:spPr>
        <p:txBody>
          <a:bodyPr anchor="t" rtlCol="false" tIns="0" lIns="0" bIns="0" rIns="0">
            <a:spAutoFit/>
          </a:bodyPr>
          <a:lstStyle/>
          <a:p>
            <a:pPr algn="l" marL="388622" indent="-194311" lvl="1">
              <a:lnSpc>
                <a:spcPts val="1980"/>
              </a:lnSpc>
              <a:buFont typeface="Arial"/>
              <a:buChar char="•"/>
            </a:pPr>
            <a:r>
              <a:rPr lang="en-US" b="true" sz="1800">
                <a:solidFill>
                  <a:srgbClr val="091E4D"/>
                </a:solidFill>
                <a:latin typeface="Montserrat Bold"/>
                <a:ea typeface="Montserrat Bold"/>
                <a:cs typeface="Montserrat Bold"/>
                <a:sym typeface="Montserrat Bold"/>
              </a:rPr>
              <a:t>ALPR</a:t>
            </a:r>
            <a:r>
              <a:rPr lang="en-US" sz="1800">
                <a:solidFill>
                  <a:srgbClr val="091E4D"/>
                </a:solidFill>
                <a:latin typeface="Montserrat"/>
                <a:ea typeface="Montserrat"/>
                <a:cs typeface="Montserrat"/>
                <a:sym typeface="Montserrat"/>
              </a:rPr>
              <a:t> – Automatically reads license plates encountered by the patrol vehicle and can provide alerts or investigative information.</a:t>
            </a:r>
          </a:p>
          <a:p>
            <a:pPr algn="l">
              <a:lnSpc>
                <a:spcPts val="1429"/>
              </a:lnSpc>
            </a:pPr>
          </a:p>
          <a:p>
            <a:pPr algn="l" marL="388622" indent="-194311" lvl="1">
              <a:lnSpc>
                <a:spcPts val="1980"/>
              </a:lnSpc>
              <a:buFont typeface="Arial"/>
              <a:buChar char="•"/>
            </a:pPr>
            <a:r>
              <a:rPr lang="en-US" b="true" sz="1800">
                <a:solidFill>
                  <a:srgbClr val="091E4D"/>
                </a:solidFill>
                <a:latin typeface="Montserrat Bold"/>
                <a:ea typeface="Montserrat Bold"/>
                <a:cs typeface="Montserrat Bold"/>
                <a:sym typeface="Montserrat Bold"/>
              </a:rPr>
              <a:t>Forward-Facing/Dash Camera</a:t>
            </a:r>
            <a:r>
              <a:rPr lang="en-US" sz="1800">
                <a:solidFill>
                  <a:srgbClr val="091E4D"/>
                </a:solidFill>
                <a:latin typeface="Montserrat"/>
                <a:ea typeface="Montserrat"/>
                <a:cs typeface="Montserrat"/>
                <a:sym typeface="Montserrat"/>
              </a:rPr>
              <a:t> - Records activity in front of the patrol vehicle, including traffic stops, pursuits, and other incidents.</a:t>
            </a:r>
          </a:p>
          <a:p>
            <a:pPr algn="l">
              <a:lnSpc>
                <a:spcPts val="1430"/>
              </a:lnSpc>
            </a:pPr>
          </a:p>
          <a:p>
            <a:pPr algn="l" marL="388622" indent="-194311" lvl="1">
              <a:lnSpc>
                <a:spcPts val="1980"/>
              </a:lnSpc>
              <a:buFont typeface="Arial"/>
              <a:buChar char="•"/>
            </a:pPr>
            <a:r>
              <a:rPr lang="en-US" b="true" sz="1800">
                <a:solidFill>
                  <a:srgbClr val="091E4D"/>
                </a:solidFill>
                <a:latin typeface="Montserrat Bold"/>
                <a:ea typeface="Montserrat Bold"/>
                <a:cs typeface="Montserrat Bold"/>
                <a:sym typeface="Montserrat Bold"/>
              </a:rPr>
              <a:t>In-Car Camera</a:t>
            </a:r>
            <a:r>
              <a:rPr lang="en-US" sz="1800">
                <a:solidFill>
                  <a:srgbClr val="091E4D"/>
                </a:solidFill>
                <a:latin typeface="Montserrat"/>
                <a:ea typeface="Montserrat"/>
                <a:cs typeface="Montserrat"/>
                <a:sym typeface="Montserrat"/>
              </a:rPr>
              <a:t> – Captures activity inside the patrol vehicle, including the rear-seat area used for prisoner transport.</a:t>
            </a:r>
          </a:p>
          <a:p>
            <a:pPr algn="l">
              <a:lnSpc>
                <a:spcPts val="1429"/>
              </a:lnSpc>
            </a:pPr>
          </a:p>
          <a:p>
            <a:pPr algn="l" marL="388622" indent="-194311" lvl="1">
              <a:lnSpc>
                <a:spcPts val="1980"/>
              </a:lnSpc>
              <a:buFont typeface="Arial"/>
              <a:buChar char="•"/>
            </a:pPr>
            <a:r>
              <a:rPr lang="en-US" b="true" sz="1800">
                <a:solidFill>
                  <a:srgbClr val="091E4D"/>
                </a:solidFill>
                <a:latin typeface="Montserrat Bold"/>
                <a:ea typeface="Montserrat Bold"/>
                <a:cs typeface="Montserrat Bold"/>
                <a:sym typeface="Montserrat Bold"/>
              </a:rPr>
              <a:t>Integrated with Body-Worn Cameras</a:t>
            </a:r>
            <a:r>
              <a:rPr lang="en-US" sz="1800">
                <a:solidFill>
                  <a:srgbClr val="091E4D"/>
                </a:solidFill>
                <a:latin typeface="Montserrat"/>
                <a:ea typeface="Montserrat"/>
                <a:cs typeface="Montserrat"/>
                <a:sym typeface="Montserrat"/>
              </a:rPr>
              <a:t> – Fleet and Axon body-worn cameras can operate as part of the same evidence ecosystem, helping coordinate recording and organize associated video evidence.</a:t>
            </a:r>
          </a:p>
          <a:p>
            <a:pPr algn="l">
              <a:lnSpc>
                <a:spcPts val="1210"/>
              </a:lnSpc>
            </a:pPr>
          </a:p>
          <a:p>
            <a:pPr algn="l" marL="388622" indent="-194311" lvl="1">
              <a:lnSpc>
                <a:spcPts val="1980"/>
              </a:lnSpc>
              <a:buFont typeface="Arial"/>
              <a:buChar char="•"/>
            </a:pPr>
            <a:r>
              <a:rPr lang="en-US" b="true" sz="1800">
                <a:solidFill>
                  <a:srgbClr val="091E4D"/>
                </a:solidFill>
                <a:latin typeface="Montserrat Bold"/>
                <a:ea typeface="Montserrat Bold"/>
                <a:cs typeface="Montserrat Bold"/>
                <a:sym typeface="Montserrat Bold"/>
              </a:rPr>
              <a:t>Data Sharing</a:t>
            </a:r>
            <a:r>
              <a:rPr lang="en-US" sz="1800">
                <a:solidFill>
                  <a:srgbClr val="091E4D"/>
                </a:solidFill>
                <a:latin typeface="Montserrat"/>
                <a:ea typeface="Montserrat"/>
                <a:cs typeface="Montserrat"/>
                <a:sym typeface="Montserrat"/>
              </a:rPr>
              <a:t> - We are not sharing our Axon ALPR data with other agencies.</a:t>
            </a:r>
          </a:p>
        </p:txBody>
      </p:sp>
      <p:sp>
        <p:nvSpPr>
          <p:cNvPr name="TextBox 30" id="30"/>
          <p:cNvSpPr txBox="true"/>
          <p:nvPr/>
        </p:nvSpPr>
        <p:spPr>
          <a:xfrm rot="0">
            <a:off x="6665802" y="3662243"/>
            <a:ext cx="1599975" cy="571500"/>
          </a:xfrm>
          <a:prstGeom prst="rect">
            <a:avLst/>
          </a:prstGeom>
        </p:spPr>
        <p:txBody>
          <a:bodyPr anchor="t" rtlCol="false" tIns="0" lIns="0" bIns="0" rIns="0">
            <a:spAutoFit/>
          </a:bodyPr>
          <a:lstStyle/>
          <a:p>
            <a:pPr algn="ctr">
              <a:lnSpc>
                <a:spcPts val="4500"/>
              </a:lnSpc>
            </a:pPr>
            <a:r>
              <a:rPr lang="en-US" sz="3750">
                <a:solidFill>
                  <a:srgbClr val="FFBE00"/>
                </a:solidFill>
                <a:latin typeface="League Spartan"/>
                <a:ea typeface="League Spartan"/>
                <a:cs typeface="League Spartan"/>
                <a:sym typeface="League Spartan"/>
              </a:rPr>
              <a:t>AXON</a:t>
            </a:r>
          </a:p>
        </p:txBody>
      </p:sp>
      <p:sp>
        <p:nvSpPr>
          <p:cNvPr name="Freeform 31" id="31"/>
          <p:cNvSpPr/>
          <p:nvPr/>
        </p:nvSpPr>
        <p:spPr>
          <a:xfrm flipH="false" flipV="false" rot="0">
            <a:off x="770555" y="2646307"/>
            <a:ext cx="1711048" cy="647700"/>
          </a:xfrm>
          <a:custGeom>
            <a:avLst/>
            <a:gdLst/>
            <a:ahLst/>
            <a:cxnLst/>
            <a:rect r="r" b="b" t="t" l="l"/>
            <a:pathLst>
              <a:path h="647700" w="1711048">
                <a:moveTo>
                  <a:pt x="0" y="0"/>
                </a:moveTo>
                <a:lnTo>
                  <a:pt x="1711048" y="0"/>
                </a:lnTo>
                <a:lnTo>
                  <a:pt x="1711048" y="647700"/>
                </a:lnTo>
                <a:lnTo>
                  <a:pt x="0" y="647700"/>
                </a:lnTo>
                <a:lnTo>
                  <a:pt x="0" y="0"/>
                </a:lnTo>
                <a:close/>
              </a:path>
            </a:pathLst>
          </a:custGeom>
          <a:blipFill>
            <a:blip r:embed="rId4"/>
            <a:stretch>
              <a:fillRect l="-1214" t="0" r="-1214" b="0"/>
            </a:stretch>
          </a:blipFill>
        </p:spPr>
      </p:sp>
      <p:sp>
        <p:nvSpPr>
          <p:cNvPr name="TextBox 32" id="32"/>
          <p:cNvSpPr txBox="true"/>
          <p:nvPr/>
        </p:nvSpPr>
        <p:spPr>
          <a:xfrm rot="0">
            <a:off x="1048168" y="2904744"/>
            <a:ext cx="1254021" cy="273248"/>
          </a:xfrm>
          <a:prstGeom prst="rect">
            <a:avLst/>
          </a:prstGeom>
        </p:spPr>
        <p:txBody>
          <a:bodyPr anchor="t" rtlCol="false" tIns="0" lIns="0" bIns="0" rIns="0">
            <a:spAutoFit/>
          </a:bodyPr>
          <a:lstStyle/>
          <a:p>
            <a:pPr algn="ctr">
              <a:lnSpc>
                <a:spcPts val="2264"/>
              </a:lnSpc>
            </a:pPr>
            <a:r>
              <a:rPr lang="en-US" sz="1617">
                <a:solidFill>
                  <a:srgbClr val="FFFFFF"/>
                </a:solidFill>
                <a:latin typeface="League Spartan"/>
                <a:ea typeface="League Spartan"/>
                <a:cs typeface="League Spartan"/>
                <a:sym typeface="League Spartan"/>
              </a:rPr>
              <a:t>MOBILE</a:t>
            </a:r>
          </a:p>
        </p:txBody>
      </p:sp>
      <p:sp>
        <p:nvSpPr>
          <p:cNvPr name="AutoShape 33" id="33"/>
          <p:cNvSpPr/>
          <p:nvPr/>
        </p:nvSpPr>
        <p:spPr>
          <a:xfrm>
            <a:off x="895476" y="4959167"/>
            <a:ext cx="7705682" cy="19046"/>
          </a:xfrm>
          <a:prstGeom prst="line">
            <a:avLst/>
          </a:prstGeom>
          <a:ln cap="flat" w="28575">
            <a:solidFill>
              <a:srgbClr val="054396"/>
            </a:solidFill>
            <a:prstDash val="solid"/>
            <a:headEnd type="none" len="sm" w="sm"/>
            <a:tailEnd type="none" len="sm" w="sm"/>
          </a:ln>
        </p:spPr>
      </p:sp>
      <p:sp>
        <p:nvSpPr>
          <p:cNvPr name="AutoShape 34" id="34"/>
          <p:cNvSpPr/>
          <p:nvPr/>
        </p:nvSpPr>
        <p:spPr>
          <a:xfrm>
            <a:off x="9572430" y="4980029"/>
            <a:ext cx="7717586" cy="19046"/>
          </a:xfrm>
          <a:prstGeom prst="line">
            <a:avLst/>
          </a:prstGeom>
          <a:ln cap="flat" w="28575">
            <a:solidFill>
              <a:srgbClr val="054396"/>
            </a:solidFill>
            <a:prstDash val="solid"/>
            <a:headEnd type="none" len="sm" w="sm"/>
            <a:tailEnd type="none" len="sm" w="sm"/>
          </a:ln>
        </p:spPr>
      </p:sp>
      <p:sp>
        <p:nvSpPr>
          <p:cNvPr name="TextBox 35" id="35"/>
          <p:cNvSpPr txBox="true"/>
          <p:nvPr/>
        </p:nvSpPr>
        <p:spPr>
          <a:xfrm rot="0">
            <a:off x="9607871" y="5718268"/>
            <a:ext cx="7559407" cy="3270885"/>
          </a:xfrm>
          <a:prstGeom prst="rect">
            <a:avLst/>
          </a:prstGeom>
        </p:spPr>
        <p:txBody>
          <a:bodyPr anchor="t" rtlCol="false" tIns="0" lIns="0" bIns="0" rIns="0">
            <a:spAutoFit/>
          </a:bodyPr>
          <a:lstStyle/>
          <a:p>
            <a:pPr algn="l" marL="388622" indent="-194311" lvl="1">
              <a:lnSpc>
                <a:spcPts val="1980"/>
              </a:lnSpc>
              <a:spcBef>
                <a:spcPct val="0"/>
              </a:spcBef>
              <a:buFont typeface="Arial"/>
              <a:buChar char="•"/>
            </a:pPr>
            <a:r>
              <a:rPr lang="en-US" b="true" sz="1800" strike="noStrike" u="none">
                <a:solidFill>
                  <a:srgbClr val="091E4D"/>
                </a:solidFill>
                <a:latin typeface="Montserrat Bold"/>
                <a:ea typeface="Montserrat Bold"/>
                <a:cs typeface="Montserrat Bold"/>
                <a:sym typeface="Montserrat Bold"/>
              </a:rPr>
              <a:t>ALPR </a:t>
            </a:r>
            <a:r>
              <a:rPr lang="en-US" sz="1800" strike="noStrike" u="none">
                <a:solidFill>
                  <a:srgbClr val="091E4D"/>
                </a:solidFill>
                <a:latin typeface="Montserrat"/>
                <a:ea typeface="Montserrat"/>
                <a:cs typeface="Montserrat"/>
                <a:sym typeface="Montserrat"/>
              </a:rPr>
              <a:t>– Captures plates, including partial and temporary plates, along with vehicle information.</a:t>
            </a:r>
          </a:p>
          <a:p>
            <a:pPr algn="l">
              <a:lnSpc>
                <a:spcPts val="1429"/>
              </a:lnSpc>
              <a:spcBef>
                <a:spcPct val="0"/>
              </a:spcBef>
            </a:pPr>
          </a:p>
          <a:p>
            <a:pPr algn="l" marL="388622" indent="-194311" lvl="1">
              <a:lnSpc>
                <a:spcPts val="1980"/>
              </a:lnSpc>
              <a:spcBef>
                <a:spcPct val="0"/>
              </a:spcBef>
              <a:buFont typeface="Arial"/>
              <a:buChar char="•"/>
            </a:pPr>
            <a:r>
              <a:rPr lang="en-US" b="true" sz="1800" strike="noStrike" u="none">
                <a:solidFill>
                  <a:srgbClr val="091E4D"/>
                </a:solidFill>
                <a:latin typeface="Montserrat Bold"/>
                <a:ea typeface="Montserrat Bold"/>
                <a:cs typeface="Montserrat Bold"/>
                <a:sym typeface="Montserrat Bold"/>
              </a:rPr>
              <a:t>Real-Time Hotlist Alerts</a:t>
            </a:r>
            <a:r>
              <a:rPr lang="en-US" sz="1800" strike="noStrike" u="none">
                <a:solidFill>
                  <a:srgbClr val="091E4D"/>
                </a:solidFill>
                <a:latin typeface="Montserrat"/>
                <a:ea typeface="Montserrat"/>
                <a:cs typeface="Montserrat"/>
                <a:sym typeface="Montserrat"/>
              </a:rPr>
              <a:t> – Checks detections against configured/NCIC hotlists and sends alerts when a potential match occurs.</a:t>
            </a:r>
          </a:p>
          <a:p>
            <a:pPr algn="l">
              <a:lnSpc>
                <a:spcPts val="1429"/>
              </a:lnSpc>
              <a:spcBef>
                <a:spcPct val="0"/>
              </a:spcBef>
            </a:pPr>
          </a:p>
          <a:p>
            <a:pPr algn="l" marL="388622" indent="-194311" lvl="1">
              <a:lnSpc>
                <a:spcPts val="1980"/>
              </a:lnSpc>
              <a:spcBef>
                <a:spcPct val="0"/>
              </a:spcBef>
              <a:buFont typeface="Arial"/>
              <a:buChar char="•"/>
            </a:pPr>
            <a:r>
              <a:rPr lang="en-US" b="true" sz="1800" strike="noStrike" u="none">
                <a:solidFill>
                  <a:srgbClr val="091E4D"/>
                </a:solidFill>
                <a:latin typeface="Montserrat Bold"/>
                <a:ea typeface="Montserrat Bold"/>
                <a:cs typeface="Montserrat Bold"/>
                <a:sym typeface="Montserrat Bold"/>
              </a:rPr>
              <a:t>Vehicle Signature Technology</a:t>
            </a:r>
            <a:r>
              <a:rPr lang="en-US" sz="1800" strike="noStrike" u="none">
                <a:solidFill>
                  <a:srgbClr val="091E4D"/>
                </a:solidFill>
                <a:latin typeface="Montserrat"/>
                <a:ea typeface="Montserrat"/>
                <a:cs typeface="Montserrat"/>
                <a:sym typeface="Montserrat"/>
              </a:rPr>
              <a:t> – Searches by make, color, body type, racks, wheels, tool boxes, and other distinguishing features, including cases where a readable plate isn’t available.</a:t>
            </a:r>
          </a:p>
          <a:p>
            <a:pPr algn="l">
              <a:lnSpc>
                <a:spcPts val="1430"/>
              </a:lnSpc>
              <a:spcBef>
                <a:spcPct val="0"/>
              </a:spcBef>
            </a:pPr>
          </a:p>
          <a:p>
            <a:pPr algn="l" marL="388622" indent="-194311" lvl="1">
              <a:lnSpc>
                <a:spcPts val="1980"/>
              </a:lnSpc>
              <a:spcBef>
                <a:spcPct val="0"/>
              </a:spcBef>
              <a:buFont typeface="Arial"/>
              <a:buChar char="•"/>
            </a:pPr>
            <a:r>
              <a:rPr lang="en-US" b="true" sz="1800" strike="noStrike" u="none">
                <a:solidFill>
                  <a:srgbClr val="091E4D"/>
                </a:solidFill>
                <a:latin typeface="Montserrat Bold"/>
                <a:ea typeface="Montserrat Bold"/>
                <a:cs typeface="Montserrat Bold"/>
                <a:sym typeface="Montserrat Bold"/>
              </a:rPr>
              <a:t>Investigative Search </a:t>
            </a:r>
            <a:r>
              <a:rPr lang="en-US" sz="1800" strike="noStrike" u="none">
                <a:solidFill>
                  <a:srgbClr val="091E4D"/>
                </a:solidFill>
                <a:latin typeface="Montserrat"/>
                <a:ea typeface="Montserrat"/>
                <a:cs typeface="Montserrat"/>
                <a:sym typeface="Montserrat"/>
              </a:rPr>
              <a:t>– Searches historical vehicle detections using full/part plate and vehicle characteristics to develop leads.</a:t>
            </a:r>
          </a:p>
        </p:txBody>
      </p:sp>
    </p:spTree>
  </p:cSld>
  <p:clrMapOvr>
    <a:masterClrMapping/>
  </p:clrMapOvr>
</p:sld>
</file>

<file path=ppt/slides/slide1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flipV="true">
            <a:off x="0" y="1485011"/>
            <a:ext cx="7378521" cy="24702"/>
          </a:xfrm>
          <a:prstGeom prst="line">
            <a:avLst/>
          </a:prstGeom>
          <a:ln cap="flat" w="47625">
            <a:solidFill>
              <a:srgbClr val="A28231"/>
            </a:solidFill>
            <a:prstDash val="solid"/>
            <a:headEnd type="none" len="sm" w="sm"/>
            <a:tailEnd type="none" len="sm" w="sm"/>
          </a:ln>
        </p:spPr>
      </p:sp>
      <p:sp>
        <p:nvSpPr>
          <p:cNvPr name="TextBox 3" id="3"/>
          <p:cNvSpPr txBox="true"/>
          <p:nvPr/>
        </p:nvSpPr>
        <p:spPr>
          <a:xfrm rot="0">
            <a:off x="899459" y="765873"/>
            <a:ext cx="6866229" cy="762000"/>
          </a:xfrm>
          <a:prstGeom prst="rect">
            <a:avLst/>
          </a:prstGeom>
        </p:spPr>
        <p:txBody>
          <a:bodyPr anchor="t" rtlCol="false" tIns="0" lIns="0" bIns="0" rIns="0">
            <a:spAutoFit/>
          </a:bodyPr>
          <a:lstStyle/>
          <a:p>
            <a:pPr algn="l" marL="0" indent="0" lvl="0">
              <a:lnSpc>
                <a:spcPts val="6299"/>
              </a:lnSpc>
              <a:spcBef>
                <a:spcPct val="0"/>
              </a:spcBef>
            </a:pPr>
            <a:r>
              <a:rPr lang="en-US" b="true" sz="4500" strike="noStrike" u="none">
                <a:solidFill>
                  <a:srgbClr val="002557"/>
                </a:solidFill>
                <a:latin typeface="Montserrat Bold"/>
                <a:ea typeface="Montserrat Bold"/>
                <a:cs typeface="Montserrat Bold"/>
                <a:sym typeface="Montserrat Bold"/>
              </a:rPr>
              <a:t>Flock Safety</a:t>
            </a:r>
          </a:p>
        </p:txBody>
      </p:sp>
      <p:grpSp>
        <p:nvGrpSpPr>
          <p:cNvPr name="Group 4" id="4"/>
          <p:cNvGrpSpPr/>
          <p:nvPr/>
        </p:nvGrpSpPr>
        <p:grpSpPr>
          <a:xfrm rot="0">
            <a:off x="2569189" y="2881680"/>
            <a:ext cx="4169808" cy="3603538"/>
            <a:chOff x="0" y="0"/>
            <a:chExt cx="940526" cy="812800"/>
          </a:xfrm>
        </p:grpSpPr>
        <p:sp>
          <p:nvSpPr>
            <p:cNvPr name="Freeform 5" id="5"/>
            <p:cNvSpPr/>
            <p:nvPr/>
          </p:nvSpPr>
          <p:spPr>
            <a:xfrm flipH="false" flipV="false" rot="0">
              <a:off x="0" y="0"/>
              <a:ext cx="940526" cy="812800"/>
            </a:xfrm>
            <a:custGeom>
              <a:avLst/>
              <a:gdLst/>
              <a:ahLst/>
              <a:cxnLst/>
              <a:rect r="r" b="b" t="t" l="l"/>
              <a:pathLst>
                <a:path h="812800" w="940526">
                  <a:moveTo>
                    <a:pt x="94690" y="0"/>
                  </a:moveTo>
                  <a:lnTo>
                    <a:pt x="845836" y="0"/>
                  </a:lnTo>
                  <a:cubicBezTo>
                    <a:pt x="870949" y="0"/>
                    <a:pt x="895034" y="9976"/>
                    <a:pt x="912792" y="27734"/>
                  </a:cubicBezTo>
                  <a:cubicBezTo>
                    <a:pt x="930549" y="45492"/>
                    <a:pt x="940526" y="69576"/>
                    <a:pt x="940526" y="94690"/>
                  </a:cubicBezTo>
                  <a:lnTo>
                    <a:pt x="940526" y="718110"/>
                  </a:lnTo>
                  <a:cubicBezTo>
                    <a:pt x="940526" y="770406"/>
                    <a:pt x="898132" y="812800"/>
                    <a:pt x="845836" y="812800"/>
                  </a:cubicBezTo>
                  <a:lnTo>
                    <a:pt x="94690" y="812800"/>
                  </a:lnTo>
                  <a:cubicBezTo>
                    <a:pt x="42394" y="812800"/>
                    <a:pt x="0" y="770406"/>
                    <a:pt x="0" y="718110"/>
                  </a:cubicBezTo>
                  <a:lnTo>
                    <a:pt x="0" y="94690"/>
                  </a:lnTo>
                  <a:cubicBezTo>
                    <a:pt x="0" y="42394"/>
                    <a:pt x="42394" y="0"/>
                    <a:pt x="94690" y="0"/>
                  </a:cubicBezTo>
                  <a:close/>
                </a:path>
              </a:pathLst>
            </a:custGeom>
            <a:solidFill>
              <a:srgbClr val="1E498A">
                <a:alpha val="72157"/>
              </a:srgbClr>
            </a:solidFill>
            <a:ln w="57150" cap="rnd">
              <a:solidFill>
                <a:srgbClr val="0B1D51"/>
              </a:solidFill>
              <a:prstDash val="solid"/>
              <a:round/>
            </a:ln>
          </p:spPr>
        </p:sp>
        <p:sp>
          <p:nvSpPr>
            <p:cNvPr name="TextBox 6" id="6"/>
            <p:cNvSpPr txBox="true"/>
            <p:nvPr/>
          </p:nvSpPr>
          <p:spPr>
            <a:xfrm>
              <a:off x="0" y="-104775"/>
              <a:ext cx="940526" cy="917575"/>
            </a:xfrm>
            <a:prstGeom prst="rect">
              <a:avLst/>
            </a:prstGeom>
          </p:spPr>
          <p:txBody>
            <a:bodyPr anchor="ctr" rtlCol="false" tIns="50800" lIns="50800" bIns="50800" rIns="50800"/>
            <a:lstStyle/>
            <a:p>
              <a:pPr algn="ctr" marL="0" indent="0" lvl="0">
                <a:lnSpc>
                  <a:spcPts val="7699"/>
                </a:lnSpc>
                <a:spcBef>
                  <a:spcPct val="0"/>
                </a:spcBef>
              </a:pPr>
              <a:r>
                <a:rPr lang="en-US" b="true" sz="5499" strike="noStrike" u="none">
                  <a:solidFill>
                    <a:srgbClr val="FFFFFF"/>
                  </a:solidFill>
                  <a:latin typeface="Open Sauce Bold"/>
                  <a:ea typeface="Open Sauce Bold"/>
                  <a:cs typeface="Open Sauce Bold"/>
                  <a:sym typeface="Open Sauce Bold"/>
                </a:rPr>
                <a:t>66</a:t>
              </a:r>
            </a:p>
            <a:p>
              <a:pPr algn="ctr" marL="0" indent="0" lvl="0">
                <a:lnSpc>
                  <a:spcPts val="3639"/>
                </a:lnSpc>
                <a:spcBef>
                  <a:spcPct val="0"/>
                </a:spcBef>
              </a:pPr>
              <a:r>
                <a:rPr lang="en-US" b="true" sz="2599" strike="noStrike" u="none">
                  <a:solidFill>
                    <a:srgbClr val="FFFFFF"/>
                  </a:solidFill>
                  <a:latin typeface="Open Sauce Bold"/>
                  <a:ea typeface="Open Sauce Bold"/>
                  <a:cs typeface="Open Sauce Bold"/>
                  <a:sym typeface="Open Sauce Bold"/>
                </a:rPr>
                <a:t>Total cameras</a:t>
              </a:r>
            </a:p>
          </p:txBody>
        </p:sp>
      </p:grpSp>
      <p:grpSp>
        <p:nvGrpSpPr>
          <p:cNvPr name="Group 7" id="7"/>
          <p:cNvGrpSpPr/>
          <p:nvPr/>
        </p:nvGrpSpPr>
        <p:grpSpPr>
          <a:xfrm rot="0">
            <a:off x="7062847" y="2881680"/>
            <a:ext cx="4169808" cy="3603538"/>
            <a:chOff x="0" y="0"/>
            <a:chExt cx="940526" cy="812800"/>
          </a:xfrm>
        </p:grpSpPr>
        <p:sp>
          <p:nvSpPr>
            <p:cNvPr name="Freeform 8" id="8"/>
            <p:cNvSpPr/>
            <p:nvPr/>
          </p:nvSpPr>
          <p:spPr>
            <a:xfrm flipH="false" flipV="false" rot="0">
              <a:off x="0" y="0"/>
              <a:ext cx="940526" cy="812800"/>
            </a:xfrm>
            <a:custGeom>
              <a:avLst/>
              <a:gdLst/>
              <a:ahLst/>
              <a:cxnLst/>
              <a:rect r="r" b="b" t="t" l="l"/>
              <a:pathLst>
                <a:path h="812800" w="940526">
                  <a:moveTo>
                    <a:pt x="94690" y="0"/>
                  </a:moveTo>
                  <a:lnTo>
                    <a:pt x="845836" y="0"/>
                  </a:lnTo>
                  <a:cubicBezTo>
                    <a:pt x="870949" y="0"/>
                    <a:pt x="895034" y="9976"/>
                    <a:pt x="912792" y="27734"/>
                  </a:cubicBezTo>
                  <a:cubicBezTo>
                    <a:pt x="930549" y="45492"/>
                    <a:pt x="940526" y="69576"/>
                    <a:pt x="940526" y="94690"/>
                  </a:cubicBezTo>
                  <a:lnTo>
                    <a:pt x="940526" y="718110"/>
                  </a:lnTo>
                  <a:cubicBezTo>
                    <a:pt x="940526" y="770406"/>
                    <a:pt x="898132" y="812800"/>
                    <a:pt x="845836" y="812800"/>
                  </a:cubicBezTo>
                  <a:lnTo>
                    <a:pt x="94690" y="812800"/>
                  </a:lnTo>
                  <a:cubicBezTo>
                    <a:pt x="42394" y="812800"/>
                    <a:pt x="0" y="770406"/>
                    <a:pt x="0" y="718110"/>
                  </a:cubicBezTo>
                  <a:lnTo>
                    <a:pt x="0" y="94690"/>
                  </a:lnTo>
                  <a:cubicBezTo>
                    <a:pt x="0" y="42394"/>
                    <a:pt x="42394" y="0"/>
                    <a:pt x="94690" y="0"/>
                  </a:cubicBezTo>
                  <a:close/>
                </a:path>
              </a:pathLst>
            </a:custGeom>
            <a:solidFill>
              <a:srgbClr val="1E498A">
                <a:alpha val="72157"/>
              </a:srgbClr>
            </a:solidFill>
            <a:ln w="57150" cap="rnd">
              <a:solidFill>
                <a:srgbClr val="0B1D51"/>
              </a:solidFill>
              <a:prstDash val="solid"/>
              <a:round/>
            </a:ln>
          </p:spPr>
        </p:sp>
        <p:sp>
          <p:nvSpPr>
            <p:cNvPr name="TextBox 9" id="9"/>
            <p:cNvSpPr txBox="true"/>
            <p:nvPr/>
          </p:nvSpPr>
          <p:spPr>
            <a:xfrm>
              <a:off x="0" y="-104775"/>
              <a:ext cx="940526" cy="917575"/>
            </a:xfrm>
            <a:prstGeom prst="rect">
              <a:avLst/>
            </a:prstGeom>
          </p:spPr>
          <p:txBody>
            <a:bodyPr anchor="ctr" rtlCol="false" tIns="50800" lIns="50800" bIns="50800" rIns="50800"/>
            <a:lstStyle/>
            <a:p>
              <a:pPr algn="ctr" marL="0" indent="0" lvl="0">
                <a:lnSpc>
                  <a:spcPts val="7699"/>
                </a:lnSpc>
                <a:spcBef>
                  <a:spcPct val="0"/>
                </a:spcBef>
              </a:pPr>
              <a:r>
                <a:rPr lang="en-US" b="true" sz="5499" strike="noStrike" u="none">
                  <a:solidFill>
                    <a:srgbClr val="FFFFFF"/>
                  </a:solidFill>
                  <a:latin typeface="Open Sauce Bold"/>
                  <a:ea typeface="Open Sauce Bold"/>
                  <a:cs typeface="Open Sauce Bold"/>
                  <a:sym typeface="Open Sauce Bold"/>
                </a:rPr>
                <a:t>54</a:t>
              </a:r>
            </a:p>
            <a:p>
              <a:pPr algn="ctr" marL="0" indent="0" lvl="0">
                <a:lnSpc>
                  <a:spcPts val="3640"/>
                </a:lnSpc>
                <a:spcBef>
                  <a:spcPct val="0"/>
                </a:spcBef>
              </a:pPr>
              <a:r>
                <a:rPr lang="en-US" b="true" sz="2600" strike="noStrike" u="none">
                  <a:solidFill>
                    <a:srgbClr val="FFFFFF"/>
                  </a:solidFill>
                  <a:latin typeface="Open Sauce Bold"/>
                  <a:ea typeface="Open Sauce Bold"/>
                  <a:cs typeface="Open Sauce Bold"/>
                  <a:sym typeface="Open Sauce Bold"/>
                </a:rPr>
                <a:t>ALPR cameras</a:t>
              </a:r>
            </a:p>
          </p:txBody>
        </p:sp>
      </p:grpSp>
      <p:grpSp>
        <p:nvGrpSpPr>
          <p:cNvPr name="Group 10" id="10"/>
          <p:cNvGrpSpPr/>
          <p:nvPr/>
        </p:nvGrpSpPr>
        <p:grpSpPr>
          <a:xfrm rot="0">
            <a:off x="11556326" y="2881680"/>
            <a:ext cx="4169808" cy="3603538"/>
            <a:chOff x="0" y="0"/>
            <a:chExt cx="940526" cy="812800"/>
          </a:xfrm>
        </p:grpSpPr>
        <p:sp>
          <p:nvSpPr>
            <p:cNvPr name="Freeform 11" id="11"/>
            <p:cNvSpPr/>
            <p:nvPr/>
          </p:nvSpPr>
          <p:spPr>
            <a:xfrm flipH="false" flipV="false" rot="0">
              <a:off x="0" y="0"/>
              <a:ext cx="940526" cy="812800"/>
            </a:xfrm>
            <a:custGeom>
              <a:avLst/>
              <a:gdLst/>
              <a:ahLst/>
              <a:cxnLst/>
              <a:rect r="r" b="b" t="t" l="l"/>
              <a:pathLst>
                <a:path h="812800" w="940526">
                  <a:moveTo>
                    <a:pt x="94690" y="0"/>
                  </a:moveTo>
                  <a:lnTo>
                    <a:pt x="845836" y="0"/>
                  </a:lnTo>
                  <a:cubicBezTo>
                    <a:pt x="870949" y="0"/>
                    <a:pt x="895034" y="9976"/>
                    <a:pt x="912792" y="27734"/>
                  </a:cubicBezTo>
                  <a:cubicBezTo>
                    <a:pt x="930549" y="45492"/>
                    <a:pt x="940526" y="69576"/>
                    <a:pt x="940526" y="94690"/>
                  </a:cubicBezTo>
                  <a:lnTo>
                    <a:pt x="940526" y="718110"/>
                  </a:lnTo>
                  <a:cubicBezTo>
                    <a:pt x="940526" y="770406"/>
                    <a:pt x="898132" y="812800"/>
                    <a:pt x="845836" y="812800"/>
                  </a:cubicBezTo>
                  <a:lnTo>
                    <a:pt x="94690" y="812800"/>
                  </a:lnTo>
                  <a:cubicBezTo>
                    <a:pt x="42394" y="812800"/>
                    <a:pt x="0" y="770406"/>
                    <a:pt x="0" y="718110"/>
                  </a:cubicBezTo>
                  <a:lnTo>
                    <a:pt x="0" y="94690"/>
                  </a:lnTo>
                  <a:cubicBezTo>
                    <a:pt x="0" y="42394"/>
                    <a:pt x="42394" y="0"/>
                    <a:pt x="94690" y="0"/>
                  </a:cubicBezTo>
                  <a:close/>
                </a:path>
              </a:pathLst>
            </a:custGeom>
            <a:solidFill>
              <a:srgbClr val="1E498A">
                <a:alpha val="72157"/>
              </a:srgbClr>
            </a:solidFill>
            <a:ln w="57150" cap="rnd">
              <a:solidFill>
                <a:srgbClr val="0B1D51"/>
              </a:solidFill>
              <a:prstDash val="solid"/>
              <a:round/>
            </a:ln>
          </p:spPr>
        </p:sp>
        <p:sp>
          <p:nvSpPr>
            <p:cNvPr name="TextBox 12" id="12"/>
            <p:cNvSpPr txBox="true"/>
            <p:nvPr/>
          </p:nvSpPr>
          <p:spPr>
            <a:xfrm>
              <a:off x="0" y="-104775"/>
              <a:ext cx="940526" cy="917575"/>
            </a:xfrm>
            <a:prstGeom prst="rect">
              <a:avLst/>
            </a:prstGeom>
          </p:spPr>
          <p:txBody>
            <a:bodyPr anchor="ctr" rtlCol="false" tIns="50800" lIns="50800" bIns="50800" rIns="50800"/>
            <a:lstStyle/>
            <a:p>
              <a:pPr algn="ctr" marL="0" indent="0" lvl="0">
                <a:lnSpc>
                  <a:spcPts val="7699"/>
                </a:lnSpc>
                <a:spcBef>
                  <a:spcPct val="0"/>
                </a:spcBef>
              </a:pPr>
              <a:r>
                <a:rPr lang="en-US" b="true" sz="5499" strike="noStrike" u="none">
                  <a:solidFill>
                    <a:srgbClr val="FFFFFF"/>
                  </a:solidFill>
                  <a:latin typeface="Open Sauce Bold"/>
                  <a:ea typeface="Open Sauce Bold"/>
                  <a:cs typeface="Open Sauce Bold"/>
                  <a:sym typeface="Open Sauce Bold"/>
                </a:rPr>
                <a:t>12</a:t>
              </a:r>
            </a:p>
            <a:p>
              <a:pPr algn="ctr" marL="0" indent="0" lvl="0">
                <a:lnSpc>
                  <a:spcPts val="3499"/>
                </a:lnSpc>
                <a:spcBef>
                  <a:spcPct val="0"/>
                </a:spcBef>
              </a:pPr>
              <a:r>
                <a:rPr lang="en-US" b="true" sz="2499" strike="noStrike" u="none">
                  <a:solidFill>
                    <a:srgbClr val="FFFFFF"/>
                  </a:solidFill>
                  <a:latin typeface="Open Sauce Bold"/>
                  <a:ea typeface="Open Sauce Bold"/>
                  <a:cs typeface="Open Sauce Bold"/>
                  <a:sym typeface="Open Sauce Bold"/>
                </a:rPr>
                <a:t>VMS cameras</a:t>
              </a:r>
            </a:p>
            <a:p>
              <a:pPr algn="ctr" marL="0" indent="0" lvl="0">
                <a:lnSpc>
                  <a:spcPts val="3499"/>
                </a:lnSpc>
                <a:spcBef>
                  <a:spcPct val="0"/>
                </a:spcBef>
              </a:pPr>
              <a:r>
                <a:rPr lang="en-US" b="true" sz="2499" strike="noStrike" u="none">
                  <a:solidFill>
                    <a:srgbClr val="FFFFFF"/>
                  </a:solidFill>
                  <a:latin typeface="Open Sauce Bold"/>
                  <a:ea typeface="Open Sauce Bold"/>
                  <a:cs typeface="Open Sauce Bold"/>
                  <a:sym typeface="Open Sauce Bold"/>
                </a:rPr>
                <a:t>(video only)</a:t>
              </a:r>
            </a:p>
          </p:txBody>
        </p:sp>
      </p:grpSp>
      <p:sp>
        <p:nvSpPr>
          <p:cNvPr name="TextBox 13" id="13"/>
          <p:cNvSpPr txBox="true"/>
          <p:nvPr/>
        </p:nvSpPr>
        <p:spPr>
          <a:xfrm rot="0">
            <a:off x="2758045" y="7719973"/>
            <a:ext cx="12771910" cy="914400"/>
          </a:xfrm>
          <a:prstGeom prst="rect">
            <a:avLst/>
          </a:prstGeom>
        </p:spPr>
        <p:txBody>
          <a:bodyPr anchor="t" rtlCol="false" tIns="0" lIns="0" bIns="0" rIns="0">
            <a:spAutoFit/>
          </a:bodyPr>
          <a:lstStyle/>
          <a:p>
            <a:pPr algn="ctr">
              <a:lnSpc>
                <a:spcPts val="3600"/>
              </a:lnSpc>
            </a:pPr>
            <a:r>
              <a:rPr lang="en-US" sz="3000">
                <a:solidFill>
                  <a:srgbClr val="1D1D1F"/>
                </a:solidFill>
                <a:latin typeface="Canva Sans"/>
                <a:ea typeface="Canva Sans"/>
                <a:cs typeface="Canva Sans"/>
                <a:sym typeface="Canva Sans"/>
              </a:rPr>
              <a:t>Stationary cameras provide fixed-location vehicle observations that support real-time alerts and retrospective investigative searches.</a:t>
            </a:r>
          </a:p>
        </p:txBody>
      </p:sp>
      <p:sp>
        <p:nvSpPr>
          <p:cNvPr name="AutoShape 14" id="14"/>
          <p:cNvSpPr/>
          <p:nvPr/>
        </p:nvSpPr>
        <p:spPr>
          <a:xfrm flipV="true">
            <a:off x="-117230" y="10287000"/>
            <a:ext cx="19376532" cy="12351"/>
          </a:xfrm>
          <a:prstGeom prst="line">
            <a:avLst/>
          </a:prstGeom>
          <a:ln cap="flat" w="85725">
            <a:solidFill>
              <a:srgbClr val="1E498A"/>
            </a:solidFill>
            <a:prstDash val="solid"/>
            <a:headEnd type="none" len="sm" w="sm"/>
            <a:tailEnd type="none" len="sm" w="sm"/>
          </a:ln>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81386" y="784923"/>
            <a:ext cx="17054762" cy="762000"/>
          </a:xfrm>
          <a:prstGeom prst="rect">
            <a:avLst/>
          </a:prstGeom>
        </p:spPr>
        <p:txBody>
          <a:bodyPr anchor="t" rtlCol="false" tIns="0" lIns="0" bIns="0" rIns="0">
            <a:spAutoFit/>
          </a:bodyPr>
          <a:lstStyle/>
          <a:p>
            <a:pPr algn="l" marL="0" indent="0" lvl="0">
              <a:lnSpc>
                <a:spcPts val="6299"/>
              </a:lnSpc>
              <a:spcBef>
                <a:spcPct val="0"/>
              </a:spcBef>
            </a:pPr>
            <a:r>
              <a:rPr lang="en-US" b="true" sz="4500" strike="noStrike" u="none">
                <a:solidFill>
                  <a:srgbClr val="002557"/>
                </a:solidFill>
                <a:latin typeface="Montserrat Bold"/>
                <a:ea typeface="Montserrat Bold"/>
                <a:cs typeface="Montserrat Bold"/>
                <a:sym typeface="Montserrat Bold"/>
              </a:rPr>
              <a:t>How Does a Flock Search Work?</a:t>
            </a:r>
          </a:p>
        </p:txBody>
      </p:sp>
      <p:sp>
        <p:nvSpPr>
          <p:cNvPr name="TextBox 3" id="3"/>
          <p:cNvSpPr txBox="true"/>
          <p:nvPr/>
        </p:nvSpPr>
        <p:spPr>
          <a:xfrm rot="0">
            <a:off x="899459" y="2008322"/>
            <a:ext cx="6878705" cy="1153903"/>
          </a:xfrm>
          <a:prstGeom prst="rect">
            <a:avLst/>
          </a:prstGeom>
        </p:spPr>
        <p:txBody>
          <a:bodyPr anchor="t" rtlCol="false" tIns="0" lIns="0" bIns="0" rIns="0">
            <a:spAutoFit/>
          </a:bodyPr>
          <a:lstStyle/>
          <a:p>
            <a:pPr algn="just">
              <a:lnSpc>
                <a:spcPts val="3499"/>
              </a:lnSpc>
            </a:pPr>
            <a:r>
              <a:rPr lang="en-US" sz="2499" b="true">
                <a:solidFill>
                  <a:srgbClr val="19458B"/>
                </a:solidFill>
                <a:latin typeface="Montserrat Bold"/>
                <a:ea typeface="Montserrat Bold"/>
                <a:cs typeface="Montserrat Bold"/>
                <a:sym typeface="Montserrat Bold"/>
              </a:rPr>
              <a:t>1. Offense Type</a:t>
            </a:r>
          </a:p>
          <a:p>
            <a:pPr algn="just">
              <a:lnSpc>
                <a:spcPts val="2796"/>
              </a:lnSpc>
            </a:pPr>
            <a:r>
              <a:rPr lang="en-US" sz="2389">
                <a:solidFill>
                  <a:srgbClr val="1D1D1F"/>
                </a:solidFill>
                <a:latin typeface="Montserrat"/>
                <a:ea typeface="Montserrat"/>
                <a:cs typeface="Montserrat"/>
                <a:sym typeface="Montserrat"/>
              </a:rPr>
              <a:t>Select the offense type that best matches the investigation.</a:t>
            </a:r>
          </a:p>
        </p:txBody>
      </p:sp>
      <p:sp>
        <p:nvSpPr>
          <p:cNvPr name="TextBox 4" id="4"/>
          <p:cNvSpPr txBox="true"/>
          <p:nvPr/>
        </p:nvSpPr>
        <p:spPr>
          <a:xfrm rot="0">
            <a:off x="899459" y="3541775"/>
            <a:ext cx="8358973" cy="1153903"/>
          </a:xfrm>
          <a:prstGeom prst="rect">
            <a:avLst/>
          </a:prstGeom>
        </p:spPr>
        <p:txBody>
          <a:bodyPr anchor="t" rtlCol="false" tIns="0" lIns="0" bIns="0" rIns="0">
            <a:spAutoFit/>
          </a:bodyPr>
          <a:lstStyle/>
          <a:p>
            <a:pPr algn="l">
              <a:lnSpc>
                <a:spcPts val="3499"/>
              </a:lnSpc>
            </a:pPr>
            <a:r>
              <a:rPr lang="en-US" sz="2499" b="true">
                <a:solidFill>
                  <a:srgbClr val="19458B"/>
                </a:solidFill>
                <a:latin typeface="Montserrat Bold"/>
                <a:ea typeface="Montserrat Bold"/>
                <a:cs typeface="Montserrat Bold"/>
                <a:sym typeface="Montserrat Bold"/>
              </a:rPr>
              <a:t>2. Case Number</a:t>
            </a:r>
          </a:p>
          <a:p>
            <a:pPr algn="l">
              <a:lnSpc>
                <a:spcPts val="2796"/>
              </a:lnSpc>
            </a:pPr>
            <a:r>
              <a:rPr lang="en-US" sz="2389">
                <a:solidFill>
                  <a:srgbClr val="1D1D1F"/>
                </a:solidFill>
                <a:latin typeface="Montserrat"/>
                <a:ea typeface="Montserrat"/>
                <a:cs typeface="Montserrat"/>
                <a:sym typeface="Montserrat"/>
              </a:rPr>
              <a:t>Enter the case number to connect the search to the related investigation. </a:t>
            </a:r>
          </a:p>
        </p:txBody>
      </p:sp>
      <p:sp>
        <p:nvSpPr>
          <p:cNvPr name="TextBox 5" id="5"/>
          <p:cNvSpPr txBox="true"/>
          <p:nvPr/>
        </p:nvSpPr>
        <p:spPr>
          <a:xfrm rot="0">
            <a:off x="940131" y="5095875"/>
            <a:ext cx="8358973" cy="1153903"/>
          </a:xfrm>
          <a:prstGeom prst="rect">
            <a:avLst/>
          </a:prstGeom>
        </p:spPr>
        <p:txBody>
          <a:bodyPr anchor="t" rtlCol="false" tIns="0" lIns="0" bIns="0" rIns="0">
            <a:spAutoFit/>
          </a:bodyPr>
          <a:lstStyle/>
          <a:p>
            <a:pPr algn="l">
              <a:lnSpc>
                <a:spcPts val="3499"/>
              </a:lnSpc>
            </a:pPr>
            <a:r>
              <a:rPr lang="en-US" sz="2499" b="true">
                <a:solidFill>
                  <a:srgbClr val="19458B"/>
                </a:solidFill>
                <a:latin typeface="Montserrat Bold"/>
                <a:ea typeface="Montserrat Bold"/>
                <a:cs typeface="Montserrat Bold"/>
                <a:sym typeface="Montserrat Bold"/>
              </a:rPr>
              <a:t>3. Reason for Search</a:t>
            </a:r>
          </a:p>
          <a:p>
            <a:pPr algn="l">
              <a:lnSpc>
                <a:spcPts val="2796"/>
              </a:lnSpc>
            </a:pPr>
            <a:r>
              <a:rPr lang="en-US" sz="2389">
                <a:solidFill>
                  <a:srgbClr val="1D1D1F"/>
                </a:solidFill>
                <a:latin typeface="Montserrat"/>
                <a:ea typeface="Montserrat"/>
                <a:cs typeface="Montserrat"/>
                <a:sym typeface="Montserrat"/>
              </a:rPr>
              <a:t>Briefly explain the legitimate law enforcement purpose for accessing ALPR data. </a:t>
            </a:r>
          </a:p>
        </p:txBody>
      </p:sp>
      <p:sp>
        <p:nvSpPr>
          <p:cNvPr name="TextBox 6" id="6"/>
          <p:cNvSpPr txBox="true"/>
          <p:nvPr/>
        </p:nvSpPr>
        <p:spPr>
          <a:xfrm rot="0">
            <a:off x="881386" y="6942381"/>
            <a:ext cx="8476462" cy="2510007"/>
          </a:xfrm>
          <a:prstGeom prst="rect">
            <a:avLst/>
          </a:prstGeom>
        </p:spPr>
        <p:txBody>
          <a:bodyPr anchor="t" rtlCol="false" tIns="0" lIns="0" bIns="0" rIns="0">
            <a:spAutoFit/>
          </a:bodyPr>
          <a:lstStyle/>
          <a:p>
            <a:pPr algn="l">
              <a:lnSpc>
                <a:spcPts val="3499"/>
              </a:lnSpc>
            </a:pPr>
            <a:r>
              <a:rPr lang="en-US" sz="2499" b="true">
                <a:solidFill>
                  <a:srgbClr val="19458B"/>
                </a:solidFill>
                <a:latin typeface="Montserrat Bold"/>
                <a:ea typeface="Montserrat Bold"/>
                <a:cs typeface="Montserrat Bold"/>
                <a:sym typeface="Montserrat Bold"/>
              </a:rPr>
              <a:t>Why do these fields matter?</a:t>
            </a:r>
          </a:p>
          <a:p>
            <a:pPr algn="l">
              <a:lnSpc>
                <a:spcPts val="979"/>
              </a:lnSpc>
            </a:pPr>
          </a:p>
          <a:p>
            <a:pPr algn="l" marL="515974" indent="-257987" lvl="1">
              <a:lnSpc>
                <a:spcPts val="3106"/>
              </a:lnSpc>
              <a:buFont typeface="Arial"/>
              <a:buChar char="•"/>
            </a:pPr>
            <a:r>
              <a:rPr lang="en-US" sz="2389">
                <a:solidFill>
                  <a:srgbClr val="1D1D1F"/>
                </a:solidFill>
                <a:latin typeface="Montserrat"/>
                <a:ea typeface="Montserrat"/>
                <a:cs typeface="Montserrat"/>
                <a:sym typeface="Montserrat"/>
              </a:rPr>
              <a:t>Required fields create a clear, reviewable audit trail.</a:t>
            </a:r>
          </a:p>
          <a:p>
            <a:pPr algn="l" marL="515974" indent="-257987" lvl="1">
              <a:lnSpc>
                <a:spcPts val="3106"/>
              </a:lnSpc>
              <a:buFont typeface="Arial"/>
              <a:buChar char="•"/>
            </a:pPr>
            <a:r>
              <a:rPr lang="en-US" sz="2389">
                <a:solidFill>
                  <a:srgbClr val="1D1D1F"/>
                </a:solidFill>
                <a:latin typeface="Montserrat"/>
                <a:ea typeface="Montserrat"/>
                <a:cs typeface="Montserrat"/>
                <a:sym typeface="Montserrat"/>
              </a:rPr>
              <a:t>The audit trail records who conducted the search, what was searched, and the documented purpose.</a:t>
            </a:r>
          </a:p>
          <a:p>
            <a:pPr algn="l" marL="515974" indent="-257987" lvl="1">
              <a:lnSpc>
                <a:spcPts val="3106"/>
              </a:lnSpc>
              <a:buFont typeface="Arial"/>
              <a:buChar char="•"/>
            </a:pPr>
            <a:r>
              <a:rPr lang="en-US" sz="2389">
                <a:solidFill>
                  <a:srgbClr val="1D1D1F"/>
                </a:solidFill>
                <a:latin typeface="Montserrat"/>
                <a:ea typeface="Montserrat"/>
                <a:cs typeface="Montserrat"/>
                <a:sym typeface="Montserrat"/>
              </a:rPr>
              <a:t>This supports accountability, transparency, and compliance with department policy. </a:t>
            </a:r>
          </a:p>
        </p:txBody>
      </p:sp>
      <p:sp>
        <p:nvSpPr>
          <p:cNvPr name="Freeform 7" id="7"/>
          <p:cNvSpPr/>
          <p:nvPr/>
        </p:nvSpPr>
        <p:spPr>
          <a:xfrm flipH="false" flipV="false" rot="0">
            <a:off x="10269996" y="2158495"/>
            <a:ext cx="6825764" cy="6858063"/>
          </a:xfrm>
          <a:custGeom>
            <a:avLst/>
            <a:gdLst/>
            <a:ahLst/>
            <a:cxnLst/>
            <a:rect r="r" b="b" t="t" l="l"/>
            <a:pathLst>
              <a:path h="6858063" w="6825764">
                <a:moveTo>
                  <a:pt x="0" y="0"/>
                </a:moveTo>
                <a:lnTo>
                  <a:pt x="6825764" y="0"/>
                </a:lnTo>
                <a:lnTo>
                  <a:pt x="6825764" y="6858063"/>
                </a:lnTo>
                <a:lnTo>
                  <a:pt x="0" y="6858063"/>
                </a:lnTo>
                <a:lnTo>
                  <a:pt x="0" y="0"/>
                </a:lnTo>
                <a:close/>
              </a:path>
            </a:pathLst>
          </a:custGeom>
          <a:blipFill>
            <a:blip r:embed="rId2"/>
            <a:stretch>
              <a:fillRect l="0" t="0" r="0" b="0"/>
            </a:stretch>
          </a:blipFill>
          <a:ln w="76200" cap="sq">
            <a:solidFill>
              <a:srgbClr val="054396"/>
            </a:solidFill>
            <a:prstDash val="solid"/>
            <a:miter/>
          </a:ln>
        </p:spPr>
      </p:sp>
      <p:sp>
        <p:nvSpPr>
          <p:cNvPr name="AutoShape 8" id="8"/>
          <p:cNvSpPr/>
          <p:nvPr/>
        </p:nvSpPr>
        <p:spPr>
          <a:xfrm>
            <a:off x="-694882" y="1527873"/>
            <a:ext cx="9131783" cy="0"/>
          </a:xfrm>
          <a:prstGeom prst="line">
            <a:avLst/>
          </a:prstGeom>
          <a:ln cap="flat" w="38100">
            <a:solidFill>
              <a:srgbClr val="A28231"/>
            </a:solidFill>
            <a:prstDash val="solid"/>
            <a:headEnd type="none" len="sm" w="sm"/>
            <a:tailEnd type="none" len="sm" w="sm"/>
          </a:ln>
        </p:spPr>
      </p:sp>
      <p:sp>
        <p:nvSpPr>
          <p:cNvPr name="AutoShape 9" id="9"/>
          <p:cNvSpPr/>
          <p:nvPr/>
        </p:nvSpPr>
        <p:spPr>
          <a:xfrm flipV="true">
            <a:off x="-117230" y="10287000"/>
            <a:ext cx="19376532" cy="12351"/>
          </a:xfrm>
          <a:prstGeom prst="line">
            <a:avLst/>
          </a:prstGeom>
          <a:ln cap="flat" w="85725">
            <a:solidFill>
              <a:srgbClr val="1E498A"/>
            </a:solidFill>
            <a:prstDash val="solid"/>
            <a:headEnd type="none" len="sm" w="sm"/>
            <a:tailEnd type="none" len="sm" w="sm"/>
          </a:ln>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99459" y="794448"/>
            <a:ext cx="17054762" cy="762000"/>
          </a:xfrm>
          <a:prstGeom prst="rect">
            <a:avLst/>
          </a:prstGeom>
        </p:spPr>
        <p:txBody>
          <a:bodyPr anchor="t" rtlCol="false" tIns="0" lIns="0" bIns="0" rIns="0">
            <a:spAutoFit/>
          </a:bodyPr>
          <a:lstStyle/>
          <a:p>
            <a:pPr algn="just" marL="0" indent="0" lvl="0">
              <a:lnSpc>
                <a:spcPts val="6299"/>
              </a:lnSpc>
              <a:spcBef>
                <a:spcPct val="0"/>
              </a:spcBef>
            </a:pPr>
            <a:r>
              <a:rPr lang="en-US" b="true" sz="4500" strike="noStrike" u="none">
                <a:solidFill>
                  <a:srgbClr val="002557"/>
                </a:solidFill>
                <a:latin typeface="Montserrat Bold"/>
                <a:ea typeface="Montserrat Bold"/>
                <a:cs typeface="Montserrat Bold"/>
                <a:sym typeface="Montserrat Bold"/>
              </a:rPr>
              <a:t>How Do Hotlist Alerts Work?</a:t>
            </a:r>
          </a:p>
        </p:txBody>
      </p:sp>
      <p:sp>
        <p:nvSpPr>
          <p:cNvPr name="TextBox 3" id="3"/>
          <p:cNvSpPr txBox="true"/>
          <p:nvPr/>
        </p:nvSpPr>
        <p:spPr>
          <a:xfrm rot="0">
            <a:off x="899459" y="2027372"/>
            <a:ext cx="9034469" cy="5130800"/>
          </a:xfrm>
          <a:prstGeom prst="rect">
            <a:avLst/>
          </a:prstGeom>
        </p:spPr>
        <p:txBody>
          <a:bodyPr anchor="t" rtlCol="false" tIns="0" lIns="0" bIns="0" rIns="0">
            <a:spAutoFit/>
          </a:bodyPr>
          <a:lstStyle/>
          <a:p>
            <a:pPr algn="l" marL="539749" indent="-269875" lvl="1">
              <a:lnSpc>
                <a:spcPts val="3299"/>
              </a:lnSpc>
              <a:buFont typeface="Arial"/>
              <a:buChar char="•"/>
            </a:pPr>
            <a:r>
              <a:rPr lang="en-US" sz="2499">
                <a:solidFill>
                  <a:srgbClr val="1D1D1F"/>
                </a:solidFill>
                <a:latin typeface="Montserrat"/>
                <a:ea typeface="Montserrat"/>
                <a:cs typeface="Montserrat"/>
                <a:sym typeface="Montserrat"/>
              </a:rPr>
              <a:t>Flock cameras automatically compare detected l</a:t>
            </a:r>
            <a:r>
              <a:rPr lang="en-US" sz="2499">
                <a:solidFill>
                  <a:srgbClr val="1D1D1F"/>
                </a:solidFill>
                <a:latin typeface="Montserrat"/>
                <a:ea typeface="Montserrat"/>
                <a:cs typeface="Montserrat"/>
                <a:sym typeface="Montserrat"/>
              </a:rPr>
              <a:t>icense plates against Hotlist records.</a:t>
            </a:r>
          </a:p>
          <a:p>
            <a:pPr algn="l">
              <a:lnSpc>
                <a:spcPts val="1819"/>
              </a:lnSpc>
            </a:pPr>
          </a:p>
          <a:p>
            <a:pPr algn="l" marL="539749" indent="-269875" lvl="1">
              <a:lnSpc>
                <a:spcPts val="3499"/>
              </a:lnSpc>
              <a:buFont typeface="Arial"/>
              <a:buChar char="•"/>
            </a:pPr>
            <a:r>
              <a:rPr lang="en-US" sz="2499">
                <a:solidFill>
                  <a:srgbClr val="1D1D1F"/>
                </a:solidFill>
                <a:latin typeface="Montserrat"/>
                <a:ea typeface="Montserrat"/>
                <a:cs typeface="Montserrat"/>
                <a:sym typeface="Montserrat"/>
              </a:rPr>
              <a:t>Hotlists identify vehicles of interest, such as:</a:t>
            </a:r>
          </a:p>
          <a:p>
            <a:pPr algn="l" marL="1079499" indent="-359833" lvl="2">
              <a:lnSpc>
                <a:spcPts val="3499"/>
              </a:lnSpc>
              <a:buFont typeface="Arial"/>
              <a:buChar char="⚬"/>
            </a:pPr>
            <a:r>
              <a:rPr lang="en-US" sz="2499">
                <a:solidFill>
                  <a:srgbClr val="1D1D1F"/>
                </a:solidFill>
                <a:latin typeface="Montserrat"/>
                <a:ea typeface="Montserrat"/>
                <a:cs typeface="Montserrat"/>
                <a:sym typeface="Montserrat"/>
              </a:rPr>
              <a:t>Stolen vehicles</a:t>
            </a:r>
          </a:p>
          <a:p>
            <a:pPr algn="l" marL="1079499" indent="-359833" lvl="2">
              <a:lnSpc>
                <a:spcPts val="3499"/>
              </a:lnSpc>
              <a:buFont typeface="Arial"/>
              <a:buChar char="⚬"/>
            </a:pPr>
            <a:r>
              <a:rPr lang="en-US" sz="2499">
                <a:solidFill>
                  <a:srgbClr val="1D1D1F"/>
                </a:solidFill>
                <a:latin typeface="Montserrat"/>
                <a:ea typeface="Montserrat"/>
                <a:cs typeface="Montserrat"/>
                <a:sym typeface="Montserrat"/>
              </a:rPr>
              <a:t>Wanted vehicles</a:t>
            </a:r>
          </a:p>
          <a:p>
            <a:pPr algn="l" marL="1079499" indent="-359833" lvl="2">
              <a:lnSpc>
                <a:spcPts val="3499"/>
              </a:lnSpc>
              <a:buFont typeface="Arial"/>
              <a:buChar char="⚬"/>
            </a:pPr>
            <a:r>
              <a:rPr lang="en-US" sz="2499">
                <a:solidFill>
                  <a:srgbClr val="1D1D1F"/>
                </a:solidFill>
                <a:latin typeface="Montserrat"/>
                <a:ea typeface="Montserrat"/>
                <a:cs typeface="Montserrat"/>
                <a:sym typeface="Montserrat"/>
              </a:rPr>
              <a:t>Vehicles associated with specific law-enforcement investigations</a:t>
            </a:r>
          </a:p>
          <a:p>
            <a:pPr algn="l" marL="1079499" indent="-359833" lvl="2">
              <a:lnSpc>
                <a:spcPts val="3499"/>
              </a:lnSpc>
              <a:buFont typeface="Arial"/>
              <a:buChar char="⚬"/>
            </a:pPr>
            <a:r>
              <a:rPr lang="en-US" sz="2499">
                <a:solidFill>
                  <a:srgbClr val="1D1D1F"/>
                </a:solidFill>
                <a:latin typeface="Montserrat"/>
                <a:ea typeface="Montserrat"/>
                <a:cs typeface="Montserrat"/>
                <a:sym typeface="Montserrat"/>
              </a:rPr>
              <a:t>Missing/endangered person(s)</a:t>
            </a:r>
          </a:p>
          <a:p>
            <a:pPr algn="l">
              <a:lnSpc>
                <a:spcPts val="1819"/>
              </a:lnSpc>
            </a:pPr>
          </a:p>
          <a:p>
            <a:pPr algn="l" marL="539749" indent="-269875" lvl="1">
              <a:lnSpc>
                <a:spcPts val="3299"/>
              </a:lnSpc>
              <a:buFont typeface="Arial"/>
              <a:buChar char="•"/>
            </a:pPr>
            <a:r>
              <a:rPr lang="en-US" sz="2499">
                <a:solidFill>
                  <a:srgbClr val="1D1D1F"/>
                </a:solidFill>
                <a:latin typeface="Montserrat"/>
                <a:ea typeface="Montserrat"/>
                <a:cs typeface="Montserrat"/>
                <a:sym typeface="Montserrat"/>
              </a:rPr>
              <a:t>Flock can receive Hotlist information originating from the National Crime Information Center (NCIC).</a:t>
            </a:r>
          </a:p>
          <a:p>
            <a:pPr algn="l">
              <a:lnSpc>
                <a:spcPts val="3499"/>
              </a:lnSpc>
            </a:pPr>
          </a:p>
        </p:txBody>
      </p:sp>
      <p:sp>
        <p:nvSpPr>
          <p:cNvPr name="Freeform 4" id="4"/>
          <p:cNvSpPr/>
          <p:nvPr/>
        </p:nvSpPr>
        <p:spPr>
          <a:xfrm flipH="false" flipV="false" rot="0">
            <a:off x="10077066" y="4226379"/>
            <a:ext cx="7348937" cy="5218581"/>
          </a:xfrm>
          <a:custGeom>
            <a:avLst/>
            <a:gdLst/>
            <a:ahLst/>
            <a:cxnLst/>
            <a:rect r="r" b="b" t="t" l="l"/>
            <a:pathLst>
              <a:path h="5218581" w="7348937">
                <a:moveTo>
                  <a:pt x="0" y="0"/>
                </a:moveTo>
                <a:lnTo>
                  <a:pt x="7348937" y="0"/>
                </a:lnTo>
                <a:lnTo>
                  <a:pt x="7348937" y="5218581"/>
                </a:lnTo>
                <a:lnTo>
                  <a:pt x="0" y="5218581"/>
                </a:lnTo>
                <a:lnTo>
                  <a:pt x="0" y="0"/>
                </a:lnTo>
                <a:close/>
              </a:path>
            </a:pathLst>
          </a:custGeom>
          <a:blipFill>
            <a:blip r:embed="rId2"/>
            <a:stretch>
              <a:fillRect l="-872" t="0" r="0" b="-3695"/>
            </a:stretch>
          </a:blipFill>
        </p:spPr>
      </p:sp>
      <p:sp>
        <p:nvSpPr>
          <p:cNvPr name="AutoShape 5" id="5"/>
          <p:cNvSpPr/>
          <p:nvPr/>
        </p:nvSpPr>
        <p:spPr>
          <a:xfrm>
            <a:off x="-694882" y="1527873"/>
            <a:ext cx="9131783" cy="0"/>
          </a:xfrm>
          <a:prstGeom prst="line">
            <a:avLst/>
          </a:prstGeom>
          <a:ln cap="flat" w="38100">
            <a:solidFill>
              <a:srgbClr val="A28231"/>
            </a:solidFill>
            <a:prstDash val="solid"/>
            <a:headEnd type="none" len="sm" w="sm"/>
            <a:tailEnd type="none" len="sm" w="sm"/>
          </a:ln>
        </p:spPr>
      </p:sp>
      <p:sp>
        <p:nvSpPr>
          <p:cNvPr name="AutoShape 6" id="6"/>
          <p:cNvSpPr/>
          <p:nvPr/>
        </p:nvSpPr>
        <p:spPr>
          <a:xfrm flipV="true">
            <a:off x="-117230" y="10287000"/>
            <a:ext cx="19376532" cy="12351"/>
          </a:xfrm>
          <a:prstGeom prst="line">
            <a:avLst/>
          </a:prstGeom>
          <a:ln cap="flat" w="85725">
            <a:solidFill>
              <a:srgbClr val="1E498A"/>
            </a:solidFill>
            <a:prstDash val="solid"/>
            <a:headEnd type="none" len="sm" w="sm"/>
            <a:tailEnd type="none" len="sm" w="sm"/>
          </a:ln>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33718" y="2382560"/>
            <a:ext cx="814316" cy="814316"/>
          </a:xfrm>
          <a:custGeom>
            <a:avLst/>
            <a:gdLst/>
            <a:ahLst/>
            <a:cxnLst/>
            <a:rect r="r" b="b" t="t" l="l"/>
            <a:pathLst>
              <a:path h="814316" w="814316">
                <a:moveTo>
                  <a:pt x="0" y="0"/>
                </a:moveTo>
                <a:lnTo>
                  <a:pt x="814317" y="0"/>
                </a:lnTo>
                <a:lnTo>
                  <a:pt x="814317" y="814316"/>
                </a:lnTo>
                <a:lnTo>
                  <a:pt x="0" y="8143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33718" y="4222206"/>
            <a:ext cx="790515" cy="790515"/>
          </a:xfrm>
          <a:custGeom>
            <a:avLst/>
            <a:gdLst/>
            <a:ahLst/>
            <a:cxnLst/>
            <a:rect r="r" b="b" t="t" l="l"/>
            <a:pathLst>
              <a:path h="790515" w="790515">
                <a:moveTo>
                  <a:pt x="0" y="0"/>
                </a:moveTo>
                <a:lnTo>
                  <a:pt x="790516" y="0"/>
                </a:lnTo>
                <a:lnTo>
                  <a:pt x="790516" y="790515"/>
                </a:lnTo>
                <a:lnTo>
                  <a:pt x="0" y="7905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881386" y="5886570"/>
            <a:ext cx="866648" cy="866648"/>
            <a:chOff x="0" y="0"/>
            <a:chExt cx="1155531" cy="1155531"/>
          </a:xfrm>
        </p:grpSpPr>
        <p:grpSp>
          <p:nvGrpSpPr>
            <p:cNvPr name="Group 5" id="5"/>
            <p:cNvGrpSpPr/>
            <p:nvPr/>
          </p:nvGrpSpPr>
          <p:grpSpPr>
            <a:xfrm rot="0">
              <a:off x="0" y="0"/>
              <a:ext cx="1155531" cy="11555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5347E"/>
              </a:solidFill>
              <a:ln w="95250" cap="sq">
                <a:solidFill>
                  <a:srgbClr val="05347E"/>
                </a:solidFill>
                <a:prstDash val="solid"/>
                <a:miter/>
              </a:ln>
            </p:spPr>
          </p:sp>
          <p:sp>
            <p:nvSpPr>
              <p:cNvPr name="TextBox 7" id="7"/>
              <p:cNvSpPr txBox="true"/>
              <p:nvPr/>
            </p:nvSpPr>
            <p:spPr>
              <a:xfrm>
                <a:off x="76200" y="85725"/>
                <a:ext cx="660400" cy="650875"/>
              </a:xfrm>
              <a:prstGeom prst="rect">
                <a:avLst/>
              </a:prstGeom>
            </p:spPr>
            <p:txBody>
              <a:bodyPr anchor="ctr" rtlCol="false" tIns="50800" lIns="50800" bIns="50800" rIns="50800"/>
              <a:lstStyle/>
              <a:p>
                <a:pPr algn="ctr">
                  <a:lnSpc>
                    <a:spcPts val="1216"/>
                  </a:lnSpc>
                </a:pPr>
              </a:p>
            </p:txBody>
          </p:sp>
        </p:grpSp>
        <p:sp>
          <p:nvSpPr>
            <p:cNvPr name="Freeform 8" id="8"/>
            <p:cNvSpPr/>
            <p:nvPr/>
          </p:nvSpPr>
          <p:spPr>
            <a:xfrm flipH="false" flipV="false" rot="0">
              <a:off x="188786" y="201198"/>
              <a:ext cx="777960" cy="836516"/>
            </a:xfrm>
            <a:custGeom>
              <a:avLst/>
              <a:gdLst/>
              <a:ahLst/>
              <a:cxnLst/>
              <a:rect r="r" b="b" t="t" l="l"/>
              <a:pathLst>
                <a:path h="836516" w="777960">
                  <a:moveTo>
                    <a:pt x="0" y="0"/>
                  </a:moveTo>
                  <a:lnTo>
                    <a:pt x="777959" y="0"/>
                  </a:lnTo>
                  <a:lnTo>
                    <a:pt x="777959" y="836516"/>
                  </a:lnTo>
                  <a:lnTo>
                    <a:pt x="0" y="8365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
        <p:nvSpPr>
          <p:cNvPr name="Freeform 9" id="9"/>
          <p:cNvSpPr/>
          <p:nvPr/>
        </p:nvSpPr>
        <p:spPr>
          <a:xfrm flipH="false" flipV="false" rot="0">
            <a:off x="933718" y="7725570"/>
            <a:ext cx="817558" cy="817558"/>
          </a:xfrm>
          <a:custGeom>
            <a:avLst/>
            <a:gdLst/>
            <a:ahLst/>
            <a:cxnLst/>
            <a:rect r="r" b="b" t="t" l="l"/>
            <a:pathLst>
              <a:path h="817558" w="817558">
                <a:moveTo>
                  <a:pt x="0" y="0"/>
                </a:moveTo>
                <a:lnTo>
                  <a:pt x="817559" y="0"/>
                </a:lnTo>
                <a:lnTo>
                  <a:pt x="817559" y="817558"/>
                </a:lnTo>
                <a:lnTo>
                  <a:pt x="0" y="81755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899459" y="784923"/>
            <a:ext cx="17054762" cy="762000"/>
          </a:xfrm>
          <a:prstGeom prst="rect">
            <a:avLst/>
          </a:prstGeom>
        </p:spPr>
        <p:txBody>
          <a:bodyPr anchor="t" rtlCol="false" tIns="0" lIns="0" bIns="0" rIns="0">
            <a:spAutoFit/>
          </a:bodyPr>
          <a:lstStyle/>
          <a:p>
            <a:pPr algn="just" marL="0" indent="0" lvl="0">
              <a:lnSpc>
                <a:spcPts val="6299"/>
              </a:lnSpc>
              <a:spcBef>
                <a:spcPct val="0"/>
              </a:spcBef>
            </a:pPr>
            <a:r>
              <a:rPr lang="en-US" b="true" sz="4500" strike="noStrike" u="none">
                <a:solidFill>
                  <a:srgbClr val="002557"/>
                </a:solidFill>
                <a:latin typeface="Montserrat Bold"/>
                <a:ea typeface="Montserrat Bold"/>
                <a:cs typeface="Montserrat Bold"/>
                <a:sym typeface="Montserrat Bold"/>
              </a:rPr>
              <a:t>Custom Hotlist Alerts</a:t>
            </a:r>
          </a:p>
        </p:txBody>
      </p:sp>
      <p:sp>
        <p:nvSpPr>
          <p:cNvPr name="Freeform 11" id="11"/>
          <p:cNvSpPr/>
          <p:nvPr/>
        </p:nvSpPr>
        <p:spPr>
          <a:xfrm flipH="false" flipV="false" rot="0">
            <a:off x="7394469" y="9167176"/>
            <a:ext cx="1925405" cy="1001211"/>
          </a:xfrm>
          <a:custGeom>
            <a:avLst/>
            <a:gdLst/>
            <a:ahLst/>
            <a:cxnLst/>
            <a:rect r="r" b="b" t="t" l="l"/>
            <a:pathLst>
              <a:path h="1001211" w="1925405">
                <a:moveTo>
                  <a:pt x="0" y="0"/>
                </a:moveTo>
                <a:lnTo>
                  <a:pt x="1925405" y="0"/>
                </a:lnTo>
                <a:lnTo>
                  <a:pt x="1925405" y="1001211"/>
                </a:lnTo>
                <a:lnTo>
                  <a:pt x="0" y="1001211"/>
                </a:lnTo>
                <a:lnTo>
                  <a:pt x="0" y="0"/>
                </a:lnTo>
                <a:close/>
              </a:path>
            </a:pathLst>
          </a:custGeom>
          <a:blipFill>
            <a:blip r:embed="rId10"/>
            <a:stretch>
              <a:fillRect l="0" t="0" r="0" b="0"/>
            </a:stretch>
          </a:blipFill>
        </p:spPr>
      </p:sp>
      <p:grpSp>
        <p:nvGrpSpPr>
          <p:cNvPr name="Group 12" id="12"/>
          <p:cNvGrpSpPr/>
          <p:nvPr/>
        </p:nvGrpSpPr>
        <p:grpSpPr>
          <a:xfrm rot="0">
            <a:off x="9669582" y="4735012"/>
            <a:ext cx="7756421" cy="5010149"/>
            <a:chOff x="0" y="0"/>
            <a:chExt cx="10341895" cy="6680199"/>
          </a:xfrm>
        </p:grpSpPr>
        <p:grpSp>
          <p:nvGrpSpPr>
            <p:cNvPr name="Group 13" id="13"/>
            <p:cNvGrpSpPr/>
            <p:nvPr/>
          </p:nvGrpSpPr>
          <p:grpSpPr>
            <a:xfrm rot="0">
              <a:off x="0" y="0"/>
              <a:ext cx="10341895" cy="6680199"/>
              <a:chOff x="0" y="0"/>
              <a:chExt cx="2660003" cy="1718191"/>
            </a:xfrm>
          </p:grpSpPr>
          <p:sp>
            <p:nvSpPr>
              <p:cNvPr name="Freeform 14" id="14"/>
              <p:cNvSpPr/>
              <p:nvPr/>
            </p:nvSpPr>
            <p:spPr>
              <a:xfrm flipH="false" flipV="false" rot="0">
                <a:off x="0" y="0"/>
                <a:ext cx="2660003" cy="1718191"/>
              </a:xfrm>
              <a:custGeom>
                <a:avLst/>
                <a:gdLst/>
                <a:ahLst/>
                <a:cxnLst/>
                <a:rect r="r" b="b" t="t" l="l"/>
                <a:pathLst>
                  <a:path h="1718191" w="2660003">
                    <a:moveTo>
                      <a:pt x="7985" y="0"/>
                    </a:moveTo>
                    <a:lnTo>
                      <a:pt x="2652018" y="0"/>
                    </a:lnTo>
                    <a:cubicBezTo>
                      <a:pt x="2656428" y="0"/>
                      <a:pt x="2660003" y="3575"/>
                      <a:pt x="2660003" y="7985"/>
                    </a:cubicBezTo>
                    <a:lnTo>
                      <a:pt x="2660003" y="1710206"/>
                    </a:lnTo>
                    <a:cubicBezTo>
                      <a:pt x="2660003" y="1712324"/>
                      <a:pt x="2659162" y="1714355"/>
                      <a:pt x="2657664" y="1715852"/>
                    </a:cubicBezTo>
                    <a:cubicBezTo>
                      <a:pt x="2656167" y="1717350"/>
                      <a:pt x="2654136" y="1718191"/>
                      <a:pt x="2652018" y="1718191"/>
                    </a:cubicBezTo>
                    <a:lnTo>
                      <a:pt x="7985" y="1718191"/>
                    </a:lnTo>
                    <a:cubicBezTo>
                      <a:pt x="3575" y="1718191"/>
                      <a:pt x="0" y="1714616"/>
                      <a:pt x="0" y="1710206"/>
                    </a:cubicBezTo>
                    <a:lnTo>
                      <a:pt x="0" y="7985"/>
                    </a:lnTo>
                    <a:cubicBezTo>
                      <a:pt x="0" y="3575"/>
                      <a:pt x="3575" y="0"/>
                      <a:pt x="7985" y="0"/>
                    </a:cubicBezTo>
                    <a:close/>
                  </a:path>
                </a:pathLst>
              </a:custGeom>
              <a:blipFill>
                <a:blip r:embed="rId11"/>
                <a:stretch>
                  <a:fillRect l="0" t="-700" r="0" b="-3915"/>
                </a:stretch>
              </a:blipFill>
            </p:spPr>
          </p:sp>
        </p:grpSp>
        <p:grpSp>
          <p:nvGrpSpPr>
            <p:cNvPr name="Group 15" id="15"/>
            <p:cNvGrpSpPr/>
            <p:nvPr/>
          </p:nvGrpSpPr>
          <p:grpSpPr>
            <a:xfrm rot="0">
              <a:off x="286002" y="3214620"/>
              <a:ext cx="2409576" cy="900973"/>
              <a:chOff x="0" y="0"/>
              <a:chExt cx="475966" cy="177970"/>
            </a:xfrm>
          </p:grpSpPr>
          <p:sp>
            <p:nvSpPr>
              <p:cNvPr name="Freeform 16" id="16"/>
              <p:cNvSpPr/>
              <p:nvPr/>
            </p:nvSpPr>
            <p:spPr>
              <a:xfrm flipH="false" flipV="false" rot="0">
                <a:off x="0" y="0"/>
                <a:ext cx="475966" cy="177970"/>
              </a:xfrm>
              <a:custGeom>
                <a:avLst/>
                <a:gdLst/>
                <a:ahLst/>
                <a:cxnLst/>
                <a:rect r="r" b="b" t="t" l="l"/>
                <a:pathLst>
                  <a:path h="177970" w="475966">
                    <a:moveTo>
                      <a:pt x="0" y="0"/>
                    </a:moveTo>
                    <a:lnTo>
                      <a:pt x="475966" y="0"/>
                    </a:lnTo>
                    <a:lnTo>
                      <a:pt x="475966" y="177970"/>
                    </a:lnTo>
                    <a:lnTo>
                      <a:pt x="0" y="177970"/>
                    </a:lnTo>
                    <a:close/>
                  </a:path>
                </a:pathLst>
              </a:custGeom>
              <a:solidFill>
                <a:srgbClr val="FEFEFE"/>
              </a:solidFill>
            </p:spPr>
          </p:sp>
          <p:sp>
            <p:nvSpPr>
              <p:cNvPr name="TextBox 17" id="17"/>
              <p:cNvSpPr txBox="true"/>
              <p:nvPr/>
            </p:nvSpPr>
            <p:spPr>
              <a:xfrm>
                <a:off x="0" y="-38100"/>
                <a:ext cx="475966" cy="216070"/>
              </a:xfrm>
              <a:prstGeom prst="rect">
                <a:avLst/>
              </a:prstGeom>
            </p:spPr>
            <p:txBody>
              <a:bodyPr anchor="ctr" rtlCol="false" tIns="50800" lIns="50800" bIns="50800" rIns="50800"/>
              <a:lstStyle/>
              <a:p>
                <a:pPr algn="ctr">
                  <a:lnSpc>
                    <a:spcPts val="3499"/>
                  </a:lnSpc>
                </a:pPr>
              </a:p>
            </p:txBody>
          </p:sp>
        </p:grpSp>
        <p:sp>
          <p:nvSpPr>
            <p:cNvPr name="Freeform 18" id="18"/>
            <p:cNvSpPr/>
            <p:nvPr/>
          </p:nvSpPr>
          <p:spPr>
            <a:xfrm flipH="false" flipV="false" rot="0">
              <a:off x="286002" y="2954545"/>
              <a:ext cx="2266227" cy="1161049"/>
            </a:xfrm>
            <a:custGeom>
              <a:avLst/>
              <a:gdLst/>
              <a:ahLst/>
              <a:cxnLst/>
              <a:rect r="r" b="b" t="t" l="l"/>
              <a:pathLst>
                <a:path h="1161049" w="2266227">
                  <a:moveTo>
                    <a:pt x="0" y="0"/>
                  </a:moveTo>
                  <a:lnTo>
                    <a:pt x="2266228" y="0"/>
                  </a:lnTo>
                  <a:lnTo>
                    <a:pt x="2266228" y="1161048"/>
                  </a:lnTo>
                  <a:lnTo>
                    <a:pt x="0" y="1161048"/>
                  </a:lnTo>
                  <a:lnTo>
                    <a:pt x="0" y="0"/>
                  </a:lnTo>
                  <a:close/>
                </a:path>
              </a:pathLst>
            </a:custGeom>
            <a:blipFill>
              <a:blip r:embed="rId10"/>
              <a:stretch>
                <a:fillRect l="-13281" t="-14977" r="0" b="0"/>
              </a:stretch>
            </a:blipFill>
          </p:spPr>
        </p:sp>
        <p:sp>
          <p:nvSpPr>
            <p:cNvPr name="Freeform 19" id="19"/>
            <p:cNvSpPr/>
            <p:nvPr/>
          </p:nvSpPr>
          <p:spPr>
            <a:xfrm flipH="false" flipV="false" rot="0">
              <a:off x="286002" y="3150442"/>
              <a:ext cx="1694727" cy="965151"/>
            </a:xfrm>
            <a:custGeom>
              <a:avLst/>
              <a:gdLst/>
              <a:ahLst/>
              <a:cxnLst/>
              <a:rect r="r" b="b" t="t" l="l"/>
              <a:pathLst>
                <a:path h="965151" w="1694727">
                  <a:moveTo>
                    <a:pt x="0" y="0"/>
                  </a:moveTo>
                  <a:lnTo>
                    <a:pt x="1694728" y="0"/>
                  </a:lnTo>
                  <a:lnTo>
                    <a:pt x="1694728" y="965151"/>
                  </a:lnTo>
                  <a:lnTo>
                    <a:pt x="0" y="965151"/>
                  </a:lnTo>
                  <a:lnTo>
                    <a:pt x="0" y="0"/>
                  </a:lnTo>
                  <a:close/>
                </a:path>
              </a:pathLst>
            </a:custGeom>
            <a:blipFill>
              <a:blip r:embed="rId10"/>
              <a:stretch>
                <a:fillRect l="-51481" t="-20297" r="0" b="-18017"/>
              </a:stretch>
            </a:blipFill>
          </p:spPr>
        </p:sp>
        <p:sp>
          <p:nvSpPr>
            <p:cNvPr name="Freeform 20" id="20"/>
            <p:cNvSpPr/>
            <p:nvPr/>
          </p:nvSpPr>
          <p:spPr>
            <a:xfrm flipH="false" flipV="false" rot="0">
              <a:off x="1280331" y="2784975"/>
              <a:ext cx="1415247" cy="1330618"/>
            </a:xfrm>
            <a:custGeom>
              <a:avLst/>
              <a:gdLst/>
              <a:ahLst/>
              <a:cxnLst/>
              <a:rect r="r" b="b" t="t" l="l"/>
              <a:pathLst>
                <a:path h="1330618" w="1415247">
                  <a:moveTo>
                    <a:pt x="0" y="0"/>
                  </a:moveTo>
                  <a:lnTo>
                    <a:pt x="1415247" y="0"/>
                  </a:lnTo>
                  <a:lnTo>
                    <a:pt x="1415247" y="1330618"/>
                  </a:lnTo>
                  <a:lnTo>
                    <a:pt x="0" y="1330618"/>
                  </a:lnTo>
                  <a:lnTo>
                    <a:pt x="0" y="0"/>
                  </a:lnTo>
                  <a:close/>
                </a:path>
              </a:pathLst>
            </a:custGeom>
            <a:blipFill>
              <a:blip r:embed="rId10">
                <a:alphaModFix amt="86000"/>
              </a:blip>
              <a:stretch>
                <a:fillRect l="-76957" t="-21584" r="-94181" b="-28375"/>
              </a:stretch>
            </a:blipFill>
          </p:spPr>
        </p:sp>
      </p:grpSp>
      <p:sp>
        <p:nvSpPr>
          <p:cNvPr name="AutoShape 21" id="21"/>
          <p:cNvSpPr/>
          <p:nvPr/>
        </p:nvSpPr>
        <p:spPr>
          <a:xfrm>
            <a:off x="-694882" y="1527873"/>
            <a:ext cx="9131783" cy="0"/>
          </a:xfrm>
          <a:prstGeom prst="line">
            <a:avLst/>
          </a:prstGeom>
          <a:ln cap="flat" w="38100">
            <a:solidFill>
              <a:srgbClr val="A28231"/>
            </a:solidFill>
            <a:prstDash val="solid"/>
            <a:headEnd type="none" len="sm" w="sm"/>
            <a:tailEnd type="none" len="sm" w="sm"/>
          </a:ln>
        </p:spPr>
      </p:sp>
      <p:sp>
        <p:nvSpPr>
          <p:cNvPr name="TextBox 22" id="22"/>
          <p:cNvSpPr txBox="true"/>
          <p:nvPr/>
        </p:nvSpPr>
        <p:spPr>
          <a:xfrm rot="0">
            <a:off x="2183767" y="2325410"/>
            <a:ext cx="7136107" cy="6216764"/>
          </a:xfrm>
          <a:prstGeom prst="rect">
            <a:avLst/>
          </a:prstGeom>
        </p:spPr>
        <p:txBody>
          <a:bodyPr anchor="t" rtlCol="false" tIns="0" lIns="0" bIns="0" rIns="0">
            <a:spAutoFit/>
          </a:bodyPr>
          <a:lstStyle/>
          <a:p>
            <a:pPr algn="l" marL="0" indent="0" lvl="0">
              <a:lnSpc>
                <a:spcPts val="3806"/>
              </a:lnSpc>
              <a:spcBef>
                <a:spcPct val="0"/>
              </a:spcBef>
            </a:pPr>
            <a:r>
              <a:rPr lang="en-US" sz="2719" strike="noStrike" u="none">
                <a:solidFill>
                  <a:srgbClr val="1D1D1F"/>
                </a:solidFill>
                <a:latin typeface="Canva Sans"/>
                <a:ea typeface="Canva Sans"/>
                <a:cs typeface="Canva Sans"/>
                <a:sym typeface="Canva Sans"/>
              </a:rPr>
              <a:t>Agency-created list of vehicles or plates tied to a legitimate law-enforcement purpose.</a:t>
            </a:r>
          </a:p>
          <a:p>
            <a:pPr algn="l" marL="0" indent="0" lvl="0">
              <a:lnSpc>
                <a:spcPts val="3806"/>
              </a:lnSpc>
              <a:spcBef>
                <a:spcPct val="0"/>
              </a:spcBef>
            </a:pPr>
          </a:p>
          <a:p>
            <a:pPr algn="l" marL="0" indent="0" lvl="0">
              <a:lnSpc>
                <a:spcPts val="3806"/>
              </a:lnSpc>
              <a:spcBef>
                <a:spcPct val="0"/>
              </a:spcBef>
            </a:pPr>
            <a:r>
              <a:rPr lang="en-US" sz="2719" strike="noStrike" u="none">
                <a:solidFill>
                  <a:srgbClr val="1D1D1F"/>
                </a:solidFill>
                <a:latin typeface="Canva Sans"/>
                <a:ea typeface="Canva Sans"/>
                <a:cs typeface="Canva Sans"/>
                <a:sym typeface="Canva Sans"/>
              </a:rPr>
              <a:t>Entries are manually added by authorized personnel.</a:t>
            </a:r>
          </a:p>
          <a:p>
            <a:pPr algn="l" marL="0" indent="0" lvl="0">
              <a:lnSpc>
                <a:spcPts val="3806"/>
              </a:lnSpc>
              <a:spcBef>
                <a:spcPct val="0"/>
              </a:spcBef>
            </a:pPr>
          </a:p>
          <a:p>
            <a:pPr algn="l" marL="0" indent="0" lvl="0">
              <a:lnSpc>
                <a:spcPts val="3806"/>
              </a:lnSpc>
              <a:spcBef>
                <a:spcPct val="0"/>
              </a:spcBef>
            </a:pPr>
            <a:r>
              <a:rPr lang="en-US" sz="2719" strike="noStrike" u="none">
                <a:solidFill>
                  <a:srgbClr val="1D1D1F"/>
                </a:solidFill>
                <a:latin typeface="Canva Sans"/>
                <a:ea typeface="Canva Sans"/>
                <a:cs typeface="Canva Sans"/>
                <a:sym typeface="Canva Sans"/>
              </a:rPr>
              <a:t>May include BOLOs, wanted vehicles, investigative leads, and missing/endangered persons.</a:t>
            </a:r>
          </a:p>
          <a:p>
            <a:pPr algn="l" marL="0" indent="0" lvl="0">
              <a:lnSpc>
                <a:spcPts val="3806"/>
              </a:lnSpc>
              <a:spcBef>
                <a:spcPct val="0"/>
              </a:spcBef>
            </a:pPr>
          </a:p>
          <a:p>
            <a:pPr algn="l" marL="0" indent="0" lvl="0">
              <a:lnSpc>
                <a:spcPts val="3806"/>
              </a:lnSpc>
              <a:spcBef>
                <a:spcPct val="0"/>
              </a:spcBef>
            </a:pPr>
            <a:r>
              <a:rPr lang="en-US" sz="2719" strike="noStrike" u="none">
                <a:solidFill>
                  <a:srgbClr val="1D1D1F"/>
                </a:solidFill>
                <a:latin typeface="Canva Sans"/>
                <a:ea typeface="Canva Sans"/>
                <a:cs typeface="Canva Sans"/>
                <a:sym typeface="Canva Sans"/>
              </a:rPr>
              <a:t>Flock cameras automatically check plates and send real-time alerts on matches.</a:t>
            </a:r>
          </a:p>
        </p:txBody>
      </p:sp>
      <p:sp>
        <p:nvSpPr>
          <p:cNvPr name="AutoShape 23" id="23"/>
          <p:cNvSpPr/>
          <p:nvPr/>
        </p:nvSpPr>
        <p:spPr>
          <a:xfrm flipV="true">
            <a:off x="-117230" y="10287000"/>
            <a:ext cx="19376532" cy="12351"/>
          </a:xfrm>
          <a:prstGeom prst="line">
            <a:avLst/>
          </a:prstGeom>
          <a:ln cap="flat" w="85725">
            <a:solidFill>
              <a:srgbClr val="1E498A"/>
            </a:solidFill>
            <a:prstDash val="solid"/>
            <a:headEnd type="none" len="sm" w="sm"/>
            <a:tailEnd type="none" len="sm" w="sm"/>
          </a:ln>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99459" y="803973"/>
            <a:ext cx="17054762" cy="762000"/>
          </a:xfrm>
          <a:prstGeom prst="rect">
            <a:avLst/>
          </a:prstGeom>
        </p:spPr>
        <p:txBody>
          <a:bodyPr anchor="t" rtlCol="false" tIns="0" lIns="0" bIns="0" rIns="0">
            <a:spAutoFit/>
          </a:bodyPr>
          <a:lstStyle/>
          <a:p>
            <a:pPr algn="just" marL="0" indent="0" lvl="0">
              <a:lnSpc>
                <a:spcPts val="6299"/>
              </a:lnSpc>
              <a:spcBef>
                <a:spcPct val="0"/>
              </a:spcBef>
            </a:pPr>
            <a:r>
              <a:rPr lang="en-US" b="true" sz="4500" strike="noStrike" u="none">
                <a:solidFill>
                  <a:srgbClr val="002557"/>
                </a:solidFill>
                <a:latin typeface="Montserrat Bold"/>
                <a:ea typeface="Montserrat Bold"/>
                <a:cs typeface="Montserrat Bold"/>
                <a:sym typeface="Montserrat Bold"/>
              </a:rPr>
              <a:t>Data Sharing</a:t>
            </a:r>
          </a:p>
        </p:txBody>
      </p:sp>
      <p:sp>
        <p:nvSpPr>
          <p:cNvPr name="TextBox 3" id="3"/>
          <p:cNvSpPr txBox="true"/>
          <p:nvPr/>
        </p:nvSpPr>
        <p:spPr>
          <a:xfrm rot="0">
            <a:off x="6609041" y="2057101"/>
            <a:ext cx="10650259" cy="6697472"/>
          </a:xfrm>
          <a:prstGeom prst="rect">
            <a:avLst/>
          </a:prstGeom>
        </p:spPr>
        <p:txBody>
          <a:bodyPr anchor="t" rtlCol="false" tIns="0" lIns="0" bIns="0" rIns="0">
            <a:spAutoFit/>
          </a:bodyPr>
          <a:lstStyle/>
          <a:p>
            <a:pPr algn="l">
              <a:lnSpc>
                <a:spcPts val="3598"/>
              </a:lnSpc>
            </a:pPr>
            <a:r>
              <a:rPr lang="en-US" sz="2570" b="true">
                <a:solidFill>
                  <a:srgbClr val="1E3A8A"/>
                </a:solidFill>
                <a:latin typeface="Montserrat Bold"/>
                <a:ea typeface="Montserrat Bold"/>
                <a:cs typeface="Montserrat Bold"/>
                <a:sym typeface="Montserrat Bold"/>
              </a:rPr>
              <a:t>Local Control</a:t>
            </a:r>
          </a:p>
          <a:p>
            <a:pPr algn="l">
              <a:lnSpc>
                <a:spcPts val="3598"/>
              </a:lnSpc>
            </a:pPr>
            <a:r>
              <a:rPr lang="en-US" sz="2570">
                <a:solidFill>
                  <a:srgbClr val="1D1D1F"/>
                </a:solidFill>
                <a:latin typeface="Montserrat"/>
                <a:ea typeface="Montserrat"/>
                <a:cs typeface="Montserrat"/>
                <a:sym typeface="Montserrat"/>
              </a:rPr>
              <a:t>San Mateo PD sets data sharing settings and policies. Nothing is shared unless we choose to share it. </a:t>
            </a:r>
          </a:p>
          <a:p>
            <a:pPr algn="l">
              <a:lnSpc>
                <a:spcPts val="3598"/>
              </a:lnSpc>
            </a:pPr>
          </a:p>
          <a:p>
            <a:pPr algn="l">
              <a:lnSpc>
                <a:spcPts val="3598"/>
              </a:lnSpc>
            </a:pPr>
            <a:r>
              <a:rPr lang="en-US" sz="2570" b="true">
                <a:solidFill>
                  <a:srgbClr val="1E3A8A"/>
                </a:solidFill>
                <a:latin typeface="Montserrat Bold"/>
                <a:ea typeface="Montserrat Bold"/>
                <a:cs typeface="Montserrat Bold"/>
                <a:sym typeface="Montserrat Bold"/>
              </a:rPr>
              <a:t>Authorization Required</a:t>
            </a:r>
          </a:p>
          <a:p>
            <a:pPr algn="l">
              <a:lnSpc>
                <a:spcPts val="3598"/>
              </a:lnSpc>
            </a:pPr>
            <a:r>
              <a:rPr lang="en-US" sz="2570">
                <a:solidFill>
                  <a:srgbClr val="1D1D1F"/>
                </a:solidFill>
                <a:latin typeface="Montserrat"/>
                <a:ea typeface="Montserrat"/>
                <a:cs typeface="Montserrat"/>
                <a:sym typeface="Montserrat"/>
              </a:rPr>
              <a:t>Any sharing of ALPR data must be specifically authorized by San Mateo PD through a data sharing agreement.</a:t>
            </a:r>
          </a:p>
          <a:p>
            <a:pPr algn="l">
              <a:lnSpc>
                <a:spcPts val="3598"/>
              </a:lnSpc>
            </a:pPr>
          </a:p>
          <a:p>
            <a:pPr algn="l">
              <a:lnSpc>
                <a:spcPts val="3598"/>
              </a:lnSpc>
            </a:pPr>
            <a:r>
              <a:rPr lang="en-US" sz="2570" b="true">
                <a:solidFill>
                  <a:srgbClr val="1E3A8A"/>
                </a:solidFill>
                <a:latin typeface="Montserrat Bold"/>
                <a:ea typeface="Montserrat Bold"/>
                <a:cs typeface="Montserrat Bold"/>
                <a:sym typeface="Montserrat Bold"/>
              </a:rPr>
              <a:t>Consistent with Policy and Law</a:t>
            </a:r>
          </a:p>
          <a:p>
            <a:pPr algn="l">
              <a:lnSpc>
                <a:spcPts val="3598"/>
              </a:lnSpc>
            </a:pPr>
            <a:r>
              <a:rPr lang="en-US" sz="2570">
                <a:solidFill>
                  <a:srgbClr val="1D1D1F"/>
                </a:solidFill>
                <a:latin typeface="Montserrat"/>
                <a:ea typeface="Montserrat"/>
                <a:cs typeface="Montserrat"/>
                <a:sym typeface="Montserrat"/>
              </a:rPr>
              <a:t>All data sharing agreements must be consistent with San Mateo PD policies and applicable law. </a:t>
            </a:r>
          </a:p>
          <a:p>
            <a:pPr algn="l">
              <a:lnSpc>
                <a:spcPts val="3598"/>
              </a:lnSpc>
            </a:pPr>
          </a:p>
          <a:p>
            <a:pPr algn="l">
              <a:lnSpc>
                <a:spcPts val="3598"/>
              </a:lnSpc>
            </a:pPr>
            <a:r>
              <a:rPr lang="en-US" sz="2570" b="true">
                <a:solidFill>
                  <a:srgbClr val="1E3A8A"/>
                </a:solidFill>
                <a:latin typeface="Montserrat Bold"/>
                <a:ea typeface="Montserrat Bold"/>
                <a:cs typeface="Montserrat Bold"/>
                <a:sym typeface="Montserrat Bold"/>
              </a:rPr>
              <a:t>Purpose-Driven</a:t>
            </a:r>
          </a:p>
          <a:p>
            <a:pPr algn="l" marL="0" indent="0" lvl="0">
              <a:lnSpc>
                <a:spcPts val="3598"/>
              </a:lnSpc>
              <a:spcBef>
                <a:spcPct val="0"/>
              </a:spcBef>
            </a:pPr>
            <a:r>
              <a:rPr lang="en-US" sz="2570">
                <a:solidFill>
                  <a:srgbClr val="1D1D1F"/>
                </a:solidFill>
                <a:latin typeface="Montserrat"/>
                <a:ea typeface="Montserrat"/>
                <a:cs typeface="Montserrat"/>
                <a:sym typeface="Montserrat"/>
              </a:rPr>
              <a:t>We only share data when it supports legitimate law-enforcement purposes and enhances public safety.</a:t>
            </a:r>
          </a:p>
        </p:txBody>
      </p:sp>
      <p:sp>
        <p:nvSpPr>
          <p:cNvPr name="Freeform 4" id="4"/>
          <p:cNvSpPr/>
          <p:nvPr/>
        </p:nvSpPr>
        <p:spPr>
          <a:xfrm flipH="false" flipV="false" rot="0">
            <a:off x="705767" y="2522600"/>
            <a:ext cx="5506092" cy="5241800"/>
          </a:xfrm>
          <a:custGeom>
            <a:avLst/>
            <a:gdLst/>
            <a:ahLst/>
            <a:cxnLst/>
            <a:rect r="r" b="b" t="t" l="l"/>
            <a:pathLst>
              <a:path h="5241800" w="5506092">
                <a:moveTo>
                  <a:pt x="0" y="0"/>
                </a:moveTo>
                <a:lnTo>
                  <a:pt x="5506092" y="0"/>
                </a:lnTo>
                <a:lnTo>
                  <a:pt x="5506092" y="5241800"/>
                </a:lnTo>
                <a:lnTo>
                  <a:pt x="0" y="5241800"/>
                </a:lnTo>
                <a:lnTo>
                  <a:pt x="0" y="0"/>
                </a:lnTo>
                <a:close/>
              </a:path>
            </a:pathLst>
          </a:custGeom>
          <a:blipFill>
            <a:blip r:embed="rId2"/>
            <a:stretch>
              <a:fillRect l="0" t="0" r="0" b="0"/>
            </a:stretch>
          </a:blipFill>
        </p:spPr>
      </p:sp>
      <p:sp>
        <p:nvSpPr>
          <p:cNvPr name="AutoShape 5" id="5"/>
          <p:cNvSpPr/>
          <p:nvPr/>
        </p:nvSpPr>
        <p:spPr>
          <a:xfrm>
            <a:off x="-694882" y="1527873"/>
            <a:ext cx="9131783" cy="0"/>
          </a:xfrm>
          <a:prstGeom prst="line">
            <a:avLst/>
          </a:prstGeom>
          <a:ln cap="flat" w="38100">
            <a:solidFill>
              <a:srgbClr val="A28231"/>
            </a:solidFill>
            <a:prstDash val="solid"/>
            <a:headEnd type="none" len="sm" w="sm"/>
            <a:tailEnd type="none" len="sm" w="sm"/>
          </a:ln>
        </p:spPr>
      </p:sp>
      <p:sp>
        <p:nvSpPr>
          <p:cNvPr name="AutoShape 6" id="6"/>
          <p:cNvSpPr/>
          <p:nvPr/>
        </p:nvSpPr>
        <p:spPr>
          <a:xfrm flipV="true">
            <a:off x="-117230" y="10287000"/>
            <a:ext cx="19376532" cy="12351"/>
          </a:xfrm>
          <a:prstGeom prst="line">
            <a:avLst/>
          </a:prstGeom>
          <a:ln cap="flat" w="85725">
            <a:solidFill>
              <a:srgbClr val="1E498A"/>
            </a:solidFill>
            <a:prstDash val="solid"/>
            <a:headEnd type="none" len="sm" w="sm"/>
            <a:tailEnd type="none" len="sm" w="sm"/>
          </a:ln>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99459" y="803973"/>
            <a:ext cx="17054762" cy="762000"/>
          </a:xfrm>
          <a:prstGeom prst="rect">
            <a:avLst/>
          </a:prstGeom>
        </p:spPr>
        <p:txBody>
          <a:bodyPr anchor="t" rtlCol="false" tIns="0" lIns="0" bIns="0" rIns="0">
            <a:spAutoFit/>
          </a:bodyPr>
          <a:lstStyle/>
          <a:p>
            <a:pPr algn="just" marL="0" indent="0" lvl="0">
              <a:lnSpc>
                <a:spcPts val="6299"/>
              </a:lnSpc>
              <a:spcBef>
                <a:spcPct val="0"/>
              </a:spcBef>
            </a:pPr>
            <a:r>
              <a:rPr lang="en-US" b="true" sz="4500" strike="noStrike" u="none">
                <a:solidFill>
                  <a:srgbClr val="002557"/>
                </a:solidFill>
                <a:latin typeface="Montserrat Bold"/>
                <a:ea typeface="Montserrat Bold"/>
                <a:cs typeface="Montserrat Bold"/>
                <a:sym typeface="Montserrat Bold"/>
              </a:rPr>
              <a:t>Network Data Sharing </a:t>
            </a:r>
          </a:p>
        </p:txBody>
      </p:sp>
      <p:sp>
        <p:nvSpPr>
          <p:cNvPr name="TextBox 3" id="3"/>
          <p:cNvSpPr txBox="true"/>
          <p:nvPr/>
        </p:nvSpPr>
        <p:spPr>
          <a:xfrm rot="0">
            <a:off x="881386" y="1659251"/>
            <a:ext cx="13419832" cy="514350"/>
          </a:xfrm>
          <a:prstGeom prst="rect">
            <a:avLst/>
          </a:prstGeom>
        </p:spPr>
        <p:txBody>
          <a:bodyPr anchor="t" rtlCol="false" tIns="0" lIns="0" bIns="0" rIns="0">
            <a:spAutoFit/>
          </a:bodyPr>
          <a:lstStyle/>
          <a:p>
            <a:pPr algn="ctr">
              <a:lnSpc>
                <a:spcPts val="4200"/>
              </a:lnSpc>
            </a:pPr>
            <a:r>
              <a:rPr lang="en-US" sz="3000">
                <a:solidFill>
                  <a:srgbClr val="002557"/>
                </a:solidFill>
                <a:latin typeface="Canva Sans"/>
                <a:ea typeface="Canva Sans"/>
                <a:cs typeface="Canva Sans"/>
                <a:sym typeface="Canva Sans"/>
              </a:rPr>
              <a:t>The organizations below have been granted access to San Mateo PD data:</a:t>
            </a:r>
          </a:p>
        </p:txBody>
      </p:sp>
      <p:sp>
        <p:nvSpPr>
          <p:cNvPr name="Freeform 4" id="4"/>
          <p:cNvSpPr/>
          <p:nvPr/>
        </p:nvSpPr>
        <p:spPr>
          <a:xfrm flipH="false" flipV="false" rot="0">
            <a:off x="2621876" y="2726492"/>
            <a:ext cx="8251284" cy="6531808"/>
          </a:xfrm>
          <a:custGeom>
            <a:avLst/>
            <a:gdLst/>
            <a:ahLst/>
            <a:cxnLst/>
            <a:rect r="r" b="b" t="t" l="l"/>
            <a:pathLst>
              <a:path h="6531808" w="8251284">
                <a:moveTo>
                  <a:pt x="0" y="0"/>
                </a:moveTo>
                <a:lnTo>
                  <a:pt x="8251284" y="0"/>
                </a:lnTo>
                <a:lnTo>
                  <a:pt x="8251284" y="6531808"/>
                </a:lnTo>
                <a:lnTo>
                  <a:pt x="0" y="6531808"/>
                </a:lnTo>
                <a:lnTo>
                  <a:pt x="0" y="0"/>
                </a:lnTo>
                <a:close/>
              </a:path>
            </a:pathLst>
          </a:custGeom>
          <a:blipFill>
            <a:blip r:embed="rId2"/>
            <a:stretch>
              <a:fillRect l="-561" t="0" r="-561" b="0"/>
            </a:stretch>
          </a:blipFill>
        </p:spPr>
      </p:sp>
      <p:sp>
        <p:nvSpPr>
          <p:cNvPr name="Freeform 5" id="5"/>
          <p:cNvSpPr/>
          <p:nvPr/>
        </p:nvSpPr>
        <p:spPr>
          <a:xfrm flipH="false" flipV="false" rot="0">
            <a:off x="10873160" y="2726492"/>
            <a:ext cx="4792965" cy="6531808"/>
          </a:xfrm>
          <a:custGeom>
            <a:avLst/>
            <a:gdLst/>
            <a:ahLst/>
            <a:cxnLst/>
            <a:rect r="r" b="b" t="t" l="l"/>
            <a:pathLst>
              <a:path h="6531808" w="4792965">
                <a:moveTo>
                  <a:pt x="0" y="0"/>
                </a:moveTo>
                <a:lnTo>
                  <a:pt x="4792964" y="0"/>
                </a:lnTo>
                <a:lnTo>
                  <a:pt x="4792964" y="6531808"/>
                </a:lnTo>
                <a:lnTo>
                  <a:pt x="0" y="6531808"/>
                </a:lnTo>
                <a:lnTo>
                  <a:pt x="0" y="0"/>
                </a:lnTo>
                <a:close/>
              </a:path>
            </a:pathLst>
          </a:custGeom>
          <a:blipFill>
            <a:blip r:embed="rId3"/>
            <a:stretch>
              <a:fillRect l="0" t="0" r="0" b="0"/>
            </a:stretch>
          </a:blipFill>
        </p:spPr>
      </p:sp>
      <p:sp>
        <p:nvSpPr>
          <p:cNvPr name="AutoShape 6" id="6"/>
          <p:cNvSpPr/>
          <p:nvPr/>
        </p:nvSpPr>
        <p:spPr>
          <a:xfrm>
            <a:off x="-694882" y="1527873"/>
            <a:ext cx="9131783" cy="0"/>
          </a:xfrm>
          <a:prstGeom prst="line">
            <a:avLst/>
          </a:prstGeom>
          <a:ln cap="flat" w="38100">
            <a:solidFill>
              <a:srgbClr val="A28231"/>
            </a:solidFill>
            <a:prstDash val="solid"/>
            <a:headEnd type="none" len="sm" w="sm"/>
            <a:tailEnd type="none" len="sm" w="sm"/>
          </a:ln>
        </p:spPr>
      </p:sp>
      <p:sp>
        <p:nvSpPr>
          <p:cNvPr name="AutoShape 7" id="7"/>
          <p:cNvSpPr/>
          <p:nvPr/>
        </p:nvSpPr>
        <p:spPr>
          <a:xfrm flipV="true">
            <a:off x="-117230" y="10287000"/>
            <a:ext cx="19376532" cy="12351"/>
          </a:xfrm>
          <a:prstGeom prst="line">
            <a:avLst/>
          </a:prstGeom>
          <a:ln cap="flat" w="85725">
            <a:solidFill>
              <a:srgbClr val="1E498A"/>
            </a:solidFill>
            <a:prstDash val="solid"/>
            <a:headEnd type="none" len="sm" w="sm"/>
            <a:tailEnd type="none" len="sm" w="sm"/>
          </a:ln>
        </p:spPr>
      </p:sp>
    </p:spTree>
  </p:cSld>
  <p:clrMapOvr>
    <a:masterClrMapping/>
  </p:clrMapOvr>
</p:sld>
</file>

<file path=ppt/slides/slide2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914400" y="771525"/>
            <a:ext cx="16459200" cy="762000"/>
          </a:xfrm>
          <a:prstGeom prst="rect">
            <a:avLst/>
          </a:prstGeom>
        </p:spPr>
        <p:txBody>
          <a:bodyPr anchor="t" rtlCol="false" tIns="0" lIns="0" bIns="0" rIns="0">
            <a:spAutoFit/>
          </a:bodyPr>
          <a:lstStyle/>
          <a:p>
            <a:pPr algn="l">
              <a:lnSpc>
                <a:spcPts val="6299"/>
              </a:lnSpc>
            </a:pPr>
            <a:r>
              <a:rPr lang="en-US" sz="4500" b="true">
                <a:solidFill>
                  <a:srgbClr val="002557"/>
                </a:solidFill>
                <a:latin typeface="Montserrat Bold"/>
                <a:ea typeface="Montserrat Bold"/>
                <a:cs typeface="Montserrat Bold"/>
                <a:sym typeface="Montserrat Bold"/>
              </a:rPr>
              <a:t>What Flock LPRs Do and Don’t Do</a:t>
            </a:r>
          </a:p>
        </p:txBody>
      </p:sp>
      <p:sp>
        <p:nvSpPr>
          <p:cNvPr name="TextBox 3" id="3"/>
          <p:cNvSpPr txBox="true"/>
          <p:nvPr/>
        </p:nvSpPr>
        <p:spPr>
          <a:xfrm rot="0">
            <a:off x="838200" y="4752975"/>
            <a:ext cx="16192500" cy="480060"/>
          </a:xfrm>
          <a:prstGeom prst="rect">
            <a:avLst/>
          </a:prstGeom>
        </p:spPr>
        <p:txBody>
          <a:bodyPr anchor="t" rtlCol="false" tIns="0" lIns="0" bIns="0" rIns="0">
            <a:spAutoFit/>
          </a:bodyPr>
          <a:lstStyle/>
          <a:p>
            <a:pPr algn="l">
              <a:lnSpc>
                <a:spcPts val="3990"/>
              </a:lnSpc>
            </a:pPr>
            <a:r>
              <a:rPr lang="en-US" sz="2850" b="true">
                <a:solidFill>
                  <a:srgbClr val="002557"/>
                </a:solidFill>
                <a:latin typeface="Montserrat Bold"/>
                <a:ea typeface="Montserrat Bold"/>
                <a:cs typeface="Montserrat Bold"/>
                <a:sym typeface="Montserrat Bold"/>
              </a:rPr>
              <a:t>What Flock LPRs Collect (and What We Don’t)</a:t>
            </a:r>
          </a:p>
        </p:txBody>
      </p:sp>
      <p:grpSp>
        <p:nvGrpSpPr>
          <p:cNvPr name="Group 4" id="4"/>
          <p:cNvGrpSpPr/>
          <p:nvPr/>
        </p:nvGrpSpPr>
        <p:grpSpPr>
          <a:xfrm rot="0">
            <a:off x="800100" y="2162175"/>
            <a:ext cx="3943350" cy="2047875"/>
            <a:chOff x="0" y="0"/>
            <a:chExt cx="5257800" cy="2730500"/>
          </a:xfrm>
        </p:grpSpPr>
        <p:sp>
          <p:nvSpPr>
            <p:cNvPr name="Freeform 5" id="5"/>
            <p:cNvSpPr/>
            <p:nvPr/>
          </p:nvSpPr>
          <p:spPr>
            <a:xfrm flipH="false" flipV="false" rot="0">
              <a:off x="0" y="0"/>
              <a:ext cx="5257800" cy="2730500"/>
            </a:xfrm>
            <a:custGeom>
              <a:avLst/>
              <a:gdLst/>
              <a:ahLst/>
              <a:cxnLst/>
              <a:rect r="r" b="b" t="t" l="l"/>
              <a:pathLst>
                <a:path h="2730500" w="5257800">
                  <a:moveTo>
                    <a:pt x="304800" y="0"/>
                  </a:moveTo>
                  <a:lnTo>
                    <a:pt x="4953000" y="0"/>
                  </a:lnTo>
                  <a:cubicBezTo>
                    <a:pt x="5121336" y="0"/>
                    <a:pt x="5257800" y="114608"/>
                    <a:pt x="5257800" y="255984"/>
                  </a:cubicBezTo>
                  <a:lnTo>
                    <a:pt x="5257800" y="2474516"/>
                  </a:lnTo>
                  <a:cubicBezTo>
                    <a:pt x="5257800" y="2615892"/>
                    <a:pt x="5121336" y="2730500"/>
                    <a:pt x="4953000" y="2730500"/>
                  </a:cubicBezTo>
                  <a:lnTo>
                    <a:pt x="304800" y="2730500"/>
                  </a:lnTo>
                  <a:cubicBezTo>
                    <a:pt x="136464" y="2730500"/>
                    <a:pt x="0" y="2615892"/>
                    <a:pt x="0" y="2474516"/>
                  </a:cubicBezTo>
                  <a:lnTo>
                    <a:pt x="0" y="255984"/>
                  </a:lnTo>
                  <a:cubicBezTo>
                    <a:pt x="0" y="114608"/>
                    <a:pt x="136464" y="0"/>
                    <a:pt x="304800" y="0"/>
                  </a:cubicBezTo>
                  <a:close/>
                </a:path>
              </a:pathLst>
            </a:custGeom>
            <a:solidFill>
              <a:srgbClr val="1E3A8A"/>
            </a:solidFill>
            <a:ln w="47625" cap="sq">
              <a:solidFill>
                <a:srgbClr val="0B1D51"/>
              </a:solidFill>
              <a:prstDash val="solid"/>
              <a:miter/>
            </a:ln>
          </p:spPr>
        </p:sp>
        <p:sp>
          <p:nvSpPr>
            <p:cNvPr name="TextBox 6" id="6"/>
            <p:cNvSpPr txBox="true"/>
            <p:nvPr/>
          </p:nvSpPr>
          <p:spPr>
            <a:xfrm>
              <a:off x="0" y="-38100"/>
              <a:ext cx="5257800" cy="2768600"/>
            </a:xfrm>
            <a:prstGeom prst="rect">
              <a:avLst/>
            </a:prstGeom>
          </p:spPr>
          <p:txBody>
            <a:bodyPr anchor="ctr" rtlCol="false" tIns="50800" lIns="50800" bIns="50800" rIns="50800"/>
            <a:lstStyle/>
            <a:p>
              <a:pPr algn="l">
                <a:lnSpc>
                  <a:spcPts val="1679"/>
                </a:lnSpc>
              </a:pPr>
            </a:p>
          </p:txBody>
        </p:sp>
      </p:grpSp>
      <p:grpSp>
        <p:nvGrpSpPr>
          <p:cNvPr name="Group 7" id="7"/>
          <p:cNvGrpSpPr/>
          <p:nvPr/>
        </p:nvGrpSpPr>
        <p:grpSpPr>
          <a:xfrm rot="0">
            <a:off x="4972050" y="2162175"/>
            <a:ext cx="3943350" cy="2047875"/>
            <a:chOff x="0" y="0"/>
            <a:chExt cx="5257800" cy="2730500"/>
          </a:xfrm>
        </p:grpSpPr>
        <p:sp>
          <p:nvSpPr>
            <p:cNvPr name="Freeform 8" id="8"/>
            <p:cNvSpPr/>
            <p:nvPr/>
          </p:nvSpPr>
          <p:spPr>
            <a:xfrm flipH="false" flipV="false" rot="0">
              <a:off x="0" y="0"/>
              <a:ext cx="5257800" cy="2730500"/>
            </a:xfrm>
            <a:custGeom>
              <a:avLst/>
              <a:gdLst/>
              <a:ahLst/>
              <a:cxnLst/>
              <a:rect r="r" b="b" t="t" l="l"/>
              <a:pathLst>
                <a:path h="2730500" w="5257800">
                  <a:moveTo>
                    <a:pt x="304800" y="0"/>
                  </a:moveTo>
                  <a:lnTo>
                    <a:pt x="4953000" y="0"/>
                  </a:lnTo>
                  <a:cubicBezTo>
                    <a:pt x="5121336" y="0"/>
                    <a:pt x="5257800" y="114608"/>
                    <a:pt x="5257800" y="255984"/>
                  </a:cubicBezTo>
                  <a:lnTo>
                    <a:pt x="5257800" y="2474516"/>
                  </a:lnTo>
                  <a:cubicBezTo>
                    <a:pt x="5257800" y="2615892"/>
                    <a:pt x="5121336" y="2730500"/>
                    <a:pt x="4953000" y="2730500"/>
                  </a:cubicBezTo>
                  <a:lnTo>
                    <a:pt x="304800" y="2730500"/>
                  </a:lnTo>
                  <a:cubicBezTo>
                    <a:pt x="136464" y="2730500"/>
                    <a:pt x="0" y="2615892"/>
                    <a:pt x="0" y="2474516"/>
                  </a:cubicBezTo>
                  <a:lnTo>
                    <a:pt x="0" y="255984"/>
                  </a:lnTo>
                  <a:cubicBezTo>
                    <a:pt x="0" y="114608"/>
                    <a:pt x="136464" y="0"/>
                    <a:pt x="304800" y="0"/>
                  </a:cubicBezTo>
                  <a:close/>
                </a:path>
              </a:pathLst>
            </a:custGeom>
            <a:solidFill>
              <a:srgbClr val="1E3A8A"/>
            </a:solidFill>
            <a:ln w="47625" cap="sq">
              <a:solidFill>
                <a:srgbClr val="0B1D51"/>
              </a:solidFill>
              <a:prstDash val="solid"/>
              <a:miter/>
            </a:ln>
          </p:spPr>
        </p:sp>
        <p:sp>
          <p:nvSpPr>
            <p:cNvPr name="TextBox 9" id="9"/>
            <p:cNvSpPr txBox="true"/>
            <p:nvPr/>
          </p:nvSpPr>
          <p:spPr>
            <a:xfrm>
              <a:off x="0" y="-38100"/>
              <a:ext cx="5257800" cy="2768600"/>
            </a:xfrm>
            <a:prstGeom prst="rect">
              <a:avLst/>
            </a:prstGeom>
          </p:spPr>
          <p:txBody>
            <a:bodyPr anchor="ctr" rtlCol="false" tIns="50800" lIns="50800" bIns="50800" rIns="50800"/>
            <a:lstStyle/>
            <a:p>
              <a:pPr algn="l">
                <a:lnSpc>
                  <a:spcPts val="1679"/>
                </a:lnSpc>
              </a:pPr>
            </a:p>
          </p:txBody>
        </p:sp>
      </p:grpSp>
      <p:grpSp>
        <p:nvGrpSpPr>
          <p:cNvPr name="Group 10" id="10"/>
          <p:cNvGrpSpPr/>
          <p:nvPr/>
        </p:nvGrpSpPr>
        <p:grpSpPr>
          <a:xfrm rot="0">
            <a:off x="9144000" y="2162175"/>
            <a:ext cx="3943350" cy="2057400"/>
            <a:chOff x="0" y="0"/>
            <a:chExt cx="5257800" cy="2743200"/>
          </a:xfrm>
        </p:grpSpPr>
        <p:sp>
          <p:nvSpPr>
            <p:cNvPr name="Freeform 11" id="11"/>
            <p:cNvSpPr/>
            <p:nvPr/>
          </p:nvSpPr>
          <p:spPr>
            <a:xfrm flipH="false" flipV="false" rot="0">
              <a:off x="0" y="0"/>
              <a:ext cx="5257800" cy="2743200"/>
            </a:xfrm>
            <a:custGeom>
              <a:avLst/>
              <a:gdLst/>
              <a:ahLst/>
              <a:cxnLst/>
              <a:rect r="r" b="b" t="t" l="l"/>
              <a:pathLst>
                <a:path h="2743200" w="5257800">
                  <a:moveTo>
                    <a:pt x="304800" y="0"/>
                  </a:moveTo>
                  <a:lnTo>
                    <a:pt x="4953000" y="0"/>
                  </a:lnTo>
                  <a:cubicBezTo>
                    <a:pt x="5121336" y="0"/>
                    <a:pt x="5257800" y="115141"/>
                    <a:pt x="5257800" y="257175"/>
                  </a:cubicBezTo>
                  <a:lnTo>
                    <a:pt x="5257800" y="2486025"/>
                  </a:lnTo>
                  <a:cubicBezTo>
                    <a:pt x="5257800" y="2628059"/>
                    <a:pt x="5121336" y="2743200"/>
                    <a:pt x="4953000" y="2743200"/>
                  </a:cubicBezTo>
                  <a:lnTo>
                    <a:pt x="304800" y="2743200"/>
                  </a:lnTo>
                  <a:cubicBezTo>
                    <a:pt x="136464" y="2743200"/>
                    <a:pt x="0" y="2628059"/>
                    <a:pt x="0" y="2486025"/>
                  </a:cubicBezTo>
                  <a:lnTo>
                    <a:pt x="0" y="257175"/>
                  </a:lnTo>
                  <a:cubicBezTo>
                    <a:pt x="0" y="115141"/>
                    <a:pt x="136464" y="0"/>
                    <a:pt x="304800" y="0"/>
                  </a:cubicBezTo>
                  <a:close/>
                </a:path>
              </a:pathLst>
            </a:custGeom>
            <a:solidFill>
              <a:srgbClr val="1E3A8A"/>
            </a:solidFill>
            <a:ln w="47625" cap="sq">
              <a:solidFill>
                <a:srgbClr val="0B1D51"/>
              </a:solidFill>
              <a:prstDash val="solid"/>
              <a:miter/>
            </a:ln>
          </p:spPr>
        </p:sp>
        <p:sp>
          <p:nvSpPr>
            <p:cNvPr name="TextBox 12" id="12"/>
            <p:cNvSpPr txBox="true"/>
            <p:nvPr/>
          </p:nvSpPr>
          <p:spPr>
            <a:xfrm>
              <a:off x="0" y="-38100"/>
              <a:ext cx="5257800" cy="2781300"/>
            </a:xfrm>
            <a:prstGeom prst="rect">
              <a:avLst/>
            </a:prstGeom>
          </p:spPr>
          <p:txBody>
            <a:bodyPr anchor="ctr" rtlCol="false" tIns="50800" lIns="50800" bIns="50800" rIns="50800"/>
            <a:lstStyle/>
            <a:p>
              <a:pPr algn="l">
                <a:lnSpc>
                  <a:spcPts val="1679"/>
                </a:lnSpc>
              </a:pPr>
            </a:p>
          </p:txBody>
        </p:sp>
      </p:grpSp>
      <p:grpSp>
        <p:nvGrpSpPr>
          <p:cNvPr name="Group 13" id="13"/>
          <p:cNvGrpSpPr/>
          <p:nvPr/>
        </p:nvGrpSpPr>
        <p:grpSpPr>
          <a:xfrm rot="0">
            <a:off x="13315950" y="2162175"/>
            <a:ext cx="3943350" cy="2057400"/>
            <a:chOff x="0" y="0"/>
            <a:chExt cx="5257800" cy="2743200"/>
          </a:xfrm>
        </p:grpSpPr>
        <p:sp>
          <p:nvSpPr>
            <p:cNvPr name="Freeform 14" id="14"/>
            <p:cNvSpPr/>
            <p:nvPr/>
          </p:nvSpPr>
          <p:spPr>
            <a:xfrm flipH="false" flipV="false" rot="0">
              <a:off x="0" y="0"/>
              <a:ext cx="5257800" cy="2743200"/>
            </a:xfrm>
            <a:custGeom>
              <a:avLst/>
              <a:gdLst/>
              <a:ahLst/>
              <a:cxnLst/>
              <a:rect r="r" b="b" t="t" l="l"/>
              <a:pathLst>
                <a:path h="2743200" w="5257800">
                  <a:moveTo>
                    <a:pt x="304800" y="0"/>
                  </a:moveTo>
                  <a:lnTo>
                    <a:pt x="4953000" y="0"/>
                  </a:lnTo>
                  <a:cubicBezTo>
                    <a:pt x="5121336" y="0"/>
                    <a:pt x="5257800" y="115141"/>
                    <a:pt x="5257800" y="257175"/>
                  </a:cubicBezTo>
                  <a:lnTo>
                    <a:pt x="5257800" y="2486025"/>
                  </a:lnTo>
                  <a:cubicBezTo>
                    <a:pt x="5257800" y="2628059"/>
                    <a:pt x="5121336" y="2743200"/>
                    <a:pt x="4953000" y="2743200"/>
                  </a:cubicBezTo>
                  <a:lnTo>
                    <a:pt x="304800" y="2743200"/>
                  </a:lnTo>
                  <a:cubicBezTo>
                    <a:pt x="136464" y="2743200"/>
                    <a:pt x="0" y="2628059"/>
                    <a:pt x="0" y="2486025"/>
                  </a:cubicBezTo>
                  <a:lnTo>
                    <a:pt x="0" y="257175"/>
                  </a:lnTo>
                  <a:cubicBezTo>
                    <a:pt x="0" y="115141"/>
                    <a:pt x="136464" y="0"/>
                    <a:pt x="304800" y="0"/>
                  </a:cubicBezTo>
                  <a:close/>
                </a:path>
              </a:pathLst>
            </a:custGeom>
            <a:solidFill>
              <a:srgbClr val="1E3A8A"/>
            </a:solidFill>
            <a:ln w="47625" cap="sq">
              <a:solidFill>
                <a:srgbClr val="0B1D51"/>
              </a:solidFill>
              <a:prstDash val="solid"/>
              <a:miter/>
            </a:ln>
          </p:spPr>
        </p:sp>
        <p:sp>
          <p:nvSpPr>
            <p:cNvPr name="TextBox 15" id="15"/>
            <p:cNvSpPr txBox="true"/>
            <p:nvPr/>
          </p:nvSpPr>
          <p:spPr>
            <a:xfrm>
              <a:off x="0" y="-38100"/>
              <a:ext cx="5257800" cy="2781300"/>
            </a:xfrm>
            <a:prstGeom prst="rect">
              <a:avLst/>
            </a:prstGeom>
          </p:spPr>
          <p:txBody>
            <a:bodyPr anchor="ctr" rtlCol="false" tIns="50800" lIns="50800" bIns="50800" rIns="50800"/>
            <a:lstStyle/>
            <a:p>
              <a:pPr algn="l">
                <a:lnSpc>
                  <a:spcPts val="1679"/>
                </a:lnSpc>
              </a:pPr>
            </a:p>
          </p:txBody>
        </p:sp>
      </p:grpSp>
      <p:grpSp>
        <p:nvGrpSpPr>
          <p:cNvPr name="Group 16" id="16"/>
          <p:cNvGrpSpPr/>
          <p:nvPr/>
        </p:nvGrpSpPr>
        <p:grpSpPr>
          <a:xfrm rot="0">
            <a:off x="914400" y="5391150"/>
            <a:ext cx="8077200" cy="1766821"/>
            <a:chOff x="0" y="0"/>
            <a:chExt cx="10769600" cy="2355761"/>
          </a:xfrm>
        </p:grpSpPr>
        <p:sp>
          <p:nvSpPr>
            <p:cNvPr name="Freeform 17" id="17"/>
            <p:cNvSpPr/>
            <p:nvPr/>
          </p:nvSpPr>
          <p:spPr>
            <a:xfrm flipH="false" flipV="false" rot="0">
              <a:off x="0" y="0"/>
              <a:ext cx="10769600" cy="2355761"/>
            </a:xfrm>
            <a:custGeom>
              <a:avLst/>
              <a:gdLst/>
              <a:ahLst/>
              <a:cxnLst/>
              <a:rect r="r" b="b" t="t" l="l"/>
              <a:pathLst>
                <a:path h="2355761" w="10769600">
                  <a:moveTo>
                    <a:pt x="279400" y="0"/>
                  </a:moveTo>
                  <a:lnTo>
                    <a:pt x="10490200" y="0"/>
                  </a:lnTo>
                  <a:cubicBezTo>
                    <a:pt x="10644508" y="0"/>
                    <a:pt x="10769600" y="110493"/>
                    <a:pt x="10769600" y="246794"/>
                  </a:cubicBezTo>
                  <a:lnTo>
                    <a:pt x="10769600" y="2108967"/>
                  </a:lnTo>
                  <a:cubicBezTo>
                    <a:pt x="10769600" y="2245268"/>
                    <a:pt x="10644508" y="2355761"/>
                    <a:pt x="10490200" y="2355761"/>
                  </a:cubicBezTo>
                  <a:lnTo>
                    <a:pt x="279400" y="2355761"/>
                  </a:lnTo>
                  <a:cubicBezTo>
                    <a:pt x="125092" y="2355761"/>
                    <a:pt x="0" y="2245268"/>
                    <a:pt x="0" y="2108967"/>
                  </a:cubicBezTo>
                  <a:lnTo>
                    <a:pt x="0" y="246794"/>
                  </a:lnTo>
                  <a:cubicBezTo>
                    <a:pt x="0" y="110493"/>
                    <a:pt x="125092" y="0"/>
                    <a:pt x="279400" y="0"/>
                  </a:cubicBezTo>
                  <a:close/>
                </a:path>
              </a:pathLst>
            </a:custGeom>
            <a:solidFill>
              <a:srgbClr val="E4EEE6"/>
            </a:solidFill>
            <a:ln w="38100" cap="sq">
              <a:solidFill>
                <a:srgbClr val="003D06"/>
              </a:solidFill>
              <a:prstDash val="solid"/>
              <a:miter/>
            </a:ln>
          </p:spPr>
        </p:sp>
        <p:sp>
          <p:nvSpPr>
            <p:cNvPr name="TextBox 18" id="18"/>
            <p:cNvSpPr txBox="true"/>
            <p:nvPr/>
          </p:nvSpPr>
          <p:spPr>
            <a:xfrm>
              <a:off x="0" y="-38100"/>
              <a:ext cx="10769600" cy="2393861"/>
            </a:xfrm>
            <a:prstGeom prst="rect">
              <a:avLst/>
            </a:prstGeom>
          </p:spPr>
          <p:txBody>
            <a:bodyPr anchor="ctr" rtlCol="false" tIns="50800" lIns="50800" bIns="50800" rIns="50800"/>
            <a:lstStyle/>
            <a:p>
              <a:pPr algn="l">
                <a:lnSpc>
                  <a:spcPts val="1679"/>
                </a:lnSpc>
              </a:pPr>
            </a:p>
          </p:txBody>
        </p:sp>
      </p:grpSp>
      <p:sp>
        <p:nvSpPr>
          <p:cNvPr name="TextBox 19" id="19"/>
          <p:cNvSpPr txBox="true"/>
          <p:nvPr/>
        </p:nvSpPr>
        <p:spPr>
          <a:xfrm rot="0">
            <a:off x="876300" y="5614035"/>
            <a:ext cx="8039100" cy="372745"/>
          </a:xfrm>
          <a:prstGeom prst="rect">
            <a:avLst/>
          </a:prstGeom>
        </p:spPr>
        <p:txBody>
          <a:bodyPr anchor="t" rtlCol="false" tIns="0" lIns="0" bIns="0" rIns="0">
            <a:spAutoFit/>
          </a:bodyPr>
          <a:lstStyle/>
          <a:p>
            <a:pPr algn="ctr">
              <a:lnSpc>
                <a:spcPts val="3079"/>
              </a:lnSpc>
            </a:pPr>
            <a:r>
              <a:rPr lang="en-US" sz="2199" b="true">
                <a:solidFill>
                  <a:srgbClr val="003D06"/>
                </a:solidFill>
                <a:latin typeface="Montserrat Bold"/>
                <a:ea typeface="Montserrat Bold"/>
                <a:cs typeface="Montserrat Bold"/>
                <a:sym typeface="Montserrat Bold"/>
              </a:rPr>
              <a:t>COLLECTED</a:t>
            </a:r>
          </a:p>
        </p:txBody>
      </p:sp>
      <p:grpSp>
        <p:nvGrpSpPr>
          <p:cNvPr name="Group 20" id="20"/>
          <p:cNvGrpSpPr/>
          <p:nvPr/>
        </p:nvGrpSpPr>
        <p:grpSpPr>
          <a:xfrm rot="0">
            <a:off x="9296400" y="5391150"/>
            <a:ext cx="8077200" cy="1766821"/>
            <a:chOff x="0" y="0"/>
            <a:chExt cx="10769600" cy="2355761"/>
          </a:xfrm>
        </p:grpSpPr>
        <p:sp>
          <p:nvSpPr>
            <p:cNvPr name="Freeform 21" id="21"/>
            <p:cNvSpPr/>
            <p:nvPr/>
          </p:nvSpPr>
          <p:spPr>
            <a:xfrm flipH="false" flipV="false" rot="0">
              <a:off x="0" y="0"/>
              <a:ext cx="10769600" cy="2355761"/>
            </a:xfrm>
            <a:custGeom>
              <a:avLst/>
              <a:gdLst/>
              <a:ahLst/>
              <a:cxnLst/>
              <a:rect r="r" b="b" t="t" l="l"/>
              <a:pathLst>
                <a:path h="2355761" w="10769600">
                  <a:moveTo>
                    <a:pt x="279400" y="0"/>
                  </a:moveTo>
                  <a:lnTo>
                    <a:pt x="10490200" y="0"/>
                  </a:lnTo>
                  <a:cubicBezTo>
                    <a:pt x="10644508" y="0"/>
                    <a:pt x="10769600" y="110493"/>
                    <a:pt x="10769600" y="246794"/>
                  </a:cubicBezTo>
                  <a:lnTo>
                    <a:pt x="10769600" y="2108967"/>
                  </a:lnTo>
                  <a:cubicBezTo>
                    <a:pt x="10769600" y="2245268"/>
                    <a:pt x="10644508" y="2355761"/>
                    <a:pt x="10490200" y="2355761"/>
                  </a:cubicBezTo>
                  <a:lnTo>
                    <a:pt x="279400" y="2355761"/>
                  </a:lnTo>
                  <a:cubicBezTo>
                    <a:pt x="125092" y="2355761"/>
                    <a:pt x="0" y="2245268"/>
                    <a:pt x="0" y="2108967"/>
                  </a:cubicBezTo>
                  <a:lnTo>
                    <a:pt x="0" y="246794"/>
                  </a:lnTo>
                  <a:cubicBezTo>
                    <a:pt x="0" y="110493"/>
                    <a:pt x="125092" y="0"/>
                    <a:pt x="279400" y="0"/>
                  </a:cubicBezTo>
                  <a:close/>
                </a:path>
              </a:pathLst>
            </a:custGeom>
            <a:solidFill>
              <a:srgbClr val="F1E3E3"/>
            </a:solidFill>
            <a:ln w="38100" cap="sq">
              <a:solidFill>
                <a:srgbClr val="700C0C"/>
              </a:solidFill>
              <a:prstDash val="solid"/>
              <a:miter/>
            </a:ln>
          </p:spPr>
        </p:sp>
        <p:sp>
          <p:nvSpPr>
            <p:cNvPr name="TextBox 22" id="22"/>
            <p:cNvSpPr txBox="true"/>
            <p:nvPr/>
          </p:nvSpPr>
          <p:spPr>
            <a:xfrm>
              <a:off x="0" y="-38100"/>
              <a:ext cx="10769600" cy="2393861"/>
            </a:xfrm>
            <a:prstGeom prst="rect">
              <a:avLst/>
            </a:prstGeom>
          </p:spPr>
          <p:txBody>
            <a:bodyPr anchor="ctr" rtlCol="false" tIns="50800" lIns="50800" bIns="50800" rIns="50800"/>
            <a:lstStyle/>
            <a:p>
              <a:pPr algn="l">
                <a:lnSpc>
                  <a:spcPts val="1679"/>
                </a:lnSpc>
              </a:pPr>
            </a:p>
          </p:txBody>
        </p:sp>
      </p:grpSp>
      <p:sp>
        <p:nvSpPr>
          <p:cNvPr name="TextBox 23" id="23"/>
          <p:cNvSpPr txBox="true"/>
          <p:nvPr/>
        </p:nvSpPr>
        <p:spPr>
          <a:xfrm rot="0">
            <a:off x="9372600" y="5614035"/>
            <a:ext cx="8039100" cy="372745"/>
          </a:xfrm>
          <a:prstGeom prst="rect">
            <a:avLst/>
          </a:prstGeom>
        </p:spPr>
        <p:txBody>
          <a:bodyPr anchor="t" rtlCol="false" tIns="0" lIns="0" bIns="0" rIns="0">
            <a:spAutoFit/>
          </a:bodyPr>
          <a:lstStyle/>
          <a:p>
            <a:pPr algn="ctr">
              <a:lnSpc>
                <a:spcPts val="3079"/>
              </a:lnSpc>
            </a:pPr>
            <a:r>
              <a:rPr lang="en-US" sz="2199" b="true">
                <a:solidFill>
                  <a:srgbClr val="700C0C"/>
                </a:solidFill>
                <a:latin typeface="Montserrat Bold"/>
                <a:ea typeface="Montserrat Bold"/>
                <a:cs typeface="Montserrat Bold"/>
                <a:sym typeface="Montserrat Bold"/>
              </a:rPr>
              <a:t>NOT COLLECTED</a:t>
            </a:r>
          </a:p>
        </p:txBody>
      </p:sp>
      <p:grpSp>
        <p:nvGrpSpPr>
          <p:cNvPr name="Group 24" id="24"/>
          <p:cNvGrpSpPr/>
          <p:nvPr/>
        </p:nvGrpSpPr>
        <p:grpSpPr>
          <a:xfrm rot="0">
            <a:off x="914400" y="7734300"/>
            <a:ext cx="16459200" cy="1504950"/>
            <a:chOff x="0" y="0"/>
            <a:chExt cx="21945600" cy="2006600"/>
          </a:xfrm>
        </p:grpSpPr>
        <p:sp>
          <p:nvSpPr>
            <p:cNvPr name="Freeform 25" id="25"/>
            <p:cNvSpPr/>
            <p:nvPr/>
          </p:nvSpPr>
          <p:spPr>
            <a:xfrm flipH="false" flipV="false" rot="0">
              <a:off x="0" y="0"/>
              <a:ext cx="21945600" cy="2006600"/>
            </a:xfrm>
            <a:custGeom>
              <a:avLst/>
              <a:gdLst/>
              <a:ahLst/>
              <a:cxnLst/>
              <a:rect r="r" b="b" t="t" l="l"/>
              <a:pathLst>
                <a:path h="2006600" w="21945600">
                  <a:moveTo>
                    <a:pt x="152400" y="0"/>
                  </a:moveTo>
                  <a:lnTo>
                    <a:pt x="21793200" y="0"/>
                  </a:lnTo>
                  <a:cubicBezTo>
                    <a:pt x="21877369" y="0"/>
                    <a:pt x="21945600" y="68232"/>
                    <a:pt x="21945600" y="152400"/>
                  </a:cubicBezTo>
                  <a:lnTo>
                    <a:pt x="21945600" y="1854200"/>
                  </a:lnTo>
                  <a:cubicBezTo>
                    <a:pt x="21945600" y="1938368"/>
                    <a:pt x="21877369" y="2006600"/>
                    <a:pt x="21793200" y="2006600"/>
                  </a:cubicBezTo>
                  <a:lnTo>
                    <a:pt x="152400" y="2006600"/>
                  </a:lnTo>
                  <a:cubicBezTo>
                    <a:pt x="68232" y="2006600"/>
                    <a:pt x="0" y="1938368"/>
                    <a:pt x="0" y="1854200"/>
                  </a:cubicBezTo>
                  <a:lnTo>
                    <a:pt x="0" y="152400"/>
                  </a:lnTo>
                  <a:cubicBezTo>
                    <a:pt x="0" y="68232"/>
                    <a:pt x="68232" y="0"/>
                    <a:pt x="152400" y="0"/>
                  </a:cubicBezTo>
                  <a:close/>
                </a:path>
              </a:pathLst>
            </a:custGeom>
            <a:solidFill>
              <a:srgbClr val="EAF1F8"/>
            </a:solidFill>
          </p:spPr>
        </p:sp>
        <p:sp>
          <p:nvSpPr>
            <p:cNvPr name="TextBox 26" id="26"/>
            <p:cNvSpPr txBox="true"/>
            <p:nvPr/>
          </p:nvSpPr>
          <p:spPr>
            <a:xfrm>
              <a:off x="0" y="-38100"/>
              <a:ext cx="21945600" cy="2044700"/>
            </a:xfrm>
            <a:prstGeom prst="rect">
              <a:avLst/>
            </a:prstGeom>
          </p:spPr>
          <p:txBody>
            <a:bodyPr anchor="ctr" rtlCol="false" tIns="50800" lIns="50800" bIns="50800" rIns="50800"/>
            <a:lstStyle/>
            <a:p>
              <a:pPr algn="l">
                <a:lnSpc>
                  <a:spcPts val="1679"/>
                </a:lnSpc>
              </a:pPr>
            </a:p>
          </p:txBody>
        </p:sp>
      </p:grpSp>
      <p:grpSp>
        <p:nvGrpSpPr>
          <p:cNvPr name="Group 27" id="27"/>
          <p:cNvGrpSpPr/>
          <p:nvPr/>
        </p:nvGrpSpPr>
        <p:grpSpPr>
          <a:xfrm rot="0">
            <a:off x="914400" y="7734300"/>
            <a:ext cx="66675" cy="1504950"/>
            <a:chOff x="0" y="0"/>
            <a:chExt cx="88900" cy="2006600"/>
          </a:xfrm>
        </p:grpSpPr>
        <p:sp>
          <p:nvSpPr>
            <p:cNvPr name="Freeform 28" id="28"/>
            <p:cNvSpPr/>
            <p:nvPr/>
          </p:nvSpPr>
          <p:spPr>
            <a:xfrm flipH="false" flipV="false" rot="0">
              <a:off x="0" y="0"/>
              <a:ext cx="88900" cy="2006600"/>
            </a:xfrm>
            <a:custGeom>
              <a:avLst/>
              <a:gdLst/>
              <a:ahLst/>
              <a:cxnLst/>
              <a:rect r="r" b="b" t="t" l="l"/>
              <a:pathLst>
                <a:path h="2006600" w="88900">
                  <a:moveTo>
                    <a:pt x="0" y="0"/>
                  </a:moveTo>
                  <a:lnTo>
                    <a:pt x="88900" y="0"/>
                  </a:lnTo>
                  <a:lnTo>
                    <a:pt x="88900" y="2006600"/>
                  </a:lnTo>
                  <a:lnTo>
                    <a:pt x="0" y="2006600"/>
                  </a:lnTo>
                  <a:close/>
                </a:path>
              </a:pathLst>
            </a:custGeom>
            <a:solidFill>
              <a:srgbClr val="A28231"/>
            </a:solidFill>
          </p:spPr>
        </p:sp>
        <p:sp>
          <p:nvSpPr>
            <p:cNvPr name="TextBox 29" id="29"/>
            <p:cNvSpPr txBox="true"/>
            <p:nvPr/>
          </p:nvSpPr>
          <p:spPr>
            <a:xfrm>
              <a:off x="0" y="-38100"/>
              <a:ext cx="88900" cy="2044700"/>
            </a:xfrm>
            <a:prstGeom prst="rect">
              <a:avLst/>
            </a:prstGeom>
          </p:spPr>
          <p:txBody>
            <a:bodyPr anchor="ctr" rtlCol="false" tIns="50800" lIns="50800" bIns="50800" rIns="50800"/>
            <a:lstStyle/>
            <a:p>
              <a:pPr algn="l">
                <a:lnSpc>
                  <a:spcPts val="1679"/>
                </a:lnSpc>
              </a:pPr>
            </a:p>
          </p:txBody>
        </p:sp>
      </p:grpSp>
      <p:sp>
        <p:nvSpPr>
          <p:cNvPr name="TextBox 30" id="30"/>
          <p:cNvSpPr txBox="true"/>
          <p:nvPr/>
        </p:nvSpPr>
        <p:spPr>
          <a:xfrm rot="0">
            <a:off x="1438275" y="8199120"/>
            <a:ext cx="15725775" cy="622935"/>
          </a:xfrm>
          <a:prstGeom prst="rect">
            <a:avLst/>
          </a:prstGeom>
        </p:spPr>
        <p:txBody>
          <a:bodyPr anchor="t" rtlCol="false" tIns="0" lIns="0" bIns="0" rIns="0">
            <a:spAutoFit/>
          </a:bodyPr>
          <a:lstStyle/>
          <a:p>
            <a:pPr algn="l">
              <a:lnSpc>
                <a:spcPts val="2400"/>
              </a:lnSpc>
            </a:pPr>
            <a:r>
              <a:rPr lang="en-US" sz="2400" b="true">
                <a:solidFill>
                  <a:srgbClr val="002557"/>
                </a:solidFill>
                <a:latin typeface="Montserrat Bold"/>
                <a:ea typeface="Montserrat Bold"/>
                <a:cs typeface="Montserrat Bold"/>
                <a:sym typeface="Montserrat Bold"/>
              </a:rPr>
              <a:t>Bottom line:</a:t>
            </a:r>
            <a:r>
              <a:rPr lang="en-US" sz="2400">
                <a:solidFill>
                  <a:srgbClr val="1D1D1F"/>
                </a:solidFill>
                <a:latin typeface="Montserrat"/>
                <a:ea typeface="Montserrat"/>
                <a:cs typeface="Montserrat"/>
                <a:sym typeface="Montserrat"/>
              </a:rPr>
              <a:t> Flock’s LPR is not connected to DMV records and does not build a database of people, only vehicle attributes already visible in public.</a:t>
            </a:r>
          </a:p>
        </p:txBody>
      </p:sp>
      <p:sp>
        <p:nvSpPr>
          <p:cNvPr name="TextBox 31" id="31"/>
          <p:cNvSpPr txBox="true"/>
          <p:nvPr/>
        </p:nvSpPr>
        <p:spPr>
          <a:xfrm rot="0">
            <a:off x="971550" y="2371725"/>
            <a:ext cx="3600450" cy="591820"/>
          </a:xfrm>
          <a:prstGeom prst="rect">
            <a:avLst/>
          </a:prstGeom>
        </p:spPr>
        <p:txBody>
          <a:bodyPr anchor="t" rtlCol="false" tIns="0" lIns="0" bIns="0" rIns="0">
            <a:spAutoFit/>
          </a:bodyPr>
          <a:lstStyle/>
          <a:p>
            <a:pPr algn="ctr">
              <a:lnSpc>
                <a:spcPts val="2300"/>
              </a:lnSpc>
            </a:pPr>
            <a:r>
              <a:rPr lang="en-US" sz="2300" b="true">
                <a:solidFill>
                  <a:srgbClr val="FFFFFF"/>
                </a:solidFill>
                <a:latin typeface="Montserrat Bold"/>
                <a:ea typeface="Montserrat Bold"/>
                <a:cs typeface="Montserrat Bold"/>
                <a:sym typeface="Montserrat Bold"/>
              </a:rPr>
              <a:t>Federal Sharing</a:t>
            </a:r>
          </a:p>
          <a:p>
            <a:pPr algn="ctr">
              <a:lnSpc>
                <a:spcPts val="2300"/>
              </a:lnSpc>
            </a:pPr>
            <a:r>
              <a:rPr lang="en-US" sz="2300" b="true">
                <a:solidFill>
                  <a:srgbClr val="FFFFFF"/>
                </a:solidFill>
                <a:latin typeface="Montserrat Bold"/>
                <a:ea typeface="Montserrat Bold"/>
                <a:cs typeface="Montserrat Bold"/>
                <a:sym typeface="Montserrat Bold"/>
              </a:rPr>
              <a:t>Safeguards</a:t>
            </a:r>
          </a:p>
        </p:txBody>
      </p:sp>
      <p:sp>
        <p:nvSpPr>
          <p:cNvPr name="TextBox 32" id="32"/>
          <p:cNvSpPr txBox="true"/>
          <p:nvPr/>
        </p:nvSpPr>
        <p:spPr>
          <a:xfrm rot="0">
            <a:off x="1009650" y="3153727"/>
            <a:ext cx="3524250" cy="474345"/>
          </a:xfrm>
          <a:prstGeom prst="rect">
            <a:avLst/>
          </a:prstGeom>
        </p:spPr>
        <p:txBody>
          <a:bodyPr anchor="t" rtlCol="false" tIns="0" lIns="0" bIns="0" rIns="0">
            <a:spAutoFit/>
          </a:bodyPr>
          <a:lstStyle/>
          <a:p>
            <a:pPr algn="ctr" marL="0" indent="0" lvl="0">
              <a:lnSpc>
                <a:spcPts val="1800"/>
              </a:lnSpc>
              <a:spcBef>
                <a:spcPct val="0"/>
              </a:spcBef>
            </a:pPr>
            <a:r>
              <a:rPr lang="en-US" sz="1800" strike="noStrike" u="none">
                <a:solidFill>
                  <a:srgbClr val="FFFFFF"/>
                </a:solidFill>
                <a:latin typeface="Montserrat"/>
                <a:ea typeface="Montserrat"/>
                <a:cs typeface="Montserrat"/>
                <a:sym typeface="Montserrat"/>
              </a:rPr>
              <a:t>Flock does not contract with ICE.</a:t>
            </a:r>
          </a:p>
        </p:txBody>
      </p:sp>
      <p:sp>
        <p:nvSpPr>
          <p:cNvPr name="TextBox 33" id="33"/>
          <p:cNvSpPr txBox="true"/>
          <p:nvPr/>
        </p:nvSpPr>
        <p:spPr>
          <a:xfrm rot="0">
            <a:off x="5143500" y="2371725"/>
            <a:ext cx="3600450" cy="591820"/>
          </a:xfrm>
          <a:prstGeom prst="rect">
            <a:avLst/>
          </a:prstGeom>
        </p:spPr>
        <p:txBody>
          <a:bodyPr anchor="t" rtlCol="false" tIns="0" lIns="0" bIns="0" rIns="0">
            <a:spAutoFit/>
          </a:bodyPr>
          <a:lstStyle/>
          <a:p>
            <a:pPr algn="ctr">
              <a:lnSpc>
                <a:spcPts val="2300"/>
              </a:lnSpc>
            </a:pPr>
            <a:r>
              <a:rPr lang="en-US" sz="2300" b="true">
                <a:solidFill>
                  <a:srgbClr val="FFFFFF"/>
                </a:solidFill>
                <a:latin typeface="Montserrat Bold"/>
                <a:ea typeface="Montserrat Bold"/>
                <a:cs typeface="Montserrat Bold"/>
                <a:sym typeface="Montserrat Bold"/>
              </a:rPr>
              <a:t>No Data</a:t>
            </a:r>
          </a:p>
          <a:p>
            <a:pPr algn="ctr">
              <a:lnSpc>
                <a:spcPts val="2300"/>
              </a:lnSpc>
            </a:pPr>
            <a:r>
              <a:rPr lang="en-US" sz="2300" b="true">
                <a:solidFill>
                  <a:srgbClr val="FFFFFF"/>
                </a:solidFill>
                <a:latin typeface="Montserrat Bold"/>
                <a:ea typeface="Montserrat Bold"/>
                <a:cs typeface="Montserrat Bold"/>
                <a:sym typeface="Montserrat Bold"/>
              </a:rPr>
              <a:t>Resale</a:t>
            </a:r>
          </a:p>
        </p:txBody>
      </p:sp>
      <p:sp>
        <p:nvSpPr>
          <p:cNvPr name="TextBox 34" id="34"/>
          <p:cNvSpPr txBox="true"/>
          <p:nvPr/>
        </p:nvSpPr>
        <p:spPr>
          <a:xfrm rot="0">
            <a:off x="5181600" y="3068320"/>
            <a:ext cx="3524250" cy="702945"/>
          </a:xfrm>
          <a:prstGeom prst="rect">
            <a:avLst/>
          </a:prstGeom>
        </p:spPr>
        <p:txBody>
          <a:bodyPr anchor="t" rtlCol="false" tIns="0" lIns="0" bIns="0" rIns="0">
            <a:spAutoFit/>
          </a:bodyPr>
          <a:lstStyle/>
          <a:p>
            <a:pPr algn="ctr" marL="0" indent="0" lvl="0">
              <a:lnSpc>
                <a:spcPts val="1800"/>
              </a:lnSpc>
              <a:spcBef>
                <a:spcPct val="0"/>
              </a:spcBef>
            </a:pPr>
            <a:r>
              <a:rPr lang="en-US" sz="1800" strike="noStrike" u="none">
                <a:solidFill>
                  <a:srgbClr val="FFFFFF"/>
                </a:solidFill>
                <a:latin typeface="Montserrat"/>
                <a:ea typeface="Montserrat"/>
                <a:cs typeface="Montserrat"/>
                <a:sym typeface="Montserrat"/>
              </a:rPr>
              <a:t>Flock does not sell or share LPR data and is not a data broker.</a:t>
            </a:r>
          </a:p>
        </p:txBody>
      </p:sp>
      <p:sp>
        <p:nvSpPr>
          <p:cNvPr name="TextBox 35" id="35"/>
          <p:cNvSpPr txBox="true"/>
          <p:nvPr/>
        </p:nvSpPr>
        <p:spPr>
          <a:xfrm rot="0">
            <a:off x="9315450" y="2371725"/>
            <a:ext cx="3600450" cy="306070"/>
          </a:xfrm>
          <a:prstGeom prst="rect">
            <a:avLst/>
          </a:prstGeom>
        </p:spPr>
        <p:txBody>
          <a:bodyPr anchor="t" rtlCol="false" tIns="0" lIns="0" bIns="0" rIns="0">
            <a:spAutoFit/>
          </a:bodyPr>
          <a:lstStyle/>
          <a:p>
            <a:pPr algn="ctr">
              <a:lnSpc>
                <a:spcPts val="2300"/>
              </a:lnSpc>
            </a:pPr>
            <a:r>
              <a:rPr lang="en-US" sz="2300" b="true">
                <a:solidFill>
                  <a:srgbClr val="FFFFFF"/>
                </a:solidFill>
                <a:latin typeface="Montserrat Bold"/>
                <a:ea typeface="Montserrat Bold"/>
                <a:cs typeface="Montserrat Bold"/>
                <a:sym typeface="Montserrat Bold"/>
              </a:rPr>
              <a:t>Breach &amp; Security Risk</a:t>
            </a:r>
          </a:p>
        </p:txBody>
      </p:sp>
      <p:sp>
        <p:nvSpPr>
          <p:cNvPr name="TextBox 36" id="36"/>
          <p:cNvSpPr txBox="true"/>
          <p:nvPr/>
        </p:nvSpPr>
        <p:spPr>
          <a:xfrm rot="0">
            <a:off x="9391650" y="2842612"/>
            <a:ext cx="3524250" cy="1160145"/>
          </a:xfrm>
          <a:prstGeom prst="rect">
            <a:avLst/>
          </a:prstGeom>
        </p:spPr>
        <p:txBody>
          <a:bodyPr anchor="t" rtlCol="false" tIns="0" lIns="0" bIns="0" rIns="0">
            <a:spAutoFit/>
          </a:bodyPr>
          <a:lstStyle/>
          <a:p>
            <a:pPr algn="ctr">
              <a:lnSpc>
                <a:spcPts val="1800"/>
              </a:lnSpc>
            </a:pPr>
            <a:r>
              <a:rPr lang="en-US" sz="1800">
                <a:solidFill>
                  <a:srgbClr val="FFFFFF"/>
                </a:solidFill>
                <a:latin typeface="Montserrat"/>
                <a:ea typeface="Montserrat"/>
                <a:cs typeface="Montserrat"/>
                <a:sym typeface="Montserrat"/>
              </a:rPr>
              <a:t>Flock uses CJIS-aligned controls (including encryption at rest and in transit) and our cloud has never been compromised.</a:t>
            </a:r>
          </a:p>
        </p:txBody>
      </p:sp>
      <p:sp>
        <p:nvSpPr>
          <p:cNvPr name="TextBox 37" id="37"/>
          <p:cNvSpPr txBox="true"/>
          <p:nvPr/>
        </p:nvSpPr>
        <p:spPr>
          <a:xfrm rot="0">
            <a:off x="13487400" y="2371725"/>
            <a:ext cx="3600450" cy="591820"/>
          </a:xfrm>
          <a:prstGeom prst="rect">
            <a:avLst/>
          </a:prstGeom>
        </p:spPr>
        <p:txBody>
          <a:bodyPr anchor="t" rtlCol="false" tIns="0" lIns="0" bIns="0" rIns="0">
            <a:spAutoFit/>
          </a:bodyPr>
          <a:lstStyle/>
          <a:p>
            <a:pPr algn="ctr">
              <a:lnSpc>
                <a:spcPts val="2300"/>
              </a:lnSpc>
            </a:pPr>
            <a:r>
              <a:rPr lang="en-US" sz="2300" b="true">
                <a:solidFill>
                  <a:srgbClr val="FFFFFF"/>
                </a:solidFill>
                <a:latin typeface="Montserrat Bold"/>
                <a:ea typeface="Montserrat Bold"/>
                <a:cs typeface="Montserrat Bold"/>
                <a:sym typeface="Montserrat Bold"/>
              </a:rPr>
              <a:t>Built in</a:t>
            </a:r>
          </a:p>
          <a:p>
            <a:pPr algn="ctr">
              <a:lnSpc>
                <a:spcPts val="2300"/>
              </a:lnSpc>
            </a:pPr>
            <a:r>
              <a:rPr lang="en-US" sz="2300" b="true">
                <a:solidFill>
                  <a:srgbClr val="FFFFFF"/>
                </a:solidFill>
                <a:latin typeface="Montserrat Bold"/>
                <a:ea typeface="Montserrat Bold"/>
                <a:cs typeface="Montserrat Bold"/>
                <a:sym typeface="Montserrat Bold"/>
              </a:rPr>
              <a:t>Transparency</a:t>
            </a:r>
          </a:p>
        </p:txBody>
      </p:sp>
      <p:sp>
        <p:nvSpPr>
          <p:cNvPr name="TextBox 38" id="38"/>
          <p:cNvSpPr txBox="true"/>
          <p:nvPr/>
        </p:nvSpPr>
        <p:spPr>
          <a:xfrm rot="0">
            <a:off x="13525500" y="3185160"/>
            <a:ext cx="3524250" cy="702945"/>
          </a:xfrm>
          <a:prstGeom prst="rect">
            <a:avLst/>
          </a:prstGeom>
        </p:spPr>
        <p:txBody>
          <a:bodyPr anchor="t" rtlCol="false" tIns="0" lIns="0" bIns="0" rIns="0">
            <a:spAutoFit/>
          </a:bodyPr>
          <a:lstStyle/>
          <a:p>
            <a:pPr algn="ctr" marL="0" indent="0" lvl="0">
              <a:lnSpc>
                <a:spcPts val="1800"/>
              </a:lnSpc>
              <a:spcBef>
                <a:spcPct val="0"/>
              </a:spcBef>
            </a:pPr>
            <a:r>
              <a:rPr lang="en-US" sz="1800" strike="noStrike" u="none">
                <a:solidFill>
                  <a:srgbClr val="FFFFFF"/>
                </a:solidFill>
                <a:latin typeface="Montserrat"/>
                <a:ea typeface="Montserrat"/>
                <a:cs typeface="Montserrat"/>
                <a:sym typeface="Montserrat"/>
              </a:rPr>
              <a:t>Flock offers permanent audit trails, automatic data deletion, and transparency portals.</a:t>
            </a:r>
          </a:p>
        </p:txBody>
      </p:sp>
      <p:sp>
        <p:nvSpPr>
          <p:cNvPr name="TextBox 39" id="39"/>
          <p:cNvSpPr txBox="true"/>
          <p:nvPr/>
        </p:nvSpPr>
        <p:spPr>
          <a:xfrm rot="0">
            <a:off x="1219200" y="6129337"/>
            <a:ext cx="7467600" cy="771525"/>
          </a:xfrm>
          <a:prstGeom prst="rect">
            <a:avLst/>
          </a:prstGeom>
        </p:spPr>
        <p:txBody>
          <a:bodyPr anchor="t" rtlCol="false" tIns="0" lIns="0" bIns="0" rIns="0">
            <a:spAutoFit/>
          </a:bodyPr>
          <a:lstStyle/>
          <a:p>
            <a:pPr algn="ctr">
              <a:lnSpc>
                <a:spcPts val="2099"/>
              </a:lnSpc>
            </a:pPr>
            <a:r>
              <a:rPr lang="en-US" sz="1999">
                <a:solidFill>
                  <a:srgbClr val="1D1D1F"/>
                </a:solidFill>
                <a:latin typeface="Montserrat"/>
                <a:ea typeface="Montserrat"/>
                <a:cs typeface="Montserrat"/>
                <a:sym typeface="Montserrat"/>
              </a:rPr>
              <a:t>License Plate Text, Date/Time, Camera Location, and Basic Vehicle Attributes (Make/Model/Color) - All Observable From Public Roadways.</a:t>
            </a:r>
          </a:p>
        </p:txBody>
      </p:sp>
      <p:sp>
        <p:nvSpPr>
          <p:cNvPr name="TextBox 40" id="40"/>
          <p:cNvSpPr txBox="true"/>
          <p:nvPr/>
        </p:nvSpPr>
        <p:spPr>
          <a:xfrm rot="0">
            <a:off x="9601200" y="6129337"/>
            <a:ext cx="7467600" cy="771525"/>
          </a:xfrm>
          <a:prstGeom prst="rect">
            <a:avLst/>
          </a:prstGeom>
        </p:spPr>
        <p:txBody>
          <a:bodyPr anchor="t" rtlCol="false" tIns="0" lIns="0" bIns="0" rIns="0">
            <a:spAutoFit/>
          </a:bodyPr>
          <a:lstStyle/>
          <a:p>
            <a:pPr algn="ctr" marL="0" indent="0" lvl="0">
              <a:lnSpc>
                <a:spcPts val="2099"/>
              </a:lnSpc>
              <a:spcBef>
                <a:spcPct val="0"/>
              </a:spcBef>
            </a:pPr>
            <a:r>
              <a:rPr lang="en-US" sz="1999" strike="noStrike" u="none">
                <a:solidFill>
                  <a:srgbClr val="1D1D1F"/>
                </a:solidFill>
                <a:latin typeface="Montserrat"/>
                <a:ea typeface="Montserrat"/>
                <a:cs typeface="Montserrat"/>
                <a:sym typeface="Montserrat"/>
              </a:rPr>
              <a:t>Names, Addresses, Phone Numbers, Driver Identity, Biometric Identifiers, or Other Confidential Personal Information.</a:t>
            </a:r>
          </a:p>
        </p:txBody>
      </p:sp>
      <p:sp>
        <p:nvSpPr>
          <p:cNvPr name="AutoShape 41" id="41"/>
          <p:cNvSpPr/>
          <p:nvPr/>
        </p:nvSpPr>
        <p:spPr>
          <a:xfrm>
            <a:off x="-694882" y="1527873"/>
            <a:ext cx="9131783" cy="0"/>
          </a:xfrm>
          <a:prstGeom prst="line">
            <a:avLst/>
          </a:prstGeom>
          <a:ln cap="flat" w="38100">
            <a:solidFill>
              <a:srgbClr val="A28231"/>
            </a:solidFill>
            <a:prstDash val="solid"/>
            <a:headEnd type="none" len="sm" w="sm"/>
            <a:tailEnd type="none" len="sm" w="sm"/>
          </a:ln>
        </p:spPr>
      </p:sp>
      <p:sp>
        <p:nvSpPr>
          <p:cNvPr name="AutoShape 42" id="42"/>
          <p:cNvSpPr/>
          <p:nvPr/>
        </p:nvSpPr>
        <p:spPr>
          <a:xfrm flipV="true">
            <a:off x="-117230" y="10287000"/>
            <a:ext cx="19376532" cy="12351"/>
          </a:xfrm>
          <a:prstGeom prst="line">
            <a:avLst/>
          </a:prstGeom>
          <a:ln cap="flat" w="85725">
            <a:solidFill>
              <a:srgbClr val="1E498A"/>
            </a:solidFill>
            <a:prstDash val="solid"/>
            <a:headEnd type="none" len="sm" w="sm"/>
            <a:tailEnd type="none" len="sm" w="sm"/>
          </a:ln>
        </p:spPr>
      </p:sp>
    </p:spTree>
  </p:cSld>
  <p:clrMapOvr>
    <a:masterClrMapping/>
  </p:clrMapOvr>
</p:sld>
</file>

<file path=ppt/slides/slide2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flipV="true">
            <a:off x="0" y="1485011"/>
            <a:ext cx="7378521" cy="24702"/>
          </a:xfrm>
          <a:prstGeom prst="line">
            <a:avLst/>
          </a:prstGeom>
          <a:ln cap="flat" w="47625">
            <a:solidFill>
              <a:srgbClr val="A28231"/>
            </a:solidFill>
            <a:prstDash val="solid"/>
            <a:headEnd type="none" len="sm" w="sm"/>
            <a:tailEnd type="none" len="sm" w="sm"/>
          </a:ln>
        </p:spPr>
      </p:sp>
      <p:sp>
        <p:nvSpPr>
          <p:cNvPr name="TextBox 3" id="3"/>
          <p:cNvSpPr txBox="true"/>
          <p:nvPr/>
        </p:nvSpPr>
        <p:spPr>
          <a:xfrm rot="0">
            <a:off x="899459" y="757238"/>
            <a:ext cx="14770698" cy="762000"/>
          </a:xfrm>
          <a:prstGeom prst="rect">
            <a:avLst/>
          </a:prstGeom>
        </p:spPr>
        <p:txBody>
          <a:bodyPr anchor="t" rtlCol="false" tIns="0" lIns="0" bIns="0" rIns="0">
            <a:spAutoFit/>
          </a:bodyPr>
          <a:lstStyle/>
          <a:p>
            <a:pPr algn="l">
              <a:lnSpc>
                <a:spcPts val="6299"/>
              </a:lnSpc>
            </a:pPr>
            <a:r>
              <a:rPr lang="en-US" sz="4500" b="true">
                <a:solidFill>
                  <a:srgbClr val="002557"/>
                </a:solidFill>
                <a:latin typeface="Montserrat Bold"/>
                <a:ea typeface="Montserrat Bold"/>
                <a:cs typeface="Montserrat Bold"/>
                <a:sym typeface="Montserrat Bold"/>
              </a:rPr>
              <a:t>Calif</a:t>
            </a:r>
            <a:r>
              <a:rPr lang="en-US" sz="4500" b="true">
                <a:solidFill>
                  <a:srgbClr val="002557"/>
                </a:solidFill>
                <a:latin typeface="Montserrat Bold"/>
                <a:ea typeface="Montserrat Bold"/>
                <a:cs typeface="Montserrat Bold"/>
                <a:sym typeface="Montserrat Bold"/>
              </a:rPr>
              <a:t>ornia Specific Guardrails</a:t>
            </a:r>
          </a:p>
        </p:txBody>
      </p:sp>
      <p:grpSp>
        <p:nvGrpSpPr>
          <p:cNvPr name="Group 4" id="4"/>
          <p:cNvGrpSpPr/>
          <p:nvPr/>
        </p:nvGrpSpPr>
        <p:grpSpPr>
          <a:xfrm rot="0">
            <a:off x="1656336" y="2636790"/>
            <a:ext cx="14975327" cy="5571624"/>
            <a:chOff x="0" y="0"/>
            <a:chExt cx="19967103" cy="7428831"/>
          </a:xfrm>
        </p:grpSpPr>
        <p:grpSp>
          <p:nvGrpSpPr>
            <p:cNvPr name="Group 5" id="5"/>
            <p:cNvGrpSpPr/>
            <p:nvPr/>
          </p:nvGrpSpPr>
          <p:grpSpPr>
            <a:xfrm rot="0">
              <a:off x="0" y="0"/>
              <a:ext cx="9693022" cy="7428831"/>
              <a:chOff x="0" y="0"/>
              <a:chExt cx="6355715" cy="4871085"/>
            </a:xfrm>
          </p:grpSpPr>
          <p:sp>
            <p:nvSpPr>
              <p:cNvPr name="Freeform 6" id="6"/>
              <p:cNvSpPr/>
              <p:nvPr/>
            </p:nvSpPr>
            <p:spPr>
              <a:xfrm flipH="false" flipV="false" rot="0">
                <a:off x="0" y="0"/>
                <a:ext cx="6355715" cy="4871085"/>
              </a:xfrm>
              <a:custGeom>
                <a:avLst/>
                <a:gdLst/>
                <a:ahLst/>
                <a:cxnLst/>
                <a:rect r="r" b="b" t="t" l="l"/>
                <a:pathLst>
                  <a:path h="4871085" w="6355715">
                    <a:moveTo>
                      <a:pt x="203200" y="0"/>
                    </a:moveTo>
                    <a:lnTo>
                      <a:pt x="6152515" y="0"/>
                    </a:lnTo>
                    <a:cubicBezTo>
                      <a:pt x="6264739" y="0"/>
                      <a:pt x="6355715" y="90976"/>
                      <a:pt x="6355715" y="203200"/>
                    </a:cubicBezTo>
                    <a:lnTo>
                      <a:pt x="6355715" y="4667885"/>
                    </a:lnTo>
                    <a:cubicBezTo>
                      <a:pt x="6355715" y="4780109"/>
                      <a:pt x="6264739" y="4871085"/>
                      <a:pt x="6152515" y="4871085"/>
                    </a:cubicBezTo>
                    <a:lnTo>
                      <a:pt x="203200" y="4871085"/>
                    </a:lnTo>
                    <a:cubicBezTo>
                      <a:pt x="90976" y="4871085"/>
                      <a:pt x="0" y="4780109"/>
                      <a:pt x="0" y="4667885"/>
                    </a:cubicBezTo>
                    <a:lnTo>
                      <a:pt x="0" y="203200"/>
                    </a:lnTo>
                    <a:cubicBezTo>
                      <a:pt x="0" y="90976"/>
                      <a:pt x="90976" y="0"/>
                      <a:pt x="203200" y="0"/>
                    </a:cubicBezTo>
                    <a:close/>
                  </a:path>
                </a:pathLst>
              </a:custGeom>
              <a:solidFill>
                <a:srgbClr val="F4F7FB"/>
              </a:solidFill>
              <a:ln w="19050" cap="sq">
                <a:solidFill>
                  <a:srgbClr val="C8D2E1"/>
                </a:solidFill>
                <a:prstDash val="solid"/>
                <a:miter/>
              </a:ln>
            </p:spPr>
          </p:sp>
          <p:sp>
            <p:nvSpPr>
              <p:cNvPr name="TextBox 7" id="7"/>
              <p:cNvSpPr txBox="true"/>
              <p:nvPr/>
            </p:nvSpPr>
            <p:spPr>
              <a:xfrm>
                <a:off x="0" y="-38100"/>
                <a:ext cx="6355715" cy="4909185"/>
              </a:xfrm>
              <a:prstGeom prst="rect">
                <a:avLst/>
              </a:prstGeom>
            </p:spPr>
            <p:txBody>
              <a:bodyPr anchor="ctr" rtlCol="false" tIns="50800" lIns="50800" bIns="50800" rIns="50800"/>
              <a:lstStyle/>
              <a:p>
                <a:pPr algn="l" marL="0" indent="0" lvl="0">
                  <a:lnSpc>
                    <a:spcPts val="1679"/>
                  </a:lnSpc>
                  <a:spcBef>
                    <a:spcPct val="0"/>
                  </a:spcBef>
                </a:pPr>
              </a:p>
            </p:txBody>
          </p:sp>
        </p:grpSp>
        <p:grpSp>
          <p:nvGrpSpPr>
            <p:cNvPr name="Group 8" id="8"/>
            <p:cNvGrpSpPr/>
            <p:nvPr/>
          </p:nvGrpSpPr>
          <p:grpSpPr>
            <a:xfrm rot="0">
              <a:off x="10274081" y="0"/>
              <a:ext cx="9693022" cy="7428831"/>
              <a:chOff x="0" y="0"/>
              <a:chExt cx="6355715" cy="4871085"/>
            </a:xfrm>
          </p:grpSpPr>
          <p:sp>
            <p:nvSpPr>
              <p:cNvPr name="Freeform 9" id="9"/>
              <p:cNvSpPr/>
              <p:nvPr/>
            </p:nvSpPr>
            <p:spPr>
              <a:xfrm flipH="false" flipV="false" rot="0">
                <a:off x="0" y="0"/>
                <a:ext cx="6355715" cy="4871085"/>
              </a:xfrm>
              <a:custGeom>
                <a:avLst/>
                <a:gdLst/>
                <a:ahLst/>
                <a:cxnLst/>
                <a:rect r="r" b="b" t="t" l="l"/>
                <a:pathLst>
                  <a:path h="4871085" w="6355715">
                    <a:moveTo>
                      <a:pt x="203200" y="0"/>
                    </a:moveTo>
                    <a:lnTo>
                      <a:pt x="6152515" y="0"/>
                    </a:lnTo>
                    <a:cubicBezTo>
                      <a:pt x="6264739" y="0"/>
                      <a:pt x="6355715" y="90976"/>
                      <a:pt x="6355715" y="203200"/>
                    </a:cubicBezTo>
                    <a:lnTo>
                      <a:pt x="6355715" y="4667885"/>
                    </a:lnTo>
                    <a:cubicBezTo>
                      <a:pt x="6355715" y="4780109"/>
                      <a:pt x="6264739" y="4871085"/>
                      <a:pt x="6152515" y="4871085"/>
                    </a:cubicBezTo>
                    <a:lnTo>
                      <a:pt x="203200" y="4871085"/>
                    </a:lnTo>
                    <a:cubicBezTo>
                      <a:pt x="90976" y="4871085"/>
                      <a:pt x="0" y="4780109"/>
                      <a:pt x="0" y="4667885"/>
                    </a:cubicBezTo>
                    <a:lnTo>
                      <a:pt x="0" y="203200"/>
                    </a:lnTo>
                    <a:cubicBezTo>
                      <a:pt x="0" y="90976"/>
                      <a:pt x="90976" y="0"/>
                      <a:pt x="203200" y="0"/>
                    </a:cubicBezTo>
                    <a:close/>
                  </a:path>
                </a:pathLst>
              </a:custGeom>
              <a:solidFill>
                <a:srgbClr val="F4F7FB"/>
              </a:solidFill>
              <a:ln w="19050" cap="sq">
                <a:solidFill>
                  <a:srgbClr val="C8D2E1"/>
                </a:solidFill>
                <a:prstDash val="solid"/>
                <a:miter/>
              </a:ln>
            </p:spPr>
          </p:sp>
          <p:sp>
            <p:nvSpPr>
              <p:cNvPr name="TextBox 10" id="10"/>
              <p:cNvSpPr txBox="true"/>
              <p:nvPr/>
            </p:nvSpPr>
            <p:spPr>
              <a:xfrm>
                <a:off x="0" y="-38100"/>
                <a:ext cx="6355715" cy="4909185"/>
              </a:xfrm>
              <a:prstGeom prst="rect">
                <a:avLst/>
              </a:prstGeom>
            </p:spPr>
            <p:txBody>
              <a:bodyPr anchor="ctr" rtlCol="false" tIns="50800" lIns="50800" bIns="50800" rIns="50800"/>
              <a:lstStyle/>
              <a:p>
                <a:pPr algn="l" marL="0" indent="0" lvl="0">
                  <a:lnSpc>
                    <a:spcPts val="1679"/>
                  </a:lnSpc>
                  <a:spcBef>
                    <a:spcPct val="0"/>
                  </a:spcBef>
                </a:pPr>
              </a:p>
            </p:txBody>
          </p:sp>
        </p:grpSp>
        <p:grpSp>
          <p:nvGrpSpPr>
            <p:cNvPr name="Group 11" id="11"/>
            <p:cNvGrpSpPr/>
            <p:nvPr/>
          </p:nvGrpSpPr>
          <p:grpSpPr>
            <a:xfrm rot="0">
              <a:off x="0" y="0"/>
              <a:ext cx="9693022" cy="232423"/>
              <a:chOff x="0" y="0"/>
              <a:chExt cx="6355715" cy="152400"/>
            </a:xfrm>
          </p:grpSpPr>
          <p:sp>
            <p:nvSpPr>
              <p:cNvPr name="Freeform 12" id="12"/>
              <p:cNvSpPr/>
              <p:nvPr/>
            </p:nvSpPr>
            <p:spPr>
              <a:xfrm flipH="false" flipV="false" rot="0">
                <a:off x="0" y="0"/>
                <a:ext cx="6355715" cy="152400"/>
              </a:xfrm>
              <a:custGeom>
                <a:avLst/>
                <a:gdLst/>
                <a:ahLst/>
                <a:cxnLst/>
                <a:rect r="r" b="b" t="t" l="l"/>
                <a:pathLst>
                  <a:path h="152400" w="6355715">
                    <a:moveTo>
                      <a:pt x="76200" y="0"/>
                    </a:moveTo>
                    <a:lnTo>
                      <a:pt x="6279515" y="0"/>
                    </a:lnTo>
                    <a:cubicBezTo>
                      <a:pt x="6321599" y="0"/>
                      <a:pt x="6355715" y="34116"/>
                      <a:pt x="6355715" y="76200"/>
                    </a:cubicBezTo>
                    <a:cubicBezTo>
                      <a:pt x="6355715" y="118284"/>
                      <a:pt x="6321599" y="152400"/>
                      <a:pt x="6279515" y="152400"/>
                    </a:cubicBezTo>
                    <a:lnTo>
                      <a:pt x="76200" y="152400"/>
                    </a:lnTo>
                    <a:cubicBezTo>
                      <a:pt x="34116" y="152400"/>
                      <a:pt x="0" y="118284"/>
                      <a:pt x="0" y="76200"/>
                    </a:cubicBezTo>
                    <a:cubicBezTo>
                      <a:pt x="0" y="34116"/>
                      <a:pt x="34116" y="0"/>
                      <a:pt x="76200" y="0"/>
                    </a:cubicBezTo>
                    <a:close/>
                  </a:path>
                </a:pathLst>
              </a:custGeom>
              <a:solidFill>
                <a:srgbClr val="1E3A8A"/>
              </a:solidFill>
            </p:spPr>
          </p:sp>
          <p:sp>
            <p:nvSpPr>
              <p:cNvPr name="TextBox 13" id="13"/>
              <p:cNvSpPr txBox="true"/>
              <p:nvPr/>
            </p:nvSpPr>
            <p:spPr>
              <a:xfrm>
                <a:off x="0" y="-38100"/>
                <a:ext cx="6355715" cy="190500"/>
              </a:xfrm>
              <a:prstGeom prst="rect">
                <a:avLst/>
              </a:prstGeom>
            </p:spPr>
            <p:txBody>
              <a:bodyPr anchor="ctr" rtlCol="false" tIns="50800" lIns="50800" bIns="50800" rIns="50800"/>
              <a:lstStyle/>
              <a:p>
                <a:pPr algn="l">
                  <a:lnSpc>
                    <a:spcPts val="1679"/>
                  </a:lnSpc>
                </a:pPr>
              </a:p>
            </p:txBody>
          </p:sp>
        </p:grpSp>
        <p:grpSp>
          <p:nvGrpSpPr>
            <p:cNvPr name="Group 14" id="14"/>
            <p:cNvGrpSpPr/>
            <p:nvPr/>
          </p:nvGrpSpPr>
          <p:grpSpPr>
            <a:xfrm rot="0">
              <a:off x="10274081" y="0"/>
              <a:ext cx="9693022" cy="232423"/>
              <a:chOff x="0" y="0"/>
              <a:chExt cx="6355715" cy="152400"/>
            </a:xfrm>
          </p:grpSpPr>
          <p:sp>
            <p:nvSpPr>
              <p:cNvPr name="Freeform 15" id="15"/>
              <p:cNvSpPr/>
              <p:nvPr/>
            </p:nvSpPr>
            <p:spPr>
              <a:xfrm flipH="false" flipV="false" rot="0">
                <a:off x="0" y="0"/>
                <a:ext cx="6355715" cy="152400"/>
              </a:xfrm>
              <a:custGeom>
                <a:avLst/>
                <a:gdLst/>
                <a:ahLst/>
                <a:cxnLst/>
                <a:rect r="r" b="b" t="t" l="l"/>
                <a:pathLst>
                  <a:path h="152400" w="6355715">
                    <a:moveTo>
                      <a:pt x="76200" y="0"/>
                    </a:moveTo>
                    <a:lnTo>
                      <a:pt x="6279515" y="0"/>
                    </a:lnTo>
                    <a:cubicBezTo>
                      <a:pt x="6321599" y="0"/>
                      <a:pt x="6355715" y="34116"/>
                      <a:pt x="6355715" y="76200"/>
                    </a:cubicBezTo>
                    <a:cubicBezTo>
                      <a:pt x="6355715" y="118284"/>
                      <a:pt x="6321599" y="152400"/>
                      <a:pt x="6279515" y="152400"/>
                    </a:cubicBezTo>
                    <a:lnTo>
                      <a:pt x="76200" y="152400"/>
                    </a:lnTo>
                    <a:cubicBezTo>
                      <a:pt x="34116" y="152400"/>
                      <a:pt x="0" y="118284"/>
                      <a:pt x="0" y="76200"/>
                    </a:cubicBezTo>
                    <a:cubicBezTo>
                      <a:pt x="0" y="34116"/>
                      <a:pt x="34116" y="0"/>
                      <a:pt x="76200" y="0"/>
                    </a:cubicBezTo>
                    <a:close/>
                  </a:path>
                </a:pathLst>
              </a:custGeom>
              <a:solidFill>
                <a:srgbClr val="1E3A8A"/>
              </a:solidFill>
            </p:spPr>
          </p:sp>
          <p:sp>
            <p:nvSpPr>
              <p:cNvPr name="TextBox 16" id="16"/>
              <p:cNvSpPr txBox="true"/>
              <p:nvPr/>
            </p:nvSpPr>
            <p:spPr>
              <a:xfrm>
                <a:off x="0" y="-38100"/>
                <a:ext cx="6355715" cy="190500"/>
              </a:xfrm>
              <a:prstGeom prst="rect">
                <a:avLst/>
              </a:prstGeom>
            </p:spPr>
            <p:txBody>
              <a:bodyPr anchor="ctr" rtlCol="false" tIns="50800" lIns="50800" bIns="50800" rIns="50800"/>
              <a:lstStyle/>
              <a:p>
                <a:pPr algn="l">
                  <a:lnSpc>
                    <a:spcPts val="1679"/>
                  </a:lnSpc>
                </a:pPr>
              </a:p>
            </p:txBody>
          </p:sp>
        </p:grpSp>
        <p:sp>
          <p:nvSpPr>
            <p:cNvPr name="TextBox 17" id="17"/>
            <p:cNvSpPr txBox="true"/>
            <p:nvPr/>
          </p:nvSpPr>
          <p:spPr>
            <a:xfrm rot="0">
              <a:off x="736007" y="1007168"/>
              <a:ext cx="8221008" cy="1016000"/>
            </a:xfrm>
            <a:prstGeom prst="rect">
              <a:avLst/>
            </a:prstGeom>
          </p:spPr>
          <p:txBody>
            <a:bodyPr anchor="t" rtlCol="false" tIns="0" lIns="0" bIns="0" rIns="0">
              <a:spAutoFit/>
            </a:bodyPr>
            <a:lstStyle/>
            <a:p>
              <a:pPr algn="l">
                <a:lnSpc>
                  <a:spcPts val="3000"/>
                </a:lnSpc>
              </a:pPr>
              <a:r>
                <a:rPr lang="en-US" sz="2500" b="true">
                  <a:solidFill>
                    <a:srgbClr val="002557"/>
                  </a:solidFill>
                  <a:latin typeface="Montserrat Bold"/>
                  <a:ea typeface="Montserrat Bold"/>
                  <a:cs typeface="Montserrat Bold"/>
                  <a:sym typeface="Montserrat Bold"/>
                </a:rPr>
                <a:t>SB 34</a:t>
              </a:r>
            </a:p>
            <a:p>
              <a:pPr algn="l">
                <a:lnSpc>
                  <a:spcPts val="3000"/>
                </a:lnSpc>
              </a:pPr>
              <a:r>
                <a:rPr lang="en-US" sz="2500">
                  <a:solidFill>
                    <a:srgbClr val="002557"/>
                  </a:solidFill>
                  <a:latin typeface="Montserrat"/>
                  <a:ea typeface="Montserrat"/>
                  <a:cs typeface="Montserrat"/>
                  <a:sym typeface="Montserrat"/>
                </a:rPr>
                <a:t>ALPR Privacy &amp; Data Sharing</a:t>
              </a:r>
            </a:p>
          </p:txBody>
        </p:sp>
        <p:sp>
          <p:nvSpPr>
            <p:cNvPr name="TextBox 18" id="18"/>
            <p:cNvSpPr txBox="true"/>
            <p:nvPr/>
          </p:nvSpPr>
          <p:spPr>
            <a:xfrm rot="0">
              <a:off x="736007" y="2617569"/>
              <a:ext cx="8221008" cy="2847975"/>
            </a:xfrm>
            <a:prstGeom prst="rect">
              <a:avLst/>
            </a:prstGeom>
          </p:spPr>
          <p:txBody>
            <a:bodyPr anchor="t" rtlCol="false" tIns="0" lIns="0" bIns="0" rIns="0">
              <a:spAutoFit/>
            </a:bodyPr>
            <a:lstStyle/>
            <a:p>
              <a:pPr algn="l" marL="431801" indent="-215900" lvl="1">
                <a:lnSpc>
                  <a:spcPts val="2700"/>
                </a:lnSpc>
                <a:buFont typeface="Arial"/>
                <a:buChar char="•"/>
              </a:pPr>
              <a:r>
                <a:rPr lang="en-US" sz="2000">
                  <a:solidFill>
                    <a:srgbClr val="1D1D1F"/>
                  </a:solidFill>
                  <a:latin typeface="Montserrat"/>
                  <a:ea typeface="Montserrat"/>
                  <a:cs typeface="Montserrat"/>
                  <a:sym typeface="Montserrat"/>
                </a:rPr>
                <a:t>Requires safeguards for ALPR data.</a:t>
              </a:r>
            </a:p>
            <a:p>
              <a:pPr algn="l">
                <a:lnSpc>
                  <a:spcPts val="1754"/>
                </a:lnSpc>
              </a:pPr>
            </a:p>
            <a:p>
              <a:pPr algn="l" marL="431801" indent="-215900" lvl="1">
                <a:lnSpc>
                  <a:spcPts val="2700"/>
                </a:lnSpc>
                <a:buFont typeface="Arial"/>
                <a:buChar char="•"/>
              </a:pPr>
              <a:r>
                <a:rPr lang="en-US" sz="2000">
                  <a:solidFill>
                    <a:srgbClr val="1D1D1F"/>
                  </a:solidFill>
                  <a:latin typeface="Montserrat"/>
                  <a:ea typeface="Montserrat"/>
                  <a:cs typeface="Montserrat"/>
                  <a:sym typeface="Montserrat"/>
                </a:rPr>
                <a:t>Requires a public ALPR use and privacy policy.</a:t>
              </a:r>
            </a:p>
            <a:p>
              <a:pPr algn="l">
                <a:lnSpc>
                  <a:spcPts val="1754"/>
                </a:lnSpc>
              </a:pPr>
            </a:p>
            <a:p>
              <a:pPr algn="l" marL="431801" indent="-215900" lvl="1">
                <a:lnSpc>
                  <a:spcPts val="2700"/>
                </a:lnSpc>
                <a:buFont typeface="Arial"/>
                <a:buChar char="•"/>
              </a:pPr>
              <a:r>
                <a:rPr lang="en-US" sz="2000">
                  <a:solidFill>
                    <a:srgbClr val="1D1D1F"/>
                  </a:solidFill>
                  <a:latin typeface="Montserrat"/>
                  <a:ea typeface="Montserrat"/>
                  <a:cs typeface="Montserrat"/>
                  <a:sym typeface="Montserrat"/>
                </a:rPr>
                <a:t>Limits ALPR data sharing to California public agencies.</a:t>
              </a:r>
            </a:p>
          </p:txBody>
        </p:sp>
        <p:sp>
          <p:nvSpPr>
            <p:cNvPr name="TextBox 19" id="19"/>
            <p:cNvSpPr txBox="true"/>
            <p:nvPr/>
          </p:nvSpPr>
          <p:spPr>
            <a:xfrm rot="0">
              <a:off x="11010088" y="1007168"/>
              <a:ext cx="8221008" cy="1016000"/>
            </a:xfrm>
            <a:prstGeom prst="rect">
              <a:avLst/>
            </a:prstGeom>
          </p:spPr>
          <p:txBody>
            <a:bodyPr anchor="t" rtlCol="false" tIns="0" lIns="0" bIns="0" rIns="0">
              <a:spAutoFit/>
            </a:bodyPr>
            <a:lstStyle/>
            <a:p>
              <a:pPr algn="l" marL="0" indent="0" lvl="0">
                <a:lnSpc>
                  <a:spcPts val="3000"/>
                </a:lnSpc>
                <a:spcBef>
                  <a:spcPct val="0"/>
                </a:spcBef>
              </a:pPr>
              <a:r>
                <a:rPr lang="en-US" b="true" sz="2500" strike="noStrike" u="none">
                  <a:solidFill>
                    <a:srgbClr val="002557"/>
                  </a:solidFill>
                  <a:latin typeface="Montserrat Bold"/>
                  <a:ea typeface="Montserrat Bold"/>
                  <a:cs typeface="Montserrat Bold"/>
                  <a:sym typeface="Montserrat Bold"/>
                </a:rPr>
                <a:t>SB 54</a:t>
              </a:r>
            </a:p>
            <a:p>
              <a:pPr algn="l" marL="0" indent="0" lvl="0">
                <a:lnSpc>
                  <a:spcPts val="3000"/>
                </a:lnSpc>
                <a:spcBef>
                  <a:spcPct val="0"/>
                </a:spcBef>
              </a:pPr>
              <a:r>
                <a:rPr lang="en-US" sz="2500" strike="noStrike" u="none">
                  <a:solidFill>
                    <a:srgbClr val="002557"/>
                  </a:solidFill>
                  <a:latin typeface="Montserrat"/>
                  <a:ea typeface="Montserrat"/>
                  <a:cs typeface="Montserrat"/>
                  <a:sym typeface="Montserrat"/>
                </a:rPr>
                <a:t>Immigration Enforcement</a:t>
              </a:r>
            </a:p>
          </p:txBody>
        </p:sp>
        <p:sp>
          <p:nvSpPr>
            <p:cNvPr name="TextBox 20" id="20"/>
            <p:cNvSpPr txBox="true"/>
            <p:nvPr/>
          </p:nvSpPr>
          <p:spPr>
            <a:xfrm rot="0">
              <a:off x="11010088" y="2741137"/>
              <a:ext cx="8221008" cy="3305175"/>
            </a:xfrm>
            <a:prstGeom prst="rect">
              <a:avLst/>
            </a:prstGeom>
          </p:spPr>
          <p:txBody>
            <a:bodyPr anchor="t" rtlCol="false" tIns="0" lIns="0" bIns="0" rIns="0">
              <a:spAutoFit/>
            </a:bodyPr>
            <a:lstStyle/>
            <a:p>
              <a:pPr algn="l" marL="431801" indent="-215900" lvl="1">
                <a:lnSpc>
                  <a:spcPts val="2700"/>
                </a:lnSpc>
                <a:buFont typeface="Arial"/>
                <a:buChar char="•"/>
              </a:pPr>
              <a:r>
                <a:rPr lang="en-US" sz="2000">
                  <a:solidFill>
                    <a:srgbClr val="1D1D1F"/>
                  </a:solidFill>
                  <a:latin typeface="Montserrat"/>
                  <a:ea typeface="Montserrat"/>
                  <a:cs typeface="Montserrat"/>
                  <a:sym typeface="Montserrat"/>
                </a:rPr>
                <a:t>Limits local resources used for immigration enforcement.</a:t>
              </a:r>
            </a:p>
            <a:p>
              <a:pPr algn="l">
                <a:lnSpc>
                  <a:spcPts val="1754"/>
                </a:lnSpc>
              </a:pPr>
            </a:p>
            <a:p>
              <a:pPr algn="l" marL="431801" indent="-215900" lvl="1">
                <a:lnSpc>
                  <a:spcPts val="2700"/>
                </a:lnSpc>
                <a:buFont typeface="Arial"/>
                <a:buChar char="•"/>
              </a:pPr>
              <a:r>
                <a:rPr lang="en-US" sz="2000">
                  <a:solidFill>
                    <a:srgbClr val="1D1D1F"/>
                  </a:solidFill>
                  <a:latin typeface="Montserrat"/>
                  <a:ea typeface="Montserrat"/>
                  <a:cs typeface="Montserrat"/>
                  <a:sym typeface="Montserrat"/>
                </a:rPr>
                <a:t>We do not share ALPR data for immigration-enforcement purposes.</a:t>
              </a:r>
            </a:p>
            <a:p>
              <a:pPr algn="l">
                <a:lnSpc>
                  <a:spcPts val="1754"/>
                </a:lnSpc>
              </a:pPr>
            </a:p>
            <a:p>
              <a:pPr algn="l" marL="431801" indent="-215900" lvl="1">
                <a:lnSpc>
                  <a:spcPts val="2700"/>
                </a:lnSpc>
                <a:buFont typeface="Arial"/>
                <a:buChar char="•"/>
              </a:pPr>
              <a:r>
                <a:rPr lang="en-US" sz="2000">
                  <a:solidFill>
                    <a:srgbClr val="1D1D1F"/>
                  </a:solidFill>
                  <a:latin typeface="Montserrat"/>
                  <a:ea typeface="Montserrat"/>
                  <a:cs typeface="Montserrat"/>
                  <a:sym typeface="Montserrat"/>
                </a:rPr>
                <a:t>Restricts ALPR access and sharing consistent with state and federal law.</a:t>
              </a:r>
            </a:p>
          </p:txBody>
        </p:sp>
      </p:grpSp>
      <p:sp>
        <p:nvSpPr>
          <p:cNvPr name="TextBox 21" id="21"/>
          <p:cNvSpPr txBox="true"/>
          <p:nvPr/>
        </p:nvSpPr>
        <p:spPr>
          <a:xfrm rot="0">
            <a:off x="2110160" y="9229725"/>
            <a:ext cx="14067681" cy="333375"/>
          </a:xfrm>
          <a:prstGeom prst="rect">
            <a:avLst/>
          </a:prstGeom>
        </p:spPr>
        <p:txBody>
          <a:bodyPr anchor="t" rtlCol="false" tIns="0" lIns="0" bIns="0" rIns="0">
            <a:spAutoFit/>
          </a:bodyPr>
          <a:lstStyle/>
          <a:p>
            <a:pPr algn="l">
              <a:lnSpc>
                <a:spcPts val="2700"/>
              </a:lnSpc>
            </a:pPr>
            <a:r>
              <a:rPr lang="en-US" b="true" sz="2000" strike="noStrike" u="none">
                <a:solidFill>
                  <a:srgbClr val="1E3A8A"/>
                </a:solidFill>
                <a:latin typeface="Montserrat Bold"/>
                <a:ea typeface="Montserrat Bold"/>
                <a:cs typeface="Montserrat Bold"/>
                <a:sym typeface="Montserrat Bold"/>
              </a:rPr>
              <a:t>Key Distinctions: SB 34 governs ALPR privacy and sharing; SB 54 limits use for immigration enforcement. </a:t>
            </a:r>
          </a:p>
        </p:txBody>
      </p:sp>
      <p:sp>
        <p:nvSpPr>
          <p:cNvPr name="AutoShape 22" id="22"/>
          <p:cNvSpPr/>
          <p:nvPr/>
        </p:nvSpPr>
        <p:spPr>
          <a:xfrm flipV="true">
            <a:off x="-117230" y="10287000"/>
            <a:ext cx="19376532" cy="12351"/>
          </a:xfrm>
          <a:prstGeom prst="line">
            <a:avLst/>
          </a:prstGeom>
          <a:ln cap="flat" w="85725">
            <a:solidFill>
              <a:srgbClr val="1E498A"/>
            </a:solidFill>
            <a:prstDash val="solid"/>
            <a:headEnd type="none" len="sm" w="sm"/>
            <a:tailEnd type="none" len="sm" w="sm"/>
          </a:ln>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28610" y="2598370"/>
            <a:ext cx="5855779" cy="5855779"/>
          </a:xfrm>
          <a:custGeom>
            <a:avLst/>
            <a:gdLst/>
            <a:ahLst/>
            <a:cxnLst/>
            <a:rect r="r" b="b" t="t" l="l"/>
            <a:pathLst>
              <a:path h="5855779" w="5855779">
                <a:moveTo>
                  <a:pt x="0" y="0"/>
                </a:moveTo>
                <a:lnTo>
                  <a:pt x="5855779" y="0"/>
                </a:lnTo>
                <a:lnTo>
                  <a:pt x="5855779" y="5855779"/>
                </a:lnTo>
                <a:lnTo>
                  <a:pt x="0" y="58557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5400000">
            <a:off x="-2762769" y="502097"/>
            <a:ext cx="12798869" cy="8937280"/>
            <a:chOff x="0" y="0"/>
            <a:chExt cx="660400" cy="461149"/>
          </a:xfrm>
        </p:grpSpPr>
        <p:sp>
          <p:nvSpPr>
            <p:cNvPr name="Freeform 4" id="4"/>
            <p:cNvSpPr/>
            <p:nvPr/>
          </p:nvSpPr>
          <p:spPr>
            <a:xfrm flipH="false" flipV="false" rot="0">
              <a:off x="0" y="0"/>
              <a:ext cx="660400" cy="461149"/>
            </a:xfrm>
            <a:custGeom>
              <a:avLst/>
              <a:gdLst/>
              <a:ahLst/>
              <a:cxnLst/>
              <a:rect r="r" b="b" t="t" l="l"/>
              <a:pathLst>
                <a:path h="461149"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0691"/>
                  </a:cubicBezTo>
                  <a:lnTo>
                    <a:pt x="660400" y="461149"/>
                  </a:lnTo>
                  <a:lnTo>
                    <a:pt x="0" y="461149"/>
                  </a:lnTo>
                  <a:lnTo>
                    <a:pt x="0" y="320795"/>
                  </a:lnTo>
                  <a:cubicBezTo>
                    <a:pt x="1782" y="185660"/>
                    <a:pt x="93019" y="64045"/>
                    <a:pt x="220252" y="19070"/>
                  </a:cubicBezTo>
                  <a:close/>
                </a:path>
              </a:pathLst>
            </a:custGeom>
            <a:ln w="66675" cap="sq">
              <a:solidFill>
                <a:srgbClr val="BEC8DA"/>
              </a:solidFill>
              <a:prstDash val="solid"/>
              <a:miter/>
            </a:ln>
          </p:spPr>
        </p:sp>
        <p:sp>
          <p:nvSpPr>
            <p:cNvPr name="TextBox 5" id="5"/>
            <p:cNvSpPr txBox="true"/>
            <p:nvPr/>
          </p:nvSpPr>
          <p:spPr>
            <a:xfrm>
              <a:off x="0" y="88900"/>
              <a:ext cx="660400" cy="372249"/>
            </a:xfrm>
            <a:prstGeom prst="rect">
              <a:avLst/>
            </a:prstGeom>
          </p:spPr>
          <p:txBody>
            <a:bodyPr anchor="ctr" rtlCol="false" tIns="50800" lIns="50800" bIns="50800" rIns="50800"/>
            <a:lstStyle/>
            <a:p>
              <a:pPr algn="ctr">
                <a:lnSpc>
                  <a:spcPts val="2940"/>
                </a:lnSpc>
              </a:pPr>
            </a:p>
          </p:txBody>
        </p:sp>
      </p:grpSp>
      <p:grpSp>
        <p:nvGrpSpPr>
          <p:cNvPr name="Group 6" id="6"/>
          <p:cNvGrpSpPr/>
          <p:nvPr/>
        </p:nvGrpSpPr>
        <p:grpSpPr>
          <a:xfrm rot="0">
            <a:off x="728610" y="2312620"/>
            <a:ext cx="5855779" cy="5855779"/>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F7FB"/>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940"/>
                </a:lnSpc>
              </a:pPr>
            </a:p>
          </p:txBody>
        </p:sp>
      </p:grpSp>
      <p:sp>
        <p:nvSpPr>
          <p:cNvPr name="Freeform 9" id="9"/>
          <p:cNvSpPr/>
          <p:nvPr/>
        </p:nvSpPr>
        <p:spPr>
          <a:xfrm flipH="false" flipV="false" rot="0">
            <a:off x="6584389" y="1188990"/>
            <a:ext cx="1216244" cy="1216244"/>
          </a:xfrm>
          <a:custGeom>
            <a:avLst/>
            <a:gdLst/>
            <a:ahLst/>
            <a:cxnLst/>
            <a:rect r="r" b="b" t="t" l="l"/>
            <a:pathLst>
              <a:path h="1216244" w="1216244">
                <a:moveTo>
                  <a:pt x="0" y="0"/>
                </a:moveTo>
                <a:lnTo>
                  <a:pt x="1216244" y="0"/>
                </a:lnTo>
                <a:lnTo>
                  <a:pt x="1216244" y="1216244"/>
                </a:lnTo>
                <a:lnTo>
                  <a:pt x="0" y="12162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6584389" y="1099966"/>
            <a:ext cx="1216244" cy="1216244"/>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2359"/>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marL="0" indent="0" lvl="0">
                <a:lnSpc>
                  <a:spcPts val="2520"/>
                </a:lnSpc>
                <a:spcBef>
                  <a:spcPct val="0"/>
                </a:spcBef>
              </a:pPr>
            </a:p>
          </p:txBody>
        </p:sp>
      </p:grpSp>
      <p:sp>
        <p:nvSpPr>
          <p:cNvPr name="Freeform 13" id="13"/>
          <p:cNvSpPr/>
          <p:nvPr/>
        </p:nvSpPr>
        <p:spPr>
          <a:xfrm flipH="false" flipV="false" rot="0">
            <a:off x="7197129" y="6351882"/>
            <a:ext cx="1216244" cy="1216244"/>
          </a:xfrm>
          <a:custGeom>
            <a:avLst/>
            <a:gdLst/>
            <a:ahLst/>
            <a:cxnLst/>
            <a:rect r="r" b="b" t="t" l="l"/>
            <a:pathLst>
              <a:path h="1216244" w="1216244">
                <a:moveTo>
                  <a:pt x="0" y="0"/>
                </a:moveTo>
                <a:lnTo>
                  <a:pt x="1216244" y="0"/>
                </a:lnTo>
                <a:lnTo>
                  <a:pt x="1216244" y="1216244"/>
                </a:lnTo>
                <a:lnTo>
                  <a:pt x="0" y="12162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4" id="14"/>
          <p:cNvGrpSpPr/>
          <p:nvPr/>
        </p:nvGrpSpPr>
        <p:grpSpPr>
          <a:xfrm rot="0">
            <a:off x="7197129" y="6262859"/>
            <a:ext cx="1216244" cy="1216244"/>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B551"/>
            </a:solidFill>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marL="0" indent="0" lvl="0">
                <a:lnSpc>
                  <a:spcPts val="2520"/>
                </a:lnSpc>
                <a:spcBef>
                  <a:spcPct val="0"/>
                </a:spcBef>
              </a:pPr>
            </a:p>
          </p:txBody>
        </p:sp>
      </p:grpSp>
      <p:sp>
        <p:nvSpPr>
          <p:cNvPr name="Freeform 17" id="17"/>
          <p:cNvSpPr/>
          <p:nvPr/>
        </p:nvSpPr>
        <p:spPr>
          <a:xfrm flipH="false" flipV="false" rot="0">
            <a:off x="7197129" y="2810927"/>
            <a:ext cx="1216244" cy="1216244"/>
          </a:xfrm>
          <a:custGeom>
            <a:avLst/>
            <a:gdLst/>
            <a:ahLst/>
            <a:cxnLst/>
            <a:rect r="r" b="b" t="t" l="l"/>
            <a:pathLst>
              <a:path h="1216244" w="1216244">
                <a:moveTo>
                  <a:pt x="0" y="0"/>
                </a:moveTo>
                <a:lnTo>
                  <a:pt x="1216244" y="0"/>
                </a:lnTo>
                <a:lnTo>
                  <a:pt x="1216244" y="1216244"/>
                </a:lnTo>
                <a:lnTo>
                  <a:pt x="0" y="12162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8" id="18"/>
          <p:cNvGrpSpPr/>
          <p:nvPr/>
        </p:nvGrpSpPr>
        <p:grpSpPr>
          <a:xfrm rot="0">
            <a:off x="7197129" y="2721904"/>
            <a:ext cx="1216244" cy="1216244"/>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D6298"/>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marL="0" indent="0" lvl="0">
                <a:lnSpc>
                  <a:spcPts val="2520"/>
                </a:lnSpc>
                <a:spcBef>
                  <a:spcPct val="0"/>
                </a:spcBef>
              </a:pPr>
            </a:p>
          </p:txBody>
        </p:sp>
      </p:grpSp>
      <p:sp>
        <p:nvSpPr>
          <p:cNvPr name="Freeform 21" id="21"/>
          <p:cNvSpPr/>
          <p:nvPr/>
        </p:nvSpPr>
        <p:spPr>
          <a:xfrm flipH="false" flipV="false" rot="0">
            <a:off x="6584389" y="7970790"/>
            <a:ext cx="1216244" cy="1216244"/>
          </a:xfrm>
          <a:custGeom>
            <a:avLst/>
            <a:gdLst/>
            <a:ahLst/>
            <a:cxnLst/>
            <a:rect r="r" b="b" t="t" l="l"/>
            <a:pathLst>
              <a:path h="1216244" w="1216244">
                <a:moveTo>
                  <a:pt x="0" y="0"/>
                </a:moveTo>
                <a:lnTo>
                  <a:pt x="1216244" y="0"/>
                </a:lnTo>
                <a:lnTo>
                  <a:pt x="1216244" y="1216244"/>
                </a:lnTo>
                <a:lnTo>
                  <a:pt x="0" y="12162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2" id="22"/>
          <p:cNvGrpSpPr/>
          <p:nvPr/>
        </p:nvGrpSpPr>
        <p:grpSpPr>
          <a:xfrm rot="0">
            <a:off x="6584389" y="7881766"/>
            <a:ext cx="1216244" cy="1216244"/>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D5A4"/>
            </a:solidFill>
          </p:spPr>
        </p:sp>
        <p:sp>
          <p:nvSpPr>
            <p:cNvPr name="TextBox 24" id="24"/>
            <p:cNvSpPr txBox="true"/>
            <p:nvPr/>
          </p:nvSpPr>
          <p:spPr>
            <a:xfrm>
              <a:off x="76200" y="38100"/>
              <a:ext cx="660400" cy="698500"/>
            </a:xfrm>
            <a:prstGeom prst="rect">
              <a:avLst/>
            </a:prstGeom>
          </p:spPr>
          <p:txBody>
            <a:bodyPr anchor="ctr" rtlCol="false" tIns="50800" lIns="50800" bIns="50800" rIns="50800"/>
            <a:lstStyle/>
            <a:p>
              <a:pPr algn="ctr" marL="0" indent="0" lvl="0">
                <a:lnSpc>
                  <a:spcPts val="2520"/>
                </a:lnSpc>
                <a:spcBef>
                  <a:spcPct val="0"/>
                </a:spcBef>
              </a:pPr>
            </a:p>
          </p:txBody>
        </p:sp>
      </p:grpSp>
      <p:sp>
        <p:nvSpPr>
          <p:cNvPr name="Freeform 25" id="25"/>
          <p:cNvSpPr/>
          <p:nvPr/>
        </p:nvSpPr>
        <p:spPr>
          <a:xfrm flipH="false" flipV="false" rot="0">
            <a:off x="7601661" y="4579890"/>
            <a:ext cx="1216244" cy="1216244"/>
          </a:xfrm>
          <a:custGeom>
            <a:avLst/>
            <a:gdLst/>
            <a:ahLst/>
            <a:cxnLst/>
            <a:rect r="r" b="b" t="t" l="l"/>
            <a:pathLst>
              <a:path h="1216244" w="1216244">
                <a:moveTo>
                  <a:pt x="0" y="0"/>
                </a:moveTo>
                <a:lnTo>
                  <a:pt x="1216244" y="0"/>
                </a:lnTo>
                <a:lnTo>
                  <a:pt x="1216244" y="1216244"/>
                </a:lnTo>
                <a:lnTo>
                  <a:pt x="0" y="12162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6" id="26"/>
          <p:cNvGrpSpPr/>
          <p:nvPr/>
        </p:nvGrpSpPr>
        <p:grpSpPr>
          <a:xfrm rot="0">
            <a:off x="7601661" y="4490866"/>
            <a:ext cx="1216244" cy="1216244"/>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EC8DA"/>
            </a:solidFill>
          </p:spPr>
        </p:sp>
        <p:sp>
          <p:nvSpPr>
            <p:cNvPr name="TextBox 28" id="28"/>
            <p:cNvSpPr txBox="true"/>
            <p:nvPr/>
          </p:nvSpPr>
          <p:spPr>
            <a:xfrm>
              <a:off x="76200" y="38100"/>
              <a:ext cx="660400" cy="698500"/>
            </a:xfrm>
            <a:prstGeom prst="rect">
              <a:avLst/>
            </a:prstGeom>
          </p:spPr>
          <p:txBody>
            <a:bodyPr anchor="ctr" rtlCol="false" tIns="50800" lIns="50800" bIns="50800" rIns="50800"/>
            <a:lstStyle/>
            <a:p>
              <a:pPr algn="ctr" marL="0" indent="0" lvl="0">
                <a:lnSpc>
                  <a:spcPts val="2520"/>
                </a:lnSpc>
                <a:spcBef>
                  <a:spcPct val="0"/>
                </a:spcBef>
              </a:pPr>
            </a:p>
          </p:txBody>
        </p:sp>
      </p:grpSp>
      <p:sp>
        <p:nvSpPr>
          <p:cNvPr name="Freeform 29" id="29"/>
          <p:cNvSpPr/>
          <p:nvPr/>
        </p:nvSpPr>
        <p:spPr>
          <a:xfrm flipH="false" flipV="false" rot="0">
            <a:off x="7505196" y="3074482"/>
            <a:ext cx="600110" cy="600110"/>
          </a:xfrm>
          <a:custGeom>
            <a:avLst/>
            <a:gdLst/>
            <a:ahLst/>
            <a:cxnLst/>
            <a:rect r="r" b="b" t="t" l="l"/>
            <a:pathLst>
              <a:path h="600110" w="600110">
                <a:moveTo>
                  <a:pt x="0" y="0"/>
                </a:moveTo>
                <a:lnTo>
                  <a:pt x="600110" y="0"/>
                </a:lnTo>
                <a:lnTo>
                  <a:pt x="600110" y="600111"/>
                </a:lnTo>
                <a:lnTo>
                  <a:pt x="0" y="6001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0" id="30"/>
          <p:cNvSpPr/>
          <p:nvPr/>
        </p:nvSpPr>
        <p:spPr>
          <a:xfrm flipH="false" flipV="false" rot="0">
            <a:off x="6991460" y="1383567"/>
            <a:ext cx="402103" cy="604666"/>
          </a:xfrm>
          <a:custGeom>
            <a:avLst/>
            <a:gdLst/>
            <a:ahLst/>
            <a:cxnLst/>
            <a:rect r="r" b="b" t="t" l="l"/>
            <a:pathLst>
              <a:path h="604666" w="402103">
                <a:moveTo>
                  <a:pt x="0" y="0"/>
                </a:moveTo>
                <a:lnTo>
                  <a:pt x="402103" y="0"/>
                </a:lnTo>
                <a:lnTo>
                  <a:pt x="402103" y="604667"/>
                </a:lnTo>
                <a:lnTo>
                  <a:pt x="0" y="6046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0">
            <a:off x="7915694" y="4826121"/>
            <a:ext cx="588178" cy="561710"/>
          </a:xfrm>
          <a:custGeom>
            <a:avLst/>
            <a:gdLst/>
            <a:ahLst/>
            <a:cxnLst/>
            <a:rect r="r" b="b" t="t" l="l"/>
            <a:pathLst>
              <a:path h="561710" w="588178">
                <a:moveTo>
                  <a:pt x="0" y="0"/>
                </a:moveTo>
                <a:lnTo>
                  <a:pt x="588178" y="0"/>
                </a:lnTo>
                <a:lnTo>
                  <a:pt x="588178" y="561710"/>
                </a:lnTo>
                <a:lnTo>
                  <a:pt x="0" y="56171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0">
            <a:off x="7551626" y="6507553"/>
            <a:ext cx="507251" cy="709441"/>
          </a:xfrm>
          <a:custGeom>
            <a:avLst/>
            <a:gdLst/>
            <a:ahLst/>
            <a:cxnLst/>
            <a:rect r="r" b="b" t="t" l="l"/>
            <a:pathLst>
              <a:path h="709441" w="507251">
                <a:moveTo>
                  <a:pt x="0" y="0"/>
                </a:moveTo>
                <a:lnTo>
                  <a:pt x="507250" y="0"/>
                </a:lnTo>
                <a:lnTo>
                  <a:pt x="507250" y="709441"/>
                </a:lnTo>
                <a:lnTo>
                  <a:pt x="0" y="70944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3" id="33"/>
          <p:cNvSpPr/>
          <p:nvPr/>
        </p:nvSpPr>
        <p:spPr>
          <a:xfrm flipH="false" flipV="false" rot="0">
            <a:off x="6873319" y="8168399"/>
            <a:ext cx="638384" cy="738016"/>
          </a:xfrm>
          <a:custGeom>
            <a:avLst/>
            <a:gdLst/>
            <a:ahLst/>
            <a:cxnLst/>
            <a:rect r="r" b="b" t="t" l="l"/>
            <a:pathLst>
              <a:path h="738016" w="638384">
                <a:moveTo>
                  <a:pt x="0" y="0"/>
                </a:moveTo>
                <a:lnTo>
                  <a:pt x="638384" y="0"/>
                </a:lnTo>
                <a:lnTo>
                  <a:pt x="638384" y="738017"/>
                </a:lnTo>
                <a:lnTo>
                  <a:pt x="0" y="73801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34" id="34"/>
          <p:cNvSpPr txBox="true"/>
          <p:nvPr/>
        </p:nvSpPr>
        <p:spPr>
          <a:xfrm rot="0">
            <a:off x="1581478" y="4275517"/>
            <a:ext cx="4605041" cy="1872615"/>
          </a:xfrm>
          <a:prstGeom prst="rect">
            <a:avLst/>
          </a:prstGeom>
        </p:spPr>
        <p:txBody>
          <a:bodyPr anchor="t" rtlCol="false" tIns="0" lIns="0" bIns="0" rIns="0">
            <a:spAutoFit/>
          </a:bodyPr>
          <a:lstStyle/>
          <a:p>
            <a:pPr algn="l" marL="0" indent="0" lvl="0">
              <a:lnSpc>
                <a:spcPts val="4905"/>
              </a:lnSpc>
              <a:spcBef>
                <a:spcPct val="0"/>
              </a:spcBef>
            </a:pPr>
            <a:r>
              <a:rPr lang="en-US" b="true" sz="4500" spc="-292">
                <a:solidFill>
                  <a:srgbClr val="152047"/>
                </a:solidFill>
                <a:latin typeface="Open Sauce Bold"/>
                <a:ea typeface="Open Sauce Bold"/>
                <a:cs typeface="Open Sauce Bold"/>
                <a:sym typeface="Open Sauce Bold"/>
              </a:rPr>
              <a:t>Flock</a:t>
            </a:r>
            <a:r>
              <a:rPr lang="en-US" b="true" sz="4500" spc="-292" strike="noStrike" u="none">
                <a:solidFill>
                  <a:srgbClr val="152047"/>
                </a:solidFill>
                <a:latin typeface="Open Sauce Bold"/>
                <a:ea typeface="Open Sauce Bold"/>
                <a:cs typeface="Open Sauce Bold"/>
                <a:sym typeface="Open Sauce Bold"/>
              </a:rPr>
              <a:t> </a:t>
            </a:r>
            <a:r>
              <a:rPr lang="en-US" b="true" sz="4500" spc="-292" strike="noStrike" u="none">
                <a:solidFill>
                  <a:srgbClr val="152047"/>
                </a:solidFill>
                <a:latin typeface="Open Sauce Bold"/>
                <a:ea typeface="Open Sauce Bold"/>
                <a:cs typeface="Open Sauce Bold"/>
                <a:sym typeface="Open Sauce Bold"/>
              </a:rPr>
              <a:t>Ac</a:t>
            </a:r>
            <a:r>
              <a:rPr lang="en-US" b="true" sz="4500" spc="-292" strike="noStrike" u="none">
                <a:solidFill>
                  <a:srgbClr val="152047"/>
                </a:solidFill>
                <a:latin typeface="Open Sauce Bold"/>
                <a:ea typeface="Open Sauce Bold"/>
                <a:cs typeface="Open Sauce Bold"/>
                <a:sym typeface="Open Sauce Bold"/>
              </a:rPr>
              <a:t>c</a:t>
            </a:r>
            <a:r>
              <a:rPr lang="en-US" b="true" sz="4500" spc="-292" strike="noStrike" u="none">
                <a:solidFill>
                  <a:srgbClr val="152047"/>
                </a:solidFill>
                <a:latin typeface="Open Sauce Bold"/>
                <a:ea typeface="Open Sauce Bold"/>
                <a:cs typeface="Open Sauce Bold"/>
                <a:sym typeface="Open Sauce Bold"/>
              </a:rPr>
              <a:t>o</a:t>
            </a:r>
            <a:r>
              <a:rPr lang="en-US" b="true" sz="4500" spc="-292" strike="noStrike" u="none">
                <a:solidFill>
                  <a:srgbClr val="152047"/>
                </a:solidFill>
                <a:latin typeface="Open Sauce Bold"/>
                <a:ea typeface="Open Sauce Bold"/>
                <a:cs typeface="Open Sauce Bold"/>
                <a:sym typeface="Open Sauce Bold"/>
              </a:rPr>
              <a:t>u</a:t>
            </a:r>
            <a:r>
              <a:rPr lang="en-US" b="true" sz="4500" spc="-292" strike="noStrike" u="none">
                <a:solidFill>
                  <a:srgbClr val="152047"/>
                </a:solidFill>
                <a:latin typeface="Open Sauce Bold"/>
                <a:ea typeface="Open Sauce Bold"/>
                <a:cs typeface="Open Sauce Bold"/>
                <a:sym typeface="Open Sauce Bold"/>
              </a:rPr>
              <a:t>ntabil</a:t>
            </a:r>
            <a:r>
              <a:rPr lang="en-US" b="true" sz="4500" spc="-292" strike="noStrike" u="none">
                <a:solidFill>
                  <a:srgbClr val="152047"/>
                </a:solidFill>
                <a:latin typeface="Open Sauce Bold"/>
                <a:ea typeface="Open Sauce Bold"/>
                <a:cs typeface="Open Sauce Bold"/>
                <a:sym typeface="Open Sauce Bold"/>
              </a:rPr>
              <a:t>it</a:t>
            </a:r>
            <a:r>
              <a:rPr lang="en-US" b="true" sz="4500" spc="-292" strike="noStrike" u="none">
                <a:solidFill>
                  <a:srgbClr val="152047"/>
                </a:solidFill>
                <a:latin typeface="Open Sauce Bold"/>
                <a:ea typeface="Open Sauce Bold"/>
                <a:cs typeface="Open Sauce Bold"/>
                <a:sym typeface="Open Sauce Bold"/>
              </a:rPr>
              <a:t>y &amp; Transparenc</a:t>
            </a:r>
            <a:r>
              <a:rPr lang="en-US" b="true" sz="4500" spc="-292" strike="noStrike" u="none">
                <a:solidFill>
                  <a:srgbClr val="152047"/>
                </a:solidFill>
                <a:latin typeface="Open Sauce Bold"/>
                <a:ea typeface="Open Sauce Bold"/>
                <a:cs typeface="Open Sauce Bold"/>
                <a:sym typeface="Open Sauce Bold"/>
              </a:rPr>
              <a:t>y</a:t>
            </a:r>
          </a:p>
        </p:txBody>
      </p:sp>
      <p:sp>
        <p:nvSpPr>
          <p:cNvPr name="TextBox 35" id="35"/>
          <p:cNvSpPr txBox="true"/>
          <p:nvPr/>
        </p:nvSpPr>
        <p:spPr>
          <a:xfrm rot="0">
            <a:off x="8779805" y="1647800"/>
            <a:ext cx="6082482" cy="372745"/>
          </a:xfrm>
          <a:prstGeom prst="rect">
            <a:avLst/>
          </a:prstGeom>
        </p:spPr>
        <p:txBody>
          <a:bodyPr anchor="t" rtlCol="false" tIns="0" lIns="0" bIns="0" rIns="0">
            <a:spAutoFit/>
          </a:bodyPr>
          <a:lstStyle/>
          <a:p>
            <a:pPr algn="l">
              <a:lnSpc>
                <a:spcPts val="3079"/>
              </a:lnSpc>
              <a:spcBef>
                <a:spcPct val="0"/>
              </a:spcBef>
            </a:pPr>
            <a:r>
              <a:rPr lang="en-US" sz="2199">
                <a:solidFill>
                  <a:srgbClr val="000000"/>
                </a:solidFill>
                <a:latin typeface="Montserrat"/>
                <a:ea typeface="Montserrat"/>
                <a:cs typeface="Montserrat"/>
                <a:sym typeface="Montserrat"/>
              </a:rPr>
              <a:t>Ev</a:t>
            </a:r>
            <a:r>
              <a:rPr lang="en-US" sz="2199">
                <a:solidFill>
                  <a:srgbClr val="000000"/>
                </a:solidFill>
                <a:latin typeface="Montserrat"/>
                <a:ea typeface="Montserrat"/>
                <a:cs typeface="Montserrat"/>
                <a:sym typeface="Montserrat"/>
              </a:rPr>
              <a:t>ery search is tied to an authorized user.</a:t>
            </a:r>
          </a:p>
        </p:txBody>
      </p:sp>
      <p:sp>
        <p:nvSpPr>
          <p:cNvPr name="TextBox 36" id="36"/>
          <p:cNvSpPr txBox="true"/>
          <p:nvPr/>
        </p:nvSpPr>
        <p:spPr>
          <a:xfrm rot="0">
            <a:off x="8779805" y="8473390"/>
            <a:ext cx="5896773" cy="646557"/>
          </a:xfrm>
          <a:prstGeom prst="rect">
            <a:avLst/>
          </a:prstGeom>
        </p:spPr>
        <p:txBody>
          <a:bodyPr anchor="t" rtlCol="false" tIns="0" lIns="0" bIns="0" rIns="0">
            <a:spAutoFit/>
          </a:bodyPr>
          <a:lstStyle/>
          <a:p>
            <a:pPr algn="l" marL="0" indent="0" lvl="0">
              <a:lnSpc>
                <a:spcPts val="2573"/>
              </a:lnSpc>
              <a:spcBef>
                <a:spcPct val="0"/>
              </a:spcBef>
            </a:pPr>
            <a:r>
              <a:rPr lang="en-US" sz="2199" strike="noStrike" u="none">
                <a:solidFill>
                  <a:srgbClr val="000000"/>
                </a:solidFill>
                <a:latin typeface="Montserrat"/>
                <a:ea typeface="Montserrat"/>
                <a:cs typeface="Montserrat"/>
                <a:sym typeface="Montserrat"/>
              </a:rPr>
              <a:t>Regular audits support policy compliance and help identify potential misuse.</a:t>
            </a:r>
          </a:p>
        </p:txBody>
      </p:sp>
      <p:sp>
        <p:nvSpPr>
          <p:cNvPr name="TextBox 37" id="37"/>
          <p:cNvSpPr txBox="true"/>
          <p:nvPr/>
        </p:nvSpPr>
        <p:spPr>
          <a:xfrm rot="0">
            <a:off x="9427689" y="3257366"/>
            <a:ext cx="6473760" cy="646557"/>
          </a:xfrm>
          <a:prstGeom prst="rect">
            <a:avLst/>
          </a:prstGeom>
        </p:spPr>
        <p:txBody>
          <a:bodyPr anchor="t" rtlCol="false" tIns="0" lIns="0" bIns="0" rIns="0">
            <a:spAutoFit/>
          </a:bodyPr>
          <a:lstStyle/>
          <a:p>
            <a:pPr algn="l" marL="0" indent="0" lvl="0">
              <a:lnSpc>
                <a:spcPts val="2573"/>
              </a:lnSpc>
            </a:pPr>
            <a:r>
              <a:rPr lang="en-US" sz="2199">
                <a:solidFill>
                  <a:srgbClr val="000000"/>
                </a:solidFill>
                <a:latin typeface="Montserrat"/>
                <a:ea typeface="Montserrat"/>
                <a:cs typeface="Montserrat"/>
                <a:sym typeface="Montserrat"/>
              </a:rPr>
              <a:t>Users doc</a:t>
            </a:r>
            <a:r>
              <a:rPr lang="en-US" sz="2199" strike="noStrike" u="none">
                <a:solidFill>
                  <a:srgbClr val="000000"/>
                </a:solidFill>
                <a:latin typeface="Montserrat"/>
                <a:ea typeface="Montserrat"/>
                <a:cs typeface="Montserrat"/>
                <a:sym typeface="Montserrat"/>
              </a:rPr>
              <a:t>u</a:t>
            </a:r>
            <a:r>
              <a:rPr lang="en-US" sz="2199" strike="noStrike" u="none">
                <a:solidFill>
                  <a:srgbClr val="000000"/>
                </a:solidFill>
                <a:latin typeface="Montserrat"/>
                <a:ea typeface="Montserrat"/>
                <a:cs typeface="Montserrat"/>
                <a:sym typeface="Montserrat"/>
              </a:rPr>
              <a:t>men</a:t>
            </a:r>
            <a:r>
              <a:rPr lang="en-US" sz="2199" strike="noStrike" u="none">
                <a:solidFill>
                  <a:srgbClr val="000000"/>
                </a:solidFill>
                <a:latin typeface="Montserrat"/>
                <a:ea typeface="Montserrat"/>
                <a:cs typeface="Montserrat"/>
                <a:sym typeface="Montserrat"/>
              </a:rPr>
              <a:t>t</a:t>
            </a:r>
            <a:r>
              <a:rPr lang="en-US" sz="2199" strike="noStrike" u="none">
                <a:solidFill>
                  <a:srgbClr val="000000"/>
                </a:solidFill>
                <a:latin typeface="Montserrat"/>
                <a:ea typeface="Montserrat"/>
                <a:cs typeface="Montserrat"/>
                <a:sym typeface="Montserrat"/>
              </a:rPr>
              <a:t> th</a:t>
            </a:r>
            <a:r>
              <a:rPr lang="en-US" sz="2199" strike="noStrike" u="none">
                <a:solidFill>
                  <a:srgbClr val="000000"/>
                </a:solidFill>
                <a:latin typeface="Montserrat"/>
                <a:ea typeface="Montserrat"/>
                <a:cs typeface="Montserrat"/>
                <a:sym typeface="Montserrat"/>
              </a:rPr>
              <a:t>e o</a:t>
            </a:r>
            <a:r>
              <a:rPr lang="en-US" sz="2199" strike="noStrike" u="none">
                <a:solidFill>
                  <a:srgbClr val="000000"/>
                </a:solidFill>
                <a:latin typeface="Montserrat"/>
                <a:ea typeface="Montserrat"/>
                <a:cs typeface="Montserrat"/>
                <a:sym typeface="Montserrat"/>
              </a:rPr>
              <a:t>ffe</a:t>
            </a:r>
            <a:r>
              <a:rPr lang="en-US" sz="2199" strike="noStrike" u="none">
                <a:solidFill>
                  <a:srgbClr val="000000"/>
                </a:solidFill>
                <a:latin typeface="Montserrat"/>
                <a:ea typeface="Montserrat"/>
                <a:cs typeface="Montserrat"/>
                <a:sym typeface="Montserrat"/>
              </a:rPr>
              <a:t>nse</a:t>
            </a:r>
            <a:r>
              <a:rPr lang="en-US" sz="2199" strike="noStrike" u="none">
                <a:solidFill>
                  <a:srgbClr val="000000"/>
                </a:solidFill>
                <a:latin typeface="Montserrat"/>
                <a:ea typeface="Montserrat"/>
                <a:cs typeface="Montserrat"/>
                <a:sym typeface="Montserrat"/>
              </a:rPr>
              <a:t> t</a:t>
            </a:r>
            <a:r>
              <a:rPr lang="en-US" sz="2199" strike="noStrike" u="none">
                <a:solidFill>
                  <a:srgbClr val="000000"/>
                </a:solidFill>
                <a:latin typeface="Montserrat"/>
                <a:ea typeface="Montserrat"/>
                <a:cs typeface="Montserrat"/>
                <a:sym typeface="Montserrat"/>
              </a:rPr>
              <a:t>y</a:t>
            </a:r>
            <a:r>
              <a:rPr lang="en-US" sz="2199" strike="noStrike" u="none">
                <a:solidFill>
                  <a:srgbClr val="000000"/>
                </a:solidFill>
                <a:latin typeface="Montserrat"/>
                <a:ea typeface="Montserrat"/>
                <a:cs typeface="Montserrat"/>
                <a:sym typeface="Montserrat"/>
              </a:rPr>
              <a:t>pe</a:t>
            </a:r>
            <a:r>
              <a:rPr lang="en-US" sz="2199" strike="noStrike" u="none">
                <a:solidFill>
                  <a:srgbClr val="000000"/>
                </a:solidFill>
                <a:latin typeface="Montserrat"/>
                <a:ea typeface="Montserrat"/>
                <a:cs typeface="Montserrat"/>
                <a:sym typeface="Montserrat"/>
              </a:rPr>
              <a:t>, rea</a:t>
            </a:r>
            <a:r>
              <a:rPr lang="en-US" sz="2199" strike="noStrike" u="none">
                <a:solidFill>
                  <a:srgbClr val="000000"/>
                </a:solidFill>
                <a:latin typeface="Montserrat"/>
                <a:ea typeface="Montserrat"/>
                <a:cs typeface="Montserrat"/>
                <a:sym typeface="Montserrat"/>
              </a:rPr>
              <a:t>son</a:t>
            </a:r>
            <a:r>
              <a:rPr lang="en-US" sz="2199" strike="noStrike" u="none">
                <a:solidFill>
                  <a:srgbClr val="000000"/>
                </a:solidFill>
                <a:latin typeface="Montserrat"/>
                <a:ea typeface="Montserrat"/>
                <a:cs typeface="Montserrat"/>
                <a:sym typeface="Montserrat"/>
              </a:rPr>
              <a:t> </a:t>
            </a:r>
            <a:r>
              <a:rPr lang="en-US" sz="2199" strike="noStrike" u="none">
                <a:solidFill>
                  <a:srgbClr val="000000"/>
                </a:solidFill>
                <a:latin typeface="Montserrat"/>
                <a:ea typeface="Montserrat"/>
                <a:cs typeface="Montserrat"/>
                <a:sym typeface="Montserrat"/>
              </a:rPr>
              <a:t>for</a:t>
            </a:r>
            <a:r>
              <a:rPr lang="en-US" sz="2199" strike="noStrike" u="none">
                <a:solidFill>
                  <a:srgbClr val="000000"/>
                </a:solidFill>
                <a:latin typeface="Montserrat"/>
                <a:ea typeface="Montserrat"/>
                <a:cs typeface="Montserrat"/>
                <a:sym typeface="Montserrat"/>
              </a:rPr>
              <a:t> t</a:t>
            </a:r>
            <a:r>
              <a:rPr lang="en-US" sz="2199" strike="noStrike" u="none">
                <a:solidFill>
                  <a:srgbClr val="000000"/>
                </a:solidFill>
                <a:latin typeface="Montserrat"/>
                <a:ea typeface="Montserrat"/>
                <a:cs typeface="Montserrat"/>
                <a:sym typeface="Montserrat"/>
              </a:rPr>
              <a:t>he</a:t>
            </a:r>
            <a:r>
              <a:rPr lang="en-US" sz="2199" strike="noStrike" u="none">
                <a:solidFill>
                  <a:srgbClr val="000000"/>
                </a:solidFill>
                <a:latin typeface="Montserrat"/>
                <a:ea typeface="Montserrat"/>
                <a:cs typeface="Montserrat"/>
                <a:sym typeface="Montserrat"/>
              </a:rPr>
              <a:t> </a:t>
            </a:r>
            <a:r>
              <a:rPr lang="en-US" sz="2199" strike="noStrike" u="none">
                <a:solidFill>
                  <a:srgbClr val="000000"/>
                </a:solidFill>
                <a:latin typeface="Montserrat"/>
                <a:ea typeface="Montserrat"/>
                <a:cs typeface="Montserrat"/>
                <a:sym typeface="Montserrat"/>
              </a:rPr>
              <a:t>se</a:t>
            </a:r>
            <a:r>
              <a:rPr lang="en-US" sz="2199" strike="noStrike" u="none">
                <a:solidFill>
                  <a:srgbClr val="000000"/>
                </a:solidFill>
                <a:latin typeface="Montserrat"/>
                <a:ea typeface="Montserrat"/>
                <a:cs typeface="Montserrat"/>
                <a:sym typeface="Montserrat"/>
              </a:rPr>
              <a:t>ar</a:t>
            </a:r>
            <a:r>
              <a:rPr lang="en-US" sz="2199" strike="noStrike" u="none">
                <a:solidFill>
                  <a:srgbClr val="000000"/>
                </a:solidFill>
                <a:latin typeface="Montserrat"/>
                <a:ea typeface="Montserrat"/>
                <a:cs typeface="Montserrat"/>
                <a:sym typeface="Montserrat"/>
              </a:rPr>
              <a:t>ch,</a:t>
            </a:r>
            <a:r>
              <a:rPr lang="en-US" sz="2199" strike="noStrike" u="none">
                <a:solidFill>
                  <a:srgbClr val="000000"/>
                </a:solidFill>
                <a:latin typeface="Montserrat"/>
                <a:ea typeface="Montserrat"/>
                <a:cs typeface="Montserrat"/>
                <a:sym typeface="Montserrat"/>
              </a:rPr>
              <a:t> a</a:t>
            </a:r>
            <a:r>
              <a:rPr lang="en-US" sz="2199" strike="noStrike" u="none">
                <a:solidFill>
                  <a:srgbClr val="000000"/>
                </a:solidFill>
                <a:latin typeface="Montserrat"/>
                <a:ea typeface="Montserrat"/>
                <a:cs typeface="Montserrat"/>
                <a:sym typeface="Montserrat"/>
              </a:rPr>
              <a:t>n</a:t>
            </a:r>
            <a:r>
              <a:rPr lang="en-US" sz="2199" strike="noStrike" u="none">
                <a:solidFill>
                  <a:srgbClr val="000000"/>
                </a:solidFill>
                <a:latin typeface="Montserrat"/>
                <a:ea typeface="Montserrat"/>
                <a:cs typeface="Montserrat"/>
                <a:sym typeface="Montserrat"/>
              </a:rPr>
              <a:t>d </a:t>
            </a:r>
            <a:r>
              <a:rPr lang="en-US" sz="2199" strike="noStrike" u="none">
                <a:solidFill>
                  <a:srgbClr val="000000"/>
                </a:solidFill>
                <a:latin typeface="Montserrat"/>
                <a:ea typeface="Montserrat"/>
                <a:cs typeface="Montserrat"/>
                <a:sym typeface="Montserrat"/>
              </a:rPr>
              <a:t>c</a:t>
            </a:r>
            <a:r>
              <a:rPr lang="en-US" sz="2199" strike="noStrike" u="none">
                <a:solidFill>
                  <a:srgbClr val="000000"/>
                </a:solidFill>
                <a:latin typeface="Montserrat"/>
                <a:ea typeface="Montserrat"/>
                <a:cs typeface="Montserrat"/>
                <a:sym typeface="Montserrat"/>
              </a:rPr>
              <a:t>a</a:t>
            </a:r>
            <a:r>
              <a:rPr lang="en-US" sz="2199" strike="noStrike" u="none">
                <a:solidFill>
                  <a:srgbClr val="000000"/>
                </a:solidFill>
                <a:latin typeface="Montserrat"/>
                <a:ea typeface="Montserrat"/>
                <a:cs typeface="Montserrat"/>
                <a:sym typeface="Montserrat"/>
              </a:rPr>
              <a:t>se</a:t>
            </a:r>
            <a:r>
              <a:rPr lang="en-US" sz="2199" strike="noStrike" u="none">
                <a:solidFill>
                  <a:srgbClr val="000000"/>
                </a:solidFill>
                <a:latin typeface="Montserrat"/>
                <a:ea typeface="Montserrat"/>
                <a:cs typeface="Montserrat"/>
                <a:sym typeface="Montserrat"/>
              </a:rPr>
              <a:t> n</a:t>
            </a:r>
            <a:r>
              <a:rPr lang="en-US" sz="2199" strike="noStrike" u="none">
                <a:solidFill>
                  <a:srgbClr val="000000"/>
                </a:solidFill>
                <a:latin typeface="Montserrat"/>
                <a:ea typeface="Montserrat"/>
                <a:cs typeface="Montserrat"/>
                <a:sym typeface="Montserrat"/>
              </a:rPr>
              <a:t>umb</a:t>
            </a:r>
            <a:r>
              <a:rPr lang="en-US" sz="2199" strike="noStrike" u="none">
                <a:solidFill>
                  <a:srgbClr val="000000"/>
                </a:solidFill>
                <a:latin typeface="Montserrat"/>
                <a:ea typeface="Montserrat"/>
                <a:cs typeface="Montserrat"/>
                <a:sym typeface="Montserrat"/>
              </a:rPr>
              <a:t>er</a:t>
            </a:r>
            <a:r>
              <a:rPr lang="en-US" sz="2199" strike="noStrike" u="none">
                <a:solidFill>
                  <a:srgbClr val="000000"/>
                </a:solidFill>
                <a:latin typeface="Montserrat"/>
                <a:ea typeface="Montserrat"/>
                <a:cs typeface="Montserrat"/>
                <a:sym typeface="Montserrat"/>
              </a:rPr>
              <a:t>.</a:t>
            </a:r>
            <a:r>
              <a:rPr lang="en-US" sz="2199" strike="noStrike" u="none">
                <a:solidFill>
                  <a:srgbClr val="000000"/>
                </a:solidFill>
                <a:latin typeface="Montserrat"/>
                <a:ea typeface="Montserrat"/>
                <a:cs typeface="Montserrat"/>
                <a:sym typeface="Montserrat"/>
              </a:rPr>
              <a:t> </a:t>
            </a:r>
          </a:p>
        </p:txBody>
      </p:sp>
      <p:sp>
        <p:nvSpPr>
          <p:cNvPr name="TextBox 38" id="38"/>
          <p:cNvSpPr txBox="true"/>
          <p:nvPr/>
        </p:nvSpPr>
        <p:spPr>
          <a:xfrm rot="0">
            <a:off x="9427689" y="6762528"/>
            <a:ext cx="6473760" cy="646557"/>
          </a:xfrm>
          <a:prstGeom prst="rect">
            <a:avLst/>
          </a:prstGeom>
        </p:spPr>
        <p:txBody>
          <a:bodyPr anchor="t" rtlCol="false" tIns="0" lIns="0" bIns="0" rIns="0">
            <a:spAutoFit/>
          </a:bodyPr>
          <a:lstStyle/>
          <a:p>
            <a:pPr algn="l" marL="0" indent="0" lvl="0">
              <a:lnSpc>
                <a:spcPts val="2573"/>
              </a:lnSpc>
              <a:spcBef>
                <a:spcPct val="0"/>
              </a:spcBef>
            </a:pPr>
            <a:r>
              <a:rPr lang="en-US" sz="2199" strike="noStrike" u="none">
                <a:solidFill>
                  <a:srgbClr val="000000"/>
                </a:solidFill>
                <a:latin typeface="Montserrat"/>
                <a:ea typeface="Montserrat"/>
                <a:cs typeface="Montserrat"/>
                <a:sym typeface="Montserrat"/>
              </a:rPr>
              <a:t>Audits show who searched, what was searched, and why.</a:t>
            </a:r>
          </a:p>
        </p:txBody>
      </p:sp>
      <p:sp>
        <p:nvSpPr>
          <p:cNvPr name="TextBox 39" id="39"/>
          <p:cNvSpPr txBox="true"/>
          <p:nvPr/>
        </p:nvSpPr>
        <p:spPr>
          <a:xfrm rot="0">
            <a:off x="9832221" y="5065041"/>
            <a:ext cx="6069228" cy="372745"/>
          </a:xfrm>
          <a:prstGeom prst="rect">
            <a:avLst/>
          </a:prstGeom>
        </p:spPr>
        <p:txBody>
          <a:bodyPr anchor="t" rtlCol="false" tIns="0" lIns="0" bIns="0" rIns="0">
            <a:spAutoFit/>
          </a:bodyPr>
          <a:lstStyle/>
          <a:p>
            <a:pPr algn="l" marL="0" indent="0" lvl="0">
              <a:lnSpc>
                <a:spcPts val="3079"/>
              </a:lnSpc>
              <a:spcBef>
                <a:spcPct val="0"/>
              </a:spcBef>
            </a:pPr>
            <a:r>
              <a:rPr lang="en-US" sz="2199" strike="noStrike" u="none">
                <a:solidFill>
                  <a:srgbClr val="000000"/>
                </a:solidFill>
                <a:latin typeface="Montserrat"/>
                <a:ea typeface="Montserrat"/>
                <a:cs typeface="Montserrat"/>
                <a:sym typeface="Montserrat"/>
              </a:rPr>
              <a:t>A</a:t>
            </a:r>
            <a:r>
              <a:rPr lang="en-US" sz="2199" strike="noStrike" u="none">
                <a:solidFill>
                  <a:srgbClr val="000000"/>
                </a:solidFill>
                <a:latin typeface="Montserrat"/>
                <a:ea typeface="Montserrat"/>
                <a:cs typeface="Montserrat"/>
                <a:sym typeface="Montserrat"/>
              </a:rPr>
              <a:t>ll </a:t>
            </a:r>
            <a:r>
              <a:rPr lang="en-US" sz="2199" strike="noStrike" u="none">
                <a:solidFill>
                  <a:srgbClr val="000000"/>
                </a:solidFill>
                <a:latin typeface="Montserrat"/>
                <a:ea typeface="Montserrat"/>
                <a:cs typeface="Montserrat"/>
                <a:sym typeface="Montserrat"/>
              </a:rPr>
              <a:t>s</a:t>
            </a:r>
            <a:r>
              <a:rPr lang="en-US" sz="2199" strike="noStrike" u="none">
                <a:solidFill>
                  <a:srgbClr val="000000"/>
                </a:solidFill>
                <a:latin typeface="Montserrat"/>
                <a:ea typeface="Montserrat"/>
                <a:cs typeface="Montserrat"/>
                <a:sym typeface="Montserrat"/>
              </a:rPr>
              <a:t>earch</a:t>
            </a:r>
            <a:r>
              <a:rPr lang="en-US" sz="2199" strike="noStrike" u="none">
                <a:solidFill>
                  <a:srgbClr val="000000"/>
                </a:solidFill>
                <a:latin typeface="Montserrat"/>
                <a:ea typeface="Montserrat"/>
                <a:cs typeface="Montserrat"/>
                <a:sym typeface="Montserrat"/>
              </a:rPr>
              <a:t>es a</a:t>
            </a:r>
            <a:r>
              <a:rPr lang="en-US" sz="2199" strike="noStrike" u="none">
                <a:solidFill>
                  <a:srgbClr val="000000"/>
                </a:solidFill>
                <a:latin typeface="Montserrat"/>
                <a:ea typeface="Montserrat"/>
                <a:cs typeface="Montserrat"/>
                <a:sym typeface="Montserrat"/>
              </a:rPr>
              <a:t>re</a:t>
            </a:r>
            <a:r>
              <a:rPr lang="en-US" sz="2199" strike="noStrike" u="none">
                <a:solidFill>
                  <a:srgbClr val="000000"/>
                </a:solidFill>
                <a:latin typeface="Montserrat"/>
                <a:ea typeface="Montserrat"/>
                <a:cs typeface="Montserrat"/>
                <a:sym typeface="Montserrat"/>
              </a:rPr>
              <a:t> </a:t>
            </a:r>
            <a:r>
              <a:rPr lang="en-US" sz="2199" strike="noStrike" u="none">
                <a:solidFill>
                  <a:srgbClr val="000000"/>
                </a:solidFill>
                <a:latin typeface="Montserrat"/>
                <a:ea typeface="Montserrat"/>
                <a:cs typeface="Montserrat"/>
                <a:sym typeface="Montserrat"/>
              </a:rPr>
              <a:t>r</a:t>
            </a:r>
            <a:r>
              <a:rPr lang="en-US" sz="2199" strike="noStrike" u="none">
                <a:solidFill>
                  <a:srgbClr val="000000"/>
                </a:solidFill>
                <a:latin typeface="Montserrat"/>
                <a:ea typeface="Montserrat"/>
                <a:cs typeface="Montserrat"/>
                <a:sym typeface="Montserrat"/>
              </a:rPr>
              <a:t>e</a:t>
            </a:r>
            <a:r>
              <a:rPr lang="en-US" sz="2199" strike="noStrike" u="none">
                <a:solidFill>
                  <a:srgbClr val="000000"/>
                </a:solidFill>
                <a:latin typeface="Montserrat"/>
                <a:ea typeface="Montserrat"/>
                <a:cs typeface="Montserrat"/>
                <a:sym typeface="Montserrat"/>
              </a:rPr>
              <a:t>cord</a:t>
            </a:r>
            <a:r>
              <a:rPr lang="en-US" sz="2199" strike="noStrike" u="none">
                <a:solidFill>
                  <a:srgbClr val="000000"/>
                </a:solidFill>
                <a:latin typeface="Montserrat"/>
                <a:ea typeface="Montserrat"/>
                <a:cs typeface="Montserrat"/>
                <a:sym typeface="Montserrat"/>
              </a:rPr>
              <a:t>e</a:t>
            </a:r>
            <a:r>
              <a:rPr lang="en-US" sz="2199" strike="noStrike" u="none">
                <a:solidFill>
                  <a:srgbClr val="000000"/>
                </a:solidFill>
                <a:latin typeface="Montserrat"/>
                <a:ea typeface="Montserrat"/>
                <a:cs typeface="Montserrat"/>
                <a:sym typeface="Montserrat"/>
              </a:rPr>
              <a:t>d</a:t>
            </a:r>
            <a:r>
              <a:rPr lang="en-US" sz="2199" strike="noStrike" u="none">
                <a:solidFill>
                  <a:srgbClr val="000000"/>
                </a:solidFill>
                <a:latin typeface="Montserrat"/>
                <a:ea typeface="Montserrat"/>
                <a:cs typeface="Montserrat"/>
                <a:sym typeface="Montserrat"/>
              </a:rPr>
              <a:t> and r</a:t>
            </a:r>
            <a:r>
              <a:rPr lang="en-US" sz="2199" strike="noStrike" u="none">
                <a:solidFill>
                  <a:srgbClr val="000000"/>
                </a:solidFill>
                <a:latin typeface="Montserrat"/>
                <a:ea typeface="Montserrat"/>
                <a:cs typeface="Montserrat"/>
                <a:sym typeface="Montserrat"/>
              </a:rPr>
              <a:t>e</a:t>
            </a:r>
            <a:r>
              <a:rPr lang="en-US" sz="2199" strike="noStrike" u="none">
                <a:solidFill>
                  <a:srgbClr val="000000"/>
                </a:solidFill>
                <a:latin typeface="Montserrat"/>
                <a:ea typeface="Montserrat"/>
                <a:cs typeface="Montserrat"/>
                <a:sym typeface="Montserrat"/>
              </a:rPr>
              <a:t>v</a:t>
            </a:r>
            <a:r>
              <a:rPr lang="en-US" sz="2199" strike="noStrike" u="none">
                <a:solidFill>
                  <a:srgbClr val="000000"/>
                </a:solidFill>
                <a:latin typeface="Montserrat"/>
                <a:ea typeface="Montserrat"/>
                <a:cs typeface="Montserrat"/>
                <a:sym typeface="Montserrat"/>
              </a:rPr>
              <a:t>i</a:t>
            </a:r>
            <a:r>
              <a:rPr lang="en-US" sz="2199" strike="noStrike" u="none">
                <a:solidFill>
                  <a:srgbClr val="000000"/>
                </a:solidFill>
                <a:latin typeface="Montserrat"/>
                <a:ea typeface="Montserrat"/>
                <a:cs typeface="Montserrat"/>
                <a:sym typeface="Montserrat"/>
              </a:rPr>
              <a:t>e</a:t>
            </a:r>
            <a:r>
              <a:rPr lang="en-US" sz="2199" strike="noStrike" u="none">
                <a:solidFill>
                  <a:srgbClr val="000000"/>
                </a:solidFill>
                <a:latin typeface="Montserrat"/>
                <a:ea typeface="Montserrat"/>
                <a:cs typeface="Montserrat"/>
                <a:sym typeface="Montserrat"/>
              </a:rPr>
              <a:t>w</a:t>
            </a:r>
            <a:r>
              <a:rPr lang="en-US" sz="2199" strike="noStrike" u="none">
                <a:solidFill>
                  <a:srgbClr val="000000"/>
                </a:solidFill>
                <a:latin typeface="Montserrat"/>
                <a:ea typeface="Montserrat"/>
                <a:cs typeface="Montserrat"/>
                <a:sym typeface="Montserrat"/>
              </a:rPr>
              <a:t>a</a:t>
            </a:r>
            <a:r>
              <a:rPr lang="en-US" sz="2199" strike="noStrike" u="none">
                <a:solidFill>
                  <a:srgbClr val="000000"/>
                </a:solidFill>
                <a:latin typeface="Montserrat"/>
                <a:ea typeface="Montserrat"/>
                <a:cs typeface="Montserrat"/>
                <a:sym typeface="Montserrat"/>
              </a:rPr>
              <a:t>b</a:t>
            </a:r>
            <a:r>
              <a:rPr lang="en-US" sz="2199" strike="noStrike" u="none">
                <a:solidFill>
                  <a:srgbClr val="000000"/>
                </a:solidFill>
                <a:latin typeface="Montserrat"/>
                <a:ea typeface="Montserrat"/>
                <a:cs typeface="Montserrat"/>
                <a:sym typeface="Montserrat"/>
              </a:rPr>
              <a:t>le</a:t>
            </a:r>
            <a:r>
              <a:rPr lang="en-US" sz="2199" strike="noStrike" u="none">
                <a:solidFill>
                  <a:srgbClr val="000000"/>
                </a:solidFill>
                <a:latin typeface="Montserrat"/>
                <a:ea typeface="Montserrat"/>
                <a:cs typeface="Montserrat"/>
                <a:sym typeface="Montserrat"/>
              </a:rPr>
              <a:t>.</a:t>
            </a:r>
          </a:p>
        </p:txBody>
      </p:sp>
      <p:sp>
        <p:nvSpPr>
          <p:cNvPr name="TextBox 40" id="40"/>
          <p:cNvSpPr txBox="true"/>
          <p:nvPr/>
        </p:nvSpPr>
        <p:spPr>
          <a:xfrm rot="0">
            <a:off x="8779805" y="1273150"/>
            <a:ext cx="5248889" cy="412750"/>
          </a:xfrm>
          <a:prstGeom prst="rect">
            <a:avLst/>
          </a:prstGeom>
        </p:spPr>
        <p:txBody>
          <a:bodyPr anchor="t" rtlCol="false" tIns="0" lIns="0" bIns="0" rIns="0">
            <a:spAutoFit/>
          </a:bodyPr>
          <a:lstStyle/>
          <a:p>
            <a:pPr algn="l" marL="0" indent="0" lvl="0">
              <a:lnSpc>
                <a:spcPts val="3499"/>
              </a:lnSpc>
              <a:spcBef>
                <a:spcPct val="0"/>
              </a:spcBef>
            </a:pPr>
            <a:r>
              <a:rPr lang="en-US" b="true" sz="2499" strike="noStrike" u="none">
                <a:solidFill>
                  <a:srgbClr val="2E479D"/>
                </a:solidFill>
                <a:latin typeface="Montserrat Bold"/>
                <a:ea typeface="Montserrat Bold"/>
                <a:cs typeface="Montserrat Bold"/>
                <a:sym typeface="Montserrat Bold"/>
              </a:rPr>
              <a:t>AUTHORIZED ACCESS</a:t>
            </a:r>
          </a:p>
        </p:txBody>
      </p:sp>
      <p:sp>
        <p:nvSpPr>
          <p:cNvPr name="TextBox 41" id="41"/>
          <p:cNvSpPr txBox="true"/>
          <p:nvPr/>
        </p:nvSpPr>
        <p:spPr>
          <a:xfrm rot="0">
            <a:off x="8779805" y="7962977"/>
            <a:ext cx="5248889" cy="412750"/>
          </a:xfrm>
          <a:prstGeom prst="rect">
            <a:avLst/>
          </a:prstGeom>
        </p:spPr>
        <p:txBody>
          <a:bodyPr anchor="t" rtlCol="false" tIns="0" lIns="0" bIns="0" rIns="0">
            <a:spAutoFit/>
          </a:bodyPr>
          <a:lstStyle/>
          <a:p>
            <a:pPr algn="l" marL="0" indent="0" lvl="0">
              <a:lnSpc>
                <a:spcPts val="3499"/>
              </a:lnSpc>
              <a:spcBef>
                <a:spcPct val="0"/>
              </a:spcBef>
            </a:pPr>
            <a:r>
              <a:rPr lang="en-US" b="true" sz="2499" strike="noStrike" u="none">
                <a:solidFill>
                  <a:srgbClr val="2E479D"/>
                </a:solidFill>
                <a:latin typeface="Montserrat Bold"/>
                <a:ea typeface="Montserrat Bold"/>
                <a:cs typeface="Montserrat Bold"/>
                <a:sym typeface="Montserrat Bold"/>
              </a:rPr>
              <a:t>ONGOING REVIEW</a:t>
            </a:r>
          </a:p>
        </p:txBody>
      </p:sp>
      <p:sp>
        <p:nvSpPr>
          <p:cNvPr name="TextBox 42" id="42"/>
          <p:cNvSpPr txBox="true"/>
          <p:nvPr/>
        </p:nvSpPr>
        <p:spPr>
          <a:xfrm rot="0">
            <a:off x="9427689" y="2838926"/>
            <a:ext cx="5248889" cy="412750"/>
          </a:xfrm>
          <a:prstGeom prst="rect">
            <a:avLst/>
          </a:prstGeom>
        </p:spPr>
        <p:txBody>
          <a:bodyPr anchor="t" rtlCol="false" tIns="0" lIns="0" bIns="0" rIns="0">
            <a:spAutoFit/>
          </a:bodyPr>
          <a:lstStyle/>
          <a:p>
            <a:pPr algn="l" marL="0" indent="0" lvl="0">
              <a:lnSpc>
                <a:spcPts val="3499"/>
              </a:lnSpc>
              <a:spcBef>
                <a:spcPct val="0"/>
              </a:spcBef>
            </a:pPr>
            <a:r>
              <a:rPr lang="en-US" b="true" sz="2499" strike="noStrike" u="none">
                <a:solidFill>
                  <a:srgbClr val="2E479D"/>
                </a:solidFill>
                <a:latin typeface="Montserrat Bold"/>
                <a:ea typeface="Montserrat Bold"/>
                <a:cs typeface="Montserrat Bold"/>
                <a:sym typeface="Montserrat Bold"/>
              </a:rPr>
              <a:t>REQUIRED PURPOSE</a:t>
            </a:r>
          </a:p>
        </p:txBody>
      </p:sp>
      <p:sp>
        <p:nvSpPr>
          <p:cNvPr name="TextBox 43" id="43"/>
          <p:cNvSpPr txBox="true"/>
          <p:nvPr/>
        </p:nvSpPr>
        <p:spPr>
          <a:xfrm rot="0">
            <a:off x="9427689" y="6344088"/>
            <a:ext cx="5248889" cy="412750"/>
          </a:xfrm>
          <a:prstGeom prst="rect">
            <a:avLst/>
          </a:prstGeom>
        </p:spPr>
        <p:txBody>
          <a:bodyPr anchor="t" rtlCol="false" tIns="0" lIns="0" bIns="0" rIns="0">
            <a:spAutoFit/>
          </a:bodyPr>
          <a:lstStyle/>
          <a:p>
            <a:pPr algn="l" marL="0" indent="0" lvl="0">
              <a:lnSpc>
                <a:spcPts val="3499"/>
              </a:lnSpc>
              <a:spcBef>
                <a:spcPct val="0"/>
              </a:spcBef>
            </a:pPr>
            <a:r>
              <a:rPr lang="en-US" b="true" sz="2499" strike="noStrike" u="none">
                <a:solidFill>
                  <a:srgbClr val="2E479D"/>
                </a:solidFill>
                <a:latin typeface="Montserrat Bold"/>
                <a:ea typeface="Montserrat Bold"/>
                <a:cs typeface="Montserrat Bold"/>
                <a:sym typeface="Montserrat Bold"/>
              </a:rPr>
              <a:t>CLEAR VISIBILITY</a:t>
            </a:r>
          </a:p>
        </p:txBody>
      </p:sp>
      <p:sp>
        <p:nvSpPr>
          <p:cNvPr name="TextBox 44" id="44"/>
          <p:cNvSpPr txBox="true"/>
          <p:nvPr/>
        </p:nvSpPr>
        <p:spPr>
          <a:xfrm rot="0">
            <a:off x="9832221" y="4694226"/>
            <a:ext cx="5248889" cy="412750"/>
          </a:xfrm>
          <a:prstGeom prst="rect">
            <a:avLst/>
          </a:prstGeom>
        </p:spPr>
        <p:txBody>
          <a:bodyPr anchor="t" rtlCol="false" tIns="0" lIns="0" bIns="0" rIns="0">
            <a:spAutoFit/>
          </a:bodyPr>
          <a:lstStyle/>
          <a:p>
            <a:pPr algn="l" marL="0" indent="0" lvl="0">
              <a:lnSpc>
                <a:spcPts val="3499"/>
              </a:lnSpc>
              <a:spcBef>
                <a:spcPct val="0"/>
              </a:spcBef>
            </a:pPr>
            <a:r>
              <a:rPr lang="en-US" b="true" sz="2499" strike="noStrike" u="none">
                <a:solidFill>
                  <a:srgbClr val="2E479D"/>
                </a:solidFill>
                <a:latin typeface="Montserrat Bold"/>
                <a:ea typeface="Montserrat Bold"/>
                <a:cs typeface="Montserrat Bold"/>
                <a:sym typeface="Montserrat Bold"/>
              </a:rPr>
              <a:t>AUDIT TRAIL</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147473" y="4606273"/>
            <a:ext cx="9771292" cy="4929965"/>
            <a:chOff x="0" y="0"/>
            <a:chExt cx="1590344" cy="802385"/>
          </a:xfrm>
        </p:grpSpPr>
        <p:sp>
          <p:nvSpPr>
            <p:cNvPr name="Freeform 3" id="3"/>
            <p:cNvSpPr/>
            <p:nvPr/>
          </p:nvSpPr>
          <p:spPr>
            <a:xfrm flipH="false" flipV="false" rot="0">
              <a:off x="0" y="0"/>
              <a:ext cx="1590344" cy="802385"/>
            </a:xfrm>
            <a:custGeom>
              <a:avLst/>
              <a:gdLst/>
              <a:ahLst/>
              <a:cxnLst/>
              <a:rect r="r" b="b" t="t" l="l"/>
              <a:pathLst>
                <a:path h="802385" w="1590344">
                  <a:moveTo>
                    <a:pt x="10300" y="0"/>
                  </a:moveTo>
                  <a:lnTo>
                    <a:pt x="1580044" y="0"/>
                  </a:lnTo>
                  <a:cubicBezTo>
                    <a:pt x="1582775" y="0"/>
                    <a:pt x="1585395" y="1085"/>
                    <a:pt x="1587327" y="3017"/>
                  </a:cubicBezTo>
                  <a:cubicBezTo>
                    <a:pt x="1589258" y="4948"/>
                    <a:pt x="1590344" y="7568"/>
                    <a:pt x="1590344" y="10300"/>
                  </a:cubicBezTo>
                  <a:lnTo>
                    <a:pt x="1590344" y="792085"/>
                  </a:lnTo>
                  <a:cubicBezTo>
                    <a:pt x="1590344" y="794817"/>
                    <a:pt x="1589258" y="797437"/>
                    <a:pt x="1587327" y="799368"/>
                  </a:cubicBezTo>
                  <a:cubicBezTo>
                    <a:pt x="1585395" y="801300"/>
                    <a:pt x="1582775" y="802385"/>
                    <a:pt x="1580044" y="802385"/>
                  </a:cubicBezTo>
                  <a:lnTo>
                    <a:pt x="10300" y="802385"/>
                  </a:lnTo>
                  <a:cubicBezTo>
                    <a:pt x="7568" y="802385"/>
                    <a:pt x="4948" y="801300"/>
                    <a:pt x="3017" y="799368"/>
                  </a:cubicBezTo>
                  <a:cubicBezTo>
                    <a:pt x="1085" y="797437"/>
                    <a:pt x="0" y="794817"/>
                    <a:pt x="0" y="792085"/>
                  </a:cubicBezTo>
                  <a:lnTo>
                    <a:pt x="0" y="10300"/>
                  </a:lnTo>
                  <a:cubicBezTo>
                    <a:pt x="0" y="7568"/>
                    <a:pt x="1085" y="4948"/>
                    <a:pt x="3017" y="3017"/>
                  </a:cubicBezTo>
                  <a:cubicBezTo>
                    <a:pt x="4948" y="1085"/>
                    <a:pt x="7568" y="0"/>
                    <a:pt x="10300" y="0"/>
                  </a:cubicBezTo>
                  <a:close/>
                </a:path>
              </a:pathLst>
            </a:custGeom>
            <a:blipFill>
              <a:blip r:embed="rId2"/>
              <a:stretch>
                <a:fillRect l="0" t="-3549" r="-447" b="-3768"/>
              </a:stretch>
            </a:blipFill>
          </p:spPr>
        </p:sp>
      </p:grpSp>
      <p:sp>
        <p:nvSpPr>
          <p:cNvPr name="Freeform 4" id="4"/>
          <p:cNvSpPr/>
          <p:nvPr/>
        </p:nvSpPr>
        <p:spPr>
          <a:xfrm flipH="false" flipV="false" rot="0">
            <a:off x="881386" y="2053914"/>
            <a:ext cx="721688" cy="721688"/>
          </a:xfrm>
          <a:custGeom>
            <a:avLst/>
            <a:gdLst/>
            <a:ahLst/>
            <a:cxnLst/>
            <a:rect r="r" b="b" t="t" l="l"/>
            <a:pathLst>
              <a:path h="721688" w="721688">
                <a:moveTo>
                  <a:pt x="0" y="0"/>
                </a:moveTo>
                <a:lnTo>
                  <a:pt x="721688" y="0"/>
                </a:lnTo>
                <a:lnTo>
                  <a:pt x="721688" y="721688"/>
                </a:lnTo>
                <a:lnTo>
                  <a:pt x="0" y="72168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81386" y="3455960"/>
            <a:ext cx="721688" cy="721688"/>
          </a:xfrm>
          <a:custGeom>
            <a:avLst/>
            <a:gdLst/>
            <a:ahLst/>
            <a:cxnLst/>
            <a:rect r="r" b="b" t="t" l="l"/>
            <a:pathLst>
              <a:path h="721688" w="721688">
                <a:moveTo>
                  <a:pt x="0" y="0"/>
                </a:moveTo>
                <a:lnTo>
                  <a:pt x="721688" y="0"/>
                </a:lnTo>
                <a:lnTo>
                  <a:pt x="721688" y="721688"/>
                </a:lnTo>
                <a:lnTo>
                  <a:pt x="0" y="72168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899459" y="770402"/>
            <a:ext cx="8115300" cy="766996"/>
          </a:xfrm>
          <a:prstGeom prst="rect">
            <a:avLst/>
          </a:prstGeom>
        </p:spPr>
        <p:txBody>
          <a:bodyPr anchor="t" rtlCol="false" tIns="0" lIns="0" bIns="0" rIns="0">
            <a:spAutoFit/>
          </a:bodyPr>
          <a:lstStyle/>
          <a:p>
            <a:pPr algn="just" marL="0" indent="0" lvl="0">
              <a:lnSpc>
                <a:spcPts val="6300"/>
              </a:lnSpc>
              <a:spcBef>
                <a:spcPct val="0"/>
              </a:spcBef>
            </a:pPr>
            <a:r>
              <a:rPr lang="en-US" b="true" sz="4500" strike="noStrike" u="none">
                <a:solidFill>
                  <a:srgbClr val="002557"/>
                </a:solidFill>
                <a:latin typeface="Montserrat Bold"/>
                <a:ea typeface="Montserrat Bold"/>
                <a:cs typeface="Montserrat Bold"/>
                <a:sym typeface="Montserrat Bold"/>
              </a:rPr>
              <a:t>Audit Assistance</a:t>
            </a:r>
          </a:p>
        </p:txBody>
      </p:sp>
      <p:sp>
        <p:nvSpPr>
          <p:cNvPr name="TextBox 7" id="7"/>
          <p:cNvSpPr txBox="true"/>
          <p:nvPr/>
        </p:nvSpPr>
        <p:spPr>
          <a:xfrm rot="0">
            <a:off x="1830632" y="2015814"/>
            <a:ext cx="9877789" cy="763270"/>
          </a:xfrm>
          <a:prstGeom prst="rect">
            <a:avLst/>
          </a:prstGeom>
        </p:spPr>
        <p:txBody>
          <a:bodyPr anchor="t" rtlCol="false" tIns="0" lIns="0" bIns="0" rIns="0">
            <a:spAutoFit/>
          </a:bodyPr>
          <a:lstStyle/>
          <a:p>
            <a:pPr algn="l">
              <a:lnSpc>
                <a:spcPts val="3079"/>
              </a:lnSpc>
            </a:pPr>
            <a:r>
              <a:rPr lang="en-US" sz="2199">
                <a:solidFill>
                  <a:srgbClr val="152047"/>
                </a:solidFill>
                <a:latin typeface="Montserrat"/>
                <a:ea typeface="Montserrat"/>
                <a:cs typeface="Montserrat"/>
                <a:sym typeface="Montserrat"/>
              </a:rPr>
              <a:t>Surfaces atypical search patterns and flags them for admin review, making it easier to have oversight on how the system is used.</a:t>
            </a:r>
          </a:p>
        </p:txBody>
      </p:sp>
      <p:sp>
        <p:nvSpPr>
          <p:cNvPr name="TextBox 8" id="8"/>
          <p:cNvSpPr txBox="true"/>
          <p:nvPr/>
        </p:nvSpPr>
        <p:spPr>
          <a:xfrm rot="0">
            <a:off x="1830632" y="3414378"/>
            <a:ext cx="10709726" cy="763270"/>
          </a:xfrm>
          <a:prstGeom prst="rect">
            <a:avLst/>
          </a:prstGeom>
        </p:spPr>
        <p:txBody>
          <a:bodyPr anchor="t" rtlCol="false" tIns="0" lIns="0" bIns="0" rIns="0">
            <a:spAutoFit/>
          </a:bodyPr>
          <a:lstStyle/>
          <a:p>
            <a:pPr algn="l" marL="0" indent="0" lvl="0">
              <a:lnSpc>
                <a:spcPts val="3079"/>
              </a:lnSpc>
              <a:spcBef>
                <a:spcPct val="0"/>
              </a:spcBef>
            </a:pPr>
            <a:r>
              <a:rPr lang="en-US" sz="2199" strike="noStrike" u="none">
                <a:solidFill>
                  <a:srgbClr val="152047"/>
                </a:solidFill>
                <a:latin typeface="Montserrat"/>
                <a:ea typeface="Montserrat"/>
                <a:cs typeface="Montserrat"/>
                <a:sym typeface="Montserrat"/>
              </a:rPr>
              <a:t>Flock recommends best auditing practices for customers, encouraging a reliable rhythm of oversight. </a:t>
            </a:r>
          </a:p>
        </p:txBody>
      </p:sp>
      <p:sp>
        <p:nvSpPr>
          <p:cNvPr name="AutoShape 9" id="9"/>
          <p:cNvSpPr/>
          <p:nvPr/>
        </p:nvSpPr>
        <p:spPr>
          <a:xfrm flipV="true">
            <a:off x="0" y="1485011"/>
            <a:ext cx="7378521" cy="24702"/>
          </a:xfrm>
          <a:prstGeom prst="line">
            <a:avLst/>
          </a:prstGeom>
          <a:ln cap="flat" w="47625">
            <a:solidFill>
              <a:srgbClr val="A28231"/>
            </a:solidFill>
            <a:prstDash val="solid"/>
            <a:headEnd type="none" len="sm" w="sm"/>
            <a:tailEnd type="none" len="sm" w="sm"/>
          </a:ln>
        </p:spPr>
      </p:sp>
      <p:sp>
        <p:nvSpPr>
          <p:cNvPr name="AutoShape 10" id="10"/>
          <p:cNvSpPr/>
          <p:nvPr/>
        </p:nvSpPr>
        <p:spPr>
          <a:xfrm flipV="true">
            <a:off x="-117230" y="10287000"/>
            <a:ext cx="19376532" cy="12351"/>
          </a:xfrm>
          <a:prstGeom prst="line">
            <a:avLst/>
          </a:prstGeom>
          <a:ln cap="flat" w="85725">
            <a:solidFill>
              <a:srgbClr val="1E498A"/>
            </a:solidFill>
            <a:prstDash val="solid"/>
            <a:headEnd type="none" len="sm" w="sm"/>
            <a:tailEnd type="none" len="sm" w="sm"/>
          </a:ln>
        </p:spPr>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636243"/>
            <a:ext cx="8011416" cy="9014515"/>
          </a:xfrm>
          <a:custGeom>
            <a:avLst/>
            <a:gdLst/>
            <a:ahLst/>
            <a:cxnLst/>
            <a:rect r="r" b="b" t="t" l="l"/>
            <a:pathLst>
              <a:path h="9014515" w="8011416">
                <a:moveTo>
                  <a:pt x="0" y="0"/>
                </a:moveTo>
                <a:lnTo>
                  <a:pt x="8011416" y="0"/>
                </a:lnTo>
                <a:lnTo>
                  <a:pt x="8011416" y="9014514"/>
                </a:lnTo>
                <a:lnTo>
                  <a:pt x="0" y="9014514"/>
                </a:lnTo>
                <a:lnTo>
                  <a:pt x="0" y="0"/>
                </a:lnTo>
                <a:close/>
              </a:path>
            </a:pathLst>
          </a:custGeom>
          <a:blipFill>
            <a:blip r:embed="rId2"/>
            <a:stretch>
              <a:fillRect l="0" t="0" r="0" b="0"/>
            </a:stretch>
          </a:blipFill>
        </p:spPr>
      </p:sp>
      <p:sp>
        <p:nvSpPr>
          <p:cNvPr name="Freeform 3" id="3"/>
          <p:cNvSpPr/>
          <p:nvPr/>
        </p:nvSpPr>
        <p:spPr>
          <a:xfrm flipH="false" flipV="false" rot="0">
            <a:off x="9040116" y="636243"/>
            <a:ext cx="7934639" cy="9013004"/>
          </a:xfrm>
          <a:custGeom>
            <a:avLst/>
            <a:gdLst/>
            <a:ahLst/>
            <a:cxnLst/>
            <a:rect r="r" b="b" t="t" l="l"/>
            <a:pathLst>
              <a:path h="9013004" w="7934639">
                <a:moveTo>
                  <a:pt x="0" y="0"/>
                </a:moveTo>
                <a:lnTo>
                  <a:pt x="7934639" y="0"/>
                </a:lnTo>
                <a:lnTo>
                  <a:pt x="7934639" y="9013004"/>
                </a:lnTo>
                <a:lnTo>
                  <a:pt x="0" y="9013004"/>
                </a:lnTo>
                <a:lnTo>
                  <a:pt x="0" y="0"/>
                </a:lnTo>
                <a:close/>
              </a:path>
            </a:pathLst>
          </a:custGeom>
          <a:blipFill>
            <a:blip r:embed="rId3"/>
            <a:stretch>
              <a:fillRect l="0" t="0" r="0" b="0"/>
            </a:stretch>
          </a:blipFill>
          <a:ln cap="sq">
            <a:noFill/>
            <a:prstDash val="solid"/>
            <a:miter/>
          </a:ln>
        </p:spPr>
      </p:sp>
      <p:grpSp>
        <p:nvGrpSpPr>
          <p:cNvPr name="Group 4" id="4"/>
          <p:cNvGrpSpPr/>
          <p:nvPr/>
        </p:nvGrpSpPr>
        <p:grpSpPr>
          <a:xfrm rot="0">
            <a:off x="16412326" y="8378243"/>
            <a:ext cx="1693949" cy="1760114"/>
            <a:chOff x="0" y="0"/>
            <a:chExt cx="446143" cy="463569"/>
          </a:xfrm>
        </p:grpSpPr>
        <p:sp>
          <p:nvSpPr>
            <p:cNvPr name="Freeform 5" id="5"/>
            <p:cNvSpPr/>
            <p:nvPr/>
          </p:nvSpPr>
          <p:spPr>
            <a:xfrm flipH="false" flipV="false" rot="0">
              <a:off x="0" y="0"/>
              <a:ext cx="446143" cy="463569"/>
            </a:xfrm>
            <a:custGeom>
              <a:avLst/>
              <a:gdLst/>
              <a:ahLst/>
              <a:cxnLst/>
              <a:rect r="r" b="b" t="t" l="l"/>
              <a:pathLst>
                <a:path h="463569" w="446143">
                  <a:moveTo>
                    <a:pt x="0" y="0"/>
                  </a:moveTo>
                  <a:lnTo>
                    <a:pt x="446143" y="0"/>
                  </a:lnTo>
                  <a:lnTo>
                    <a:pt x="446143" y="463569"/>
                  </a:lnTo>
                  <a:lnTo>
                    <a:pt x="0" y="463569"/>
                  </a:lnTo>
                  <a:close/>
                </a:path>
              </a:pathLst>
            </a:custGeom>
            <a:solidFill>
              <a:srgbClr val="17397F"/>
            </a:solidFill>
          </p:spPr>
        </p:sp>
        <p:sp>
          <p:nvSpPr>
            <p:cNvPr name="TextBox 6" id="6"/>
            <p:cNvSpPr txBox="true"/>
            <p:nvPr/>
          </p:nvSpPr>
          <p:spPr>
            <a:xfrm>
              <a:off x="0" y="-38100"/>
              <a:ext cx="446143" cy="501669"/>
            </a:xfrm>
            <a:prstGeom prst="rect">
              <a:avLst/>
            </a:prstGeom>
          </p:spPr>
          <p:txBody>
            <a:bodyPr anchor="ctr" rtlCol="false" tIns="50800" lIns="50800" bIns="50800" rIns="50800"/>
            <a:lstStyle/>
            <a:p>
              <a:pPr algn="ctr">
                <a:lnSpc>
                  <a:spcPts val="2520"/>
                </a:lnSpc>
              </a:pPr>
            </a:p>
          </p:txBody>
        </p:sp>
      </p:grpSp>
      <p:pic>
        <p:nvPicPr>
          <p:cNvPr name="Picture 7" id="7"/>
          <p:cNvPicPr>
            <a:picLocks noChangeAspect="true"/>
          </p:cNvPicPr>
          <p:nvPr/>
        </p:nvPicPr>
        <p:blipFill>
          <a:blip r:embed="rId4"/>
          <a:stretch>
            <a:fillRect/>
          </a:stretch>
        </p:blipFill>
        <p:spPr>
          <a:xfrm rot="0">
            <a:off x="16465787" y="8464787"/>
            <a:ext cx="1587028" cy="1587028"/>
          </a:xfrm>
          <a:prstGeom prst="rect">
            <a:avLst/>
          </a:prstGeom>
        </p:spPr>
      </p:pic>
    </p:spTree>
  </p:cSld>
  <p:clrMapOvr>
    <a:masterClrMapping/>
  </p:clrMapOvr>
</p:sld>
</file>

<file path=ppt/slides/slide2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606850" y="2014589"/>
            <a:ext cx="15074299" cy="7243711"/>
            <a:chOff x="0" y="0"/>
            <a:chExt cx="20099066" cy="9658282"/>
          </a:xfrm>
        </p:grpSpPr>
        <p:grpSp>
          <p:nvGrpSpPr>
            <p:cNvPr name="Group 4" id="4"/>
            <p:cNvGrpSpPr/>
            <p:nvPr/>
          </p:nvGrpSpPr>
          <p:grpSpPr>
            <a:xfrm rot="0">
              <a:off x="368963" y="0"/>
              <a:ext cx="4334007" cy="2311400"/>
              <a:chOff x="0" y="0"/>
              <a:chExt cx="856100" cy="456573"/>
            </a:xfrm>
          </p:grpSpPr>
          <p:sp>
            <p:nvSpPr>
              <p:cNvPr name="Freeform 5" id="5"/>
              <p:cNvSpPr/>
              <p:nvPr/>
            </p:nvSpPr>
            <p:spPr>
              <a:xfrm flipH="false" flipV="false" rot="0">
                <a:off x="0" y="0"/>
                <a:ext cx="856100" cy="456573"/>
              </a:xfrm>
              <a:custGeom>
                <a:avLst/>
                <a:gdLst/>
                <a:ahLst/>
                <a:cxnLst/>
                <a:rect r="r" b="b" t="t" l="l"/>
                <a:pathLst>
                  <a:path h="456573" w="856100">
                    <a:moveTo>
                      <a:pt x="856100" y="0"/>
                    </a:moveTo>
                    <a:lnTo>
                      <a:pt x="856100" y="342273"/>
                    </a:lnTo>
                    <a:lnTo>
                      <a:pt x="428050" y="456573"/>
                    </a:lnTo>
                    <a:lnTo>
                      <a:pt x="0" y="342273"/>
                    </a:lnTo>
                    <a:lnTo>
                      <a:pt x="0" y="0"/>
                    </a:lnTo>
                    <a:lnTo>
                      <a:pt x="856100" y="0"/>
                    </a:lnTo>
                    <a:close/>
                  </a:path>
                </a:pathLst>
              </a:custGeom>
              <a:solidFill>
                <a:srgbClr val="122359"/>
              </a:solidFill>
            </p:spPr>
          </p:sp>
          <p:sp>
            <p:nvSpPr>
              <p:cNvPr name="TextBox 6" id="6"/>
              <p:cNvSpPr txBox="true"/>
              <p:nvPr/>
            </p:nvSpPr>
            <p:spPr>
              <a:xfrm>
                <a:off x="0" y="-38100"/>
                <a:ext cx="856100" cy="380373"/>
              </a:xfrm>
              <a:prstGeom prst="rect">
                <a:avLst/>
              </a:prstGeom>
            </p:spPr>
            <p:txBody>
              <a:bodyPr anchor="ctr" rtlCol="false" tIns="50800" lIns="50800" bIns="50800" rIns="50800"/>
              <a:lstStyle/>
              <a:p>
                <a:pPr algn="ctr" marL="0" indent="0" lvl="0">
                  <a:lnSpc>
                    <a:spcPts val="2520"/>
                  </a:lnSpc>
                  <a:spcBef>
                    <a:spcPct val="0"/>
                  </a:spcBef>
                </a:pPr>
              </a:p>
            </p:txBody>
          </p:sp>
        </p:grpSp>
        <p:grpSp>
          <p:nvGrpSpPr>
            <p:cNvPr name="Group 7" id="7"/>
            <p:cNvGrpSpPr/>
            <p:nvPr/>
          </p:nvGrpSpPr>
          <p:grpSpPr>
            <a:xfrm rot="0">
              <a:off x="5329728" y="0"/>
              <a:ext cx="4395186" cy="2311400"/>
              <a:chOff x="0" y="0"/>
              <a:chExt cx="868185" cy="456573"/>
            </a:xfrm>
          </p:grpSpPr>
          <p:sp>
            <p:nvSpPr>
              <p:cNvPr name="Freeform 8" id="8"/>
              <p:cNvSpPr/>
              <p:nvPr/>
            </p:nvSpPr>
            <p:spPr>
              <a:xfrm flipH="false" flipV="false" rot="0">
                <a:off x="0" y="0"/>
                <a:ext cx="868185" cy="456573"/>
              </a:xfrm>
              <a:custGeom>
                <a:avLst/>
                <a:gdLst/>
                <a:ahLst/>
                <a:cxnLst/>
                <a:rect r="r" b="b" t="t" l="l"/>
                <a:pathLst>
                  <a:path h="456573" w="868185">
                    <a:moveTo>
                      <a:pt x="868185" y="0"/>
                    </a:moveTo>
                    <a:lnTo>
                      <a:pt x="868185" y="342273"/>
                    </a:lnTo>
                    <a:lnTo>
                      <a:pt x="434092" y="456573"/>
                    </a:lnTo>
                    <a:lnTo>
                      <a:pt x="0" y="342273"/>
                    </a:lnTo>
                    <a:lnTo>
                      <a:pt x="0" y="0"/>
                    </a:lnTo>
                    <a:lnTo>
                      <a:pt x="868185" y="0"/>
                    </a:lnTo>
                    <a:close/>
                  </a:path>
                </a:pathLst>
              </a:custGeom>
              <a:solidFill>
                <a:srgbClr val="3E6398"/>
              </a:solidFill>
            </p:spPr>
          </p:sp>
          <p:sp>
            <p:nvSpPr>
              <p:cNvPr name="TextBox 9" id="9"/>
              <p:cNvSpPr txBox="true"/>
              <p:nvPr/>
            </p:nvSpPr>
            <p:spPr>
              <a:xfrm>
                <a:off x="0" y="-38100"/>
                <a:ext cx="868185" cy="380373"/>
              </a:xfrm>
              <a:prstGeom prst="rect">
                <a:avLst/>
              </a:prstGeom>
            </p:spPr>
            <p:txBody>
              <a:bodyPr anchor="ctr" rtlCol="false" tIns="50800" lIns="50800" bIns="50800" rIns="50800"/>
              <a:lstStyle/>
              <a:p>
                <a:pPr algn="ctr" marL="0" indent="0" lvl="0">
                  <a:lnSpc>
                    <a:spcPts val="2520"/>
                  </a:lnSpc>
                  <a:spcBef>
                    <a:spcPct val="0"/>
                  </a:spcBef>
                </a:pPr>
              </a:p>
            </p:txBody>
          </p:sp>
        </p:grpSp>
        <p:grpSp>
          <p:nvGrpSpPr>
            <p:cNvPr name="Group 10" id="10"/>
            <p:cNvGrpSpPr/>
            <p:nvPr/>
          </p:nvGrpSpPr>
          <p:grpSpPr>
            <a:xfrm rot="0">
              <a:off x="10351670" y="0"/>
              <a:ext cx="4395186" cy="2311400"/>
              <a:chOff x="0" y="0"/>
              <a:chExt cx="868185" cy="456573"/>
            </a:xfrm>
          </p:grpSpPr>
          <p:sp>
            <p:nvSpPr>
              <p:cNvPr name="Freeform 11" id="11"/>
              <p:cNvSpPr/>
              <p:nvPr/>
            </p:nvSpPr>
            <p:spPr>
              <a:xfrm flipH="false" flipV="false" rot="0">
                <a:off x="0" y="0"/>
                <a:ext cx="868185" cy="456573"/>
              </a:xfrm>
              <a:custGeom>
                <a:avLst/>
                <a:gdLst/>
                <a:ahLst/>
                <a:cxnLst/>
                <a:rect r="r" b="b" t="t" l="l"/>
                <a:pathLst>
                  <a:path h="456573" w="868185">
                    <a:moveTo>
                      <a:pt x="868185" y="0"/>
                    </a:moveTo>
                    <a:lnTo>
                      <a:pt x="868185" y="342273"/>
                    </a:lnTo>
                    <a:lnTo>
                      <a:pt x="434092" y="456573"/>
                    </a:lnTo>
                    <a:lnTo>
                      <a:pt x="0" y="342273"/>
                    </a:lnTo>
                    <a:lnTo>
                      <a:pt x="0" y="0"/>
                    </a:lnTo>
                    <a:lnTo>
                      <a:pt x="868185" y="0"/>
                    </a:lnTo>
                    <a:close/>
                  </a:path>
                </a:pathLst>
              </a:custGeom>
              <a:solidFill>
                <a:srgbClr val="BEC8DA"/>
              </a:solidFill>
            </p:spPr>
          </p:sp>
          <p:sp>
            <p:nvSpPr>
              <p:cNvPr name="TextBox 12" id="12"/>
              <p:cNvSpPr txBox="true"/>
              <p:nvPr/>
            </p:nvSpPr>
            <p:spPr>
              <a:xfrm>
                <a:off x="0" y="-38100"/>
                <a:ext cx="868185" cy="380373"/>
              </a:xfrm>
              <a:prstGeom prst="rect">
                <a:avLst/>
              </a:prstGeom>
            </p:spPr>
            <p:txBody>
              <a:bodyPr anchor="ctr" rtlCol="false" tIns="50800" lIns="50800" bIns="50800" rIns="50800"/>
              <a:lstStyle/>
              <a:p>
                <a:pPr algn="ctr" marL="0" indent="0" lvl="0">
                  <a:lnSpc>
                    <a:spcPts val="2520"/>
                  </a:lnSpc>
                  <a:spcBef>
                    <a:spcPct val="0"/>
                  </a:spcBef>
                </a:pPr>
              </a:p>
            </p:txBody>
          </p:sp>
        </p:grpSp>
        <p:grpSp>
          <p:nvGrpSpPr>
            <p:cNvPr name="Group 13" id="13"/>
            <p:cNvGrpSpPr/>
            <p:nvPr/>
          </p:nvGrpSpPr>
          <p:grpSpPr>
            <a:xfrm rot="0">
              <a:off x="15366037" y="0"/>
              <a:ext cx="4395186" cy="2311400"/>
              <a:chOff x="0" y="0"/>
              <a:chExt cx="868185" cy="456573"/>
            </a:xfrm>
          </p:grpSpPr>
          <p:sp>
            <p:nvSpPr>
              <p:cNvPr name="Freeform 14" id="14"/>
              <p:cNvSpPr/>
              <p:nvPr/>
            </p:nvSpPr>
            <p:spPr>
              <a:xfrm flipH="false" flipV="false" rot="0">
                <a:off x="0" y="0"/>
                <a:ext cx="868185" cy="456573"/>
              </a:xfrm>
              <a:custGeom>
                <a:avLst/>
                <a:gdLst/>
                <a:ahLst/>
                <a:cxnLst/>
                <a:rect r="r" b="b" t="t" l="l"/>
                <a:pathLst>
                  <a:path h="456573" w="868185">
                    <a:moveTo>
                      <a:pt x="868185" y="0"/>
                    </a:moveTo>
                    <a:lnTo>
                      <a:pt x="868185" y="342273"/>
                    </a:lnTo>
                    <a:lnTo>
                      <a:pt x="434092" y="456573"/>
                    </a:lnTo>
                    <a:lnTo>
                      <a:pt x="0" y="342273"/>
                    </a:lnTo>
                    <a:lnTo>
                      <a:pt x="0" y="0"/>
                    </a:lnTo>
                    <a:lnTo>
                      <a:pt x="868185" y="0"/>
                    </a:lnTo>
                    <a:close/>
                  </a:path>
                </a:pathLst>
              </a:custGeom>
              <a:solidFill>
                <a:srgbClr val="DDB551"/>
              </a:solidFill>
            </p:spPr>
          </p:sp>
          <p:sp>
            <p:nvSpPr>
              <p:cNvPr name="TextBox 15" id="15"/>
              <p:cNvSpPr txBox="true"/>
              <p:nvPr/>
            </p:nvSpPr>
            <p:spPr>
              <a:xfrm>
                <a:off x="0" y="-38100"/>
                <a:ext cx="868185" cy="380373"/>
              </a:xfrm>
              <a:prstGeom prst="rect">
                <a:avLst/>
              </a:prstGeom>
            </p:spPr>
            <p:txBody>
              <a:bodyPr anchor="ctr" rtlCol="false" tIns="50800" lIns="50800" bIns="50800" rIns="50800"/>
              <a:lstStyle/>
              <a:p>
                <a:pPr algn="ctr" marL="0" indent="0" lvl="0">
                  <a:lnSpc>
                    <a:spcPts val="2520"/>
                  </a:lnSpc>
                  <a:spcBef>
                    <a:spcPct val="0"/>
                  </a:spcBef>
                </a:pPr>
              </a:p>
            </p:txBody>
          </p:sp>
        </p:grpSp>
        <p:sp>
          <p:nvSpPr>
            <p:cNvPr name="TextBox 16" id="16"/>
            <p:cNvSpPr txBox="true"/>
            <p:nvPr/>
          </p:nvSpPr>
          <p:spPr>
            <a:xfrm rot="0">
              <a:off x="384401" y="489028"/>
              <a:ext cx="4303132" cy="883708"/>
            </a:xfrm>
            <a:prstGeom prst="rect">
              <a:avLst/>
            </a:prstGeom>
          </p:spPr>
          <p:txBody>
            <a:bodyPr anchor="t" rtlCol="false" tIns="0" lIns="0" bIns="0" rIns="0">
              <a:spAutoFit/>
            </a:bodyPr>
            <a:lstStyle/>
            <a:p>
              <a:pPr algn="ctr" marL="0" indent="0" lvl="0">
                <a:lnSpc>
                  <a:spcPts val="2599"/>
                </a:lnSpc>
              </a:pPr>
              <a:r>
                <a:rPr lang="en-US" b="true" sz="2499" strike="noStrike" u="none">
                  <a:solidFill>
                    <a:srgbClr val="FFFFFF"/>
                  </a:solidFill>
                  <a:latin typeface="Montserrat Bold"/>
                  <a:ea typeface="Montserrat Bold"/>
                  <a:cs typeface="Montserrat Bold"/>
                  <a:sym typeface="Montserrat Bold"/>
                </a:rPr>
                <a:t>Policy &amp; Public Transparency</a:t>
              </a:r>
            </a:p>
          </p:txBody>
        </p:sp>
        <p:sp>
          <p:nvSpPr>
            <p:cNvPr name="TextBox 17" id="17"/>
            <p:cNvSpPr txBox="true"/>
            <p:nvPr/>
          </p:nvSpPr>
          <p:spPr>
            <a:xfrm rot="0">
              <a:off x="10397697" y="568402"/>
              <a:ext cx="4303132" cy="883708"/>
            </a:xfrm>
            <a:prstGeom prst="rect">
              <a:avLst/>
            </a:prstGeom>
          </p:spPr>
          <p:txBody>
            <a:bodyPr anchor="t" rtlCol="false" tIns="0" lIns="0" bIns="0" rIns="0">
              <a:spAutoFit/>
            </a:bodyPr>
            <a:lstStyle/>
            <a:p>
              <a:pPr algn="ctr" marL="0" indent="0" lvl="0">
                <a:lnSpc>
                  <a:spcPts val="2599"/>
                </a:lnSpc>
                <a:spcBef>
                  <a:spcPct val="0"/>
                </a:spcBef>
              </a:pPr>
              <a:r>
                <a:rPr lang="en-US" b="true" sz="2499" strike="noStrike" u="none">
                  <a:solidFill>
                    <a:srgbClr val="000000"/>
                  </a:solidFill>
                  <a:latin typeface="Montserrat Bold"/>
                  <a:ea typeface="Montserrat Bold"/>
                  <a:cs typeface="Montserrat Bold"/>
                  <a:sym typeface="Montserrat Bold"/>
                </a:rPr>
                <a:t>Sharing </a:t>
              </a:r>
            </a:p>
            <a:p>
              <a:pPr algn="ctr" marL="0" indent="0" lvl="0">
                <a:lnSpc>
                  <a:spcPts val="2599"/>
                </a:lnSpc>
                <a:spcBef>
                  <a:spcPct val="0"/>
                </a:spcBef>
              </a:pPr>
              <a:r>
                <a:rPr lang="en-US" b="true" sz="2499" strike="noStrike" u="none">
                  <a:solidFill>
                    <a:srgbClr val="000000"/>
                  </a:solidFill>
                  <a:latin typeface="Montserrat Bold"/>
                  <a:ea typeface="Montserrat Bold"/>
                  <a:cs typeface="Montserrat Bold"/>
                  <a:sym typeface="Montserrat Bold"/>
                </a:rPr>
                <a:t>Controls</a:t>
              </a:r>
            </a:p>
          </p:txBody>
        </p:sp>
        <p:sp>
          <p:nvSpPr>
            <p:cNvPr name="TextBox 18" id="18"/>
            <p:cNvSpPr txBox="true"/>
            <p:nvPr/>
          </p:nvSpPr>
          <p:spPr>
            <a:xfrm rot="0">
              <a:off x="15394557" y="581102"/>
              <a:ext cx="4303132" cy="883708"/>
            </a:xfrm>
            <a:prstGeom prst="rect">
              <a:avLst/>
            </a:prstGeom>
          </p:spPr>
          <p:txBody>
            <a:bodyPr anchor="t" rtlCol="false" tIns="0" lIns="0" bIns="0" rIns="0">
              <a:spAutoFit/>
            </a:bodyPr>
            <a:lstStyle/>
            <a:p>
              <a:pPr algn="ctr" marL="0" indent="0" lvl="0">
                <a:lnSpc>
                  <a:spcPts val="2599"/>
                </a:lnSpc>
                <a:spcBef>
                  <a:spcPct val="0"/>
                </a:spcBef>
              </a:pPr>
              <a:r>
                <a:rPr lang="en-US" b="true" sz="2499" strike="noStrike" u="none">
                  <a:solidFill>
                    <a:srgbClr val="000000"/>
                  </a:solidFill>
                  <a:latin typeface="Montserrat Bold"/>
                  <a:ea typeface="Montserrat Bold"/>
                  <a:cs typeface="Montserrat Bold"/>
                  <a:sym typeface="Montserrat Bold"/>
                </a:rPr>
                <a:t>Auditing &amp; Oversight</a:t>
              </a:r>
            </a:p>
          </p:txBody>
        </p:sp>
        <p:sp>
          <p:nvSpPr>
            <p:cNvPr name="TextBox 19" id="19"/>
            <p:cNvSpPr txBox="true"/>
            <p:nvPr/>
          </p:nvSpPr>
          <p:spPr>
            <a:xfrm rot="0">
              <a:off x="5375755" y="509665"/>
              <a:ext cx="4303132" cy="883708"/>
            </a:xfrm>
            <a:prstGeom prst="rect">
              <a:avLst/>
            </a:prstGeom>
          </p:spPr>
          <p:txBody>
            <a:bodyPr anchor="t" rtlCol="false" tIns="0" lIns="0" bIns="0" rIns="0">
              <a:spAutoFit/>
            </a:bodyPr>
            <a:lstStyle/>
            <a:p>
              <a:pPr algn="ctr" marL="0" indent="0" lvl="0">
                <a:lnSpc>
                  <a:spcPts val="2599"/>
                </a:lnSpc>
                <a:spcBef>
                  <a:spcPct val="0"/>
                </a:spcBef>
              </a:pPr>
              <a:r>
                <a:rPr lang="en-US" b="true" sz="2499" strike="noStrike" u="none">
                  <a:solidFill>
                    <a:srgbClr val="FFFFFF"/>
                  </a:solidFill>
                  <a:latin typeface="Montserrat Bold"/>
                  <a:ea typeface="Montserrat Bold"/>
                  <a:cs typeface="Montserrat Bold"/>
                  <a:sym typeface="Montserrat Bold"/>
                </a:rPr>
                <a:t>Access &amp; User Controls</a:t>
              </a:r>
            </a:p>
          </p:txBody>
        </p:sp>
      </p:grpSp>
      <p:graphicFrame>
        <p:nvGraphicFramePr>
          <p:cNvPr name="Table 3" id="3"/>
          <p:cNvGraphicFramePr>
            <a:graphicFrameLocks noGrp="true"/>
          </p:cNvGraphicFramePr>
          <p:nvPr/>
        </p:nvGraphicFramePr>
        <p:xfrm>
          <a:off x="0" y="286735"/>
          <a:ext cx="15074299" cy="6956976"/>
        </p:xfrm>
        <a:graphic>
          <a:graphicData uri="http://schemas.openxmlformats.org/drawingml/2006/table">
            <a:tbl>
              <a:tblPr/>
              <a:tblGrid>
                <a:gridCol w="3768575"/>
                <a:gridCol w="3768575"/>
                <a:gridCol w="3768575"/>
                <a:gridCol w="3768575"/>
              </a:tblGrid>
              <a:tr h="1846792">
                <a:tc>
                  <a:txBody>
                    <a:bodyPr anchor="t" rtlCol="false"/>
                    <a:lstStyle/>
                    <a:p>
                      <a:pPr algn="ctr">
                        <a:lnSpc>
                          <a:spcPts val="2436"/>
                        </a:lnSpc>
                        <a:defRPr/>
                      </a:pPr>
                      <a:endParaRPr lang="en-US" sz="1100"/>
                    </a:p>
                  </a:txBody>
                  <a:tcPr marL="184173" marR="184173" marT="184173" marB="184173" anchor="ctr">
                    <a:lnL cmpd="sng" algn="ctr" cap="flat" w="27626">
                      <a:solidFill>
                        <a:srgbClr val="BEC8D9"/>
                      </a:solidFill>
                      <a:prstDash val="solid"/>
                      <a:round/>
                      <a:headEnd type="none" w="med" len="med"/>
                      <a:tailEnd type="none" w="med" len="med"/>
                    </a:lnL>
                    <a:lnR cmpd="sng" algn="ctr" cap="flat" w="27626">
                      <a:solidFill>
                        <a:srgbClr val="BEC8D9"/>
                      </a:solidFill>
                      <a:prstDash val="solid"/>
                      <a:round/>
                      <a:headEnd type="none" w="med" len="med"/>
                      <a:tailEnd type="none" w="med" len="med"/>
                    </a:lnR>
                    <a:lnT cmpd="sng" algn="ctr" cap="flat" w="27626">
                      <a:solidFill>
                        <a:srgbClr val="BEC8D9"/>
                      </a:solidFill>
                      <a:prstDash val="solid"/>
                      <a:round/>
                      <a:headEnd type="none" w="med" len="med"/>
                      <a:tailEnd type="none" w="med" len="med"/>
                    </a:lnT>
                    <a:lnB cmpd="sng" algn="ctr" cap="flat" w="27626">
                      <a:solidFill>
                        <a:srgbClr val="BEC8D9"/>
                      </a:solidFill>
                      <a:prstDash val="solid"/>
                      <a:round/>
                      <a:headEnd type="none" w="med" len="med"/>
                      <a:tailEnd type="none" w="med" len="med"/>
                    </a:lnB>
                    <a:solidFill>
                      <a:srgbClr val="FFFFFF"/>
                    </a:solidFill>
                  </a:tcPr>
                </a:tc>
                <a:tc>
                  <a:txBody>
                    <a:bodyPr anchor="t" rtlCol="false"/>
                    <a:lstStyle/>
                    <a:p>
                      <a:pPr algn="ctr">
                        <a:lnSpc>
                          <a:spcPts val="2436"/>
                        </a:lnSpc>
                        <a:defRPr/>
                      </a:pPr>
                      <a:endParaRPr lang="en-US" sz="1100"/>
                    </a:p>
                  </a:txBody>
                  <a:tcPr marL="184173" marR="184173" marT="184173" marB="184173" anchor="ctr">
                    <a:lnL cmpd="sng" algn="ctr" cap="flat" w="27626">
                      <a:solidFill>
                        <a:srgbClr val="BEC8D9"/>
                      </a:solidFill>
                      <a:prstDash val="solid"/>
                      <a:round/>
                      <a:headEnd type="none" w="med" len="med"/>
                      <a:tailEnd type="none" w="med" len="med"/>
                    </a:lnL>
                    <a:lnR cmpd="sng" algn="ctr" cap="flat" w="27626">
                      <a:solidFill>
                        <a:srgbClr val="BEC8D9"/>
                      </a:solidFill>
                      <a:prstDash val="solid"/>
                      <a:round/>
                      <a:headEnd type="none" w="med" len="med"/>
                      <a:tailEnd type="none" w="med" len="med"/>
                    </a:lnR>
                    <a:lnT cmpd="sng" algn="ctr" cap="flat" w="27626">
                      <a:solidFill>
                        <a:srgbClr val="BEC8D9"/>
                      </a:solidFill>
                      <a:prstDash val="solid"/>
                      <a:round/>
                      <a:headEnd type="none" w="med" len="med"/>
                      <a:tailEnd type="none" w="med" len="med"/>
                    </a:lnT>
                    <a:lnB cmpd="sng" algn="ctr" cap="flat" w="27626">
                      <a:solidFill>
                        <a:srgbClr val="BEC8D9"/>
                      </a:solidFill>
                      <a:prstDash val="solid"/>
                      <a:round/>
                      <a:headEnd type="none" w="med" len="med"/>
                      <a:tailEnd type="none" w="med" len="med"/>
                    </a:lnB>
                    <a:solidFill>
                      <a:srgbClr val="F4F7FB"/>
                    </a:solidFill>
                  </a:tcPr>
                </a:tc>
                <a:tc>
                  <a:txBody>
                    <a:bodyPr anchor="t" rtlCol="false"/>
                    <a:lstStyle/>
                    <a:p>
                      <a:pPr algn="ctr">
                        <a:lnSpc>
                          <a:spcPts val="2436"/>
                        </a:lnSpc>
                        <a:defRPr/>
                      </a:pPr>
                      <a:endParaRPr lang="en-US" sz="1100"/>
                    </a:p>
                  </a:txBody>
                  <a:tcPr marL="184173" marR="184173" marT="184173" marB="184173" anchor="ctr">
                    <a:lnL cmpd="sng" algn="ctr" cap="flat" w="27626">
                      <a:solidFill>
                        <a:srgbClr val="BEC8D9"/>
                      </a:solidFill>
                      <a:prstDash val="solid"/>
                      <a:round/>
                      <a:headEnd type="none" w="med" len="med"/>
                      <a:tailEnd type="none" w="med" len="med"/>
                    </a:lnL>
                    <a:lnR cmpd="sng" algn="ctr" cap="flat" w="27626">
                      <a:solidFill>
                        <a:srgbClr val="BEC8D9"/>
                      </a:solidFill>
                      <a:prstDash val="solid"/>
                      <a:round/>
                      <a:headEnd type="none" w="med" len="med"/>
                      <a:tailEnd type="none" w="med" len="med"/>
                    </a:lnR>
                    <a:lnT cmpd="sng" algn="ctr" cap="flat" w="27626">
                      <a:solidFill>
                        <a:srgbClr val="BEC8D9"/>
                      </a:solidFill>
                      <a:prstDash val="solid"/>
                      <a:round/>
                      <a:headEnd type="none" w="med" len="med"/>
                      <a:tailEnd type="none" w="med" len="med"/>
                    </a:lnT>
                    <a:lnB cmpd="sng" algn="ctr" cap="flat" w="27626">
                      <a:solidFill>
                        <a:srgbClr val="BEC8D9"/>
                      </a:solidFill>
                      <a:prstDash val="solid"/>
                      <a:round/>
                      <a:headEnd type="none" w="med" len="med"/>
                      <a:tailEnd type="none" w="med" len="med"/>
                    </a:lnB>
                    <a:solidFill>
                      <a:srgbClr val="FFFFFF"/>
                    </a:solidFill>
                  </a:tcPr>
                </a:tc>
                <a:tc>
                  <a:txBody>
                    <a:bodyPr anchor="t" rtlCol="false"/>
                    <a:lstStyle/>
                    <a:p>
                      <a:pPr algn="ctr">
                        <a:lnSpc>
                          <a:spcPts val="2436"/>
                        </a:lnSpc>
                        <a:defRPr/>
                      </a:pPr>
                      <a:endParaRPr lang="en-US" sz="1100"/>
                    </a:p>
                  </a:txBody>
                  <a:tcPr marL="184173" marR="184173" marT="184173" marB="184173" anchor="ctr">
                    <a:lnL cmpd="sng" algn="ctr" cap="flat" w="27626">
                      <a:solidFill>
                        <a:srgbClr val="BEC8D9"/>
                      </a:solidFill>
                      <a:prstDash val="solid"/>
                      <a:round/>
                      <a:headEnd type="none" w="med" len="med"/>
                      <a:tailEnd type="none" w="med" len="med"/>
                    </a:lnL>
                    <a:lnR cmpd="sng" algn="ctr" cap="flat" w="27626">
                      <a:solidFill>
                        <a:srgbClr val="BEC8D9"/>
                      </a:solidFill>
                      <a:prstDash val="solid"/>
                      <a:round/>
                      <a:headEnd type="none" w="med" len="med"/>
                      <a:tailEnd type="none" w="med" len="med"/>
                    </a:lnR>
                    <a:lnT cmpd="sng" algn="ctr" cap="flat" w="27626">
                      <a:solidFill>
                        <a:srgbClr val="BEC8D9"/>
                      </a:solidFill>
                      <a:prstDash val="solid"/>
                      <a:round/>
                      <a:headEnd type="none" w="med" len="med"/>
                      <a:tailEnd type="none" w="med" len="med"/>
                    </a:lnT>
                    <a:lnB cmpd="sng" algn="ctr" cap="flat" w="27626">
                      <a:solidFill>
                        <a:srgbClr val="BEC8D9"/>
                      </a:solidFill>
                      <a:prstDash val="solid"/>
                      <a:round/>
                      <a:headEnd type="none" w="med" len="med"/>
                      <a:tailEnd type="none" w="med" len="med"/>
                    </a:lnB>
                    <a:solidFill>
                      <a:srgbClr val="F4F7FB"/>
                    </a:solidFill>
                  </a:tcPr>
                </a:tc>
              </a:tr>
              <a:tr h="1705765">
                <a:tc>
                  <a:txBody>
                    <a:bodyPr anchor="t" rtlCol="false"/>
                    <a:lstStyle/>
                    <a:p>
                      <a:pPr algn="ctr">
                        <a:lnSpc>
                          <a:spcPts val="2520"/>
                        </a:lnSpc>
                        <a:defRPr/>
                      </a:pPr>
                      <a:r>
                        <a:rPr lang="en-US" sz="1800">
                          <a:solidFill>
                            <a:srgbClr val="000000"/>
                          </a:solidFill>
                          <a:latin typeface="Montserrat"/>
                          <a:ea typeface="Montserrat"/>
                          <a:cs typeface="Montserrat"/>
                          <a:sym typeface="Montserrat"/>
                        </a:rPr>
                        <a:t>Updated the public portal with the Public Audit, ALPR Policy, SOP, and verified camera count.</a:t>
                      </a:r>
                      <a:endParaRPr lang="en-US" sz="1100"/>
                    </a:p>
                  </a:txBody>
                  <a:tcPr marL="184173" marR="184173" marT="184173" marB="184173" anchor="ctr">
                    <a:lnL cmpd="sng" algn="ctr" cap="flat" w="27626">
                      <a:solidFill>
                        <a:srgbClr val="BEC8D9"/>
                      </a:solidFill>
                      <a:prstDash val="solid"/>
                      <a:round/>
                      <a:headEnd type="none" w="med" len="med"/>
                      <a:tailEnd type="none" w="med" len="med"/>
                    </a:lnL>
                    <a:lnR cmpd="sng" algn="ctr" cap="flat" w="27626">
                      <a:solidFill>
                        <a:srgbClr val="BEC8D9"/>
                      </a:solidFill>
                      <a:prstDash val="solid"/>
                      <a:round/>
                      <a:headEnd type="none" w="med" len="med"/>
                      <a:tailEnd type="none" w="med" len="med"/>
                    </a:lnR>
                    <a:lnT cmpd="sng" algn="ctr" cap="flat" w="27626">
                      <a:solidFill>
                        <a:srgbClr val="BEC8D9"/>
                      </a:solidFill>
                      <a:prstDash val="solid"/>
                      <a:round/>
                      <a:headEnd type="none" w="med" len="med"/>
                      <a:tailEnd type="none" w="med" len="med"/>
                    </a:lnT>
                    <a:lnB cmpd="sng" algn="ctr" cap="flat" w="27626">
                      <a:solidFill>
                        <a:srgbClr val="BEC8D9"/>
                      </a:solidFill>
                      <a:prstDash val="solid"/>
                      <a:round/>
                      <a:headEnd type="none" w="med" len="med"/>
                      <a:tailEnd type="none" w="med" len="med"/>
                    </a:lnB>
                    <a:solidFill>
                      <a:srgbClr val="FFFFFF"/>
                    </a:solidFill>
                  </a:tcPr>
                </a:tc>
                <a:tc>
                  <a:txBody>
                    <a:bodyPr anchor="t" rtlCol="false"/>
                    <a:lstStyle/>
                    <a:p>
                      <a:pPr algn="ctr" marL="0" indent="0" lvl="0">
                        <a:lnSpc>
                          <a:spcPts val="2520"/>
                        </a:lnSpc>
                        <a:spcBef>
                          <a:spcPct val="0"/>
                        </a:spcBef>
                        <a:defRPr/>
                      </a:pPr>
                      <a:r>
                        <a:rPr lang="en-US" sz="1800" strike="noStrike" u="none">
                          <a:solidFill>
                            <a:srgbClr val="000000"/>
                          </a:solidFill>
                          <a:latin typeface="Montserrat"/>
                          <a:ea typeface="Montserrat"/>
                          <a:cs typeface="Montserrat"/>
                          <a:sym typeface="Montserrat"/>
                        </a:rPr>
                        <a:t>Restricted Admin access to Lt. Pak, Lt. Casazza, and Sgt. Trujillo.</a:t>
                      </a:r>
                      <a:endParaRPr lang="en-US" sz="1100"/>
                    </a:p>
                  </a:txBody>
                  <a:tcPr marL="184173" marR="184173" marT="184173" marB="184173" anchor="ctr">
                    <a:lnL cmpd="sng" algn="ctr" cap="flat" w="27626">
                      <a:solidFill>
                        <a:srgbClr val="BEC8D9"/>
                      </a:solidFill>
                      <a:prstDash val="solid"/>
                      <a:round/>
                      <a:headEnd type="none" w="med" len="med"/>
                      <a:tailEnd type="none" w="med" len="med"/>
                    </a:lnL>
                    <a:lnR cmpd="sng" algn="ctr" cap="flat" w="27626">
                      <a:solidFill>
                        <a:srgbClr val="BEC8D9"/>
                      </a:solidFill>
                      <a:prstDash val="solid"/>
                      <a:round/>
                      <a:headEnd type="none" w="med" len="med"/>
                      <a:tailEnd type="none" w="med" len="med"/>
                    </a:lnR>
                    <a:lnT cmpd="sng" algn="ctr" cap="flat" w="27626">
                      <a:solidFill>
                        <a:srgbClr val="BEC8D9"/>
                      </a:solidFill>
                      <a:prstDash val="solid"/>
                      <a:round/>
                      <a:headEnd type="none" w="med" len="med"/>
                      <a:tailEnd type="none" w="med" len="med"/>
                    </a:lnT>
                    <a:lnB cmpd="sng" algn="ctr" cap="flat" w="27626">
                      <a:solidFill>
                        <a:srgbClr val="BEC8D9"/>
                      </a:solidFill>
                      <a:prstDash val="solid"/>
                      <a:round/>
                      <a:headEnd type="none" w="med" len="med"/>
                      <a:tailEnd type="none" w="med" len="med"/>
                    </a:lnB>
                    <a:solidFill>
                      <a:srgbClr val="F4F7FB"/>
                    </a:solidFill>
                  </a:tcPr>
                </a:tc>
                <a:tc>
                  <a:txBody>
                    <a:bodyPr anchor="t" rtlCol="false"/>
                    <a:lstStyle/>
                    <a:p>
                      <a:pPr algn="ctr" marL="0" indent="0" lvl="0">
                        <a:lnSpc>
                          <a:spcPts val="2520"/>
                        </a:lnSpc>
                        <a:spcBef>
                          <a:spcPct val="0"/>
                        </a:spcBef>
                        <a:defRPr/>
                      </a:pPr>
                      <a:r>
                        <a:rPr lang="en-US" sz="1800">
                          <a:solidFill>
                            <a:srgbClr val="000000"/>
                          </a:solidFill>
                          <a:latin typeface="Montserrat"/>
                          <a:ea typeface="Montserrat"/>
                          <a:cs typeface="Montserrat"/>
                          <a:sym typeface="Montserrat"/>
                        </a:rPr>
                        <a:t>Re</a:t>
                      </a:r>
                      <a:r>
                        <a:rPr lang="en-US" sz="1800" strike="noStrike" u="none">
                          <a:solidFill>
                            <a:srgbClr val="000000"/>
                          </a:solidFill>
                          <a:latin typeface="Montserrat"/>
                          <a:ea typeface="Montserrat"/>
                          <a:cs typeface="Montserrat"/>
                          <a:sym typeface="Montserrat"/>
                        </a:rPr>
                        <a:t>m</a:t>
                      </a:r>
                      <a:r>
                        <a:rPr lang="en-US" sz="1800" strike="noStrike" u="none">
                          <a:solidFill>
                            <a:srgbClr val="000000"/>
                          </a:solidFill>
                          <a:latin typeface="Montserrat"/>
                          <a:ea typeface="Montserrat"/>
                          <a:cs typeface="Montserrat"/>
                          <a:sym typeface="Montserrat"/>
                        </a:rPr>
                        <a:t>ov</a:t>
                      </a:r>
                      <a:r>
                        <a:rPr lang="en-US" sz="1800" strike="noStrike" u="none">
                          <a:solidFill>
                            <a:srgbClr val="000000"/>
                          </a:solidFill>
                          <a:latin typeface="Montserrat"/>
                          <a:ea typeface="Montserrat"/>
                          <a:cs typeface="Montserrat"/>
                          <a:sym typeface="Montserrat"/>
                        </a:rPr>
                        <a:t>e</a:t>
                      </a:r>
                      <a:r>
                        <a:rPr lang="en-US" sz="1800" strike="noStrike" u="none">
                          <a:solidFill>
                            <a:srgbClr val="000000"/>
                          </a:solidFill>
                          <a:latin typeface="Montserrat"/>
                          <a:ea typeface="Montserrat"/>
                          <a:cs typeface="Montserrat"/>
                          <a:sym typeface="Montserrat"/>
                        </a:rPr>
                        <a:t>d</a:t>
                      </a:r>
                      <a:r>
                        <a:rPr lang="en-US" sz="1800" strike="noStrike" u="none">
                          <a:solidFill>
                            <a:srgbClr val="000000"/>
                          </a:solidFill>
                          <a:latin typeface="Montserrat"/>
                          <a:ea typeface="Montserrat"/>
                          <a:cs typeface="Montserrat"/>
                          <a:sym typeface="Montserrat"/>
                        </a:rPr>
                        <a:t> </a:t>
                      </a:r>
                      <a:r>
                        <a:rPr lang="en-US" sz="1800" strike="noStrike" u="none">
                          <a:solidFill>
                            <a:srgbClr val="000000"/>
                          </a:solidFill>
                          <a:latin typeface="Montserrat"/>
                          <a:ea typeface="Montserrat"/>
                          <a:cs typeface="Montserrat"/>
                          <a:sym typeface="Montserrat"/>
                        </a:rPr>
                        <a:t>sh</a:t>
                      </a:r>
                      <a:r>
                        <a:rPr lang="en-US" sz="1800" strike="noStrike" u="none">
                          <a:solidFill>
                            <a:srgbClr val="000000"/>
                          </a:solidFill>
                          <a:latin typeface="Montserrat"/>
                          <a:ea typeface="Montserrat"/>
                          <a:cs typeface="Montserrat"/>
                          <a:sym typeface="Montserrat"/>
                        </a:rPr>
                        <a:t>a</a:t>
                      </a:r>
                      <a:r>
                        <a:rPr lang="en-US" sz="1800" strike="noStrike" u="none">
                          <a:solidFill>
                            <a:srgbClr val="000000"/>
                          </a:solidFill>
                          <a:latin typeface="Montserrat"/>
                          <a:ea typeface="Montserrat"/>
                          <a:cs typeface="Montserrat"/>
                          <a:sym typeface="Montserrat"/>
                        </a:rPr>
                        <a:t>ring</a:t>
                      </a:r>
                      <a:r>
                        <a:rPr lang="en-US" sz="1800" strike="noStrike" u="none">
                          <a:solidFill>
                            <a:srgbClr val="000000"/>
                          </a:solidFill>
                          <a:latin typeface="Montserrat"/>
                          <a:ea typeface="Montserrat"/>
                          <a:cs typeface="Montserrat"/>
                          <a:sym typeface="Montserrat"/>
                        </a:rPr>
                        <a:t> </a:t>
                      </a:r>
                      <a:r>
                        <a:rPr lang="en-US" sz="1800" strike="noStrike" u="none">
                          <a:solidFill>
                            <a:srgbClr val="000000"/>
                          </a:solidFill>
                          <a:latin typeface="Montserrat"/>
                          <a:ea typeface="Montserrat"/>
                          <a:cs typeface="Montserrat"/>
                          <a:sym typeface="Montserrat"/>
                        </a:rPr>
                        <a:t>wi</a:t>
                      </a:r>
                      <a:r>
                        <a:rPr lang="en-US" sz="1800" strike="noStrike" u="none">
                          <a:solidFill>
                            <a:srgbClr val="000000"/>
                          </a:solidFill>
                          <a:latin typeface="Montserrat"/>
                          <a:ea typeface="Montserrat"/>
                          <a:cs typeface="Montserrat"/>
                          <a:sym typeface="Montserrat"/>
                        </a:rPr>
                        <a:t>th</a:t>
                      </a:r>
                      <a:r>
                        <a:rPr lang="en-US" sz="1800" strike="noStrike" u="none">
                          <a:solidFill>
                            <a:srgbClr val="000000"/>
                          </a:solidFill>
                          <a:latin typeface="Montserrat"/>
                          <a:ea typeface="Montserrat"/>
                          <a:cs typeface="Montserrat"/>
                          <a:sym typeface="Montserrat"/>
                        </a:rPr>
                        <a:t> </a:t>
                      </a:r>
                      <a:r>
                        <a:rPr lang="en-US" sz="1800" strike="noStrike" u="none">
                          <a:solidFill>
                            <a:srgbClr val="000000"/>
                          </a:solidFill>
                          <a:latin typeface="Montserrat"/>
                          <a:ea typeface="Montserrat"/>
                          <a:cs typeface="Montserrat"/>
                          <a:sym typeface="Montserrat"/>
                        </a:rPr>
                        <a:t>a</a:t>
                      </a:r>
                      <a:r>
                        <a:rPr lang="en-US" sz="1800" strike="noStrike" u="none">
                          <a:solidFill>
                            <a:srgbClr val="000000"/>
                          </a:solidFill>
                          <a:latin typeface="Montserrat"/>
                          <a:ea typeface="Montserrat"/>
                          <a:cs typeface="Montserrat"/>
                          <a:sym typeface="Montserrat"/>
                        </a:rPr>
                        <a:t>ll</a:t>
                      </a:r>
                      <a:r>
                        <a:rPr lang="en-US" sz="1800" strike="noStrike" u="none">
                          <a:solidFill>
                            <a:srgbClr val="000000"/>
                          </a:solidFill>
                          <a:latin typeface="Montserrat"/>
                          <a:ea typeface="Montserrat"/>
                          <a:cs typeface="Montserrat"/>
                          <a:sym typeface="Montserrat"/>
                        </a:rPr>
                        <a:t> </a:t>
                      </a:r>
                      <a:r>
                        <a:rPr lang="en-US" sz="1800" strike="noStrike" u="none">
                          <a:solidFill>
                            <a:srgbClr val="000000"/>
                          </a:solidFill>
                          <a:latin typeface="Montserrat"/>
                          <a:ea typeface="Montserrat"/>
                          <a:cs typeface="Montserrat"/>
                          <a:sym typeface="Montserrat"/>
                        </a:rPr>
                        <a:t>un</a:t>
                      </a:r>
                      <a:r>
                        <a:rPr lang="en-US" sz="1800" strike="noStrike" u="none">
                          <a:solidFill>
                            <a:srgbClr val="000000"/>
                          </a:solidFill>
                          <a:latin typeface="Montserrat"/>
                          <a:ea typeface="Montserrat"/>
                          <a:cs typeface="Montserrat"/>
                          <a:sym typeface="Montserrat"/>
                        </a:rPr>
                        <a:t>i</a:t>
                      </a:r>
                      <a:r>
                        <a:rPr lang="en-US" sz="1800" strike="noStrike" u="none">
                          <a:solidFill>
                            <a:srgbClr val="000000"/>
                          </a:solidFill>
                          <a:latin typeface="Montserrat"/>
                          <a:ea typeface="Montserrat"/>
                          <a:cs typeface="Montserrat"/>
                          <a:sym typeface="Montserrat"/>
                        </a:rPr>
                        <a:t>ver</a:t>
                      </a:r>
                      <a:r>
                        <a:rPr lang="en-US" sz="1800" strike="noStrike" u="none">
                          <a:solidFill>
                            <a:srgbClr val="000000"/>
                          </a:solidFill>
                          <a:latin typeface="Montserrat"/>
                          <a:ea typeface="Montserrat"/>
                          <a:cs typeface="Montserrat"/>
                          <a:sym typeface="Montserrat"/>
                        </a:rPr>
                        <a:t>s</a:t>
                      </a:r>
                      <a:r>
                        <a:rPr lang="en-US" sz="1800" strike="noStrike" u="none">
                          <a:solidFill>
                            <a:srgbClr val="000000"/>
                          </a:solidFill>
                          <a:latin typeface="Montserrat"/>
                          <a:ea typeface="Montserrat"/>
                          <a:cs typeface="Montserrat"/>
                          <a:sym typeface="Montserrat"/>
                        </a:rPr>
                        <a:t>ity</a:t>
                      </a:r>
                      <a:r>
                        <a:rPr lang="en-US" sz="1800" strike="noStrike" u="none">
                          <a:solidFill>
                            <a:srgbClr val="000000"/>
                          </a:solidFill>
                          <a:latin typeface="Montserrat"/>
                          <a:ea typeface="Montserrat"/>
                          <a:cs typeface="Montserrat"/>
                          <a:sym typeface="Montserrat"/>
                        </a:rPr>
                        <a:t> </a:t>
                      </a:r>
                      <a:r>
                        <a:rPr lang="en-US" sz="1800" strike="noStrike" u="none">
                          <a:solidFill>
                            <a:srgbClr val="000000"/>
                          </a:solidFill>
                          <a:latin typeface="Montserrat"/>
                          <a:ea typeface="Montserrat"/>
                          <a:cs typeface="Montserrat"/>
                          <a:sym typeface="Montserrat"/>
                        </a:rPr>
                        <a:t>poli</a:t>
                      </a:r>
                      <a:r>
                        <a:rPr lang="en-US" sz="1800" strike="noStrike" u="none">
                          <a:solidFill>
                            <a:srgbClr val="000000"/>
                          </a:solidFill>
                          <a:latin typeface="Montserrat"/>
                          <a:ea typeface="Montserrat"/>
                          <a:cs typeface="Montserrat"/>
                          <a:sym typeface="Montserrat"/>
                        </a:rPr>
                        <a:t>ce d</a:t>
                      </a:r>
                      <a:r>
                        <a:rPr lang="en-US" sz="1800" strike="noStrike" u="none">
                          <a:solidFill>
                            <a:srgbClr val="000000"/>
                          </a:solidFill>
                          <a:latin typeface="Montserrat"/>
                          <a:ea typeface="Montserrat"/>
                          <a:cs typeface="Montserrat"/>
                          <a:sym typeface="Montserrat"/>
                        </a:rPr>
                        <a:t>e</a:t>
                      </a:r>
                      <a:r>
                        <a:rPr lang="en-US" sz="1800" strike="noStrike" u="none">
                          <a:solidFill>
                            <a:srgbClr val="000000"/>
                          </a:solidFill>
                          <a:latin typeface="Montserrat"/>
                          <a:ea typeface="Montserrat"/>
                          <a:cs typeface="Montserrat"/>
                          <a:sym typeface="Montserrat"/>
                        </a:rPr>
                        <a:t>pa</a:t>
                      </a:r>
                      <a:r>
                        <a:rPr lang="en-US" sz="1800" strike="noStrike" u="none">
                          <a:solidFill>
                            <a:srgbClr val="000000"/>
                          </a:solidFill>
                          <a:latin typeface="Montserrat"/>
                          <a:ea typeface="Montserrat"/>
                          <a:cs typeface="Montserrat"/>
                          <a:sym typeface="Montserrat"/>
                        </a:rPr>
                        <a:t>r</a:t>
                      </a:r>
                      <a:r>
                        <a:rPr lang="en-US" sz="1800" strike="noStrike" u="none">
                          <a:solidFill>
                            <a:srgbClr val="000000"/>
                          </a:solidFill>
                          <a:latin typeface="Montserrat"/>
                          <a:ea typeface="Montserrat"/>
                          <a:cs typeface="Montserrat"/>
                          <a:sym typeface="Montserrat"/>
                        </a:rPr>
                        <a:t>t</a:t>
                      </a:r>
                      <a:r>
                        <a:rPr lang="en-US" sz="1800" strike="noStrike" u="none">
                          <a:solidFill>
                            <a:srgbClr val="000000"/>
                          </a:solidFill>
                          <a:latin typeface="Montserrat"/>
                          <a:ea typeface="Montserrat"/>
                          <a:cs typeface="Montserrat"/>
                          <a:sym typeface="Montserrat"/>
                        </a:rPr>
                        <a:t>ments.</a:t>
                      </a:r>
                      <a:endParaRPr lang="en-US" sz="1100"/>
                    </a:p>
                  </a:txBody>
                  <a:tcPr marL="184173" marR="184173" marT="184173" marB="184173" anchor="ctr">
                    <a:lnL cmpd="sng" algn="ctr" cap="flat" w="27626">
                      <a:solidFill>
                        <a:srgbClr val="BEC8D9"/>
                      </a:solidFill>
                      <a:prstDash val="solid"/>
                      <a:round/>
                      <a:headEnd type="none" w="med" len="med"/>
                      <a:tailEnd type="none" w="med" len="med"/>
                    </a:lnL>
                    <a:lnR cmpd="sng" algn="ctr" cap="flat" w="27626">
                      <a:solidFill>
                        <a:srgbClr val="BEC8D9"/>
                      </a:solidFill>
                      <a:prstDash val="solid"/>
                      <a:round/>
                      <a:headEnd type="none" w="med" len="med"/>
                      <a:tailEnd type="none" w="med" len="med"/>
                    </a:lnR>
                    <a:lnT cmpd="sng" algn="ctr" cap="flat" w="27626">
                      <a:solidFill>
                        <a:srgbClr val="BEC8D9"/>
                      </a:solidFill>
                      <a:prstDash val="solid"/>
                      <a:round/>
                      <a:headEnd type="none" w="med" len="med"/>
                      <a:tailEnd type="none" w="med" len="med"/>
                    </a:lnT>
                    <a:lnB cmpd="sng" algn="ctr" cap="flat" w="27626">
                      <a:solidFill>
                        <a:srgbClr val="BEC8D9"/>
                      </a:solidFill>
                      <a:prstDash val="solid"/>
                      <a:round/>
                      <a:headEnd type="none" w="med" len="med"/>
                      <a:tailEnd type="none" w="med" len="med"/>
                    </a:lnB>
                    <a:solidFill>
                      <a:srgbClr val="FFFFFF"/>
                    </a:solidFill>
                  </a:tcPr>
                </a:tc>
                <a:tc>
                  <a:txBody>
                    <a:bodyPr anchor="t" rtlCol="false"/>
                    <a:lstStyle/>
                    <a:p>
                      <a:pPr algn="ctr" marL="0" indent="0" lvl="0">
                        <a:lnSpc>
                          <a:spcPts val="2520"/>
                        </a:lnSpc>
                        <a:spcBef>
                          <a:spcPct val="0"/>
                        </a:spcBef>
                        <a:defRPr/>
                      </a:pPr>
                      <a:r>
                        <a:rPr lang="en-US" sz="1800">
                          <a:solidFill>
                            <a:srgbClr val="000000"/>
                          </a:solidFill>
                          <a:latin typeface="Montserrat"/>
                          <a:ea typeface="Montserrat"/>
                          <a:cs typeface="Montserrat"/>
                          <a:sym typeface="Montserrat"/>
                        </a:rPr>
                        <a:t>Moved ne</a:t>
                      </a:r>
                      <a:r>
                        <a:rPr lang="en-US" sz="1800" strike="noStrike" u="none">
                          <a:solidFill>
                            <a:srgbClr val="000000"/>
                          </a:solidFill>
                          <a:latin typeface="Montserrat"/>
                          <a:ea typeface="Montserrat"/>
                          <a:cs typeface="Montserrat"/>
                          <a:sym typeface="Montserrat"/>
                        </a:rPr>
                        <a:t>t</a:t>
                      </a:r>
                      <a:r>
                        <a:rPr lang="en-US" sz="1800" strike="noStrike" u="none">
                          <a:solidFill>
                            <a:srgbClr val="000000"/>
                          </a:solidFill>
                          <a:latin typeface="Montserrat"/>
                          <a:ea typeface="Montserrat"/>
                          <a:cs typeface="Montserrat"/>
                          <a:sym typeface="Montserrat"/>
                        </a:rPr>
                        <a:t>wo</a:t>
                      </a:r>
                      <a:r>
                        <a:rPr lang="en-US" sz="1800" strike="noStrike" u="none">
                          <a:solidFill>
                            <a:srgbClr val="000000"/>
                          </a:solidFill>
                          <a:latin typeface="Montserrat"/>
                          <a:ea typeface="Montserrat"/>
                          <a:cs typeface="Montserrat"/>
                          <a:sym typeface="Montserrat"/>
                        </a:rPr>
                        <a:t>r</a:t>
                      </a:r>
                      <a:r>
                        <a:rPr lang="en-US" sz="1800" strike="noStrike" u="none">
                          <a:solidFill>
                            <a:srgbClr val="000000"/>
                          </a:solidFill>
                          <a:latin typeface="Montserrat"/>
                          <a:ea typeface="Montserrat"/>
                          <a:cs typeface="Montserrat"/>
                          <a:sym typeface="Montserrat"/>
                        </a:rPr>
                        <a:t>k a</a:t>
                      </a:r>
                      <a:r>
                        <a:rPr lang="en-US" sz="1800" strike="noStrike" u="none">
                          <a:solidFill>
                            <a:srgbClr val="000000"/>
                          </a:solidFill>
                          <a:latin typeface="Montserrat"/>
                          <a:ea typeface="Montserrat"/>
                          <a:cs typeface="Montserrat"/>
                          <a:sym typeface="Montserrat"/>
                        </a:rPr>
                        <a:t>n</a:t>
                      </a:r>
                      <a:r>
                        <a:rPr lang="en-US" sz="1800" strike="noStrike" u="none">
                          <a:solidFill>
                            <a:srgbClr val="000000"/>
                          </a:solidFill>
                          <a:latin typeface="Montserrat"/>
                          <a:ea typeface="Montserrat"/>
                          <a:cs typeface="Montserrat"/>
                          <a:sym typeface="Montserrat"/>
                        </a:rPr>
                        <a:t>d</a:t>
                      </a:r>
                      <a:r>
                        <a:rPr lang="en-US" sz="1800" strike="noStrike" u="none">
                          <a:solidFill>
                            <a:srgbClr val="000000"/>
                          </a:solidFill>
                          <a:latin typeface="Montserrat"/>
                          <a:ea typeface="Montserrat"/>
                          <a:cs typeface="Montserrat"/>
                          <a:sym typeface="Montserrat"/>
                        </a:rPr>
                        <a:t> or</a:t>
                      </a:r>
                      <a:r>
                        <a:rPr lang="en-US" sz="1800" strike="noStrike" u="none">
                          <a:solidFill>
                            <a:srgbClr val="000000"/>
                          </a:solidFill>
                          <a:latin typeface="Montserrat"/>
                          <a:ea typeface="Montserrat"/>
                          <a:cs typeface="Montserrat"/>
                          <a:sym typeface="Montserrat"/>
                        </a:rPr>
                        <a:t>gan</a:t>
                      </a:r>
                      <a:r>
                        <a:rPr lang="en-US" sz="1800" strike="noStrike" u="none">
                          <a:solidFill>
                            <a:srgbClr val="000000"/>
                          </a:solidFill>
                          <a:latin typeface="Montserrat"/>
                          <a:ea typeface="Montserrat"/>
                          <a:cs typeface="Montserrat"/>
                          <a:sym typeface="Montserrat"/>
                        </a:rPr>
                        <a:t>i</a:t>
                      </a:r>
                      <a:r>
                        <a:rPr lang="en-US" sz="1800" strike="noStrike" u="none">
                          <a:solidFill>
                            <a:srgbClr val="000000"/>
                          </a:solidFill>
                          <a:latin typeface="Montserrat"/>
                          <a:ea typeface="Montserrat"/>
                          <a:cs typeface="Montserrat"/>
                          <a:sym typeface="Montserrat"/>
                        </a:rPr>
                        <a:t>za</a:t>
                      </a:r>
                      <a:r>
                        <a:rPr lang="en-US" sz="1800" strike="noStrike" u="none">
                          <a:solidFill>
                            <a:srgbClr val="000000"/>
                          </a:solidFill>
                          <a:latin typeface="Montserrat"/>
                          <a:ea typeface="Montserrat"/>
                          <a:cs typeface="Montserrat"/>
                          <a:sym typeface="Montserrat"/>
                        </a:rPr>
                        <a:t>t</a:t>
                      </a:r>
                      <a:r>
                        <a:rPr lang="en-US" sz="1800" strike="noStrike" u="none">
                          <a:solidFill>
                            <a:srgbClr val="000000"/>
                          </a:solidFill>
                          <a:latin typeface="Montserrat"/>
                          <a:ea typeface="Montserrat"/>
                          <a:cs typeface="Montserrat"/>
                          <a:sym typeface="Montserrat"/>
                        </a:rPr>
                        <a:t>ional</a:t>
                      </a:r>
                      <a:r>
                        <a:rPr lang="en-US" sz="1800" strike="noStrike" u="none">
                          <a:solidFill>
                            <a:srgbClr val="000000"/>
                          </a:solidFill>
                          <a:latin typeface="Montserrat"/>
                          <a:ea typeface="Montserrat"/>
                          <a:cs typeface="Montserrat"/>
                          <a:sym typeface="Montserrat"/>
                        </a:rPr>
                        <a:t> </a:t>
                      </a:r>
                      <a:r>
                        <a:rPr lang="en-US" sz="1800" strike="noStrike" u="none">
                          <a:solidFill>
                            <a:srgbClr val="000000"/>
                          </a:solidFill>
                          <a:latin typeface="Montserrat"/>
                          <a:ea typeface="Montserrat"/>
                          <a:cs typeface="Montserrat"/>
                          <a:sym typeface="Montserrat"/>
                        </a:rPr>
                        <a:t>a</a:t>
                      </a:r>
                      <a:r>
                        <a:rPr lang="en-US" sz="1800" strike="noStrike" u="none">
                          <a:solidFill>
                            <a:srgbClr val="000000"/>
                          </a:solidFill>
                          <a:latin typeface="Montserrat"/>
                          <a:ea typeface="Montserrat"/>
                          <a:cs typeface="Montserrat"/>
                          <a:sym typeface="Montserrat"/>
                        </a:rPr>
                        <a:t>u</a:t>
                      </a:r>
                      <a:r>
                        <a:rPr lang="en-US" sz="1800" strike="noStrike" u="none">
                          <a:solidFill>
                            <a:srgbClr val="000000"/>
                          </a:solidFill>
                          <a:latin typeface="Montserrat"/>
                          <a:ea typeface="Montserrat"/>
                          <a:cs typeface="Montserrat"/>
                          <a:sym typeface="Montserrat"/>
                        </a:rPr>
                        <a:t>d</a:t>
                      </a:r>
                      <a:r>
                        <a:rPr lang="en-US" sz="1800" strike="noStrike" u="none">
                          <a:solidFill>
                            <a:srgbClr val="000000"/>
                          </a:solidFill>
                          <a:latin typeface="Montserrat"/>
                          <a:ea typeface="Montserrat"/>
                          <a:cs typeface="Montserrat"/>
                          <a:sym typeface="Montserrat"/>
                        </a:rPr>
                        <a:t>i</a:t>
                      </a:r>
                      <a:r>
                        <a:rPr lang="en-US" sz="1800" strike="noStrike" u="none">
                          <a:solidFill>
                            <a:srgbClr val="000000"/>
                          </a:solidFill>
                          <a:latin typeface="Montserrat"/>
                          <a:ea typeface="Montserrat"/>
                          <a:cs typeface="Montserrat"/>
                          <a:sym typeface="Montserrat"/>
                        </a:rPr>
                        <a:t>ts</a:t>
                      </a:r>
                      <a:r>
                        <a:rPr lang="en-US" sz="1800" strike="noStrike" u="none">
                          <a:solidFill>
                            <a:srgbClr val="000000"/>
                          </a:solidFill>
                          <a:latin typeface="Montserrat"/>
                          <a:ea typeface="Montserrat"/>
                          <a:cs typeface="Montserrat"/>
                          <a:sym typeface="Montserrat"/>
                        </a:rPr>
                        <a:t> </a:t>
                      </a:r>
                      <a:r>
                        <a:rPr lang="en-US" sz="1800" strike="noStrike" u="none">
                          <a:solidFill>
                            <a:srgbClr val="000000"/>
                          </a:solidFill>
                          <a:latin typeface="Montserrat"/>
                          <a:ea typeface="Montserrat"/>
                          <a:cs typeface="Montserrat"/>
                          <a:sym typeface="Montserrat"/>
                        </a:rPr>
                        <a:t>f</a:t>
                      </a:r>
                      <a:r>
                        <a:rPr lang="en-US" sz="1800" strike="noStrike" u="none">
                          <a:solidFill>
                            <a:srgbClr val="000000"/>
                          </a:solidFill>
                          <a:latin typeface="Montserrat"/>
                          <a:ea typeface="Montserrat"/>
                          <a:cs typeface="Montserrat"/>
                          <a:sym typeface="Montserrat"/>
                        </a:rPr>
                        <a:t>ro</a:t>
                      </a:r>
                      <a:r>
                        <a:rPr lang="en-US" sz="1800" strike="noStrike" u="none">
                          <a:solidFill>
                            <a:srgbClr val="000000"/>
                          </a:solidFill>
                          <a:latin typeface="Montserrat"/>
                          <a:ea typeface="Montserrat"/>
                          <a:cs typeface="Montserrat"/>
                          <a:sym typeface="Montserrat"/>
                        </a:rPr>
                        <a:t>m q</a:t>
                      </a:r>
                      <a:r>
                        <a:rPr lang="en-US" sz="1800" strike="noStrike" u="none">
                          <a:solidFill>
                            <a:srgbClr val="000000"/>
                          </a:solidFill>
                          <a:latin typeface="Montserrat"/>
                          <a:ea typeface="Montserrat"/>
                          <a:cs typeface="Montserrat"/>
                          <a:sym typeface="Montserrat"/>
                        </a:rPr>
                        <a:t>u</a:t>
                      </a:r>
                      <a:r>
                        <a:rPr lang="en-US" sz="1800" strike="noStrike" u="none">
                          <a:solidFill>
                            <a:srgbClr val="000000"/>
                          </a:solidFill>
                          <a:latin typeface="Montserrat"/>
                          <a:ea typeface="Montserrat"/>
                          <a:cs typeface="Montserrat"/>
                          <a:sym typeface="Montserrat"/>
                        </a:rPr>
                        <a:t>a</a:t>
                      </a:r>
                      <a:r>
                        <a:rPr lang="en-US" sz="1800" strike="noStrike" u="none">
                          <a:solidFill>
                            <a:srgbClr val="000000"/>
                          </a:solidFill>
                          <a:latin typeface="Montserrat"/>
                          <a:ea typeface="Montserrat"/>
                          <a:cs typeface="Montserrat"/>
                          <a:sym typeface="Montserrat"/>
                        </a:rPr>
                        <a:t>r</a:t>
                      </a:r>
                      <a:r>
                        <a:rPr lang="en-US" sz="1800" strike="noStrike" u="none">
                          <a:solidFill>
                            <a:srgbClr val="000000"/>
                          </a:solidFill>
                          <a:latin typeface="Montserrat"/>
                          <a:ea typeface="Montserrat"/>
                          <a:cs typeface="Montserrat"/>
                          <a:sym typeface="Montserrat"/>
                        </a:rPr>
                        <a:t>t</a:t>
                      </a:r>
                      <a:r>
                        <a:rPr lang="en-US" sz="1800" strike="noStrike" u="none">
                          <a:solidFill>
                            <a:srgbClr val="000000"/>
                          </a:solidFill>
                          <a:latin typeface="Montserrat"/>
                          <a:ea typeface="Montserrat"/>
                          <a:cs typeface="Montserrat"/>
                          <a:sym typeface="Montserrat"/>
                        </a:rPr>
                        <a:t>e</a:t>
                      </a:r>
                      <a:r>
                        <a:rPr lang="en-US" sz="1800" strike="noStrike" u="none">
                          <a:solidFill>
                            <a:srgbClr val="000000"/>
                          </a:solidFill>
                          <a:latin typeface="Montserrat"/>
                          <a:ea typeface="Montserrat"/>
                          <a:cs typeface="Montserrat"/>
                          <a:sym typeface="Montserrat"/>
                        </a:rPr>
                        <a:t>rly</a:t>
                      </a:r>
                      <a:r>
                        <a:rPr lang="en-US" sz="1800" strike="noStrike" u="none">
                          <a:solidFill>
                            <a:srgbClr val="000000"/>
                          </a:solidFill>
                          <a:latin typeface="Montserrat"/>
                          <a:ea typeface="Montserrat"/>
                          <a:cs typeface="Montserrat"/>
                          <a:sym typeface="Montserrat"/>
                        </a:rPr>
                        <a:t> </a:t>
                      </a:r>
                      <a:r>
                        <a:rPr lang="en-US" sz="1800" strike="noStrike" u="none">
                          <a:solidFill>
                            <a:srgbClr val="000000"/>
                          </a:solidFill>
                          <a:latin typeface="Montserrat"/>
                          <a:ea typeface="Montserrat"/>
                          <a:cs typeface="Montserrat"/>
                          <a:sym typeface="Montserrat"/>
                        </a:rPr>
                        <a:t>to monthly</a:t>
                      </a:r>
                      <a:r>
                        <a:rPr lang="en-US" sz="1800" strike="noStrike" u="none">
                          <a:solidFill>
                            <a:srgbClr val="000000"/>
                          </a:solidFill>
                          <a:latin typeface="Montserrat"/>
                          <a:ea typeface="Montserrat"/>
                          <a:cs typeface="Montserrat"/>
                          <a:sym typeface="Montserrat"/>
                        </a:rPr>
                        <a:t>.</a:t>
                      </a:r>
                      <a:r>
                        <a:rPr lang="en-US" sz="1800" strike="noStrike" u="none">
                          <a:solidFill>
                            <a:srgbClr val="000000"/>
                          </a:solidFill>
                          <a:latin typeface="Montserrat"/>
                          <a:ea typeface="Montserrat"/>
                          <a:cs typeface="Montserrat"/>
                          <a:sym typeface="Montserrat"/>
                        </a:rPr>
                        <a:t> </a:t>
                      </a:r>
                      <a:endParaRPr lang="en-US" sz="1100"/>
                    </a:p>
                  </a:txBody>
                  <a:tcPr marL="184173" marR="184173" marT="184173" marB="184173" anchor="ctr">
                    <a:lnL cmpd="sng" algn="ctr" cap="flat" w="27626">
                      <a:solidFill>
                        <a:srgbClr val="BEC8D9"/>
                      </a:solidFill>
                      <a:prstDash val="solid"/>
                      <a:round/>
                      <a:headEnd type="none" w="med" len="med"/>
                      <a:tailEnd type="none" w="med" len="med"/>
                    </a:lnL>
                    <a:lnR cmpd="sng" algn="ctr" cap="flat" w="27626">
                      <a:solidFill>
                        <a:srgbClr val="BEC8D9"/>
                      </a:solidFill>
                      <a:prstDash val="solid"/>
                      <a:round/>
                      <a:headEnd type="none" w="med" len="med"/>
                      <a:tailEnd type="none" w="med" len="med"/>
                    </a:lnR>
                    <a:lnT cmpd="sng" algn="ctr" cap="flat" w="27626">
                      <a:solidFill>
                        <a:srgbClr val="BEC8D9"/>
                      </a:solidFill>
                      <a:prstDash val="solid"/>
                      <a:round/>
                      <a:headEnd type="none" w="med" len="med"/>
                      <a:tailEnd type="none" w="med" len="med"/>
                    </a:lnT>
                    <a:lnB cmpd="sng" algn="ctr" cap="flat" w="27626">
                      <a:solidFill>
                        <a:srgbClr val="BEC8D9"/>
                      </a:solidFill>
                      <a:prstDash val="solid"/>
                      <a:round/>
                      <a:headEnd type="none" w="med" len="med"/>
                      <a:tailEnd type="none" w="med" len="med"/>
                    </a:lnB>
                    <a:solidFill>
                      <a:srgbClr val="F4F7FB"/>
                    </a:solidFill>
                  </a:tcPr>
                </a:tc>
              </a:tr>
              <a:tr h="1702209">
                <a:tc>
                  <a:txBody>
                    <a:bodyPr anchor="t" rtlCol="false"/>
                    <a:lstStyle/>
                    <a:p>
                      <a:pPr algn="ctr" marL="0" indent="0" lvl="0">
                        <a:lnSpc>
                          <a:spcPts val="2520"/>
                        </a:lnSpc>
                        <a:spcBef>
                          <a:spcPct val="0"/>
                        </a:spcBef>
                        <a:defRPr/>
                      </a:pPr>
                      <a:r>
                        <a:rPr lang="en-US" sz="1800" strike="noStrike" u="none">
                          <a:solidFill>
                            <a:srgbClr val="000000"/>
                          </a:solidFill>
                          <a:latin typeface="Montserrat"/>
                          <a:ea typeface="Montserrat"/>
                          <a:cs typeface="Montserrat"/>
                          <a:sym typeface="Montserrat"/>
                        </a:rPr>
                        <a:t>Reviewed and cleaned up the ALPR Policy and SOP.</a:t>
                      </a:r>
                      <a:endParaRPr lang="en-US" sz="1100"/>
                    </a:p>
                  </a:txBody>
                  <a:tcPr marL="184173" marR="184173" marT="184173" marB="184173" anchor="ctr">
                    <a:lnL cmpd="sng" algn="ctr" cap="flat" w="27626">
                      <a:solidFill>
                        <a:srgbClr val="BEC8D9"/>
                      </a:solidFill>
                      <a:prstDash val="solid"/>
                      <a:round/>
                      <a:headEnd type="none" w="med" len="med"/>
                      <a:tailEnd type="none" w="med" len="med"/>
                    </a:lnL>
                    <a:lnR cmpd="sng" algn="ctr" cap="flat" w="27626">
                      <a:solidFill>
                        <a:srgbClr val="BEC8D9"/>
                      </a:solidFill>
                      <a:prstDash val="solid"/>
                      <a:round/>
                      <a:headEnd type="none" w="med" len="med"/>
                      <a:tailEnd type="none" w="med" len="med"/>
                    </a:lnR>
                    <a:lnT cmpd="sng" algn="ctr" cap="flat" w="27626">
                      <a:solidFill>
                        <a:srgbClr val="BEC8D9"/>
                      </a:solidFill>
                      <a:prstDash val="solid"/>
                      <a:round/>
                      <a:headEnd type="none" w="med" len="med"/>
                      <a:tailEnd type="none" w="med" len="med"/>
                    </a:lnT>
                    <a:lnB cmpd="sng" algn="ctr" cap="flat" w="27626">
                      <a:solidFill>
                        <a:srgbClr val="BEC8D9"/>
                      </a:solidFill>
                      <a:prstDash val="solid"/>
                      <a:round/>
                      <a:headEnd type="none" w="med" len="med"/>
                      <a:tailEnd type="none" w="med" len="med"/>
                    </a:lnB>
                    <a:solidFill>
                      <a:srgbClr val="FFFFFF"/>
                    </a:solidFill>
                  </a:tcPr>
                </a:tc>
                <a:tc>
                  <a:txBody>
                    <a:bodyPr anchor="t" rtlCol="false"/>
                    <a:lstStyle/>
                    <a:p>
                      <a:pPr algn="ctr" marL="0" indent="0" lvl="0">
                        <a:lnSpc>
                          <a:spcPts val="2520"/>
                        </a:lnSpc>
                        <a:spcBef>
                          <a:spcPct val="0"/>
                        </a:spcBef>
                        <a:defRPr/>
                      </a:pPr>
                      <a:r>
                        <a:rPr lang="en-US" sz="1800">
                          <a:solidFill>
                            <a:srgbClr val="000000"/>
                          </a:solidFill>
                          <a:latin typeface="Montserrat"/>
                          <a:ea typeface="Montserrat"/>
                          <a:cs typeface="Montserrat"/>
                          <a:sym typeface="Montserrat"/>
                        </a:rPr>
                        <a:t>Rev</a:t>
                      </a:r>
                      <a:r>
                        <a:rPr lang="en-US" sz="1800" strike="noStrike" u="none">
                          <a:solidFill>
                            <a:srgbClr val="000000"/>
                          </a:solidFill>
                          <a:latin typeface="Montserrat"/>
                          <a:ea typeface="Montserrat"/>
                          <a:cs typeface="Montserrat"/>
                          <a:sym typeface="Montserrat"/>
                        </a:rPr>
                        <a:t>i</a:t>
                      </a:r>
                      <a:r>
                        <a:rPr lang="en-US" sz="1800" strike="noStrike" u="none">
                          <a:solidFill>
                            <a:srgbClr val="000000"/>
                          </a:solidFill>
                          <a:latin typeface="Montserrat"/>
                          <a:ea typeface="Montserrat"/>
                          <a:cs typeface="Montserrat"/>
                          <a:sym typeface="Montserrat"/>
                        </a:rPr>
                        <a:t>ewed</a:t>
                      </a:r>
                      <a:r>
                        <a:rPr lang="en-US" sz="1800" strike="noStrike" u="none">
                          <a:solidFill>
                            <a:srgbClr val="000000"/>
                          </a:solidFill>
                          <a:latin typeface="Montserrat"/>
                          <a:ea typeface="Montserrat"/>
                          <a:cs typeface="Montserrat"/>
                          <a:sym typeface="Montserrat"/>
                        </a:rPr>
                        <a:t> </a:t>
                      </a:r>
                      <a:r>
                        <a:rPr lang="en-US" sz="1800" strike="noStrike" u="none">
                          <a:solidFill>
                            <a:srgbClr val="000000"/>
                          </a:solidFill>
                          <a:latin typeface="Montserrat"/>
                          <a:ea typeface="Montserrat"/>
                          <a:cs typeface="Montserrat"/>
                          <a:sym typeface="Montserrat"/>
                        </a:rPr>
                        <a:t>all us</a:t>
                      </a:r>
                      <a:r>
                        <a:rPr lang="en-US" sz="1800" strike="noStrike" u="none">
                          <a:solidFill>
                            <a:srgbClr val="000000"/>
                          </a:solidFill>
                          <a:latin typeface="Montserrat"/>
                          <a:ea typeface="Montserrat"/>
                          <a:cs typeface="Montserrat"/>
                          <a:sym typeface="Montserrat"/>
                        </a:rPr>
                        <a:t>er</a:t>
                      </a:r>
                      <a:r>
                        <a:rPr lang="en-US" sz="1800" strike="noStrike" u="none">
                          <a:solidFill>
                            <a:srgbClr val="000000"/>
                          </a:solidFill>
                          <a:latin typeface="Montserrat"/>
                          <a:ea typeface="Montserrat"/>
                          <a:cs typeface="Montserrat"/>
                          <a:sym typeface="Montserrat"/>
                        </a:rPr>
                        <a:t> </a:t>
                      </a:r>
                      <a:r>
                        <a:rPr lang="en-US" sz="1800" strike="noStrike" u="none">
                          <a:solidFill>
                            <a:srgbClr val="000000"/>
                          </a:solidFill>
                          <a:latin typeface="Montserrat"/>
                          <a:ea typeface="Montserrat"/>
                          <a:cs typeface="Montserrat"/>
                          <a:sym typeface="Montserrat"/>
                        </a:rPr>
                        <a:t>roles a</a:t>
                      </a:r>
                      <a:r>
                        <a:rPr lang="en-US" sz="1800" strike="noStrike" u="none">
                          <a:solidFill>
                            <a:srgbClr val="000000"/>
                          </a:solidFill>
                          <a:latin typeface="Montserrat"/>
                          <a:ea typeface="Montserrat"/>
                          <a:cs typeface="Montserrat"/>
                          <a:sym typeface="Montserrat"/>
                        </a:rPr>
                        <a:t>nd</a:t>
                      </a:r>
                      <a:r>
                        <a:rPr lang="en-US" sz="1800" strike="noStrike" u="none">
                          <a:solidFill>
                            <a:srgbClr val="000000"/>
                          </a:solidFill>
                          <a:latin typeface="Montserrat"/>
                          <a:ea typeface="Montserrat"/>
                          <a:cs typeface="Montserrat"/>
                          <a:sym typeface="Montserrat"/>
                        </a:rPr>
                        <a:t> assigned</a:t>
                      </a:r>
                      <a:r>
                        <a:rPr lang="en-US" sz="1800" strike="noStrike" u="none">
                          <a:solidFill>
                            <a:srgbClr val="000000"/>
                          </a:solidFill>
                          <a:latin typeface="Montserrat"/>
                          <a:ea typeface="Montserrat"/>
                          <a:cs typeface="Montserrat"/>
                          <a:sym typeface="Montserrat"/>
                        </a:rPr>
                        <a:t> p</a:t>
                      </a:r>
                      <a:r>
                        <a:rPr lang="en-US" sz="1800" strike="noStrike" u="none">
                          <a:solidFill>
                            <a:srgbClr val="000000"/>
                          </a:solidFill>
                          <a:latin typeface="Montserrat"/>
                          <a:ea typeface="Montserrat"/>
                          <a:cs typeface="Montserrat"/>
                          <a:sym typeface="Montserrat"/>
                        </a:rPr>
                        <a:t>e</a:t>
                      </a:r>
                      <a:r>
                        <a:rPr lang="en-US" sz="1800" strike="noStrike" u="none">
                          <a:solidFill>
                            <a:srgbClr val="000000"/>
                          </a:solidFill>
                          <a:latin typeface="Montserrat"/>
                          <a:ea typeface="Montserrat"/>
                          <a:cs typeface="Montserrat"/>
                          <a:sym typeface="Montserrat"/>
                        </a:rPr>
                        <a:t>rso</a:t>
                      </a:r>
                      <a:r>
                        <a:rPr lang="en-US" sz="1800" strike="noStrike" u="none">
                          <a:solidFill>
                            <a:srgbClr val="000000"/>
                          </a:solidFill>
                          <a:latin typeface="Montserrat"/>
                          <a:ea typeface="Montserrat"/>
                          <a:cs typeface="Montserrat"/>
                          <a:sym typeface="Montserrat"/>
                        </a:rPr>
                        <a:t>nn</a:t>
                      </a:r>
                      <a:r>
                        <a:rPr lang="en-US" sz="1800" strike="noStrike" u="none">
                          <a:solidFill>
                            <a:srgbClr val="000000"/>
                          </a:solidFill>
                          <a:latin typeface="Montserrat"/>
                          <a:ea typeface="Montserrat"/>
                          <a:cs typeface="Montserrat"/>
                          <a:sym typeface="Montserrat"/>
                        </a:rPr>
                        <a:t>el to the</a:t>
                      </a:r>
                      <a:r>
                        <a:rPr lang="en-US" sz="1800" strike="noStrike" u="none">
                          <a:solidFill>
                            <a:srgbClr val="000000"/>
                          </a:solidFill>
                          <a:latin typeface="Montserrat"/>
                          <a:ea typeface="Montserrat"/>
                          <a:cs typeface="Montserrat"/>
                          <a:sym typeface="Montserrat"/>
                        </a:rPr>
                        <a:t> c</a:t>
                      </a:r>
                      <a:r>
                        <a:rPr lang="en-US" sz="1800" strike="noStrike" u="none">
                          <a:solidFill>
                            <a:srgbClr val="000000"/>
                          </a:solidFill>
                          <a:latin typeface="Montserrat"/>
                          <a:ea typeface="Montserrat"/>
                          <a:cs typeface="Montserrat"/>
                          <a:sym typeface="Montserrat"/>
                        </a:rPr>
                        <a:t>orrect permi</a:t>
                      </a:r>
                      <a:r>
                        <a:rPr lang="en-US" sz="1800" strike="noStrike" u="none">
                          <a:solidFill>
                            <a:srgbClr val="000000"/>
                          </a:solidFill>
                          <a:latin typeface="Montserrat"/>
                          <a:ea typeface="Montserrat"/>
                          <a:cs typeface="Montserrat"/>
                          <a:sym typeface="Montserrat"/>
                        </a:rPr>
                        <a:t>ss</a:t>
                      </a:r>
                      <a:r>
                        <a:rPr lang="en-US" sz="1800" strike="noStrike" u="none">
                          <a:solidFill>
                            <a:srgbClr val="000000"/>
                          </a:solidFill>
                          <a:latin typeface="Montserrat"/>
                          <a:ea typeface="Montserrat"/>
                          <a:cs typeface="Montserrat"/>
                          <a:sym typeface="Montserrat"/>
                        </a:rPr>
                        <a:t>ions.</a:t>
                      </a:r>
                      <a:endParaRPr lang="en-US" sz="1100"/>
                    </a:p>
                  </a:txBody>
                  <a:tcPr marL="184173" marR="184173" marT="184173" marB="184173" anchor="ctr">
                    <a:lnL cmpd="sng" algn="ctr" cap="flat" w="27626">
                      <a:solidFill>
                        <a:srgbClr val="BEC8D9"/>
                      </a:solidFill>
                      <a:prstDash val="solid"/>
                      <a:round/>
                      <a:headEnd type="none" w="med" len="med"/>
                      <a:tailEnd type="none" w="med" len="med"/>
                    </a:lnL>
                    <a:lnR cmpd="sng" algn="ctr" cap="flat" w="27626">
                      <a:solidFill>
                        <a:srgbClr val="BEC8D9"/>
                      </a:solidFill>
                      <a:prstDash val="solid"/>
                      <a:round/>
                      <a:headEnd type="none" w="med" len="med"/>
                      <a:tailEnd type="none" w="med" len="med"/>
                    </a:lnR>
                    <a:lnT cmpd="sng" algn="ctr" cap="flat" w="27626">
                      <a:solidFill>
                        <a:srgbClr val="BEC8D9"/>
                      </a:solidFill>
                      <a:prstDash val="solid"/>
                      <a:round/>
                      <a:headEnd type="none" w="med" len="med"/>
                      <a:tailEnd type="none" w="med" len="med"/>
                    </a:lnT>
                    <a:lnB cmpd="sng" algn="ctr" cap="flat" w="27626">
                      <a:solidFill>
                        <a:srgbClr val="BEC8D9"/>
                      </a:solidFill>
                      <a:prstDash val="solid"/>
                      <a:round/>
                      <a:headEnd type="none" w="med" len="med"/>
                      <a:tailEnd type="none" w="med" len="med"/>
                    </a:lnB>
                    <a:solidFill>
                      <a:srgbClr val="F4F7FB"/>
                    </a:solidFill>
                  </a:tcPr>
                </a:tc>
                <a:tc>
                  <a:txBody>
                    <a:bodyPr anchor="t" rtlCol="false"/>
                    <a:lstStyle/>
                    <a:p>
                      <a:pPr algn="ctr" marL="0" indent="0" lvl="0">
                        <a:lnSpc>
                          <a:spcPts val="2520"/>
                        </a:lnSpc>
                        <a:spcBef>
                          <a:spcPct val="0"/>
                        </a:spcBef>
                        <a:defRPr/>
                      </a:pPr>
                      <a:r>
                        <a:rPr lang="en-US" sz="1800">
                          <a:solidFill>
                            <a:srgbClr val="000000"/>
                          </a:solidFill>
                          <a:latin typeface="Montserrat"/>
                          <a:ea typeface="Montserrat"/>
                          <a:cs typeface="Montserrat"/>
                          <a:sym typeface="Montserrat"/>
                        </a:rPr>
                        <a:t>L</a:t>
                      </a:r>
                      <a:r>
                        <a:rPr lang="en-US" sz="1800" strike="noStrike" u="none">
                          <a:solidFill>
                            <a:srgbClr val="000000"/>
                          </a:solidFill>
                          <a:latin typeface="Montserrat"/>
                          <a:ea typeface="Montserrat"/>
                          <a:cs typeface="Montserrat"/>
                          <a:sym typeface="Montserrat"/>
                        </a:rPr>
                        <a:t>i</a:t>
                      </a:r>
                      <a:r>
                        <a:rPr lang="en-US" sz="1800" strike="noStrike" u="none">
                          <a:solidFill>
                            <a:srgbClr val="000000"/>
                          </a:solidFill>
                          <a:latin typeface="Montserrat"/>
                          <a:ea typeface="Montserrat"/>
                          <a:cs typeface="Montserrat"/>
                          <a:sym typeface="Montserrat"/>
                        </a:rPr>
                        <a:t>mit</a:t>
                      </a:r>
                      <a:r>
                        <a:rPr lang="en-US" sz="1800" strike="noStrike" u="none">
                          <a:solidFill>
                            <a:srgbClr val="000000"/>
                          </a:solidFill>
                          <a:latin typeface="Montserrat"/>
                          <a:ea typeface="Montserrat"/>
                          <a:cs typeface="Montserrat"/>
                          <a:sym typeface="Montserrat"/>
                        </a:rPr>
                        <a:t>ed </a:t>
                      </a:r>
                      <a:r>
                        <a:rPr lang="en-US" sz="1800" strike="noStrike" u="none">
                          <a:solidFill>
                            <a:srgbClr val="000000"/>
                          </a:solidFill>
                          <a:latin typeface="Montserrat"/>
                          <a:ea typeface="Montserrat"/>
                          <a:cs typeface="Montserrat"/>
                          <a:sym typeface="Montserrat"/>
                        </a:rPr>
                        <a:t>appr</a:t>
                      </a:r>
                      <a:r>
                        <a:rPr lang="en-US" sz="1800" strike="noStrike" u="none">
                          <a:solidFill>
                            <a:srgbClr val="000000"/>
                          </a:solidFill>
                          <a:latin typeface="Montserrat"/>
                          <a:ea typeface="Montserrat"/>
                          <a:cs typeface="Montserrat"/>
                          <a:sym typeface="Montserrat"/>
                        </a:rPr>
                        <a:t>o</a:t>
                      </a:r>
                      <a:r>
                        <a:rPr lang="en-US" sz="1800" strike="noStrike" u="none">
                          <a:solidFill>
                            <a:srgbClr val="000000"/>
                          </a:solidFill>
                          <a:latin typeface="Montserrat"/>
                          <a:ea typeface="Montserrat"/>
                          <a:cs typeface="Montserrat"/>
                          <a:sym typeface="Montserrat"/>
                        </a:rPr>
                        <a:t>v</a:t>
                      </a:r>
                      <a:r>
                        <a:rPr lang="en-US" sz="1800" strike="noStrike" u="none">
                          <a:solidFill>
                            <a:srgbClr val="000000"/>
                          </a:solidFill>
                          <a:latin typeface="Montserrat"/>
                          <a:ea typeface="Montserrat"/>
                          <a:cs typeface="Montserrat"/>
                          <a:sym typeface="Montserrat"/>
                        </a:rPr>
                        <a:t>e</a:t>
                      </a:r>
                      <a:r>
                        <a:rPr lang="en-US" sz="1800" strike="noStrike" u="none">
                          <a:solidFill>
                            <a:srgbClr val="000000"/>
                          </a:solidFill>
                          <a:latin typeface="Montserrat"/>
                          <a:ea typeface="Montserrat"/>
                          <a:cs typeface="Montserrat"/>
                          <a:sym typeface="Montserrat"/>
                        </a:rPr>
                        <a:t>d sha</a:t>
                      </a:r>
                      <a:r>
                        <a:rPr lang="en-US" sz="1800" strike="noStrike" u="none">
                          <a:solidFill>
                            <a:srgbClr val="000000"/>
                          </a:solidFill>
                          <a:latin typeface="Montserrat"/>
                          <a:ea typeface="Montserrat"/>
                          <a:cs typeface="Montserrat"/>
                          <a:sym typeface="Montserrat"/>
                        </a:rPr>
                        <a:t>ring pe</a:t>
                      </a:r>
                      <a:r>
                        <a:rPr lang="en-US" sz="1800" strike="noStrike" u="none">
                          <a:solidFill>
                            <a:srgbClr val="000000"/>
                          </a:solidFill>
                          <a:latin typeface="Montserrat"/>
                          <a:ea typeface="Montserrat"/>
                          <a:cs typeface="Montserrat"/>
                          <a:sym typeface="Montserrat"/>
                        </a:rPr>
                        <a:t>r</a:t>
                      </a:r>
                      <a:r>
                        <a:rPr lang="en-US" sz="1800" strike="noStrike" u="none">
                          <a:solidFill>
                            <a:srgbClr val="000000"/>
                          </a:solidFill>
                          <a:latin typeface="Montserrat"/>
                          <a:ea typeface="Montserrat"/>
                          <a:cs typeface="Montserrat"/>
                          <a:sym typeface="Montserrat"/>
                        </a:rPr>
                        <a:t>mi</a:t>
                      </a:r>
                      <a:r>
                        <a:rPr lang="en-US" sz="1800" strike="noStrike" u="none">
                          <a:solidFill>
                            <a:srgbClr val="000000"/>
                          </a:solidFill>
                          <a:latin typeface="Montserrat"/>
                          <a:ea typeface="Montserrat"/>
                          <a:cs typeface="Montserrat"/>
                          <a:sym typeface="Montserrat"/>
                        </a:rPr>
                        <a:t>ss</a:t>
                      </a:r>
                      <a:r>
                        <a:rPr lang="en-US" sz="1800" strike="noStrike" u="none">
                          <a:solidFill>
                            <a:srgbClr val="000000"/>
                          </a:solidFill>
                          <a:latin typeface="Montserrat"/>
                          <a:ea typeface="Montserrat"/>
                          <a:cs typeface="Montserrat"/>
                          <a:sym typeface="Montserrat"/>
                        </a:rPr>
                        <a:t>ion</a:t>
                      </a:r>
                      <a:r>
                        <a:rPr lang="en-US" sz="1800" strike="noStrike" u="none">
                          <a:solidFill>
                            <a:srgbClr val="000000"/>
                          </a:solidFill>
                          <a:latin typeface="Montserrat"/>
                          <a:ea typeface="Montserrat"/>
                          <a:cs typeface="Montserrat"/>
                          <a:sym typeface="Montserrat"/>
                        </a:rPr>
                        <a:t>s</a:t>
                      </a:r>
                      <a:r>
                        <a:rPr lang="en-US" sz="1800" strike="noStrike" u="none">
                          <a:solidFill>
                            <a:srgbClr val="000000"/>
                          </a:solidFill>
                          <a:latin typeface="Montserrat"/>
                          <a:ea typeface="Montserrat"/>
                          <a:cs typeface="Montserrat"/>
                          <a:sym typeface="Montserrat"/>
                        </a:rPr>
                        <a:t> </a:t>
                      </a:r>
                      <a:r>
                        <a:rPr lang="en-US" sz="1800" strike="noStrike" u="none">
                          <a:solidFill>
                            <a:srgbClr val="000000"/>
                          </a:solidFill>
                          <a:latin typeface="Montserrat"/>
                          <a:ea typeface="Montserrat"/>
                          <a:cs typeface="Montserrat"/>
                          <a:sym typeface="Montserrat"/>
                        </a:rPr>
                        <a:t>t</a:t>
                      </a:r>
                      <a:r>
                        <a:rPr lang="en-US" sz="1800" strike="noStrike" u="none">
                          <a:solidFill>
                            <a:srgbClr val="000000"/>
                          </a:solidFill>
                          <a:latin typeface="Montserrat"/>
                          <a:ea typeface="Montserrat"/>
                          <a:cs typeface="Montserrat"/>
                          <a:sym typeface="Montserrat"/>
                        </a:rPr>
                        <a:t>o</a:t>
                      </a:r>
                      <a:r>
                        <a:rPr lang="en-US" sz="1800" strike="noStrike" u="none">
                          <a:solidFill>
                            <a:srgbClr val="000000"/>
                          </a:solidFill>
                          <a:latin typeface="Montserrat"/>
                          <a:ea typeface="Montserrat"/>
                          <a:cs typeface="Montserrat"/>
                          <a:sym typeface="Montserrat"/>
                        </a:rPr>
                        <a:t> Sear</a:t>
                      </a:r>
                      <a:r>
                        <a:rPr lang="en-US" sz="1800" strike="noStrike" u="none">
                          <a:solidFill>
                            <a:srgbClr val="000000"/>
                          </a:solidFill>
                          <a:latin typeface="Montserrat"/>
                          <a:ea typeface="Montserrat"/>
                          <a:cs typeface="Montserrat"/>
                          <a:sym typeface="Montserrat"/>
                        </a:rPr>
                        <a:t>c</a:t>
                      </a:r>
                      <a:r>
                        <a:rPr lang="en-US" sz="1800" strike="noStrike" u="none">
                          <a:solidFill>
                            <a:srgbClr val="000000"/>
                          </a:solidFill>
                          <a:latin typeface="Montserrat"/>
                          <a:ea typeface="Montserrat"/>
                          <a:cs typeface="Montserrat"/>
                          <a:sym typeface="Montserrat"/>
                        </a:rPr>
                        <a:t>h and Al</a:t>
                      </a:r>
                      <a:r>
                        <a:rPr lang="en-US" sz="1800" strike="noStrike" u="none">
                          <a:solidFill>
                            <a:srgbClr val="000000"/>
                          </a:solidFill>
                          <a:latin typeface="Montserrat"/>
                          <a:ea typeface="Montserrat"/>
                          <a:cs typeface="Montserrat"/>
                          <a:sym typeface="Montserrat"/>
                        </a:rPr>
                        <a:t>e</a:t>
                      </a:r>
                      <a:r>
                        <a:rPr lang="en-US" sz="1800" strike="noStrike" u="none">
                          <a:solidFill>
                            <a:srgbClr val="000000"/>
                          </a:solidFill>
                          <a:latin typeface="Montserrat"/>
                          <a:ea typeface="Montserrat"/>
                          <a:cs typeface="Montserrat"/>
                          <a:sym typeface="Montserrat"/>
                        </a:rPr>
                        <a:t>rt</a:t>
                      </a:r>
                      <a:r>
                        <a:rPr lang="en-US" sz="1800" strike="noStrike" u="none">
                          <a:solidFill>
                            <a:srgbClr val="000000"/>
                          </a:solidFill>
                          <a:latin typeface="Montserrat"/>
                          <a:ea typeface="Montserrat"/>
                          <a:cs typeface="Montserrat"/>
                          <a:sym typeface="Montserrat"/>
                        </a:rPr>
                        <a:t>s</a:t>
                      </a:r>
                      <a:r>
                        <a:rPr lang="en-US" sz="1800" strike="noStrike" u="none">
                          <a:solidFill>
                            <a:srgbClr val="000000"/>
                          </a:solidFill>
                          <a:latin typeface="Montserrat"/>
                          <a:ea typeface="Montserrat"/>
                          <a:cs typeface="Montserrat"/>
                          <a:sym typeface="Montserrat"/>
                        </a:rPr>
                        <a:t> only. </a:t>
                      </a:r>
                      <a:endParaRPr lang="en-US" sz="1100"/>
                    </a:p>
                  </a:txBody>
                  <a:tcPr marL="184173" marR="184173" marT="184173" marB="184173" anchor="ctr">
                    <a:lnL cmpd="sng" algn="ctr" cap="flat" w="27626">
                      <a:solidFill>
                        <a:srgbClr val="BEC8D9"/>
                      </a:solidFill>
                      <a:prstDash val="solid"/>
                      <a:round/>
                      <a:headEnd type="none" w="med" len="med"/>
                      <a:tailEnd type="none" w="med" len="med"/>
                    </a:lnL>
                    <a:lnR cmpd="sng" algn="ctr" cap="flat" w="27626">
                      <a:solidFill>
                        <a:srgbClr val="BEC8D9"/>
                      </a:solidFill>
                      <a:prstDash val="solid"/>
                      <a:round/>
                      <a:headEnd type="none" w="med" len="med"/>
                      <a:tailEnd type="none" w="med" len="med"/>
                    </a:lnR>
                    <a:lnT cmpd="sng" algn="ctr" cap="flat" w="27626">
                      <a:solidFill>
                        <a:srgbClr val="BEC8D9"/>
                      </a:solidFill>
                      <a:prstDash val="solid"/>
                      <a:round/>
                      <a:headEnd type="none" w="med" len="med"/>
                      <a:tailEnd type="none" w="med" len="med"/>
                    </a:lnT>
                    <a:lnB cmpd="sng" algn="ctr" cap="flat" w="27626">
                      <a:solidFill>
                        <a:srgbClr val="BEC8D9"/>
                      </a:solidFill>
                      <a:prstDash val="solid"/>
                      <a:round/>
                      <a:headEnd type="none" w="med" len="med"/>
                      <a:tailEnd type="none" w="med" len="med"/>
                    </a:lnB>
                    <a:solidFill>
                      <a:srgbClr val="FFFFFF"/>
                    </a:solidFill>
                  </a:tcPr>
                </a:tc>
                <a:tc>
                  <a:txBody>
                    <a:bodyPr anchor="t" rtlCol="false"/>
                    <a:lstStyle/>
                    <a:p>
                      <a:pPr algn="ctr" marL="0" indent="0" lvl="0">
                        <a:lnSpc>
                          <a:spcPts val="2520"/>
                        </a:lnSpc>
                        <a:spcBef>
                          <a:spcPct val="0"/>
                        </a:spcBef>
                        <a:defRPr/>
                      </a:pPr>
                      <a:r>
                        <a:rPr lang="en-US" sz="1800">
                          <a:solidFill>
                            <a:srgbClr val="000000"/>
                          </a:solidFill>
                          <a:latin typeface="Montserrat"/>
                          <a:ea typeface="Montserrat"/>
                          <a:cs typeface="Montserrat"/>
                          <a:sym typeface="Montserrat"/>
                        </a:rPr>
                        <a:t>Strengthened</a:t>
                      </a:r>
                      <a:r>
                        <a:rPr lang="en-US" sz="1800" strike="noStrike" u="none">
                          <a:solidFill>
                            <a:srgbClr val="000000"/>
                          </a:solidFill>
                          <a:latin typeface="Montserrat"/>
                          <a:ea typeface="Montserrat"/>
                          <a:cs typeface="Montserrat"/>
                          <a:sym typeface="Montserrat"/>
                        </a:rPr>
                        <a:t> o</a:t>
                      </a:r>
                      <a:r>
                        <a:rPr lang="en-US" sz="1800" strike="noStrike" u="none">
                          <a:solidFill>
                            <a:srgbClr val="000000"/>
                          </a:solidFill>
                          <a:latin typeface="Montserrat"/>
                          <a:ea typeface="Montserrat"/>
                          <a:cs typeface="Montserrat"/>
                          <a:sym typeface="Montserrat"/>
                        </a:rPr>
                        <a:t>ve</a:t>
                      </a:r>
                      <a:r>
                        <a:rPr lang="en-US" sz="1800" strike="noStrike" u="none">
                          <a:solidFill>
                            <a:srgbClr val="000000"/>
                          </a:solidFill>
                          <a:latin typeface="Montserrat"/>
                          <a:ea typeface="Montserrat"/>
                          <a:cs typeface="Montserrat"/>
                          <a:sym typeface="Montserrat"/>
                        </a:rPr>
                        <a:t>r</a:t>
                      </a:r>
                      <a:r>
                        <a:rPr lang="en-US" sz="1800" strike="noStrike" u="none">
                          <a:solidFill>
                            <a:srgbClr val="000000"/>
                          </a:solidFill>
                          <a:latin typeface="Montserrat"/>
                          <a:ea typeface="Montserrat"/>
                          <a:cs typeface="Montserrat"/>
                          <a:sym typeface="Montserrat"/>
                        </a:rPr>
                        <a:t>sigh</a:t>
                      </a:r>
                      <a:r>
                        <a:rPr lang="en-US" sz="1800" strike="noStrike" u="none">
                          <a:solidFill>
                            <a:srgbClr val="000000"/>
                          </a:solidFill>
                          <a:latin typeface="Montserrat"/>
                          <a:ea typeface="Montserrat"/>
                          <a:cs typeface="Montserrat"/>
                          <a:sym typeface="Montserrat"/>
                        </a:rPr>
                        <a:t>t </a:t>
                      </a:r>
                      <a:r>
                        <a:rPr lang="en-US" sz="1800" strike="noStrike" u="none">
                          <a:solidFill>
                            <a:srgbClr val="000000"/>
                          </a:solidFill>
                          <a:latin typeface="Montserrat"/>
                          <a:ea typeface="Montserrat"/>
                          <a:cs typeface="Montserrat"/>
                          <a:sym typeface="Montserrat"/>
                        </a:rPr>
                        <a:t>of</a:t>
                      </a:r>
                      <a:r>
                        <a:rPr lang="en-US" sz="1800" strike="noStrike" u="none">
                          <a:solidFill>
                            <a:srgbClr val="000000"/>
                          </a:solidFill>
                          <a:latin typeface="Montserrat"/>
                          <a:ea typeface="Montserrat"/>
                          <a:cs typeface="Montserrat"/>
                          <a:sym typeface="Montserrat"/>
                        </a:rPr>
                        <a:t> </a:t>
                      </a:r>
                      <a:r>
                        <a:rPr lang="en-US" sz="1800" strike="noStrike" u="none">
                          <a:solidFill>
                            <a:srgbClr val="000000"/>
                          </a:solidFill>
                          <a:latin typeface="Montserrat"/>
                          <a:ea typeface="Montserrat"/>
                          <a:cs typeface="Montserrat"/>
                          <a:sym typeface="Montserrat"/>
                        </a:rPr>
                        <a:t>sys</a:t>
                      </a:r>
                      <a:r>
                        <a:rPr lang="en-US" sz="1800" strike="noStrike" u="none">
                          <a:solidFill>
                            <a:srgbClr val="000000"/>
                          </a:solidFill>
                          <a:latin typeface="Montserrat"/>
                          <a:ea typeface="Montserrat"/>
                          <a:cs typeface="Montserrat"/>
                          <a:sym typeface="Montserrat"/>
                        </a:rPr>
                        <a:t>te</a:t>
                      </a:r>
                      <a:r>
                        <a:rPr lang="en-US" sz="1800" strike="noStrike" u="none">
                          <a:solidFill>
                            <a:srgbClr val="000000"/>
                          </a:solidFill>
                          <a:latin typeface="Montserrat"/>
                          <a:ea typeface="Montserrat"/>
                          <a:cs typeface="Montserrat"/>
                          <a:sym typeface="Montserrat"/>
                        </a:rPr>
                        <a:t>m </a:t>
                      </a:r>
                      <a:r>
                        <a:rPr lang="en-US" sz="1800" strike="noStrike" u="none">
                          <a:solidFill>
                            <a:srgbClr val="000000"/>
                          </a:solidFill>
                          <a:latin typeface="Montserrat"/>
                          <a:ea typeface="Montserrat"/>
                          <a:cs typeface="Montserrat"/>
                          <a:sym typeface="Montserrat"/>
                        </a:rPr>
                        <a:t>a</a:t>
                      </a:r>
                      <a:r>
                        <a:rPr lang="en-US" sz="1800" strike="noStrike" u="none">
                          <a:solidFill>
                            <a:srgbClr val="000000"/>
                          </a:solidFill>
                          <a:latin typeface="Montserrat"/>
                          <a:ea typeface="Montserrat"/>
                          <a:cs typeface="Montserrat"/>
                          <a:sym typeface="Montserrat"/>
                        </a:rPr>
                        <a:t>ccess, sh</a:t>
                      </a:r>
                      <a:r>
                        <a:rPr lang="en-US" sz="1800" strike="noStrike" u="none">
                          <a:solidFill>
                            <a:srgbClr val="000000"/>
                          </a:solidFill>
                          <a:latin typeface="Montserrat"/>
                          <a:ea typeface="Montserrat"/>
                          <a:cs typeface="Montserrat"/>
                          <a:sym typeface="Montserrat"/>
                        </a:rPr>
                        <a:t>a</a:t>
                      </a:r>
                      <a:r>
                        <a:rPr lang="en-US" sz="1800" strike="noStrike" u="none">
                          <a:solidFill>
                            <a:srgbClr val="000000"/>
                          </a:solidFill>
                          <a:latin typeface="Montserrat"/>
                          <a:ea typeface="Montserrat"/>
                          <a:cs typeface="Montserrat"/>
                          <a:sym typeface="Montserrat"/>
                        </a:rPr>
                        <a:t>r</a:t>
                      </a:r>
                      <a:r>
                        <a:rPr lang="en-US" sz="1800" strike="noStrike" u="none">
                          <a:solidFill>
                            <a:srgbClr val="000000"/>
                          </a:solidFill>
                          <a:latin typeface="Montserrat"/>
                          <a:ea typeface="Montserrat"/>
                          <a:cs typeface="Montserrat"/>
                          <a:sym typeface="Montserrat"/>
                        </a:rPr>
                        <a:t>i</a:t>
                      </a:r>
                      <a:r>
                        <a:rPr lang="en-US" sz="1800" strike="noStrike" u="none">
                          <a:solidFill>
                            <a:srgbClr val="000000"/>
                          </a:solidFill>
                          <a:latin typeface="Montserrat"/>
                          <a:ea typeface="Montserrat"/>
                          <a:cs typeface="Montserrat"/>
                          <a:sym typeface="Montserrat"/>
                        </a:rPr>
                        <a:t>ng, s</a:t>
                      </a:r>
                      <a:r>
                        <a:rPr lang="en-US" sz="1800" strike="noStrike" u="none">
                          <a:solidFill>
                            <a:srgbClr val="000000"/>
                          </a:solidFill>
                          <a:latin typeface="Montserrat"/>
                          <a:ea typeface="Montserrat"/>
                          <a:cs typeface="Montserrat"/>
                          <a:sym typeface="Montserrat"/>
                        </a:rPr>
                        <a:t>e</a:t>
                      </a:r>
                      <a:r>
                        <a:rPr lang="en-US" sz="1800" strike="noStrike" u="none">
                          <a:solidFill>
                            <a:srgbClr val="000000"/>
                          </a:solidFill>
                          <a:latin typeface="Montserrat"/>
                          <a:ea typeface="Montserrat"/>
                          <a:cs typeface="Montserrat"/>
                          <a:sym typeface="Montserrat"/>
                        </a:rPr>
                        <a:t>arch</a:t>
                      </a:r>
                      <a:r>
                        <a:rPr lang="en-US" sz="1800" strike="noStrike" u="none">
                          <a:solidFill>
                            <a:srgbClr val="000000"/>
                          </a:solidFill>
                          <a:latin typeface="Montserrat"/>
                          <a:ea typeface="Montserrat"/>
                          <a:cs typeface="Montserrat"/>
                          <a:sym typeface="Montserrat"/>
                        </a:rPr>
                        <a:t> </a:t>
                      </a:r>
                      <a:r>
                        <a:rPr lang="en-US" sz="1800" strike="noStrike" u="none">
                          <a:solidFill>
                            <a:srgbClr val="000000"/>
                          </a:solidFill>
                          <a:latin typeface="Montserrat"/>
                          <a:ea typeface="Montserrat"/>
                          <a:cs typeface="Montserrat"/>
                          <a:sym typeface="Montserrat"/>
                        </a:rPr>
                        <a:t>doc</a:t>
                      </a:r>
                      <a:r>
                        <a:rPr lang="en-US" sz="1800" strike="noStrike" u="none">
                          <a:solidFill>
                            <a:srgbClr val="000000"/>
                          </a:solidFill>
                          <a:latin typeface="Montserrat"/>
                          <a:ea typeface="Montserrat"/>
                          <a:cs typeface="Montserrat"/>
                          <a:sym typeface="Montserrat"/>
                        </a:rPr>
                        <a:t>u</a:t>
                      </a:r>
                      <a:r>
                        <a:rPr lang="en-US" sz="1800" strike="noStrike" u="none">
                          <a:solidFill>
                            <a:srgbClr val="000000"/>
                          </a:solidFill>
                          <a:latin typeface="Montserrat"/>
                          <a:ea typeface="Montserrat"/>
                          <a:cs typeface="Montserrat"/>
                          <a:sym typeface="Montserrat"/>
                        </a:rPr>
                        <a:t>mentat</a:t>
                      </a:r>
                      <a:r>
                        <a:rPr lang="en-US" sz="1800" strike="noStrike" u="none">
                          <a:solidFill>
                            <a:srgbClr val="000000"/>
                          </a:solidFill>
                          <a:latin typeface="Montserrat"/>
                          <a:ea typeface="Montserrat"/>
                          <a:cs typeface="Montserrat"/>
                          <a:sym typeface="Montserrat"/>
                        </a:rPr>
                        <a:t>i</a:t>
                      </a:r>
                      <a:r>
                        <a:rPr lang="en-US" sz="1800" strike="noStrike" u="none">
                          <a:solidFill>
                            <a:srgbClr val="000000"/>
                          </a:solidFill>
                          <a:latin typeface="Montserrat"/>
                          <a:ea typeface="Montserrat"/>
                          <a:cs typeface="Montserrat"/>
                          <a:sym typeface="Montserrat"/>
                        </a:rPr>
                        <a:t>on, </a:t>
                      </a:r>
                      <a:r>
                        <a:rPr lang="en-US" sz="1800" strike="noStrike" u="none">
                          <a:solidFill>
                            <a:srgbClr val="000000"/>
                          </a:solidFill>
                          <a:latin typeface="Montserrat"/>
                          <a:ea typeface="Montserrat"/>
                          <a:cs typeface="Montserrat"/>
                          <a:sym typeface="Montserrat"/>
                        </a:rPr>
                        <a:t>an</a:t>
                      </a:r>
                      <a:r>
                        <a:rPr lang="en-US" sz="1800" strike="noStrike" u="none">
                          <a:solidFill>
                            <a:srgbClr val="000000"/>
                          </a:solidFill>
                          <a:latin typeface="Montserrat"/>
                          <a:ea typeface="Montserrat"/>
                          <a:cs typeface="Montserrat"/>
                          <a:sym typeface="Montserrat"/>
                        </a:rPr>
                        <a:t>d user p</a:t>
                      </a:r>
                      <a:r>
                        <a:rPr lang="en-US" sz="1800" strike="noStrike" u="none">
                          <a:solidFill>
                            <a:srgbClr val="000000"/>
                          </a:solidFill>
                          <a:latin typeface="Montserrat"/>
                          <a:ea typeface="Montserrat"/>
                          <a:cs typeface="Montserrat"/>
                          <a:sym typeface="Montserrat"/>
                        </a:rPr>
                        <a:t>e</a:t>
                      </a:r>
                      <a:r>
                        <a:rPr lang="en-US" sz="1800" strike="noStrike" u="none">
                          <a:solidFill>
                            <a:srgbClr val="000000"/>
                          </a:solidFill>
                          <a:latin typeface="Montserrat"/>
                          <a:ea typeface="Montserrat"/>
                          <a:cs typeface="Montserrat"/>
                          <a:sym typeface="Montserrat"/>
                        </a:rPr>
                        <a:t>rmissions.</a:t>
                      </a:r>
                      <a:endParaRPr lang="en-US" sz="1100"/>
                    </a:p>
                  </a:txBody>
                  <a:tcPr marL="184173" marR="184173" marT="184173" marB="184173" anchor="ctr">
                    <a:lnL cmpd="sng" algn="ctr" cap="flat" w="27626">
                      <a:solidFill>
                        <a:srgbClr val="BEC8D9"/>
                      </a:solidFill>
                      <a:prstDash val="solid"/>
                      <a:round/>
                      <a:headEnd type="none" w="med" len="med"/>
                      <a:tailEnd type="none" w="med" len="med"/>
                    </a:lnL>
                    <a:lnR cmpd="sng" algn="ctr" cap="flat" w="27626">
                      <a:solidFill>
                        <a:srgbClr val="BEC8D9"/>
                      </a:solidFill>
                      <a:prstDash val="solid"/>
                      <a:round/>
                      <a:headEnd type="none" w="med" len="med"/>
                      <a:tailEnd type="none" w="med" len="med"/>
                    </a:lnR>
                    <a:lnT cmpd="sng" algn="ctr" cap="flat" w="27626">
                      <a:solidFill>
                        <a:srgbClr val="BEC8D9"/>
                      </a:solidFill>
                      <a:prstDash val="solid"/>
                      <a:round/>
                      <a:headEnd type="none" w="med" len="med"/>
                      <a:tailEnd type="none" w="med" len="med"/>
                    </a:lnT>
                    <a:lnB cmpd="sng" algn="ctr" cap="flat" w="27626">
                      <a:solidFill>
                        <a:srgbClr val="BEC8D9"/>
                      </a:solidFill>
                      <a:prstDash val="solid"/>
                      <a:round/>
                      <a:headEnd type="none" w="med" len="med"/>
                      <a:tailEnd type="none" w="med" len="med"/>
                    </a:lnB>
                    <a:solidFill>
                      <a:srgbClr val="F4F7FB"/>
                    </a:solidFill>
                  </a:tcPr>
                </a:tc>
              </a:tr>
              <a:tr h="1702209">
                <a:tc>
                  <a:txBody>
                    <a:bodyPr anchor="t" rtlCol="false"/>
                    <a:lstStyle/>
                    <a:p>
                      <a:pPr algn="ctr" marL="0" indent="0" lvl="0">
                        <a:lnSpc>
                          <a:spcPts val="2520"/>
                        </a:lnSpc>
                        <a:spcBef>
                          <a:spcPct val="0"/>
                        </a:spcBef>
                        <a:defRPr/>
                      </a:pPr>
                      <a:r>
                        <a:rPr lang="en-US" sz="1800" strike="noStrike" u="none">
                          <a:solidFill>
                            <a:srgbClr val="000000"/>
                          </a:solidFill>
                          <a:latin typeface="Montserrat"/>
                          <a:ea typeface="Montserrat"/>
                          <a:cs typeface="Montserrat"/>
                          <a:sym typeface="Montserrat"/>
                        </a:rPr>
                        <a:t>Added another case # or CAD # to the search platform and removed “Other” as a search reason.</a:t>
                      </a:r>
                      <a:endParaRPr lang="en-US" sz="1100"/>
                    </a:p>
                  </a:txBody>
                  <a:tcPr marL="184173" marR="184173" marT="184173" marB="184173" anchor="ctr">
                    <a:lnL cmpd="sng" algn="ctr" cap="flat" w="27626">
                      <a:solidFill>
                        <a:srgbClr val="BEC8D9"/>
                      </a:solidFill>
                      <a:prstDash val="solid"/>
                      <a:round/>
                      <a:headEnd type="none" w="med" len="med"/>
                      <a:tailEnd type="none" w="med" len="med"/>
                    </a:lnL>
                    <a:lnR cmpd="sng" algn="ctr" cap="flat" w="27626">
                      <a:solidFill>
                        <a:srgbClr val="BEC8D9"/>
                      </a:solidFill>
                      <a:prstDash val="solid"/>
                      <a:round/>
                      <a:headEnd type="none" w="med" len="med"/>
                      <a:tailEnd type="none" w="med" len="med"/>
                    </a:lnR>
                    <a:lnT cmpd="sng" algn="ctr" cap="flat" w="27626">
                      <a:solidFill>
                        <a:srgbClr val="BEC8D9"/>
                      </a:solidFill>
                      <a:prstDash val="solid"/>
                      <a:round/>
                      <a:headEnd type="none" w="med" len="med"/>
                      <a:tailEnd type="none" w="med" len="med"/>
                    </a:lnT>
                    <a:lnB cmpd="sng" algn="ctr" cap="flat" w="27626">
                      <a:solidFill>
                        <a:srgbClr val="BEC8D9"/>
                      </a:solidFill>
                      <a:prstDash val="solid"/>
                      <a:round/>
                      <a:headEnd type="none" w="med" len="med"/>
                      <a:tailEnd type="none" w="med" len="med"/>
                    </a:lnB>
                    <a:solidFill>
                      <a:srgbClr val="FFFFFF"/>
                    </a:solidFill>
                  </a:tcPr>
                </a:tc>
                <a:tc>
                  <a:txBody>
                    <a:bodyPr anchor="t" rtlCol="false"/>
                    <a:lstStyle/>
                    <a:p>
                      <a:pPr algn="ctr" marL="0" indent="0" lvl="0">
                        <a:lnSpc>
                          <a:spcPts val="2520"/>
                        </a:lnSpc>
                        <a:spcBef>
                          <a:spcPct val="0"/>
                        </a:spcBef>
                        <a:defRPr/>
                      </a:pPr>
                      <a:r>
                        <a:rPr lang="en-US" sz="1800">
                          <a:solidFill>
                            <a:srgbClr val="000000"/>
                          </a:solidFill>
                          <a:latin typeface="Montserrat"/>
                          <a:ea typeface="Montserrat"/>
                          <a:cs typeface="Montserrat"/>
                          <a:sym typeface="Montserrat"/>
                        </a:rPr>
                        <a:t>Limite</a:t>
                      </a:r>
                      <a:r>
                        <a:rPr lang="en-US" sz="1800" strike="noStrike" u="none">
                          <a:solidFill>
                            <a:srgbClr val="000000"/>
                          </a:solidFill>
                          <a:latin typeface="Montserrat"/>
                          <a:ea typeface="Montserrat"/>
                          <a:cs typeface="Montserrat"/>
                          <a:sym typeface="Montserrat"/>
                        </a:rPr>
                        <a:t>d</a:t>
                      </a:r>
                      <a:r>
                        <a:rPr lang="en-US" sz="1800" strike="noStrike" u="none">
                          <a:solidFill>
                            <a:srgbClr val="000000"/>
                          </a:solidFill>
                          <a:latin typeface="Montserrat"/>
                          <a:ea typeface="Montserrat"/>
                          <a:cs typeface="Montserrat"/>
                          <a:sym typeface="Montserrat"/>
                        </a:rPr>
                        <a:t> Custom Hotlist c</a:t>
                      </a:r>
                      <a:r>
                        <a:rPr lang="en-US" sz="1800" strike="noStrike" u="none">
                          <a:solidFill>
                            <a:srgbClr val="000000"/>
                          </a:solidFill>
                          <a:latin typeface="Montserrat"/>
                          <a:ea typeface="Montserrat"/>
                          <a:cs typeface="Montserrat"/>
                          <a:sym typeface="Montserrat"/>
                        </a:rPr>
                        <a:t>r</a:t>
                      </a:r>
                      <a:r>
                        <a:rPr lang="en-US" sz="1800" strike="noStrike" u="none">
                          <a:solidFill>
                            <a:srgbClr val="000000"/>
                          </a:solidFill>
                          <a:latin typeface="Montserrat"/>
                          <a:ea typeface="Montserrat"/>
                          <a:cs typeface="Montserrat"/>
                          <a:sym typeface="Montserrat"/>
                        </a:rPr>
                        <a:t>e</a:t>
                      </a:r>
                      <a:r>
                        <a:rPr lang="en-US" sz="1800" strike="noStrike" u="none">
                          <a:solidFill>
                            <a:srgbClr val="000000"/>
                          </a:solidFill>
                          <a:latin typeface="Montserrat"/>
                          <a:ea typeface="Montserrat"/>
                          <a:cs typeface="Montserrat"/>
                          <a:sym typeface="Montserrat"/>
                        </a:rPr>
                        <a:t>at</a:t>
                      </a:r>
                      <a:r>
                        <a:rPr lang="en-US" sz="1800" strike="noStrike" u="none">
                          <a:solidFill>
                            <a:srgbClr val="000000"/>
                          </a:solidFill>
                          <a:latin typeface="Montserrat"/>
                          <a:ea typeface="Montserrat"/>
                          <a:cs typeface="Montserrat"/>
                          <a:sym typeface="Montserrat"/>
                        </a:rPr>
                        <a:t>ion</a:t>
                      </a:r>
                      <a:r>
                        <a:rPr lang="en-US" sz="1800" strike="noStrike" u="none">
                          <a:solidFill>
                            <a:srgbClr val="000000"/>
                          </a:solidFill>
                          <a:latin typeface="Montserrat"/>
                          <a:ea typeface="Montserrat"/>
                          <a:cs typeface="Montserrat"/>
                          <a:sym typeface="Montserrat"/>
                        </a:rPr>
                        <a:t> </a:t>
                      </a:r>
                      <a:r>
                        <a:rPr lang="en-US" sz="1800" strike="noStrike" u="none">
                          <a:solidFill>
                            <a:srgbClr val="000000"/>
                          </a:solidFill>
                          <a:latin typeface="Montserrat"/>
                          <a:ea typeface="Montserrat"/>
                          <a:cs typeface="Montserrat"/>
                          <a:sym typeface="Montserrat"/>
                        </a:rPr>
                        <a:t>to RTIC, Su</a:t>
                      </a:r>
                      <a:r>
                        <a:rPr lang="en-US" sz="1800" strike="noStrike" u="none">
                          <a:solidFill>
                            <a:srgbClr val="000000"/>
                          </a:solidFill>
                          <a:latin typeface="Montserrat"/>
                          <a:ea typeface="Montserrat"/>
                          <a:cs typeface="Montserrat"/>
                          <a:sym typeface="Montserrat"/>
                        </a:rPr>
                        <a:t>per</a:t>
                      </a:r>
                      <a:r>
                        <a:rPr lang="en-US" sz="1800" strike="noStrike" u="none">
                          <a:solidFill>
                            <a:srgbClr val="000000"/>
                          </a:solidFill>
                          <a:latin typeface="Montserrat"/>
                          <a:ea typeface="Montserrat"/>
                          <a:cs typeface="Montserrat"/>
                          <a:sym typeface="Montserrat"/>
                        </a:rPr>
                        <a:t>vis</a:t>
                      </a:r>
                      <a:r>
                        <a:rPr lang="en-US" sz="1800" strike="noStrike" u="none">
                          <a:solidFill>
                            <a:srgbClr val="000000"/>
                          </a:solidFill>
                          <a:latin typeface="Montserrat"/>
                          <a:ea typeface="Montserrat"/>
                          <a:cs typeface="Montserrat"/>
                          <a:sym typeface="Montserrat"/>
                        </a:rPr>
                        <a:t>or</a:t>
                      </a:r>
                      <a:r>
                        <a:rPr lang="en-US" sz="1800" strike="noStrike" u="none">
                          <a:solidFill>
                            <a:srgbClr val="000000"/>
                          </a:solidFill>
                          <a:latin typeface="Montserrat"/>
                          <a:ea typeface="Montserrat"/>
                          <a:cs typeface="Montserrat"/>
                          <a:sym typeface="Montserrat"/>
                        </a:rPr>
                        <a:t>s,</a:t>
                      </a:r>
                      <a:r>
                        <a:rPr lang="en-US" sz="1800" strike="noStrike" u="none">
                          <a:solidFill>
                            <a:srgbClr val="000000"/>
                          </a:solidFill>
                          <a:latin typeface="Montserrat"/>
                          <a:ea typeface="Montserrat"/>
                          <a:cs typeface="Montserrat"/>
                          <a:sym typeface="Montserrat"/>
                        </a:rPr>
                        <a:t> </a:t>
                      </a:r>
                      <a:r>
                        <a:rPr lang="en-US" sz="1800" strike="noStrike" u="none">
                          <a:solidFill>
                            <a:srgbClr val="000000"/>
                          </a:solidFill>
                          <a:latin typeface="Montserrat"/>
                          <a:ea typeface="Montserrat"/>
                          <a:cs typeface="Montserrat"/>
                          <a:sym typeface="Montserrat"/>
                        </a:rPr>
                        <a:t>B</a:t>
                      </a:r>
                      <a:r>
                        <a:rPr lang="en-US" sz="1800" strike="noStrike" u="none">
                          <a:solidFill>
                            <a:srgbClr val="000000"/>
                          </a:solidFill>
                          <a:latin typeface="Montserrat"/>
                          <a:ea typeface="Montserrat"/>
                          <a:cs typeface="Montserrat"/>
                          <a:sym typeface="Montserrat"/>
                        </a:rPr>
                        <a:t>u</a:t>
                      </a:r>
                      <a:r>
                        <a:rPr lang="en-US" sz="1800" strike="noStrike" u="none">
                          <a:solidFill>
                            <a:srgbClr val="000000"/>
                          </a:solidFill>
                          <a:latin typeface="Montserrat"/>
                          <a:ea typeface="Montserrat"/>
                          <a:cs typeface="Montserrat"/>
                          <a:sym typeface="Montserrat"/>
                        </a:rPr>
                        <a:t>r</a:t>
                      </a:r>
                      <a:r>
                        <a:rPr lang="en-US" sz="1800" strike="noStrike" u="none">
                          <a:solidFill>
                            <a:srgbClr val="000000"/>
                          </a:solidFill>
                          <a:latin typeface="Montserrat"/>
                          <a:ea typeface="Montserrat"/>
                          <a:cs typeface="Montserrat"/>
                          <a:sym typeface="Montserrat"/>
                        </a:rPr>
                        <a:t>e</a:t>
                      </a:r>
                      <a:r>
                        <a:rPr lang="en-US" sz="1800" strike="noStrike" u="none">
                          <a:solidFill>
                            <a:srgbClr val="000000"/>
                          </a:solidFill>
                          <a:latin typeface="Montserrat"/>
                          <a:ea typeface="Montserrat"/>
                          <a:cs typeface="Montserrat"/>
                          <a:sym typeface="Montserrat"/>
                        </a:rPr>
                        <a:t>au,</a:t>
                      </a:r>
                      <a:r>
                        <a:rPr lang="en-US" sz="1800" strike="noStrike" u="none">
                          <a:solidFill>
                            <a:srgbClr val="000000"/>
                          </a:solidFill>
                          <a:latin typeface="Montserrat"/>
                          <a:ea typeface="Montserrat"/>
                          <a:cs typeface="Montserrat"/>
                          <a:sym typeface="Montserrat"/>
                        </a:rPr>
                        <a:t> or </a:t>
                      </a:r>
                      <a:r>
                        <a:rPr lang="en-US" sz="1800" strike="noStrike" u="none">
                          <a:solidFill>
                            <a:srgbClr val="000000"/>
                          </a:solidFill>
                          <a:latin typeface="Montserrat"/>
                          <a:ea typeface="Montserrat"/>
                          <a:cs typeface="Montserrat"/>
                          <a:sym typeface="Montserrat"/>
                        </a:rPr>
                        <a:t>CRU.</a:t>
                      </a:r>
                      <a:endParaRPr lang="en-US" sz="1100"/>
                    </a:p>
                  </a:txBody>
                  <a:tcPr marL="184173" marR="184173" marT="184173" marB="184173" anchor="ctr">
                    <a:lnL cmpd="sng" algn="ctr" cap="flat" w="27626">
                      <a:solidFill>
                        <a:srgbClr val="BEC8D9"/>
                      </a:solidFill>
                      <a:prstDash val="solid"/>
                      <a:round/>
                      <a:headEnd type="none" w="med" len="med"/>
                      <a:tailEnd type="none" w="med" len="med"/>
                    </a:lnL>
                    <a:lnR cmpd="sng" algn="ctr" cap="flat" w="27626">
                      <a:solidFill>
                        <a:srgbClr val="BEC8D9"/>
                      </a:solidFill>
                      <a:prstDash val="solid"/>
                      <a:round/>
                      <a:headEnd type="none" w="med" len="med"/>
                      <a:tailEnd type="none" w="med" len="med"/>
                    </a:lnR>
                    <a:lnT cmpd="sng" algn="ctr" cap="flat" w="27626">
                      <a:solidFill>
                        <a:srgbClr val="BEC8D9"/>
                      </a:solidFill>
                      <a:prstDash val="solid"/>
                      <a:round/>
                      <a:headEnd type="none" w="med" len="med"/>
                      <a:tailEnd type="none" w="med" len="med"/>
                    </a:lnT>
                    <a:lnB cmpd="sng" algn="ctr" cap="flat" w="27626">
                      <a:solidFill>
                        <a:srgbClr val="BEC8D9"/>
                      </a:solidFill>
                      <a:prstDash val="solid"/>
                      <a:round/>
                      <a:headEnd type="none" w="med" len="med"/>
                      <a:tailEnd type="none" w="med" len="med"/>
                    </a:lnB>
                    <a:solidFill>
                      <a:srgbClr val="F4F7FB"/>
                    </a:solidFill>
                  </a:tcPr>
                </a:tc>
                <a:tc>
                  <a:txBody>
                    <a:bodyPr anchor="t" rtlCol="false"/>
                    <a:lstStyle/>
                    <a:p>
                      <a:pPr algn="ctr" marL="0" indent="0" lvl="0">
                        <a:lnSpc>
                          <a:spcPts val="2520"/>
                        </a:lnSpc>
                        <a:spcBef>
                          <a:spcPct val="0"/>
                        </a:spcBef>
                        <a:defRPr/>
                      </a:pPr>
                      <a:r>
                        <a:rPr lang="en-US" sz="1800">
                          <a:solidFill>
                            <a:srgbClr val="000000"/>
                          </a:solidFill>
                          <a:latin typeface="Montserrat"/>
                          <a:ea typeface="Montserrat"/>
                          <a:cs typeface="Montserrat"/>
                          <a:sym typeface="Montserrat"/>
                        </a:rPr>
                        <a:t>Ce</a:t>
                      </a:r>
                      <a:r>
                        <a:rPr lang="en-US" sz="1800" strike="noStrike" u="none">
                          <a:solidFill>
                            <a:srgbClr val="000000"/>
                          </a:solidFill>
                          <a:latin typeface="Montserrat"/>
                          <a:ea typeface="Montserrat"/>
                          <a:cs typeface="Montserrat"/>
                          <a:sym typeface="Montserrat"/>
                        </a:rPr>
                        <a:t>n</a:t>
                      </a:r>
                      <a:r>
                        <a:rPr lang="en-US" sz="1800" strike="noStrike" u="none">
                          <a:solidFill>
                            <a:srgbClr val="000000"/>
                          </a:solidFill>
                          <a:latin typeface="Montserrat"/>
                          <a:ea typeface="Montserrat"/>
                          <a:cs typeface="Montserrat"/>
                          <a:sym typeface="Montserrat"/>
                        </a:rPr>
                        <a:t>tr</a:t>
                      </a:r>
                      <a:r>
                        <a:rPr lang="en-US" sz="1800" strike="noStrike" u="none">
                          <a:solidFill>
                            <a:srgbClr val="000000"/>
                          </a:solidFill>
                          <a:latin typeface="Montserrat"/>
                          <a:ea typeface="Montserrat"/>
                          <a:cs typeface="Montserrat"/>
                          <a:sym typeface="Montserrat"/>
                        </a:rPr>
                        <a:t>al</a:t>
                      </a:r>
                      <a:r>
                        <a:rPr lang="en-US" sz="1800" strike="noStrike" u="none">
                          <a:solidFill>
                            <a:srgbClr val="000000"/>
                          </a:solidFill>
                          <a:latin typeface="Montserrat"/>
                          <a:ea typeface="Montserrat"/>
                          <a:cs typeface="Montserrat"/>
                          <a:sym typeface="Montserrat"/>
                        </a:rPr>
                        <a:t>ize</a:t>
                      </a:r>
                      <a:r>
                        <a:rPr lang="en-US" sz="1800" strike="noStrike" u="none">
                          <a:solidFill>
                            <a:srgbClr val="000000"/>
                          </a:solidFill>
                          <a:latin typeface="Montserrat"/>
                          <a:ea typeface="Montserrat"/>
                          <a:cs typeface="Montserrat"/>
                          <a:sym typeface="Montserrat"/>
                        </a:rPr>
                        <a:t>d</a:t>
                      </a:r>
                      <a:r>
                        <a:rPr lang="en-US" sz="1800" strike="noStrike" u="none">
                          <a:solidFill>
                            <a:srgbClr val="000000"/>
                          </a:solidFill>
                          <a:latin typeface="Montserrat"/>
                          <a:ea typeface="Montserrat"/>
                          <a:cs typeface="Montserrat"/>
                          <a:sym typeface="Montserrat"/>
                        </a:rPr>
                        <a:t> Shar</a:t>
                      </a:r>
                      <a:r>
                        <a:rPr lang="en-US" sz="1800" strike="noStrike" u="none">
                          <a:solidFill>
                            <a:srgbClr val="000000"/>
                          </a:solidFill>
                          <a:latin typeface="Montserrat"/>
                          <a:ea typeface="Montserrat"/>
                          <a:cs typeface="Montserrat"/>
                          <a:sym typeface="Montserrat"/>
                        </a:rPr>
                        <a:t>in</a:t>
                      </a:r>
                      <a:r>
                        <a:rPr lang="en-US" sz="1800" strike="noStrike" u="none">
                          <a:solidFill>
                            <a:srgbClr val="000000"/>
                          </a:solidFill>
                          <a:latin typeface="Montserrat"/>
                          <a:ea typeface="Montserrat"/>
                          <a:cs typeface="Montserrat"/>
                          <a:sym typeface="Montserrat"/>
                        </a:rPr>
                        <a:t>g</a:t>
                      </a:r>
                      <a:r>
                        <a:rPr lang="en-US" sz="1800" strike="noStrike" u="none">
                          <a:solidFill>
                            <a:srgbClr val="000000"/>
                          </a:solidFill>
                          <a:latin typeface="Montserrat"/>
                          <a:ea typeface="Montserrat"/>
                          <a:cs typeface="Montserrat"/>
                          <a:sym typeface="Montserrat"/>
                        </a:rPr>
                        <a:t> </a:t>
                      </a:r>
                      <a:r>
                        <a:rPr lang="en-US" sz="1800" strike="noStrike" u="none">
                          <a:solidFill>
                            <a:srgbClr val="000000"/>
                          </a:solidFill>
                          <a:latin typeface="Montserrat"/>
                          <a:ea typeface="Montserrat"/>
                          <a:cs typeface="Montserrat"/>
                          <a:sym typeface="Montserrat"/>
                        </a:rPr>
                        <a:t>Req</a:t>
                      </a:r>
                      <a:r>
                        <a:rPr lang="en-US" sz="1800" strike="noStrike" u="none">
                          <a:solidFill>
                            <a:srgbClr val="000000"/>
                          </a:solidFill>
                          <a:latin typeface="Montserrat"/>
                          <a:ea typeface="Montserrat"/>
                          <a:cs typeface="Montserrat"/>
                          <a:sym typeface="Montserrat"/>
                        </a:rPr>
                        <a:t>ue</a:t>
                      </a:r>
                      <a:r>
                        <a:rPr lang="en-US" sz="1800" strike="noStrike" u="none">
                          <a:solidFill>
                            <a:srgbClr val="000000"/>
                          </a:solidFill>
                          <a:latin typeface="Montserrat"/>
                          <a:ea typeface="Montserrat"/>
                          <a:cs typeface="Montserrat"/>
                          <a:sym typeface="Montserrat"/>
                        </a:rPr>
                        <a:t>st</a:t>
                      </a:r>
                      <a:r>
                        <a:rPr lang="en-US" sz="1800" strike="noStrike" u="none">
                          <a:solidFill>
                            <a:srgbClr val="000000"/>
                          </a:solidFill>
                          <a:latin typeface="Montserrat"/>
                          <a:ea typeface="Montserrat"/>
                          <a:cs typeface="Montserrat"/>
                          <a:sym typeface="Montserrat"/>
                        </a:rPr>
                        <a:t> </a:t>
                      </a:r>
                      <a:r>
                        <a:rPr lang="en-US" sz="1800" strike="noStrike" u="none">
                          <a:solidFill>
                            <a:srgbClr val="000000"/>
                          </a:solidFill>
                          <a:latin typeface="Montserrat"/>
                          <a:ea typeface="Montserrat"/>
                          <a:cs typeface="Montserrat"/>
                          <a:sym typeface="Montserrat"/>
                        </a:rPr>
                        <a:t>appr</a:t>
                      </a:r>
                      <a:r>
                        <a:rPr lang="en-US" sz="1800" strike="noStrike" u="none">
                          <a:solidFill>
                            <a:srgbClr val="000000"/>
                          </a:solidFill>
                          <a:latin typeface="Montserrat"/>
                          <a:ea typeface="Montserrat"/>
                          <a:cs typeface="Montserrat"/>
                          <a:sym typeface="Montserrat"/>
                        </a:rPr>
                        <a:t>o</a:t>
                      </a:r>
                      <a:r>
                        <a:rPr lang="en-US" sz="1800" strike="noStrike" u="none">
                          <a:solidFill>
                            <a:srgbClr val="000000"/>
                          </a:solidFill>
                          <a:latin typeface="Montserrat"/>
                          <a:ea typeface="Montserrat"/>
                          <a:cs typeface="Montserrat"/>
                          <a:sym typeface="Montserrat"/>
                        </a:rPr>
                        <a:t>v</a:t>
                      </a:r>
                      <a:r>
                        <a:rPr lang="en-US" sz="1800" strike="noStrike" u="none">
                          <a:solidFill>
                            <a:srgbClr val="000000"/>
                          </a:solidFill>
                          <a:latin typeface="Montserrat"/>
                          <a:ea typeface="Montserrat"/>
                          <a:cs typeface="Montserrat"/>
                          <a:sym typeface="Montserrat"/>
                        </a:rPr>
                        <a:t>a</a:t>
                      </a:r>
                      <a:r>
                        <a:rPr lang="en-US" sz="1800" strike="noStrike" u="none">
                          <a:solidFill>
                            <a:srgbClr val="000000"/>
                          </a:solidFill>
                          <a:latin typeface="Montserrat"/>
                          <a:ea typeface="Montserrat"/>
                          <a:cs typeface="Montserrat"/>
                          <a:sym typeface="Montserrat"/>
                        </a:rPr>
                        <a:t>l</a:t>
                      </a:r>
                      <a:r>
                        <a:rPr lang="en-US" sz="1800" strike="noStrike" u="none">
                          <a:solidFill>
                            <a:srgbClr val="000000"/>
                          </a:solidFill>
                          <a:latin typeface="Montserrat"/>
                          <a:ea typeface="Montserrat"/>
                          <a:cs typeface="Montserrat"/>
                          <a:sym typeface="Montserrat"/>
                        </a:rPr>
                        <a:t>s through </a:t>
                      </a:r>
                      <a:r>
                        <a:rPr lang="en-US" sz="1800" strike="noStrike" u="none">
                          <a:solidFill>
                            <a:srgbClr val="000000"/>
                          </a:solidFill>
                          <a:latin typeface="Montserrat"/>
                          <a:ea typeface="Montserrat"/>
                          <a:cs typeface="Montserrat"/>
                          <a:sym typeface="Montserrat"/>
                        </a:rPr>
                        <a:t>Lt. Casazza.</a:t>
                      </a:r>
                      <a:endParaRPr lang="en-US" sz="1100"/>
                    </a:p>
                  </a:txBody>
                  <a:tcPr marL="184173" marR="184173" marT="184173" marB="184173" anchor="ctr">
                    <a:lnL cmpd="sng" algn="ctr" cap="flat" w="27626">
                      <a:solidFill>
                        <a:srgbClr val="BEC8D9"/>
                      </a:solidFill>
                      <a:prstDash val="solid"/>
                      <a:round/>
                      <a:headEnd type="none" w="med" len="med"/>
                      <a:tailEnd type="none" w="med" len="med"/>
                    </a:lnL>
                    <a:lnR cmpd="sng" algn="ctr" cap="flat" w="27626">
                      <a:solidFill>
                        <a:srgbClr val="BEC8D9"/>
                      </a:solidFill>
                      <a:prstDash val="solid"/>
                      <a:round/>
                      <a:headEnd type="none" w="med" len="med"/>
                      <a:tailEnd type="none" w="med" len="med"/>
                    </a:lnR>
                    <a:lnT cmpd="sng" algn="ctr" cap="flat" w="27626">
                      <a:solidFill>
                        <a:srgbClr val="BEC8D9"/>
                      </a:solidFill>
                      <a:prstDash val="solid"/>
                      <a:round/>
                      <a:headEnd type="none" w="med" len="med"/>
                      <a:tailEnd type="none" w="med" len="med"/>
                    </a:lnT>
                    <a:lnB cmpd="sng" algn="ctr" cap="flat" w="27626">
                      <a:solidFill>
                        <a:srgbClr val="BEC8D9"/>
                      </a:solidFill>
                      <a:prstDash val="solid"/>
                      <a:round/>
                      <a:headEnd type="none" w="med" len="med"/>
                      <a:tailEnd type="none" w="med" len="med"/>
                    </a:lnB>
                    <a:solidFill>
                      <a:srgbClr val="FFFFFF"/>
                    </a:solidFill>
                  </a:tcPr>
                </a:tc>
                <a:tc>
                  <a:txBody>
                    <a:bodyPr anchor="t" rtlCol="false"/>
                    <a:lstStyle/>
                    <a:p>
                      <a:pPr algn="ctr" marL="0" indent="0" lvl="0">
                        <a:lnSpc>
                          <a:spcPts val="2520"/>
                        </a:lnSpc>
                        <a:spcBef>
                          <a:spcPct val="0"/>
                        </a:spcBef>
                        <a:defRPr/>
                      </a:pPr>
                      <a:endParaRPr lang="en-US" sz="1100"/>
                    </a:p>
                  </a:txBody>
                  <a:tcPr marL="184173" marR="184173" marT="184173" marB="184173" anchor="ctr">
                    <a:lnL cmpd="sng" algn="ctr" cap="flat" w="27626">
                      <a:solidFill>
                        <a:srgbClr val="BEC8D9"/>
                      </a:solidFill>
                      <a:prstDash val="solid"/>
                      <a:round/>
                      <a:headEnd type="none" w="med" len="med"/>
                      <a:tailEnd type="none" w="med" len="med"/>
                    </a:lnL>
                    <a:lnR cmpd="sng" algn="ctr" cap="flat" w="27626">
                      <a:solidFill>
                        <a:srgbClr val="BEC8D9"/>
                      </a:solidFill>
                      <a:prstDash val="solid"/>
                      <a:round/>
                      <a:headEnd type="none" w="med" len="med"/>
                      <a:tailEnd type="none" w="med" len="med"/>
                    </a:lnR>
                    <a:lnT cmpd="sng" algn="ctr" cap="flat" w="27626">
                      <a:solidFill>
                        <a:srgbClr val="BEC8D9"/>
                      </a:solidFill>
                      <a:prstDash val="solid"/>
                      <a:round/>
                      <a:headEnd type="none" w="med" len="med"/>
                      <a:tailEnd type="none" w="med" len="med"/>
                    </a:lnT>
                    <a:lnB cmpd="sng" algn="ctr" cap="flat" w="27626">
                      <a:solidFill>
                        <a:srgbClr val="BEC8D9"/>
                      </a:solidFill>
                      <a:prstDash val="solid"/>
                      <a:round/>
                      <a:headEnd type="none" w="med" len="med"/>
                      <a:tailEnd type="none" w="med" len="med"/>
                    </a:lnB>
                    <a:solidFill>
                      <a:srgbClr val="F4F7FB"/>
                    </a:solidFill>
                  </a:tcPr>
                </a:tc>
              </a:tr>
            </a:tbl>
          </a:graphicData>
        </a:graphic>
      </p:graphicFrame>
      <p:sp>
        <p:nvSpPr>
          <p:cNvPr name="TextBox 20" id="20"/>
          <p:cNvSpPr txBox="true"/>
          <p:nvPr/>
        </p:nvSpPr>
        <p:spPr>
          <a:xfrm rot="0">
            <a:off x="899459" y="770402"/>
            <a:ext cx="10616078" cy="766996"/>
          </a:xfrm>
          <a:prstGeom prst="rect">
            <a:avLst/>
          </a:prstGeom>
        </p:spPr>
        <p:txBody>
          <a:bodyPr anchor="t" rtlCol="false" tIns="0" lIns="0" bIns="0" rIns="0">
            <a:spAutoFit/>
          </a:bodyPr>
          <a:lstStyle/>
          <a:p>
            <a:pPr algn="just" marL="0" indent="0" lvl="0">
              <a:lnSpc>
                <a:spcPts val="6300"/>
              </a:lnSpc>
              <a:spcBef>
                <a:spcPct val="0"/>
              </a:spcBef>
            </a:pPr>
            <a:r>
              <a:rPr lang="en-US" b="true" sz="4500" strike="noStrike" u="none">
                <a:solidFill>
                  <a:srgbClr val="002557"/>
                </a:solidFill>
                <a:latin typeface="Montserrat Bold"/>
                <a:ea typeface="Montserrat Bold"/>
                <a:cs typeface="Montserrat Bold"/>
                <a:sym typeface="Montserrat Bold"/>
              </a:rPr>
              <a:t>A</a:t>
            </a:r>
            <a:r>
              <a:rPr lang="en-US" b="true" sz="4500" strike="noStrike" u="none">
                <a:solidFill>
                  <a:srgbClr val="002557"/>
                </a:solidFill>
                <a:latin typeface="Montserrat Bold"/>
                <a:ea typeface="Montserrat Bold"/>
                <a:cs typeface="Montserrat Bold"/>
                <a:sym typeface="Montserrat Bold"/>
              </a:rPr>
              <a:t>cco</a:t>
            </a:r>
            <a:r>
              <a:rPr lang="en-US" b="true" sz="4500" strike="noStrike" u="none">
                <a:solidFill>
                  <a:srgbClr val="002557"/>
                </a:solidFill>
                <a:latin typeface="Montserrat Bold"/>
                <a:ea typeface="Montserrat Bold"/>
                <a:cs typeface="Montserrat Bold"/>
                <a:sym typeface="Montserrat Bold"/>
              </a:rPr>
              <a:t>u</a:t>
            </a:r>
            <a:r>
              <a:rPr lang="en-US" b="true" sz="4500" strike="noStrike" u="none">
                <a:solidFill>
                  <a:srgbClr val="002557"/>
                </a:solidFill>
                <a:latin typeface="Montserrat Bold"/>
                <a:ea typeface="Montserrat Bold"/>
                <a:cs typeface="Montserrat Bold"/>
                <a:sym typeface="Montserrat Bold"/>
              </a:rPr>
              <a:t>ntabil</a:t>
            </a:r>
            <a:r>
              <a:rPr lang="en-US" b="true" sz="4500" strike="noStrike" u="none">
                <a:solidFill>
                  <a:srgbClr val="002557"/>
                </a:solidFill>
                <a:latin typeface="Montserrat Bold"/>
                <a:ea typeface="Montserrat Bold"/>
                <a:cs typeface="Montserrat Bold"/>
                <a:sym typeface="Montserrat Bold"/>
              </a:rPr>
              <a:t>it</a:t>
            </a:r>
            <a:r>
              <a:rPr lang="en-US" b="true" sz="4500" strike="noStrike" u="none">
                <a:solidFill>
                  <a:srgbClr val="002557"/>
                </a:solidFill>
                <a:latin typeface="Montserrat Bold"/>
                <a:ea typeface="Montserrat Bold"/>
                <a:cs typeface="Montserrat Bold"/>
                <a:sym typeface="Montserrat Bold"/>
              </a:rPr>
              <a:t>y</a:t>
            </a:r>
            <a:r>
              <a:rPr lang="en-US" b="true" sz="4500" strike="noStrike" u="none">
                <a:solidFill>
                  <a:srgbClr val="002557"/>
                </a:solidFill>
                <a:latin typeface="Montserrat Bold"/>
                <a:ea typeface="Montserrat Bold"/>
                <a:cs typeface="Montserrat Bold"/>
                <a:sym typeface="Montserrat Bold"/>
              </a:rPr>
              <a:t> </a:t>
            </a:r>
            <a:r>
              <a:rPr lang="en-US" b="true" sz="4500" strike="noStrike" u="none">
                <a:solidFill>
                  <a:srgbClr val="002557"/>
                </a:solidFill>
                <a:latin typeface="Montserrat Bold"/>
                <a:ea typeface="Montserrat Bold"/>
                <a:cs typeface="Montserrat Bold"/>
                <a:sym typeface="Montserrat Bold"/>
              </a:rPr>
              <a:t>&amp; Tran</a:t>
            </a:r>
            <a:r>
              <a:rPr lang="en-US" b="true" sz="4500" strike="noStrike" u="none">
                <a:solidFill>
                  <a:srgbClr val="002557"/>
                </a:solidFill>
                <a:latin typeface="Montserrat Bold"/>
                <a:ea typeface="Montserrat Bold"/>
                <a:cs typeface="Montserrat Bold"/>
                <a:sym typeface="Montserrat Bold"/>
              </a:rPr>
              <a:t>s</a:t>
            </a:r>
            <a:r>
              <a:rPr lang="en-US" b="true" sz="4500" strike="noStrike" u="none">
                <a:solidFill>
                  <a:srgbClr val="002557"/>
                </a:solidFill>
                <a:latin typeface="Montserrat Bold"/>
                <a:ea typeface="Montserrat Bold"/>
                <a:cs typeface="Montserrat Bold"/>
                <a:sym typeface="Montserrat Bold"/>
              </a:rPr>
              <a:t>p</a:t>
            </a:r>
            <a:r>
              <a:rPr lang="en-US" b="true" sz="4500" strike="noStrike" u="none">
                <a:solidFill>
                  <a:srgbClr val="002557"/>
                </a:solidFill>
                <a:latin typeface="Montserrat Bold"/>
                <a:ea typeface="Montserrat Bold"/>
                <a:cs typeface="Montserrat Bold"/>
                <a:sym typeface="Montserrat Bold"/>
              </a:rPr>
              <a:t>a</a:t>
            </a:r>
            <a:r>
              <a:rPr lang="en-US" b="true" sz="4500" strike="noStrike" u="none">
                <a:solidFill>
                  <a:srgbClr val="002557"/>
                </a:solidFill>
                <a:latin typeface="Montserrat Bold"/>
                <a:ea typeface="Montserrat Bold"/>
                <a:cs typeface="Montserrat Bold"/>
                <a:sym typeface="Montserrat Bold"/>
              </a:rPr>
              <a:t>re</a:t>
            </a:r>
            <a:r>
              <a:rPr lang="en-US" b="true" sz="4500" strike="noStrike" u="none">
                <a:solidFill>
                  <a:srgbClr val="002557"/>
                </a:solidFill>
                <a:latin typeface="Montserrat Bold"/>
                <a:ea typeface="Montserrat Bold"/>
                <a:cs typeface="Montserrat Bold"/>
                <a:sym typeface="Montserrat Bold"/>
              </a:rPr>
              <a:t>nc</a:t>
            </a:r>
            <a:r>
              <a:rPr lang="en-US" b="true" sz="4500" strike="noStrike" u="none">
                <a:solidFill>
                  <a:srgbClr val="002557"/>
                </a:solidFill>
                <a:latin typeface="Montserrat Bold"/>
                <a:ea typeface="Montserrat Bold"/>
                <a:cs typeface="Montserrat Bold"/>
                <a:sym typeface="Montserrat Bold"/>
              </a:rPr>
              <a:t>y</a:t>
            </a:r>
          </a:p>
        </p:txBody>
      </p:sp>
      <p:sp>
        <p:nvSpPr>
          <p:cNvPr name="AutoShape 21" id="21"/>
          <p:cNvSpPr/>
          <p:nvPr/>
        </p:nvSpPr>
        <p:spPr>
          <a:xfrm flipV="true">
            <a:off x="0" y="1485011"/>
            <a:ext cx="7378521" cy="24702"/>
          </a:xfrm>
          <a:prstGeom prst="line">
            <a:avLst/>
          </a:prstGeom>
          <a:ln cap="flat" w="47625">
            <a:solidFill>
              <a:srgbClr val="A28231"/>
            </a:solidFill>
            <a:prstDash val="solid"/>
            <a:headEnd type="none" len="sm" w="sm"/>
            <a:tailEnd type="none" len="sm" w="sm"/>
          </a:ln>
        </p:spPr>
      </p:sp>
      <p:sp>
        <p:nvSpPr>
          <p:cNvPr name="AutoShape 22" id="22"/>
          <p:cNvSpPr/>
          <p:nvPr/>
        </p:nvSpPr>
        <p:spPr>
          <a:xfrm flipV="true">
            <a:off x="-117230" y="10287000"/>
            <a:ext cx="19376532" cy="12351"/>
          </a:xfrm>
          <a:prstGeom prst="line">
            <a:avLst/>
          </a:prstGeom>
          <a:ln cap="flat" w="85725">
            <a:solidFill>
              <a:srgbClr val="1E498A"/>
            </a:solidFill>
            <a:prstDash val="solid"/>
            <a:headEnd type="none" len="sm" w="sm"/>
            <a:tailEnd type="none" len="sm" w="sm"/>
          </a:ln>
        </p:spPr>
      </p:sp>
    </p:spTree>
  </p:cSld>
  <p:clrMapOvr>
    <a:masterClrMapping/>
  </p:clrMapOvr>
</p:sld>
</file>

<file path=ppt/slides/slide3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899459" y="770534"/>
            <a:ext cx="12278884" cy="1225550"/>
          </a:xfrm>
          <a:prstGeom prst="rect">
            <a:avLst/>
          </a:prstGeom>
        </p:spPr>
        <p:txBody>
          <a:bodyPr anchor="t" rtlCol="false" tIns="0" lIns="0" bIns="0" rIns="0">
            <a:spAutoFit/>
          </a:bodyPr>
          <a:lstStyle/>
          <a:p>
            <a:pPr algn="l" marL="0" indent="0" lvl="0">
              <a:lnSpc>
                <a:spcPts val="6299"/>
              </a:lnSpc>
              <a:spcBef>
                <a:spcPct val="0"/>
              </a:spcBef>
            </a:pPr>
            <a:r>
              <a:rPr lang="en-US" b="true" sz="4500" strike="noStrike" u="none">
                <a:solidFill>
                  <a:srgbClr val="002557"/>
                </a:solidFill>
                <a:latin typeface="Montserrat Bold"/>
                <a:ea typeface="Montserrat Bold"/>
                <a:cs typeface="Montserrat Bold"/>
                <a:sym typeface="Montserrat Bold"/>
              </a:rPr>
              <a:t>Training &amp; Ongoing Compliance</a:t>
            </a:r>
          </a:p>
          <a:p>
            <a:pPr algn="l" marL="0" indent="0" lvl="0">
              <a:lnSpc>
                <a:spcPts val="3499"/>
              </a:lnSpc>
              <a:spcBef>
                <a:spcPct val="0"/>
              </a:spcBef>
            </a:pPr>
            <a:r>
              <a:rPr lang="en-US" sz="2499" strike="noStrike" u="none">
                <a:solidFill>
                  <a:srgbClr val="000000"/>
                </a:solidFill>
                <a:latin typeface="Canva Sans"/>
                <a:ea typeface="Canva Sans"/>
                <a:cs typeface="Canva Sans"/>
                <a:sym typeface="Canva Sans"/>
              </a:rPr>
              <a:t>Standardizing training, documentation, and continuing education.</a:t>
            </a:r>
          </a:p>
        </p:txBody>
      </p:sp>
      <p:sp>
        <p:nvSpPr>
          <p:cNvPr name="AutoShape 3" id="3"/>
          <p:cNvSpPr/>
          <p:nvPr/>
        </p:nvSpPr>
        <p:spPr>
          <a:xfrm flipV="true">
            <a:off x="0" y="1485011"/>
            <a:ext cx="7378521" cy="24702"/>
          </a:xfrm>
          <a:prstGeom prst="line">
            <a:avLst/>
          </a:prstGeom>
          <a:ln cap="flat" w="47625">
            <a:solidFill>
              <a:srgbClr val="A28231"/>
            </a:solidFill>
            <a:prstDash val="solid"/>
            <a:headEnd type="none" len="sm" w="sm"/>
            <a:tailEnd type="none" len="sm" w="sm"/>
          </a:ln>
        </p:spPr>
      </p:sp>
      <p:sp>
        <p:nvSpPr>
          <p:cNvPr name="AutoShape 4" id="4"/>
          <p:cNvSpPr/>
          <p:nvPr/>
        </p:nvSpPr>
        <p:spPr>
          <a:xfrm>
            <a:off x="1028700" y="7251276"/>
            <a:ext cx="16230600" cy="0"/>
          </a:xfrm>
          <a:prstGeom prst="line">
            <a:avLst/>
          </a:prstGeom>
          <a:ln cap="flat" w="19050">
            <a:solidFill>
              <a:srgbClr val="A9BFD8"/>
            </a:solidFill>
            <a:prstDash val="solid"/>
            <a:headEnd type="none" len="sm" w="sm"/>
            <a:tailEnd type="none" len="sm" w="sm"/>
          </a:ln>
        </p:spPr>
      </p:sp>
      <p:grpSp>
        <p:nvGrpSpPr>
          <p:cNvPr name="Group 5" id="5"/>
          <p:cNvGrpSpPr/>
          <p:nvPr/>
        </p:nvGrpSpPr>
        <p:grpSpPr>
          <a:xfrm rot="0">
            <a:off x="1028700" y="2817204"/>
            <a:ext cx="5232400" cy="3760204"/>
            <a:chOff x="0" y="0"/>
            <a:chExt cx="6976533" cy="5013606"/>
          </a:xfrm>
        </p:grpSpPr>
        <p:sp>
          <p:nvSpPr>
            <p:cNvPr name="Freeform 6" id="6"/>
            <p:cNvSpPr/>
            <p:nvPr/>
          </p:nvSpPr>
          <p:spPr>
            <a:xfrm flipH="false" flipV="false" rot="0">
              <a:off x="0" y="0"/>
              <a:ext cx="6976533" cy="5013606"/>
            </a:xfrm>
            <a:custGeom>
              <a:avLst/>
              <a:gdLst/>
              <a:ahLst/>
              <a:cxnLst/>
              <a:rect r="r" b="b" t="t" l="l"/>
              <a:pathLst>
                <a:path h="5013606" w="6976533">
                  <a:moveTo>
                    <a:pt x="406400" y="0"/>
                  </a:moveTo>
                  <a:lnTo>
                    <a:pt x="6570133" y="0"/>
                  </a:lnTo>
                  <a:cubicBezTo>
                    <a:pt x="6794581" y="0"/>
                    <a:pt x="6976533" y="153482"/>
                    <a:pt x="6976533" y="342811"/>
                  </a:cubicBezTo>
                  <a:lnTo>
                    <a:pt x="6976533" y="4670795"/>
                  </a:lnTo>
                  <a:cubicBezTo>
                    <a:pt x="6976533" y="4860124"/>
                    <a:pt x="6794581" y="5013606"/>
                    <a:pt x="6570133" y="5013606"/>
                  </a:cubicBezTo>
                  <a:lnTo>
                    <a:pt x="406400" y="5013606"/>
                  </a:lnTo>
                  <a:cubicBezTo>
                    <a:pt x="181951" y="5013606"/>
                    <a:pt x="0" y="4860124"/>
                    <a:pt x="0" y="4670795"/>
                  </a:cubicBezTo>
                  <a:lnTo>
                    <a:pt x="0" y="342811"/>
                  </a:lnTo>
                  <a:cubicBezTo>
                    <a:pt x="0" y="153482"/>
                    <a:pt x="181951" y="0"/>
                    <a:pt x="406400" y="0"/>
                  </a:cubicBezTo>
                  <a:close/>
                </a:path>
              </a:pathLst>
            </a:custGeom>
            <a:solidFill>
              <a:srgbClr val="1E498A"/>
            </a:solidFill>
            <a:ln w="57150" cap="sq">
              <a:solidFill>
                <a:srgbClr val="0B1D51"/>
              </a:solidFill>
              <a:prstDash val="solid"/>
              <a:miter/>
            </a:ln>
          </p:spPr>
        </p:sp>
        <p:sp>
          <p:nvSpPr>
            <p:cNvPr name="TextBox 7" id="7"/>
            <p:cNvSpPr txBox="true"/>
            <p:nvPr/>
          </p:nvSpPr>
          <p:spPr>
            <a:xfrm>
              <a:off x="0" y="-38100"/>
              <a:ext cx="6976533" cy="5051706"/>
            </a:xfrm>
            <a:prstGeom prst="rect">
              <a:avLst/>
            </a:prstGeom>
          </p:spPr>
          <p:txBody>
            <a:bodyPr anchor="ctr" rtlCol="false" tIns="50800" lIns="50800" bIns="50800" rIns="50800"/>
            <a:lstStyle/>
            <a:p>
              <a:pPr algn="l">
                <a:lnSpc>
                  <a:spcPts val="1679"/>
                </a:lnSpc>
              </a:pPr>
            </a:p>
          </p:txBody>
        </p:sp>
      </p:grpSp>
      <p:grpSp>
        <p:nvGrpSpPr>
          <p:cNvPr name="Group 8" id="8"/>
          <p:cNvGrpSpPr/>
          <p:nvPr/>
        </p:nvGrpSpPr>
        <p:grpSpPr>
          <a:xfrm rot="0">
            <a:off x="6527800" y="2817204"/>
            <a:ext cx="5232400" cy="3760204"/>
            <a:chOff x="0" y="0"/>
            <a:chExt cx="6976533" cy="5013606"/>
          </a:xfrm>
        </p:grpSpPr>
        <p:sp>
          <p:nvSpPr>
            <p:cNvPr name="Freeform 9" id="9"/>
            <p:cNvSpPr/>
            <p:nvPr/>
          </p:nvSpPr>
          <p:spPr>
            <a:xfrm flipH="false" flipV="false" rot="0">
              <a:off x="0" y="0"/>
              <a:ext cx="6976533" cy="5013606"/>
            </a:xfrm>
            <a:custGeom>
              <a:avLst/>
              <a:gdLst/>
              <a:ahLst/>
              <a:cxnLst/>
              <a:rect r="r" b="b" t="t" l="l"/>
              <a:pathLst>
                <a:path h="5013606" w="6976533">
                  <a:moveTo>
                    <a:pt x="406400" y="0"/>
                  </a:moveTo>
                  <a:lnTo>
                    <a:pt x="6570133" y="0"/>
                  </a:lnTo>
                  <a:cubicBezTo>
                    <a:pt x="6794581" y="0"/>
                    <a:pt x="6976533" y="153482"/>
                    <a:pt x="6976533" y="342811"/>
                  </a:cubicBezTo>
                  <a:lnTo>
                    <a:pt x="6976533" y="4670795"/>
                  </a:lnTo>
                  <a:cubicBezTo>
                    <a:pt x="6976533" y="4860124"/>
                    <a:pt x="6794581" y="5013606"/>
                    <a:pt x="6570133" y="5013606"/>
                  </a:cubicBezTo>
                  <a:lnTo>
                    <a:pt x="406400" y="5013606"/>
                  </a:lnTo>
                  <a:cubicBezTo>
                    <a:pt x="181951" y="5013606"/>
                    <a:pt x="0" y="4860124"/>
                    <a:pt x="0" y="4670795"/>
                  </a:cubicBezTo>
                  <a:lnTo>
                    <a:pt x="0" y="342811"/>
                  </a:lnTo>
                  <a:cubicBezTo>
                    <a:pt x="0" y="153482"/>
                    <a:pt x="181951" y="0"/>
                    <a:pt x="406400" y="0"/>
                  </a:cubicBezTo>
                  <a:close/>
                </a:path>
              </a:pathLst>
            </a:custGeom>
            <a:solidFill>
              <a:srgbClr val="1E498A"/>
            </a:solidFill>
            <a:ln w="57150" cap="sq">
              <a:solidFill>
                <a:srgbClr val="0B1D51"/>
              </a:solidFill>
              <a:prstDash val="solid"/>
              <a:miter/>
            </a:ln>
          </p:spPr>
        </p:sp>
        <p:sp>
          <p:nvSpPr>
            <p:cNvPr name="TextBox 10" id="10"/>
            <p:cNvSpPr txBox="true"/>
            <p:nvPr/>
          </p:nvSpPr>
          <p:spPr>
            <a:xfrm>
              <a:off x="0" y="-38100"/>
              <a:ext cx="6976533" cy="5051706"/>
            </a:xfrm>
            <a:prstGeom prst="rect">
              <a:avLst/>
            </a:prstGeom>
          </p:spPr>
          <p:txBody>
            <a:bodyPr anchor="ctr" rtlCol="false" tIns="50800" lIns="50800" bIns="50800" rIns="50800"/>
            <a:lstStyle/>
            <a:p>
              <a:pPr algn="l">
                <a:lnSpc>
                  <a:spcPts val="1679"/>
                </a:lnSpc>
              </a:pPr>
            </a:p>
          </p:txBody>
        </p:sp>
      </p:grpSp>
      <p:grpSp>
        <p:nvGrpSpPr>
          <p:cNvPr name="Group 11" id="11"/>
          <p:cNvGrpSpPr/>
          <p:nvPr/>
        </p:nvGrpSpPr>
        <p:grpSpPr>
          <a:xfrm rot="0">
            <a:off x="12026900" y="2817204"/>
            <a:ext cx="5232400" cy="3760204"/>
            <a:chOff x="0" y="0"/>
            <a:chExt cx="6976533" cy="5013606"/>
          </a:xfrm>
        </p:grpSpPr>
        <p:sp>
          <p:nvSpPr>
            <p:cNvPr name="Freeform 12" id="12"/>
            <p:cNvSpPr/>
            <p:nvPr/>
          </p:nvSpPr>
          <p:spPr>
            <a:xfrm flipH="false" flipV="false" rot="0">
              <a:off x="0" y="0"/>
              <a:ext cx="6976533" cy="5013606"/>
            </a:xfrm>
            <a:custGeom>
              <a:avLst/>
              <a:gdLst/>
              <a:ahLst/>
              <a:cxnLst/>
              <a:rect r="r" b="b" t="t" l="l"/>
              <a:pathLst>
                <a:path h="5013606" w="6976533">
                  <a:moveTo>
                    <a:pt x="406400" y="0"/>
                  </a:moveTo>
                  <a:lnTo>
                    <a:pt x="6570133" y="0"/>
                  </a:lnTo>
                  <a:cubicBezTo>
                    <a:pt x="6794581" y="0"/>
                    <a:pt x="6976533" y="153482"/>
                    <a:pt x="6976533" y="342811"/>
                  </a:cubicBezTo>
                  <a:lnTo>
                    <a:pt x="6976533" y="4670795"/>
                  </a:lnTo>
                  <a:cubicBezTo>
                    <a:pt x="6976533" y="4860124"/>
                    <a:pt x="6794581" y="5013606"/>
                    <a:pt x="6570133" y="5013606"/>
                  </a:cubicBezTo>
                  <a:lnTo>
                    <a:pt x="406400" y="5013606"/>
                  </a:lnTo>
                  <a:cubicBezTo>
                    <a:pt x="181951" y="5013606"/>
                    <a:pt x="0" y="4860124"/>
                    <a:pt x="0" y="4670795"/>
                  </a:cubicBezTo>
                  <a:lnTo>
                    <a:pt x="0" y="342811"/>
                  </a:lnTo>
                  <a:cubicBezTo>
                    <a:pt x="0" y="153482"/>
                    <a:pt x="181951" y="0"/>
                    <a:pt x="406400" y="0"/>
                  </a:cubicBezTo>
                  <a:close/>
                </a:path>
              </a:pathLst>
            </a:custGeom>
            <a:solidFill>
              <a:srgbClr val="1E498A"/>
            </a:solidFill>
            <a:ln w="57150" cap="sq">
              <a:solidFill>
                <a:srgbClr val="0B1D51"/>
              </a:solidFill>
              <a:prstDash val="solid"/>
              <a:miter/>
            </a:ln>
          </p:spPr>
        </p:sp>
        <p:sp>
          <p:nvSpPr>
            <p:cNvPr name="TextBox 13" id="13"/>
            <p:cNvSpPr txBox="true"/>
            <p:nvPr/>
          </p:nvSpPr>
          <p:spPr>
            <a:xfrm>
              <a:off x="0" y="-38100"/>
              <a:ext cx="6976533" cy="5051706"/>
            </a:xfrm>
            <a:prstGeom prst="rect">
              <a:avLst/>
            </a:prstGeom>
          </p:spPr>
          <p:txBody>
            <a:bodyPr anchor="ctr" rtlCol="false" tIns="50800" lIns="50800" bIns="50800" rIns="50800"/>
            <a:lstStyle/>
            <a:p>
              <a:pPr algn="l">
                <a:lnSpc>
                  <a:spcPts val="1679"/>
                </a:lnSpc>
              </a:pPr>
            </a:p>
          </p:txBody>
        </p:sp>
      </p:grpSp>
      <p:sp>
        <p:nvSpPr>
          <p:cNvPr name="TextBox 14" id="14"/>
          <p:cNvSpPr txBox="true"/>
          <p:nvPr/>
        </p:nvSpPr>
        <p:spPr>
          <a:xfrm rot="0">
            <a:off x="1238250" y="3264879"/>
            <a:ext cx="4813300" cy="292100"/>
          </a:xfrm>
          <a:prstGeom prst="rect">
            <a:avLst/>
          </a:prstGeom>
        </p:spPr>
        <p:txBody>
          <a:bodyPr anchor="t" rtlCol="false" tIns="0" lIns="0" bIns="0" rIns="0">
            <a:spAutoFit/>
          </a:bodyPr>
          <a:lstStyle/>
          <a:p>
            <a:pPr algn="ctr">
              <a:lnSpc>
                <a:spcPts val="2200"/>
              </a:lnSpc>
            </a:pPr>
            <a:r>
              <a:rPr lang="en-US" sz="2000" b="true">
                <a:solidFill>
                  <a:srgbClr val="FFFFFF"/>
                </a:solidFill>
                <a:latin typeface="Open Sauce Bold"/>
                <a:ea typeface="Open Sauce Bold"/>
                <a:cs typeface="Open Sauce Bold"/>
                <a:sym typeface="Open Sauce Bold"/>
              </a:rPr>
              <a:t>TRAINING DOCUMENTATION</a:t>
            </a:r>
          </a:p>
        </p:txBody>
      </p:sp>
      <p:sp>
        <p:nvSpPr>
          <p:cNvPr name="TextBox 15" id="15"/>
          <p:cNvSpPr txBox="true"/>
          <p:nvPr/>
        </p:nvSpPr>
        <p:spPr>
          <a:xfrm rot="0">
            <a:off x="1333500" y="3833204"/>
            <a:ext cx="4622800" cy="1932305"/>
          </a:xfrm>
          <a:prstGeom prst="rect">
            <a:avLst/>
          </a:prstGeom>
        </p:spPr>
        <p:txBody>
          <a:bodyPr anchor="t" rtlCol="false" tIns="0" lIns="0" bIns="0" rIns="0">
            <a:spAutoFit/>
          </a:bodyPr>
          <a:lstStyle/>
          <a:p>
            <a:pPr algn="ctr">
              <a:lnSpc>
                <a:spcPts val="2560"/>
              </a:lnSpc>
            </a:pPr>
            <a:r>
              <a:rPr lang="en-US" sz="2000">
                <a:solidFill>
                  <a:srgbClr val="FFFFFF"/>
                </a:solidFill>
                <a:latin typeface="Montserrat"/>
                <a:ea typeface="Montserrat"/>
                <a:cs typeface="Montserrat"/>
                <a:sym typeface="Montserrat"/>
              </a:rPr>
              <a:t>Entered Employee Flock training records into METR, including the date of training. Retrained department users so everyone has current knowledge of the Flock System.</a:t>
            </a:r>
          </a:p>
        </p:txBody>
      </p:sp>
      <p:sp>
        <p:nvSpPr>
          <p:cNvPr name="TextBox 16" id="16"/>
          <p:cNvSpPr txBox="true"/>
          <p:nvPr/>
        </p:nvSpPr>
        <p:spPr>
          <a:xfrm rot="0">
            <a:off x="6737350" y="3264879"/>
            <a:ext cx="4813300" cy="292100"/>
          </a:xfrm>
          <a:prstGeom prst="rect">
            <a:avLst/>
          </a:prstGeom>
        </p:spPr>
        <p:txBody>
          <a:bodyPr anchor="t" rtlCol="false" tIns="0" lIns="0" bIns="0" rIns="0">
            <a:spAutoFit/>
          </a:bodyPr>
          <a:lstStyle/>
          <a:p>
            <a:pPr algn="ctr">
              <a:lnSpc>
                <a:spcPts val="2200"/>
              </a:lnSpc>
            </a:pPr>
            <a:r>
              <a:rPr lang="en-US" sz="2000" b="true">
                <a:solidFill>
                  <a:srgbClr val="FFFFFF"/>
                </a:solidFill>
                <a:latin typeface="Open Sauce Bold"/>
                <a:ea typeface="Open Sauce Bold"/>
                <a:cs typeface="Open Sauce Bold"/>
                <a:sym typeface="Open Sauce Bold"/>
              </a:rPr>
              <a:t>FLOCK COMMITTEE DEVELOPMENT</a:t>
            </a:r>
          </a:p>
        </p:txBody>
      </p:sp>
      <p:sp>
        <p:nvSpPr>
          <p:cNvPr name="TextBox 17" id="17"/>
          <p:cNvSpPr txBox="true"/>
          <p:nvPr/>
        </p:nvSpPr>
        <p:spPr>
          <a:xfrm rot="0">
            <a:off x="6832600" y="3833204"/>
            <a:ext cx="4622800" cy="1932305"/>
          </a:xfrm>
          <a:prstGeom prst="rect">
            <a:avLst/>
          </a:prstGeom>
        </p:spPr>
        <p:txBody>
          <a:bodyPr anchor="t" rtlCol="false" tIns="0" lIns="0" bIns="0" rIns="0">
            <a:spAutoFit/>
          </a:bodyPr>
          <a:lstStyle/>
          <a:p>
            <a:pPr algn="ctr">
              <a:lnSpc>
                <a:spcPts val="2560"/>
              </a:lnSpc>
            </a:pPr>
            <a:r>
              <a:rPr lang="en-US" sz="2000">
                <a:solidFill>
                  <a:srgbClr val="FFFFFF"/>
                </a:solidFill>
                <a:latin typeface="Montserrat"/>
                <a:ea typeface="Montserrat"/>
                <a:cs typeface="Montserrat"/>
                <a:sym typeface="Montserrat"/>
              </a:rPr>
              <a:t>Flock Committee members engage in ongoing Flock Academy training and professional development. Continuing education keeps committee members current on system capabilities and safeguards.</a:t>
            </a:r>
          </a:p>
        </p:txBody>
      </p:sp>
      <p:sp>
        <p:nvSpPr>
          <p:cNvPr name="TextBox 18" id="18"/>
          <p:cNvSpPr txBox="true"/>
          <p:nvPr/>
        </p:nvSpPr>
        <p:spPr>
          <a:xfrm rot="0">
            <a:off x="12236450" y="3264879"/>
            <a:ext cx="4813300" cy="292100"/>
          </a:xfrm>
          <a:prstGeom prst="rect">
            <a:avLst/>
          </a:prstGeom>
        </p:spPr>
        <p:txBody>
          <a:bodyPr anchor="t" rtlCol="false" tIns="0" lIns="0" bIns="0" rIns="0">
            <a:spAutoFit/>
          </a:bodyPr>
          <a:lstStyle/>
          <a:p>
            <a:pPr algn="ctr">
              <a:lnSpc>
                <a:spcPts val="2200"/>
              </a:lnSpc>
            </a:pPr>
            <a:r>
              <a:rPr lang="en-US" sz="2000" b="true">
                <a:solidFill>
                  <a:srgbClr val="FFFFFF"/>
                </a:solidFill>
                <a:latin typeface="Open Sauce Bold"/>
                <a:ea typeface="Open Sauce Bold"/>
                <a:cs typeface="Open Sauce Bold"/>
                <a:sym typeface="Open Sauce Bold"/>
              </a:rPr>
              <a:t>PATROL SERGEANT TRAINING</a:t>
            </a:r>
          </a:p>
        </p:txBody>
      </p:sp>
      <p:sp>
        <p:nvSpPr>
          <p:cNvPr name="TextBox 19" id="19"/>
          <p:cNvSpPr txBox="true"/>
          <p:nvPr/>
        </p:nvSpPr>
        <p:spPr>
          <a:xfrm rot="0">
            <a:off x="12331700" y="3833204"/>
            <a:ext cx="4622800" cy="2256155"/>
          </a:xfrm>
          <a:prstGeom prst="rect">
            <a:avLst/>
          </a:prstGeom>
        </p:spPr>
        <p:txBody>
          <a:bodyPr anchor="t" rtlCol="false" tIns="0" lIns="0" bIns="0" rIns="0">
            <a:spAutoFit/>
          </a:bodyPr>
          <a:lstStyle/>
          <a:p>
            <a:pPr algn="ctr">
              <a:lnSpc>
                <a:spcPts val="2560"/>
              </a:lnSpc>
            </a:pPr>
            <a:r>
              <a:rPr lang="en-US" sz="2000">
                <a:solidFill>
                  <a:srgbClr val="FFFFFF"/>
                </a:solidFill>
                <a:latin typeface="Montserrat"/>
                <a:ea typeface="Montserrat"/>
                <a:cs typeface="Montserrat"/>
                <a:sym typeface="Montserrat"/>
              </a:rPr>
              <a:t>Provided training on system use, Flock Academy, Audit Assistance features, Hotlists, Public Audit, and Sharing Requests. Reinforced expectations for accountability, proper system use, and supervisory oversight.</a:t>
            </a:r>
          </a:p>
        </p:txBody>
      </p:sp>
      <p:grpSp>
        <p:nvGrpSpPr>
          <p:cNvPr name="Group 20" id="20"/>
          <p:cNvGrpSpPr/>
          <p:nvPr/>
        </p:nvGrpSpPr>
        <p:grpSpPr>
          <a:xfrm rot="0">
            <a:off x="1028700" y="7753350"/>
            <a:ext cx="16230600" cy="1504950"/>
            <a:chOff x="0" y="0"/>
            <a:chExt cx="21640800" cy="2006600"/>
          </a:xfrm>
        </p:grpSpPr>
        <p:sp>
          <p:nvSpPr>
            <p:cNvPr name="Freeform 21" id="21"/>
            <p:cNvSpPr/>
            <p:nvPr/>
          </p:nvSpPr>
          <p:spPr>
            <a:xfrm flipH="false" flipV="false" rot="0">
              <a:off x="0" y="0"/>
              <a:ext cx="21640800" cy="2006600"/>
            </a:xfrm>
            <a:custGeom>
              <a:avLst/>
              <a:gdLst/>
              <a:ahLst/>
              <a:cxnLst/>
              <a:rect r="r" b="b" t="t" l="l"/>
              <a:pathLst>
                <a:path h="2006600" w="21640800">
                  <a:moveTo>
                    <a:pt x="150283" y="0"/>
                  </a:moveTo>
                  <a:lnTo>
                    <a:pt x="21490516" y="0"/>
                  </a:lnTo>
                  <a:cubicBezTo>
                    <a:pt x="21573516" y="0"/>
                    <a:pt x="21640800" y="68232"/>
                    <a:pt x="21640800" y="152400"/>
                  </a:cubicBezTo>
                  <a:lnTo>
                    <a:pt x="21640800" y="1854200"/>
                  </a:lnTo>
                  <a:cubicBezTo>
                    <a:pt x="21640800" y="1938368"/>
                    <a:pt x="21573516" y="2006600"/>
                    <a:pt x="21490516" y="2006600"/>
                  </a:cubicBezTo>
                  <a:lnTo>
                    <a:pt x="150283" y="2006600"/>
                  </a:lnTo>
                  <a:cubicBezTo>
                    <a:pt x="67284" y="2006600"/>
                    <a:pt x="0" y="1938368"/>
                    <a:pt x="0" y="1854200"/>
                  </a:cubicBezTo>
                  <a:lnTo>
                    <a:pt x="0" y="152400"/>
                  </a:lnTo>
                  <a:cubicBezTo>
                    <a:pt x="0" y="68232"/>
                    <a:pt x="67284" y="0"/>
                    <a:pt x="150283" y="0"/>
                  </a:cubicBezTo>
                  <a:close/>
                </a:path>
              </a:pathLst>
            </a:custGeom>
            <a:solidFill>
              <a:srgbClr val="EAF1F8"/>
            </a:solidFill>
          </p:spPr>
        </p:sp>
        <p:sp>
          <p:nvSpPr>
            <p:cNvPr name="TextBox 22" id="22"/>
            <p:cNvSpPr txBox="true"/>
            <p:nvPr/>
          </p:nvSpPr>
          <p:spPr>
            <a:xfrm>
              <a:off x="0" y="-38100"/>
              <a:ext cx="21640800" cy="2044700"/>
            </a:xfrm>
            <a:prstGeom prst="rect">
              <a:avLst/>
            </a:prstGeom>
          </p:spPr>
          <p:txBody>
            <a:bodyPr anchor="ctr" rtlCol="false" tIns="50800" lIns="50800" bIns="50800" rIns="50800"/>
            <a:lstStyle/>
            <a:p>
              <a:pPr algn="l">
                <a:lnSpc>
                  <a:spcPts val="1679"/>
                </a:lnSpc>
              </a:pPr>
            </a:p>
          </p:txBody>
        </p:sp>
      </p:grpSp>
      <p:grpSp>
        <p:nvGrpSpPr>
          <p:cNvPr name="Group 23" id="23"/>
          <p:cNvGrpSpPr/>
          <p:nvPr/>
        </p:nvGrpSpPr>
        <p:grpSpPr>
          <a:xfrm rot="0">
            <a:off x="1028700" y="7753350"/>
            <a:ext cx="65749" cy="1504950"/>
            <a:chOff x="0" y="0"/>
            <a:chExt cx="87665" cy="2006600"/>
          </a:xfrm>
        </p:grpSpPr>
        <p:sp>
          <p:nvSpPr>
            <p:cNvPr name="Freeform 24" id="24"/>
            <p:cNvSpPr/>
            <p:nvPr/>
          </p:nvSpPr>
          <p:spPr>
            <a:xfrm flipH="false" flipV="false" rot="0">
              <a:off x="0" y="0"/>
              <a:ext cx="87665" cy="2006600"/>
            </a:xfrm>
            <a:custGeom>
              <a:avLst/>
              <a:gdLst/>
              <a:ahLst/>
              <a:cxnLst/>
              <a:rect r="r" b="b" t="t" l="l"/>
              <a:pathLst>
                <a:path h="2006600" w="87665">
                  <a:moveTo>
                    <a:pt x="0" y="0"/>
                  </a:moveTo>
                  <a:lnTo>
                    <a:pt x="87665" y="0"/>
                  </a:lnTo>
                  <a:lnTo>
                    <a:pt x="87665" y="2006600"/>
                  </a:lnTo>
                  <a:lnTo>
                    <a:pt x="0" y="2006600"/>
                  </a:lnTo>
                  <a:close/>
                </a:path>
              </a:pathLst>
            </a:custGeom>
            <a:solidFill>
              <a:srgbClr val="A28231"/>
            </a:solidFill>
          </p:spPr>
        </p:sp>
        <p:sp>
          <p:nvSpPr>
            <p:cNvPr name="TextBox 25" id="25"/>
            <p:cNvSpPr txBox="true"/>
            <p:nvPr/>
          </p:nvSpPr>
          <p:spPr>
            <a:xfrm>
              <a:off x="0" y="-38100"/>
              <a:ext cx="87665" cy="2044700"/>
            </a:xfrm>
            <a:prstGeom prst="rect">
              <a:avLst/>
            </a:prstGeom>
          </p:spPr>
          <p:txBody>
            <a:bodyPr anchor="ctr" rtlCol="false" tIns="50800" lIns="50800" bIns="50800" rIns="50800"/>
            <a:lstStyle/>
            <a:p>
              <a:pPr algn="l">
                <a:lnSpc>
                  <a:spcPts val="1679"/>
                </a:lnSpc>
              </a:pPr>
            </a:p>
          </p:txBody>
        </p:sp>
      </p:grpSp>
      <p:sp>
        <p:nvSpPr>
          <p:cNvPr name="TextBox 26" id="26"/>
          <p:cNvSpPr txBox="true"/>
          <p:nvPr/>
        </p:nvSpPr>
        <p:spPr>
          <a:xfrm rot="0">
            <a:off x="1616968" y="8202613"/>
            <a:ext cx="15243787" cy="654050"/>
          </a:xfrm>
          <a:prstGeom prst="rect">
            <a:avLst/>
          </a:prstGeom>
        </p:spPr>
        <p:txBody>
          <a:bodyPr anchor="t" rtlCol="false" tIns="0" lIns="0" bIns="0" rIns="0">
            <a:spAutoFit/>
          </a:bodyPr>
          <a:lstStyle/>
          <a:p>
            <a:pPr algn="l" marL="0" indent="0" lvl="0">
              <a:lnSpc>
                <a:spcPts val="2574"/>
              </a:lnSpc>
              <a:spcBef>
                <a:spcPct val="0"/>
              </a:spcBef>
            </a:pPr>
            <a:r>
              <a:rPr lang="en-US" b="true" sz="2499" strike="noStrike" u="none">
                <a:solidFill>
                  <a:srgbClr val="1E498A"/>
                </a:solidFill>
                <a:latin typeface="Montserrat Bold"/>
                <a:ea typeface="Montserrat Bold"/>
                <a:cs typeface="Montserrat Bold"/>
                <a:sym typeface="Montserrat Bold"/>
              </a:rPr>
              <a:t>Result: </a:t>
            </a:r>
            <a:r>
              <a:rPr lang="en-US" sz="2499" strike="noStrike" u="none">
                <a:solidFill>
                  <a:srgbClr val="000000"/>
                </a:solidFill>
                <a:latin typeface="Montserrat"/>
                <a:ea typeface="Montserrat"/>
                <a:cs typeface="Montserrat"/>
                <a:sym typeface="Montserrat"/>
              </a:rPr>
              <a:t>Stronger governance, tighter access, controlled sharing, more frequent auditing, and better trained users. </a:t>
            </a:r>
          </a:p>
        </p:txBody>
      </p:sp>
      <p:sp>
        <p:nvSpPr>
          <p:cNvPr name="AutoShape 27" id="27"/>
          <p:cNvSpPr/>
          <p:nvPr/>
        </p:nvSpPr>
        <p:spPr>
          <a:xfrm flipV="true">
            <a:off x="-117230" y="10287000"/>
            <a:ext cx="19376532" cy="12351"/>
          </a:xfrm>
          <a:prstGeom prst="line">
            <a:avLst/>
          </a:prstGeom>
          <a:ln cap="flat" w="85725">
            <a:solidFill>
              <a:srgbClr val="1E498A"/>
            </a:solidFill>
            <a:prstDash val="solid"/>
            <a:headEnd type="none" len="sm" w="sm"/>
            <a:tailEnd type="none" len="sm" w="sm"/>
          </a:ln>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7313835"/>
            <a:ext cx="4210946" cy="2490236"/>
            <a:chOff x="0" y="0"/>
            <a:chExt cx="812800" cy="480667"/>
          </a:xfrm>
        </p:grpSpPr>
        <p:sp>
          <p:nvSpPr>
            <p:cNvPr name="Freeform 3" id="3"/>
            <p:cNvSpPr/>
            <p:nvPr/>
          </p:nvSpPr>
          <p:spPr>
            <a:xfrm flipH="false" flipV="false" rot="0">
              <a:off x="0" y="0"/>
              <a:ext cx="812800" cy="480667"/>
            </a:xfrm>
            <a:custGeom>
              <a:avLst/>
              <a:gdLst/>
              <a:ahLst/>
              <a:cxnLst/>
              <a:rect r="r" b="b" t="t" l="l"/>
              <a:pathLst>
                <a:path h="480667" w="812800">
                  <a:moveTo>
                    <a:pt x="0" y="0"/>
                  </a:moveTo>
                  <a:lnTo>
                    <a:pt x="812800" y="0"/>
                  </a:lnTo>
                  <a:lnTo>
                    <a:pt x="812800" y="480667"/>
                  </a:lnTo>
                  <a:lnTo>
                    <a:pt x="0" y="480667"/>
                  </a:lnTo>
                  <a:close/>
                </a:path>
              </a:pathLst>
            </a:custGeom>
            <a:blipFill>
              <a:blip r:embed="rId2"/>
              <a:stretch>
                <a:fillRect l="-10450" t="0" r="-10450" b="0"/>
              </a:stretch>
            </a:blipFill>
          </p:spPr>
        </p:sp>
      </p:grpSp>
      <p:sp>
        <p:nvSpPr>
          <p:cNvPr name="AutoShape 4" id="4"/>
          <p:cNvSpPr/>
          <p:nvPr/>
        </p:nvSpPr>
        <p:spPr>
          <a:xfrm>
            <a:off x="6691294" y="1532573"/>
            <a:ext cx="11794786" cy="0"/>
          </a:xfrm>
          <a:prstGeom prst="line">
            <a:avLst/>
          </a:prstGeom>
          <a:ln cap="flat" w="47625">
            <a:solidFill>
              <a:srgbClr val="A28231"/>
            </a:solidFill>
            <a:prstDash val="solid"/>
            <a:headEnd type="none" len="sm" w="sm"/>
            <a:tailEnd type="none" len="sm" w="sm"/>
          </a:ln>
        </p:spPr>
      </p:sp>
      <p:sp>
        <p:nvSpPr>
          <p:cNvPr name="TextBox 5" id="5"/>
          <p:cNvSpPr txBox="true"/>
          <p:nvPr/>
        </p:nvSpPr>
        <p:spPr>
          <a:xfrm rot="0">
            <a:off x="4845316" y="8332070"/>
            <a:ext cx="4919443" cy="1104900"/>
          </a:xfrm>
          <a:prstGeom prst="rect">
            <a:avLst/>
          </a:prstGeom>
        </p:spPr>
        <p:txBody>
          <a:bodyPr anchor="t" rtlCol="false" tIns="0" lIns="0" bIns="0" rIns="0">
            <a:spAutoFit/>
          </a:bodyPr>
          <a:lstStyle/>
          <a:p>
            <a:pPr algn="l" marL="0" indent="0" lvl="0">
              <a:lnSpc>
                <a:spcPts val="2999"/>
              </a:lnSpc>
              <a:spcBef>
                <a:spcPct val="0"/>
              </a:spcBef>
            </a:pPr>
            <a:r>
              <a:rPr lang="en-US" b="true" sz="2499" strike="noStrike" u="none">
                <a:solidFill>
                  <a:srgbClr val="1E3A8A"/>
                </a:solidFill>
                <a:latin typeface="Montserrat Bold"/>
                <a:ea typeface="Montserrat Bold"/>
                <a:cs typeface="Montserrat Bold"/>
                <a:sym typeface="Montserrat Bold"/>
              </a:rPr>
              <a:t>Without the Flock camera, we would not have had a lead on the suspect vehicle. </a:t>
            </a:r>
          </a:p>
        </p:txBody>
      </p:sp>
      <p:sp>
        <p:nvSpPr>
          <p:cNvPr name="TextBox 6" id="6"/>
          <p:cNvSpPr txBox="true"/>
          <p:nvPr/>
        </p:nvSpPr>
        <p:spPr>
          <a:xfrm rot="0">
            <a:off x="1028700" y="1119188"/>
            <a:ext cx="12552675" cy="845820"/>
          </a:xfrm>
          <a:prstGeom prst="rect">
            <a:avLst/>
          </a:prstGeom>
        </p:spPr>
        <p:txBody>
          <a:bodyPr anchor="t" rtlCol="false" tIns="0" lIns="0" bIns="0" rIns="0">
            <a:spAutoFit/>
          </a:bodyPr>
          <a:lstStyle/>
          <a:p>
            <a:pPr algn="l" marL="0" indent="0" lvl="0">
              <a:lnSpc>
                <a:spcPts val="6540"/>
              </a:lnSpc>
              <a:spcBef>
                <a:spcPct val="0"/>
              </a:spcBef>
            </a:pPr>
            <a:r>
              <a:rPr lang="en-US" b="true" sz="6000" spc="-390" strike="noStrike" u="none">
                <a:solidFill>
                  <a:srgbClr val="002557"/>
                </a:solidFill>
                <a:latin typeface="Montserrat Bold"/>
                <a:ea typeface="Montserrat Bold"/>
                <a:cs typeface="Montserrat Bold"/>
                <a:sym typeface="Montserrat Bold"/>
              </a:rPr>
              <a:t>Success Story</a:t>
            </a:r>
          </a:p>
        </p:txBody>
      </p:sp>
      <p:sp>
        <p:nvSpPr>
          <p:cNvPr name="TextBox 7" id="7"/>
          <p:cNvSpPr txBox="true"/>
          <p:nvPr/>
        </p:nvSpPr>
        <p:spPr>
          <a:xfrm rot="0">
            <a:off x="1028700" y="1917383"/>
            <a:ext cx="5390257" cy="422275"/>
          </a:xfrm>
          <a:prstGeom prst="rect">
            <a:avLst/>
          </a:prstGeom>
        </p:spPr>
        <p:txBody>
          <a:bodyPr anchor="t" rtlCol="false" tIns="0" lIns="0" bIns="0" rIns="0">
            <a:spAutoFit/>
          </a:bodyPr>
          <a:lstStyle/>
          <a:p>
            <a:pPr algn="ctr">
              <a:lnSpc>
                <a:spcPts val="3499"/>
              </a:lnSpc>
            </a:pPr>
            <a:r>
              <a:rPr lang="en-US" sz="2499">
                <a:solidFill>
                  <a:srgbClr val="000000"/>
                </a:solidFill>
                <a:latin typeface="Canva Sans"/>
                <a:ea typeface="Canva Sans"/>
                <a:cs typeface="Canva Sans"/>
                <a:sym typeface="Canva Sans"/>
              </a:rPr>
              <a:t>A REAL IMPACT ON PUBLIC SAFETY</a:t>
            </a:r>
          </a:p>
        </p:txBody>
      </p:sp>
      <p:sp>
        <p:nvSpPr>
          <p:cNvPr name="TextBox 8" id="8"/>
          <p:cNvSpPr txBox="true"/>
          <p:nvPr/>
        </p:nvSpPr>
        <p:spPr>
          <a:xfrm rot="0">
            <a:off x="1028700" y="2767380"/>
            <a:ext cx="1850753" cy="1028700"/>
          </a:xfrm>
          <a:prstGeom prst="rect">
            <a:avLst/>
          </a:prstGeom>
        </p:spPr>
        <p:txBody>
          <a:bodyPr anchor="t" rtlCol="false" tIns="0" lIns="0" bIns="0" rIns="0">
            <a:spAutoFit/>
          </a:bodyPr>
          <a:lstStyle/>
          <a:p>
            <a:pPr algn="l">
              <a:lnSpc>
                <a:spcPts val="8400"/>
              </a:lnSpc>
            </a:pPr>
            <a:r>
              <a:rPr lang="en-US" sz="6000" b="true">
                <a:solidFill>
                  <a:srgbClr val="1E3A8A">
                    <a:alpha val="29804"/>
                  </a:srgbClr>
                </a:solidFill>
                <a:latin typeface="Montserrat Bold"/>
                <a:ea typeface="Montserrat Bold"/>
                <a:cs typeface="Montserrat Bold"/>
                <a:sym typeface="Montserrat Bold"/>
              </a:rPr>
              <a:t>01</a:t>
            </a:r>
          </a:p>
        </p:txBody>
      </p:sp>
      <p:sp>
        <p:nvSpPr>
          <p:cNvPr name="TextBox 9" id="9"/>
          <p:cNvSpPr txBox="true"/>
          <p:nvPr/>
        </p:nvSpPr>
        <p:spPr>
          <a:xfrm rot="0">
            <a:off x="9261122" y="2749742"/>
            <a:ext cx="1406310" cy="1028700"/>
          </a:xfrm>
          <a:prstGeom prst="rect">
            <a:avLst/>
          </a:prstGeom>
        </p:spPr>
        <p:txBody>
          <a:bodyPr anchor="t" rtlCol="false" tIns="0" lIns="0" bIns="0" rIns="0">
            <a:spAutoFit/>
          </a:bodyPr>
          <a:lstStyle/>
          <a:p>
            <a:pPr algn="l">
              <a:lnSpc>
                <a:spcPts val="8400"/>
              </a:lnSpc>
            </a:pPr>
            <a:r>
              <a:rPr lang="en-US" sz="6000" b="true">
                <a:solidFill>
                  <a:srgbClr val="1E3A8A">
                    <a:alpha val="29804"/>
                  </a:srgbClr>
                </a:solidFill>
                <a:latin typeface="Montserrat Bold"/>
                <a:ea typeface="Montserrat Bold"/>
                <a:cs typeface="Montserrat Bold"/>
                <a:sym typeface="Montserrat Bold"/>
              </a:rPr>
              <a:t>03</a:t>
            </a:r>
          </a:p>
        </p:txBody>
      </p:sp>
      <p:sp>
        <p:nvSpPr>
          <p:cNvPr name="TextBox 10" id="10"/>
          <p:cNvSpPr txBox="true"/>
          <p:nvPr/>
        </p:nvSpPr>
        <p:spPr>
          <a:xfrm rot="0">
            <a:off x="14057573" y="2767380"/>
            <a:ext cx="1291085" cy="1028700"/>
          </a:xfrm>
          <a:prstGeom prst="rect">
            <a:avLst/>
          </a:prstGeom>
        </p:spPr>
        <p:txBody>
          <a:bodyPr anchor="t" rtlCol="false" tIns="0" lIns="0" bIns="0" rIns="0">
            <a:spAutoFit/>
          </a:bodyPr>
          <a:lstStyle/>
          <a:p>
            <a:pPr algn="l">
              <a:lnSpc>
                <a:spcPts val="8400"/>
              </a:lnSpc>
            </a:pPr>
            <a:r>
              <a:rPr lang="en-US" sz="6000" b="true">
                <a:solidFill>
                  <a:srgbClr val="1E3A8A">
                    <a:alpha val="29804"/>
                  </a:srgbClr>
                </a:solidFill>
                <a:latin typeface="Montserrat Bold"/>
                <a:ea typeface="Montserrat Bold"/>
                <a:cs typeface="Montserrat Bold"/>
                <a:sym typeface="Montserrat Bold"/>
              </a:rPr>
              <a:t>04</a:t>
            </a:r>
          </a:p>
        </p:txBody>
      </p:sp>
      <p:sp>
        <p:nvSpPr>
          <p:cNvPr name="TextBox 11" id="11"/>
          <p:cNvSpPr txBox="true"/>
          <p:nvPr/>
        </p:nvSpPr>
        <p:spPr>
          <a:xfrm rot="0">
            <a:off x="1572777" y="3317006"/>
            <a:ext cx="2443344" cy="514350"/>
          </a:xfrm>
          <a:prstGeom prst="rect">
            <a:avLst/>
          </a:prstGeom>
        </p:spPr>
        <p:txBody>
          <a:bodyPr anchor="t" rtlCol="false" tIns="0" lIns="0" bIns="0" rIns="0">
            <a:spAutoFit/>
          </a:bodyPr>
          <a:lstStyle/>
          <a:p>
            <a:pPr algn="l">
              <a:lnSpc>
                <a:spcPts val="4200"/>
              </a:lnSpc>
            </a:pPr>
            <a:r>
              <a:rPr lang="en-US" sz="3000" b="true">
                <a:solidFill>
                  <a:srgbClr val="0B1D51"/>
                </a:solidFill>
                <a:latin typeface="Montserrat Bold"/>
                <a:ea typeface="Montserrat Bold"/>
                <a:cs typeface="Montserrat Bold"/>
                <a:sym typeface="Montserrat Bold"/>
              </a:rPr>
              <a:t>The Crime</a:t>
            </a:r>
          </a:p>
        </p:txBody>
      </p:sp>
      <p:grpSp>
        <p:nvGrpSpPr>
          <p:cNvPr name="Group 12" id="12"/>
          <p:cNvGrpSpPr/>
          <p:nvPr/>
        </p:nvGrpSpPr>
        <p:grpSpPr>
          <a:xfrm rot="0">
            <a:off x="5206618" y="2899318"/>
            <a:ext cx="3054379" cy="949676"/>
            <a:chOff x="0" y="0"/>
            <a:chExt cx="4072505" cy="1266235"/>
          </a:xfrm>
        </p:grpSpPr>
        <p:sp>
          <p:nvSpPr>
            <p:cNvPr name="TextBox 13" id="13"/>
            <p:cNvSpPr txBox="true"/>
            <p:nvPr/>
          </p:nvSpPr>
          <p:spPr>
            <a:xfrm rot="0">
              <a:off x="0" y="-114300"/>
              <a:ext cx="1918976" cy="1333500"/>
            </a:xfrm>
            <a:prstGeom prst="rect">
              <a:avLst/>
            </a:prstGeom>
          </p:spPr>
          <p:txBody>
            <a:bodyPr anchor="t" rtlCol="false" tIns="0" lIns="0" bIns="0" rIns="0">
              <a:spAutoFit/>
            </a:bodyPr>
            <a:lstStyle/>
            <a:p>
              <a:pPr algn="l">
                <a:lnSpc>
                  <a:spcPts val="8400"/>
                </a:lnSpc>
              </a:pPr>
              <a:r>
                <a:rPr lang="en-US" sz="6000" b="true">
                  <a:solidFill>
                    <a:srgbClr val="1E3A8A">
                      <a:alpha val="29804"/>
                    </a:srgbClr>
                  </a:solidFill>
                  <a:latin typeface="Montserrat Bold"/>
                  <a:ea typeface="Montserrat Bold"/>
                  <a:cs typeface="Montserrat Bold"/>
                  <a:sym typeface="Montserrat Bold"/>
                </a:rPr>
                <a:t>02</a:t>
              </a:r>
            </a:p>
          </p:txBody>
        </p:sp>
        <p:sp>
          <p:nvSpPr>
            <p:cNvPr name="TextBox 14" id="14"/>
            <p:cNvSpPr txBox="true"/>
            <p:nvPr/>
          </p:nvSpPr>
          <p:spPr>
            <a:xfrm rot="0">
              <a:off x="887883" y="599485"/>
              <a:ext cx="3184622" cy="666750"/>
            </a:xfrm>
            <a:prstGeom prst="rect">
              <a:avLst/>
            </a:prstGeom>
          </p:spPr>
          <p:txBody>
            <a:bodyPr anchor="t" rtlCol="false" tIns="0" lIns="0" bIns="0" rIns="0">
              <a:spAutoFit/>
            </a:bodyPr>
            <a:lstStyle/>
            <a:p>
              <a:pPr algn="l">
                <a:lnSpc>
                  <a:spcPts val="4200"/>
                </a:lnSpc>
              </a:pPr>
              <a:r>
                <a:rPr lang="en-US" sz="3000" b="true">
                  <a:solidFill>
                    <a:srgbClr val="0B1D51"/>
                  </a:solidFill>
                  <a:latin typeface="Montserrat Bold"/>
                  <a:ea typeface="Montserrat Bold"/>
                  <a:cs typeface="Montserrat Bold"/>
                  <a:sym typeface="Montserrat Bold"/>
                </a:rPr>
                <a:t>Flock Lead</a:t>
              </a:r>
            </a:p>
          </p:txBody>
        </p:sp>
      </p:grpSp>
      <p:sp>
        <p:nvSpPr>
          <p:cNvPr name="TextBox 15" id="15"/>
          <p:cNvSpPr txBox="true"/>
          <p:nvPr/>
        </p:nvSpPr>
        <p:spPr>
          <a:xfrm rot="0">
            <a:off x="9884261" y="3299368"/>
            <a:ext cx="2691970" cy="514350"/>
          </a:xfrm>
          <a:prstGeom prst="rect">
            <a:avLst/>
          </a:prstGeom>
        </p:spPr>
        <p:txBody>
          <a:bodyPr anchor="t" rtlCol="false" tIns="0" lIns="0" bIns="0" rIns="0">
            <a:spAutoFit/>
          </a:bodyPr>
          <a:lstStyle/>
          <a:p>
            <a:pPr algn="l">
              <a:lnSpc>
                <a:spcPts val="4200"/>
              </a:lnSpc>
            </a:pPr>
            <a:r>
              <a:rPr lang="en-US" sz="3000" b="true">
                <a:solidFill>
                  <a:srgbClr val="0B1D51"/>
                </a:solidFill>
                <a:latin typeface="Montserrat Bold"/>
                <a:ea typeface="Montserrat Bold"/>
                <a:cs typeface="Montserrat Bold"/>
                <a:sym typeface="Montserrat Bold"/>
              </a:rPr>
              <a:t>Investigation</a:t>
            </a:r>
          </a:p>
        </p:txBody>
      </p:sp>
      <p:sp>
        <p:nvSpPr>
          <p:cNvPr name="TextBox 16" id="16"/>
          <p:cNvSpPr txBox="true"/>
          <p:nvPr/>
        </p:nvSpPr>
        <p:spPr>
          <a:xfrm rot="0">
            <a:off x="14802547" y="3317007"/>
            <a:ext cx="2914699" cy="514350"/>
          </a:xfrm>
          <a:prstGeom prst="rect">
            <a:avLst/>
          </a:prstGeom>
        </p:spPr>
        <p:txBody>
          <a:bodyPr anchor="t" rtlCol="false" tIns="0" lIns="0" bIns="0" rIns="0">
            <a:spAutoFit/>
          </a:bodyPr>
          <a:lstStyle/>
          <a:p>
            <a:pPr algn="l">
              <a:lnSpc>
                <a:spcPts val="4200"/>
              </a:lnSpc>
            </a:pPr>
            <a:r>
              <a:rPr lang="en-US" sz="3000" b="true">
                <a:solidFill>
                  <a:srgbClr val="0B1D51"/>
                </a:solidFill>
                <a:latin typeface="Montserrat Bold"/>
                <a:ea typeface="Montserrat Bold"/>
                <a:cs typeface="Montserrat Bold"/>
                <a:sym typeface="Montserrat Bold"/>
              </a:rPr>
              <a:t>Arrest</a:t>
            </a:r>
          </a:p>
        </p:txBody>
      </p:sp>
      <p:sp>
        <p:nvSpPr>
          <p:cNvPr name="TextBox 17" id="17"/>
          <p:cNvSpPr txBox="true"/>
          <p:nvPr/>
        </p:nvSpPr>
        <p:spPr>
          <a:xfrm rot="0">
            <a:off x="1000125" y="3868045"/>
            <a:ext cx="3260444" cy="3194685"/>
          </a:xfrm>
          <a:prstGeom prst="rect">
            <a:avLst/>
          </a:prstGeom>
        </p:spPr>
        <p:txBody>
          <a:bodyPr anchor="t" rtlCol="false" tIns="0" lIns="0" bIns="0" rIns="0">
            <a:spAutoFit/>
          </a:bodyPr>
          <a:lstStyle/>
          <a:p>
            <a:pPr algn="ctr" marL="0" indent="0" lvl="0">
              <a:lnSpc>
                <a:spcPts val="3079"/>
              </a:lnSpc>
              <a:spcBef>
                <a:spcPct val="0"/>
              </a:spcBef>
            </a:pPr>
            <a:r>
              <a:rPr lang="en-US" sz="2199" strike="noStrike" u="none">
                <a:solidFill>
                  <a:srgbClr val="000000"/>
                </a:solidFill>
                <a:latin typeface="Montserrat"/>
                <a:ea typeface="Montserrat"/>
                <a:cs typeface="Montserrat"/>
                <a:sym typeface="Montserrat"/>
              </a:rPr>
              <a:t>12/19/2020</a:t>
            </a:r>
          </a:p>
          <a:p>
            <a:pPr algn="ctr" marL="0" indent="0" lvl="0">
              <a:lnSpc>
                <a:spcPts val="2800"/>
              </a:lnSpc>
              <a:spcBef>
                <a:spcPct val="0"/>
              </a:spcBef>
            </a:pPr>
            <a:r>
              <a:rPr lang="en-US" sz="2000" strike="noStrike" u="none">
                <a:solidFill>
                  <a:srgbClr val="000000"/>
                </a:solidFill>
                <a:latin typeface="Montserrat"/>
                <a:ea typeface="Montserrat"/>
                <a:cs typeface="Montserrat"/>
                <a:sym typeface="Montserrat"/>
              </a:rPr>
              <a:t>A suspect, who was lying in wait, approached the victim as he approached his car. The suspect shot the victim several times, killing him, and then fled the scene.</a:t>
            </a:r>
          </a:p>
          <a:p>
            <a:pPr algn="ctr" marL="0" indent="0" lvl="0">
              <a:lnSpc>
                <a:spcPts val="2800"/>
              </a:lnSpc>
              <a:spcBef>
                <a:spcPct val="0"/>
              </a:spcBef>
            </a:pPr>
          </a:p>
        </p:txBody>
      </p:sp>
      <p:sp>
        <p:nvSpPr>
          <p:cNvPr name="TextBox 18" id="18"/>
          <p:cNvSpPr txBox="true"/>
          <p:nvPr/>
        </p:nvSpPr>
        <p:spPr>
          <a:xfrm rot="0">
            <a:off x="5319984" y="4221205"/>
            <a:ext cx="2999522" cy="2101850"/>
          </a:xfrm>
          <a:prstGeom prst="rect">
            <a:avLst/>
          </a:prstGeom>
        </p:spPr>
        <p:txBody>
          <a:bodyPr anchor="t" rtlCol="false" tIns="0" lIns="0" bIns="0" rIns="0">
            <a:spAutoFit/>
          </a:bodyPr>
          <a:lstStyle/>
          <a:p>
            <a:pPr algn="ctr" marL="0" indent="0" lvl="0">
              <a:lnSpc>
                <a:spcPts val="2800"/>
              </a:lnSpc>
              <a:spcBef>
                <a:spcPct val="0"/>
              </a:spcBef>
            </a:pPr>
            <a:r>
              <a:rPr lang="en-US" sz="2000" strike="noStrike" u="none">
                <a:solidFill>
                  <a:srgbClr val="000000"/>
                </a:solidFill>
                <a:latin typeface="Montserrat"/>
                <a:ea typeface="Montserrat"/>
                <a:cs typeface="Montserrat"/>
                <a:sym typeface="Montserrat"/>
              </a:rPr>
              <a:t>Through further investigation and with the assistance of a newly placed Flock camera, the suspect’s vehicle was identified.</a:t>
            </a:r>
          </a:p>
        </p:txBody>
      </p:sp>
      <p:sp>
        <p:nvSpPr>
          <p:cNvPr name="TextBox 19" id="19"/>
          <p:cNvSpPr txBox="true"/>
          <p:nvPr/>
        </p:nvSpPr>
        <p:spPr>
          <a:xfrm rot="0">
            <a:off x="9561995" y="4246605"/>
            <a:ext cx="2945654" cy="1397000"/>
          </a:xfrm>
          <a:prstGeom prst="rect">
            <a:avLst/>
          </a:prstGeom>
        </p:spPr>
        <p:txBody>
          <a:bodyPr anchor="t" rtlCol="false" tIns="0" lIns="0" bIns="0" rIns="0">
            <a:spAutoFit/>
          </a:bodyPr>
          <a:lstStyle/>
          <a:p>
            <a:pPr algn="ctr" marL="0" indent="0" lvl="0">
              <a:lnSpc>
                <a:spcPts val="2800"/>
              </a:lnSpc>
              <a:spcBef>
                <a:spcPct val="0"/>
              </a:spcBef>
            </a:pPr>
            <a:r>
              <a:rPr lang="en-US" sz="2000">
                <a:solidFill>
                  <a:srgbClr val="000000"/>
                </a:solidFill>
                <a:latin typeface="Montserrat"/>
                <a:ea typeface="Montserrat"/>
                <a:cs typeface="Montserrat"/>
                <a:sym typeface="Montserrat"/>
              </a:rPr>
              <a:t>A</a:t>
            </a:r>
            <a:r>
              <a:rPr lang="en-US" sz="2000" strike="noStrike" u="none">
                <a:solidFill>
                  <a:srgbClr val="000000"/>
                </a:solidFill>
                <a:latin typeface="Montserrat"/>
                <a:ea typeface="Montserrat"/>
                <a:cs typeface="Montserrat"/>
                <a:sym typeface="Montserrat"/>
              </a:rPr>
              <a:t> </a:t>
            </a:r>
            <a:r>
              <a:rPr lang="en-US" sz="2000" strike="noStrike" u="none">
                <a:solidFill>
                  <a:srgbClr val="000000"/>
                </a:solidFill>
                <a:latin typeface="Montserrat"/>
                <a:ea typeface="Montserrat"/>
                <a:cs typeface="Montserrat"/>
                <a:sym typeface="Montserrat"/>
              </a:rPr>
              <a:t>leng</a:t>
            </a:r>
            <a:r>
              <a:rPr lang="en-US" sz="2000" strike="noStrike" u="none">
                <a:solidFill>
                  <a:srgbClr val="000000"/>
                </a:solidFill>
                <a:latin typeface="Montserrat"/>
                <a:ea typeface="Montserrat"/>
                <a:cs typeface="Montserrat"/>
                <a:sym typeface="Montserrat"/>
              </a:rPr>
              <a:t>th</a:t>
            </a:r>
            <a:r>
              <a:rPr lang="en-US" sz="2000" strike="noStrike" u="none">
                <a:solidFill>
                  <a:srgbClr val="000000"/>
                </a:solidFill>
                <a:latin typeface="Montserrat"/>
                <a:ea typeface="Montserrat"/>
                <a:cs typeface="Montserrat"/>
                <a:sym typeface="Montserrat"/>
              </a:rPr>
              <a:t>y</a:t>
            </a:r>
            <a:r>
              <a:rPr lang="en-US" sz="2000" strike="noStrike" u="none">
                <a:solidFill>
                  <a:srgbClr val="000000"/>
                </a:solidFill>
                <a:latin typeface="Montserrat"/>
                <a:ea typeface="Montserrat"/>
                <a:cs typeface="Montserrat"/>
                <a:sym typeface="Montserrat"/>
              </a:rPr>
              <a:t> investigation led </a:t>
            </a:r>
            <a:r>
              <a:rPr lang="en-US" sz="2000" strike="noStrike" u="none">
                <a:solidFill>
                  <a:srgbClr val="000000"/>
                </a:solidFill>
                <a:latin typeface="Montserrat"/>
                <a:ea typeface="Montserrat"/>
                <a:cs typeface="Montserrat"/>
                <a:sym typeface="Montserrat"/>
              </a:rPr>
              <a:t>t</a:t>
            </a:r>
            <a:r>
              <a:rPr lang="en-US" sz="2000" strike="noStrike" u="none">
                <a:solidFill>
                  <a:srgbClr val="000000"/>
                </a:solidFill>
                <a:latin typeface="Montserrat"/>
                <a:ea typeface="Montserrat"/>
                <a:cs typeface="Montserrat"/>
                <a:sym typeface="Montserrat"/>
              </a:rPr>
              <a:t>o t</a:t>
            </a:r>
            <a:r>
              <a:rPr lang="en-US" sz="2000" strike="noStrike" u="none">
                <a:solidFill>
                  <a:srgbClr val="000000"/>
                </a:solidFill>
                <a:latin typeface="Montserrat"/>
                <a:ea typeface="Montserrat"/>
                <a:cs typeface="Montserrat"/>
                <a:sym typeface="Montserrat"/>
              </a:rPr>
              <a:t>wo</a:t>
            </a:r>
            <a:r>
              <a:rPr lang="en-US" sz="2000" strike="noStrike" u="none">
                <a:solidFill>
                  <a:srgbClr val="000000"/>
                </a:solidFill>
                <a:latin typeface="Montserrat"/>
                <a:ea typeface="Montserrat"/>
                <a:cs typeface="Montserrat"/>
                <a:sym typeface="Montserrat"/>
              </a:rPr>
              <a:t> suspects </a:t>
            </a:r>
            <a:r>
              <a:rPr lang="en-US" sz="2000" strike="noStrike" u="none">
                <a:solidFill>
                  <a:srgbClr val="000000"/>
                </a:solidFill>
                <a:latin typeface="Montserrat"/>
                <a:ea typeface="Montserrat"/>
                <a:cs typeface="Montserrat"/>
                <a:sym typeface="Montserrat"/>
              </a:rPr>
              <a:t>w</a:t>
            </a:r>
            <a:r>
              <a:rPr lang="en-US" sz="2000" strike="noStrike" u="none">
                <a:solidFill>
                  <a:srgbClr val="000000"/>
                </a:solidFill>
                <a:latin typeface="Montserrat"/>
                <a:ea typeface="Montserrat"/>
                <a:cs typeface="Montserrat"/>
                <a:sym typeface="Montserrat"/>
              </a:rPr>
              <a:t>h</a:t>
            </a:r>
            <a:r>
              <a:rPr lang="en-US" sz="2000" strike="noStrike" u="none">
                <a:solidFill>
                  <a:srgbClr val="000000"/>
                </a:solidFill>
                <a:latin typeface="Montserrat"/>
                <a:ea typeface="Montserrat"/>
                <a:cs typeface="Montserrat"/>
                <a:sym typeface="Montserrat"/>
              </a:rPr>
              <a:t>o </a:t>
            </a:r>
            <a:r>
              <a:rPr lang="en-US" sz="2000" strike="noStrike" u="none">
                <a:solidFill>
                  <a:srgbClr val="000000"/>
                </a:solidFill>
                <a:latin typeface="Montserrat"/>
                <a:ea typeface="Montserrat"/>
                <a:cs typeface="Montserrat"/>
                <a:sym typeface="Montserrat"/>
              </a:rPr>
              <a:t>l</a:t>
            </a:r>
            <a:r>
              <a:rPr lang="en-US" sz="2000" strike="noStrike" u="none">
                <a:solidFill>
                  <a:srgbClr val="000000"/>
                </a:solidFill>
                <a:latin typeface="Montserrat"/>
                <a:ea typeface="Montserrat"/>
                <a:cs typeface="Montserrat"/>
                <a:sym typeface="Montserrat"/>
              </a:rPr>
              <a:t>iv</a:t>
            </a:r>
            <a:r>
              <a:rPr lang="en-US" sz="2000" strike="noStrike" u="none">
                <a:solidFill>
                  <a:srgbClr val="000000"/>
                </a:solidFill>
                <a:latin typeface="Montserrat"/>
                <a:ea typeface="Montserrat"/>
                <a:cs typeface="Montserrat"/>
                <a:sym typeface="Montserrat"/>
              </a:rPr>
              <a:t>e</a:t>
            </a:r>
            <a:r>
              <a:rPr lang="en-US" sz="2000" strike="noStrike" u="none">
                <a:solidFill>
                  <a:srgbClr val="000000"/>
                </a:solidFill>
                <a:latin typeface="Montserrat"/>
                <a:ea typeface="Montserrat"/>
                <a:cs typeface="Montserrat"/>
                <a:sym typeface="Montserrat"/>
              </a:rPr>
              <a:t>d</a:t>
            </a:r>
            <a:r>
              <a:rPr lang="en-US" sz="2000" strike="noStrike" u="none">
                <a:solidFill>
                  <a:srgbClr val="000000"/>
                </a:solidFill>
                <a:latin typeface="Montserrat"/>
                <a:ea typeface="Montserrat"/>
                <a:cs typeface="Montserrat"/>
                <a:sym typeface="Montserrat"/>
              </a:rPr>
              <a:t> i</a:t>
            </a:r>
            <a:r>
              <a:rPr lang="en-US" sz="2000" strike="noStrike" u="none">
                <a:solidFill>
                  <a:srgbClr val="000000"/>
                </a:solidFill>
                <a:latin typeface="Montserrat"/>
                <a:ea typeface="Montserrat"/>
                <a:cs typeface="Montserrat"/>
                <a:sym typeface="Montserrat"/>
              </a:rPr>
              <a:t>n South</a:t>
            </a:r>
            <a:r>
              <a:rPr lang="en-US" sz="2000" strike="noStrike" u="none">
                <a:solidFill>
                  <a:srgbClr val="000000"/>
                </a:solidFill>
                <a:latin typeface="Montserrat"/>
                <a:ea typeface="Montserrat"/>
                <a:cs typeface="Montserrat"/>
                <a:sym typeface="Montserrat"/>
              </a:rPr>
              <a:t>e</a:t>
            </a:r>
            <a:r>
              <a:rPr lang="en-US" sz="2000" strike="noStrike" u="none">
                <a:solidFill>
                  <a:srgbClr val="000000"/>
                </a:solidFill>
                <a:latin typeface="Montserrat"/>
                <a:ea typeface="Montserrat"/>
                <a:cs typeface="Montserrat"/>
                <a:sym typeface="Montserrat"/>
              </a:rPr>
              <a:t>r</a:t>
            </a:r>
            <a:r>
              <a:rPr lang="en-US" sz="2000" strike="noStrike" u="none">
                <a:solidFill>
                  <a:srgbClr val="000000"/>
                </a:solidFill>
                <a:latin typeface="Montserrat"/>
                <a:ea typeface="Montserrat"/>
                <a:cs typeface="Montserrat"/>
                <a:sym typeface="Montserrat"/>
              </a:rPr>
              <a:t>n</a:t>
            </a:r>
            <a:r>
              <a:rPr lang="en-US" sz="2000" strike="noStrike" u="none">
                <a:solidFill>
                  <a:srgbClr val="000000"/>
                </a:solidFill>
                <a:latin typeface="Montserrat"/>
                <a:ea typeface="Montserrat"/>
                <a:cs typeface="Montserrat"/>
                <a:sym typeface="Montserrat"/>
              </a:rPr>
              <a:t> Cal</a:t>
            </a:r>
            <a:r>
              <a:rPr lang="en-US" sz="2000" strike="noStrike" u="none">
                <a:solidFill>
                  <a:srgbClr val="000000"/>
                </a:solidFill>
                <a:latin typeface="Montserrat"/>
                <a:ea typeface="Montserrat"/>
                <a:cs typeface="Montserrat"/>
                <a:sym typeface="Montserrat"/>
              </a:rPr>
              <a:t>if</a:t>
            </a:r>
            <a:r>
              <a:rPr lang="en-US" sz="2000" strike="noStrike" u="none">
                <a:solidFill>
                  <a:srgbClr val="000000"/>
                </a:solidFill>
                <a:latin typeface="Montserrat"/>
                <a:ea typeface="Montserrat"/>
                <a:cs typeface="Montserrat"/>
                <a:sym typeface="Montserrat"/>
              </a:rPr>
              <a:t>orn</a:t>
            </a:r>
            <a:r>
              <a:rPr lang="en-US" sz="2000" strike="noStrike" u="none">
                <a:solidFill>
                  <a:srgbClr val="000000"/>
                </a:solidFill>
                <a:latin typeface="Montserrat"/>
                <a:ea typeface="Montserrat"/>
                <a:cs typeface="Montserrat"/>
                <a:sym typeface="Montserrat"/>
              </a:rPr>
              <a:t>i</a:t>
            </a:r>
            <a:r>
              <a:rPr lang="en-US" sz="2000" strike="noStrike" u="none">
                <a:solidFill>
                  <a:srgbClr val="000000"/>
                </a:solidFill>
                <a:latin typeface="Montserrat"/>
                <a:ea typeface="Montserrat"/>
                <a:cs typeface="Montserrat"/>
                <a:sym typeface="Montserrat"/>
              </a:rPr>
              <a:t>a</a:t>
            </a:r>
            <a:r>
              <a:rPr lang="en-US" sz="2000" strike="noStrike" u="none">
                <a:solidFill>
                  <a:srgbClr val="000000"/>
                </a:solidFill>
                <a:latin typeface="Montserrat"/>
                <a:ea typeface="Montserrat"/>
                <a:cs typeface="Montserrat"/>
                <a:sym typeface="Montserrat"/>
              </a:rPr>
              <a:t>.</a:t>
            </a:r>
          </a:p>
        </p:txBody>
      </p:sp>
      <p:sp>
        <p:nvSpPr>
          <p:cNvPr name="TextBox 20" id="20"/>
          <p:cNvSpPr txBox="true"/>
          <p:nvPr/>
        </p:nvSpPr>
        <p:spPr>
          <a:xfrm rot="0">
            <a:off x="13903855" y="4246605"/>
            <a:ext cx="2889604" cy="1044575"/>
          </a:xfrm>
          <a:prstGeom prst="rect">
            <a:avLst/>
          </a:prstGeom>
        </p:spPr>
        <p:txBody>
          <a:bodyPr anchor="t" rtlCol="false" tIns="0" lIns="0" bIns="0" rIns="0">
            <a:spAutoFit/>
          </a:bodyPr>
          <a:lstStyle/>
          <a:p>
            <a:pPr algn="ctr" marL="0" indent="0" lvl="0">
              <a:lnSpc>
                <a:spcPts val="2800"/>
              </a:lnSpc>
              <a:spcBef>
                <a:spcPct val="0"/>
              </a:spcBef>
            </a:pPr>
            <a:r>
              <a:rPr lang="en-US" sz="2000" strike="noStrike" u="none">
                <a:solidFill>
                  <a:srgbClr val="000000"/>
                </a:solidFill>
                <a:latin typeface="Montserrat"/>
                <a:ea typeface="Montserrat"/>
                <a:cs typeface="Montserrat"/>
                <a:sym typeface="Montserrat"/>
              </a:rPr>
              <a:t>The two suspects were eventually located and arrested.</a:t>
            </a:r>
          </a:p>
        </p:txBody>
      </p:sp>
      <p:sp>
        <p:nvSpPr>
          <p:cNvPr name="AutoShape 21" id="21"/>
          <p:cNvSpPr/>
          <p:nvPr/>
        </p:nvSpPr>
        <p:spPr>
          <a:xfrm flipV="true">
            <a:off x="-117230" y="10287000"/>
            <a:ext cx="19376532" cy="12351"/>
          </a:xfrm>
          <a:prstGeom prst="line">
            <a:avLst/>
          </a:prstGeom>
          <a:ln cap="flat" w="85725">
            <a:solidFill>
              <a:srgbClr val="1E498A"/>
            </a:solidFill>
            <a:prstDash val="solid"/>
            <a:headEnd type="none" len="sm" w="sm"/>
            <a:tailEnd type="none" len="sm" w="sm"/>
          </a:ln>
        </p:spPr>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7390035"/>
            <a:ext cx="3753885" cy="2286000"/>
            <a:chOff x="0" y="0"/>
            <a:chExt cx="592734" cy="360956"/>
          </a:xfrm>
        </p:grpSpPr>
        <p:sp>
          <p:nvSpPr>
            <p:cNvPr name="Freeform 3" id="3"/>
            <p:cNvSpPr/>
            <p:nvPr/>
          </p:nvSpPr>
          <p:spPr>
            <a:xfrm flipH="false" flipV="false" rot="0">
              <a:off x="0" y="0"/>
              <a:ext cx="592734" cy="360956"/>
            </a:xfrm>
            <a:custGeom>
              <a:avLst/>
              <a:gdLst/>
              <a:ahLst/>
              <a:cxnLst/>
              <a:rect r="r" b="b" t="t" l="l"/>
              <a:pathLst>
                <a:path h="360956" w="592734">
                  <a:moveTo>
                    <a:pt x="0" y="0"/>
                  </a:moveTo>
                  <a:lnTo>
                    <a:pt x="592734" y="0"/>
                  </a:lnTo>
                  <a:lnTo>
                    <a:pt x="592734" y="360956"/>
                  </a:lnTo>
                  <a:lnTo>
                    <a:pt x="0" y="360956"/>
                  </a:lnTo>
                  <a:close/>
                </a:path>
              </a:pathLst>
            </a:custGeom>
            <a:blipFill>
              <a:blip r:embed="rId2"/>
              <a:stretch>
                <a:fillRect l="-2953" t="0" r="-2953" b="0"/>
              </a:stretch>
            </a:blipFill>
          </p:spPr>
        </p:sp>
      </p:grpSp>
      <p:sp>
        <p:nvSpPr>
          <p:cNvPr name="TextBox 4" id="4"/>
          <p:cNvSpPr txBox="true"/>
          <p:nvPr/>
        </p:nvSpPr>
        <p:spPr>
          <a:xfrm rot="0">
            <a:off x="5081865" y="7722494"/>
            <a:ext cx="5427042" cy="1104900"/>
          </a:xfrm>
          <a:prstGeom prst="rect">
            <a:avLst/>
          </a:prstGeom>
        </p:spPr>
        <p:txBody>
          <a:bodyPr anchor="t" rtlCol="false" tIns="0" lIns="0" bIns="0" rIns="0">
            <a:spAutoFit/>
          </a:bodyPr>
          <a:lstStyle/>
          <a:p>
            <a:pPr algn="l">
              <a:lnSpc>
                <a:spcPts val="2999"/>
              </a:lnSpc>
            </a:pPr>
            <a:r>
              <a:rPr lang="en-US" sz="2499" b="true">
                <a:solidFill>
                  <a:srgbClr val="1E3A8A"/>
                </a:solidFill>
                <a:latin typeface="Montserrat Bold"/>
                <a:ea typeface="Montserrat Bold"/>
                <a:cs typeface="Montserrat Bold"/>
                <a:sym typeface="Montserrat Bold"/>
              </a:rPr>
              <a:t>Had it n</a:t>
            </a:r>
            <a:r>
              <a:rPr lang="en-US" sz="2499" b="true">
                <a:solidFill>
                  <a:srgbClr val="1E3A8A"/>
                </a:solidFill>
                <a:latin typeface="Montserrat Bold"/>
                <a:ea typeface="Montserrat Bold"/>
                <a:cs typeface="Montserrat Bold"/>
                <a:sym typeface="Montserrat Bold"/>
              </a:rPr>
              <a:t>ot been for Flock, this could have caused a delay in tracking this suspect down. </a:t>
            </a:r>
          </a:p>
        </p:txBody>
      </p:sp>
      <p:sp>
        <p:nvSpPr>
          <p:cNvPr name="AutoShape 5" id="5"/>
          <p:cNvSpPr/>
          <p:nvPr/>
        </p:nvSpPr>
        <p:spPr>
          <a:xfrm>
            <a:off x="6502739" y="1528762"/>
            <a:ext cx="11794786" cy="0"/>
          </a:xfrm>
          <a:prstGeom prst="line">
            <a:avLst/>
          </a:prstGeom>
          <a:ln cap="flat" w="47625">
            <a:solidFill>
              <a:srgbClr val="A28231"/>
            </a:solidFill>
            <a:prstDash val="solid"/>
            <a:headEnd type="none" len="sm" w="sm"/>
            <a:tailEnd type="none" len="sm" w="sm"/>
          </a:ln>
        </p:spPr>
      </p:sp>
      <p:sp>
        <p:nvSpPr>
          <p:cNvPr name="TextBox 6" id="6"/>
          <p:cNvSpPr txBox="true"/>
          <p:nvPr/>
        </p:nvSpPr>
        <p:spPr>
          <a:xfrm rot="0">
            <a:off x="1005211" y="1119188"/>
            <a:ext cx="12552675" cy="845820"/>
          </a:xfrm>
          <a:prstGeom prst="rect">
            <a:avLst/>
          </a:prstGeom>
        </p:spPr>
        <p:txBody>
          <a:bodyPr anchor="t" rtlCol="false" tIns="0" lIns="0" bIns="0" rIns="0">
            <a:spAutoFit/>
          </a:bodyPr>
          <a:lstStyle/>
          <a:p>
            <a:pPr algn="l" marL="0" indent="0" lvl="0">
              <a:lnSpc>
                <a:spcPts val="6540"/>
              </a:lnSpc>
              <a:spcBef>
                <a:spcPct val="0"/>
              </a:spcBef>
            </a:pPr>
            <a:r>
              <a:rPr lang="en-US" b="true" sz="6000" spc="-390" strike="noStrike" u="none">
                <a:solidFill>
                  <a:srgbClr val="002557"/>
                </a:solidFill>
                <a:latin typeface="Montserrat Bold"/>
                <a:ea typeface="Montserrat Bold"/>
                <a:cs typeface="Montserrat Bold"/>
                <a:sym typeface="Montserrat Bold"/>
              </a:rPr>
              <a:t>Success Story</a:t>
            </a:r>
          </a:p>
        </p:txBody>
      </p:sp>
      <p:sp>
        <p:nvSpPr>
          <p:cNvPr name="TextBox 7" id="7"/>
          <p:cNvSpPr txBox="true"/>
          <p:nvPr/>
        </p:nvSpPr>
        <p:spPr>
          <a:xfrm rot="0">
            <a:off x="1028700" y="1917383"/>
            <a:ext cx="5390257" cy="422275"/>
          </a:xfrm>
          <a:prstGeom prst="rect">
            <a:avLst/>
          </a:prstGeom>
        </p:spPr>
        <p:txBody>
          <a:bodyPr anchor="t" rtlCol="false" tIns="0" lIns="0" bIns="0" rIns="0">
            <a:spAutoFit/>
          </a:bodyPr>
          <a:lstStyle/>
          <a:p>
            <a:pPr algn="ctr" marL="0" indent="0" lvl="0">
              <a:lnSpc>
                <a:spcPts val="3499"/>
              </a:lnSpc>
              <a:spcBef>
                <a:spcPct val="0"/>
              </a:spcBef>
            </a:pPr>
            <a:r>
              <a:rPr lang="en-US" sz="2499" strike="noStrike" u="none">
                <a:solidFill>
                  <a:srgbClr val="000000"/>
                </a:solidFill>
                <a:latin typeface="Canva Sans"/>
                <a:ea typeface="Canva Sans"/>
                <a:cs typeface="Canva Sans"/>
                <a:sym typeface="Canva Sans"/>
              </a:rPr>
              <a:t>A REAL IMPACT ON PUBLIC SAFETY</a:t>
            </a:r>
          </a:p>
        </p:txBody>
      </p:sp>
      <p:sp>
        <p:nvSpPr>
          <p:cNvPr name="TextBox 8" id="8"/>
          <p:cNvSpPr txBox="true"/>
          <p:nvPr/>
        </p:nvSpPr>
        <p:spPr>
          <a:xfrm rot="0">
            <a:off x="1028700" y="2767380"/>
            <a:ext cx="1850753" cy="1028700"/>
          </a:xfrm>
          <a:prstGeom prst="rect">
            <a:avLst/>
          </a:prstGeom>
        </p:spPr>
        <p:txBody>
          <a:bodyPr anchor="t" rtlCol="false" tIns="0" lIns="0" bIns="0" rIns="0">
            <a:spAutoFit/>
          </a:bodyPr>
          <a:lstStyle/>
          <a:p>
            <a:pPr algn="l">
              <a:lnSpc>
                <a:spcPts val="8400"/>
              </a:lnSpc>
            </a:pPr>
            <a:r>
              <a:rPr lang="en-US" sz="6000" b="true">
                <a:solidFill>
                  <a:srgbClr val="1E3A8A">
                    <a:alpha val="29804"/>
                  </a:srgbClr>
                </a:solidFill>
                <a:latin typeface="Montserrat Bold"/>
                <a:ea typeface="Montserrat Bold"/>
                <a:cs typeface="Montserrat Bold"/>
                <a:sym typeface="Montserrat Bold"/>
              </a:rPr>
              <a:t>01</a:t>
            </a:r>
          </a:p>
        </p:txBody>
      </p:sp>
      <p:sp>
        <p:nvSpPr>
          <p:cNvPr name="TextBox 9" id="9"/>
          <p:cNvSpPr txBox="true"/>
          <p:nvPr/>
        </p:nvSpPr>
        <p:spPr>
          <a:xfrm rot="0">
            <a:off x="9342434" y="2749742"/>
            <a:ext cx="1406310" cy="1028700"/>
          </a:xfrm>
          <a:prstGeom prst="rect">
            <a:avLst/>
          </a:prstGeom>
        </p:spPr>
        <p:txBody>
          <a:bodyPr anchor="t" rtlCol="false" tIns="0" lIns="0" bIns="0" rIns="0">
            <a:spAutoFit/>
          </a:bodyPr>
          <a:lstStyle/>
          <a:p>
            <a:pPr algn="l">
              <a:lnSpc>
                <a:spcPts val="8400"/>
              </a:lnSpc>
            </a:pPr>
            <a:r>
              <a:rPr lang="en-US" sz="6000" b="true">
                <a:solidFill>
                  <a:srgbClr val="1E3A8A">
                    <a:alpha val="29804"/>
                  </a:srgbClr>
                </a:solidFill>
                <a:latin typeface="Montserrat Bold"/>
                <a:ea typeface="Montserrat Bold"/>
                <a:cs typeface="Montserrat Bold"/>
                <a:sym typeface="Montserrat Bold"/>
              </a:rPr>
              <a:t>03</a:t>
            </a:r>
          </a:p>
        </p:txBody>
      </p:sp>
      <p:sp>
        <p:nvSpPr>
          <p:cNvPr name="TextBox 10" id="10"/>
          <p:cNvSpPr txBox="true"/>
          <p:nvPr/>
        </p:nvSpPr>
        <p:spPr>
          <a:xfrm rot="0">
            <a:off x="14057573" y="2767380"/>
            <a:ext cx="1291085" cy="1028700"/>
          </a:xfrm>
          <a:prstGeom prst="rect">
            <a:avLst/>
          </a:prstGeom>
        </p:spPr>
        <p:txBody>
          <a:bodyPr anchor="t" rtlCol="false" tIns="0" lIns="0" bIns="0" rIns="0">
            <a:spAutoFit/>
          </a:bodyPr>
          <a:lstStyle/>
          <a:p>
            <a:pPr algn="l">
              <a:lnSpc>
                <a:spcPts val="8400"/>
              </a:lnSpc>
            </a:pPr>
            <a:r>
              <a:rPr lang="en-US" sz="6000" b="true">
                <a:solidFill>
                  <a:srgbClr val="1E3A8A">
                    <a:alpha val="29804"/>
                  </a:srgbClr>
                </a:solidFill>
                <a:latin typeface="Montserrat Bold"/>
                <a:ea typeface="Montserrat Bold"/>
                <a:cs typeface="Montserrat Bold"/>
                <a:sym typeface="Montserrat Bold"/>
              </a:rPr>
              <a:t>04</a:t>
            </a:r>
          </a:p>
        </p:txBody>
      </p:sp>
      <p:sp>
        <p:nvSpPr>
          <p:cNvPr name="TextBox 11" id="11"/>
          <p:cNvSpPr txBox="true"/>
          <p:nvPr/>
        </p:nvSpPr>
        <p:spPr>
          <a:xfrm rot="0">
            <a:off x="1572777" y="3317006"/>
            <a:ext cx="2443344" cy="514350"/>
          </a:xfrm>
          <a:prstGeom prst="rect">
            <a:avLst/>
          </a:prstGeom>
        </p:spPr>
        <p:txBody>
          <a:bodyPr anchor="t" rtlCol="false" tIns="0" lIns="0" bIns="0" rIns="0">
            <a:spAutoFit/>
          </a:bodyPr>
          <a:lstStyle/>
          <a:p>
            <a:pPr algn="l">
              <a:lnSpc>
                <a:spcPts val="4200"/>
              </a:lnSpc>
            </a:pPr>
            <a:r>
              <a:rPr lang="en-US" sz="3000" b="true">
                <a:solidFill>
                  <a:srgbClr val="0B1D51"/>
                </a:solidFill>
                <a:latin typeface="Montserrat Bold"/>
                <a:ea typeface="Montserrat Bold"/>
                <a:cs typeface="Montserrat Bold"/>
                <a:sym typeface="Montserrat Bold"/>
              </a:rPr>
              <a:t>The Crime</a:t>
            </a:r>
          </a:p>
        </p:txBody>
      </p:sp>
      <p:grpSp>
        <p:nvGrpSpPr>
          <p:cNvPr name="Group 12" id="12"/>
          <p:cNvGrpSpPr/>
          <p:nvPr/>
        </p:nvGrpSpPr>
        <p:grpSpPr>
          <a:xfrm rot="0">
            <a:off x="5259355" y="2899318"/>
            <a:ext cx="3054379" cy="949676"/>
            <a:chOff x="0" y="0"/>
            <a:chExt cx="4072505" cy="1266235"/>
          </a:xfrm>
        </p:grpSpPr>
        <p:sp>
          <p:nvSpPr>
            <p:cNvPr name="TextBox 13" id="13"/>
            <p:cNvSpPr txBox="true"/>
            <p:nvPr/>
          </p:nvSpPr>
          <p:spPr>
            <a:xfrm rot="0">
              <a:off x="0" y="-114300"/>
              <a:ext cx="1918976" cy="1333500"/>
            </a:xfrm>
            <a:prstGeom prst="rect">
              <a:avLst/>
            </a:prstGeom>
          </p:spPr>
          <p:txBody>
            <a:bodyPr anchor="t" rtlCol="false" tIns="0" lIns="0" bIns="0" rIns="0">
              <a:spAutoFit/>
            </a:bodyPr>
            <a:lstStyle/>
            <a:p>
              <a:pPr algn="l">
                <a:lnSpc>
                  <a:spcPts val="8400"/>
                </a:lnSpc>
              </a:pPr>
              <a:r>
                <a:rPr lang="en-US" sz="6000" b="true">
                  <a:solidFill>
                    <a:srgbClr val="1E3A8A">
                      <a:alpha val="29804"/>
                    </a:srgbClr>
                  </a:solidFill>
                  <a:latin typeface="Montserrat Bold"/>
                  <a:ea typeface="Montserrat Bold"/>
                  <a:cs typeface="Montserrat Bold"/>
                  <a:sym typeface="Montserrat Bold"/>
                </a:rPr>
                <a:t>02</a:t>
              </a:r>
            </a:p>
          </p:txBody>
        </p:sp>
        <p:sp>
          <p:nvSpPr>
            <p:cNvPr name="TextBox 14" id="14"/>
            <p:cNvSpPr txBox="true"/>
            <p:nvPr/>
          </p:nvSpPr>
          <p:spPr>
            <a:xfrm rot="0">
              <a:off x="887883" y="599485"/>
              <a:ext cx="3184622" cy="666750"/>
            </a:xfrm>
            <a:prstGeom prst="rect">
              <a:avLst/>
            </a:prstGeom>
          </p:spPr>
          <p:txBody>
            <a:bodyPr anchor="t" rtlCol="false" tIns="0" lIns="0" bIns="0" rIns="0">
              <a:spAutoFit/>
            </a:bodyPr>
            <a:lstStyle/>
            <a:p>
              <a:pPr algn="l">
                <a:lnSpc>
                  <a:spcPts val="4200"/>
                </a:lnSpc>
              </a:pPr>
              <a:r>
                <a:rPr lang="en-US" sz="3000" b="true">
                  <a:solidFill>
                    <a:srgbClr val="0B1D51"/>
                  </a:solidFill>
                  <a:latin typeface="Montserrat Bold"/>
                  <a:ea typeface="Montserrat Bold"/>
                  <a:cs typeface="Montserrat Bold"/>
                  <a:sym typeface="Montserrat Bold"/>
                </a:rPr>
                <a:t>Flock Lead</a:t>
              </a:r>
            </a:p>
          </p:txBody>
        </p:sp>
      </p:grpSp>
      <p:sp>
        <p:nvSpPr>
          <p:cNvPr name="TextBox 15" id="15"/>
          <p:cNvSpPr txBox="true"/>
          <p:nvPr/>
        </p:nvSpPr>
        <p:spPr>
          <a:xfrm rot="0">
            <a:off x="9965573" y="3299368"/>
            <a:ext cx="2691970" cy="514350"/>
          </a:xfrm>
          <a:prstGeom prst="rect">
            <a:avLst/>
          </a:prstGeom>
        </p:spPr>
        <p:txBody>
          <a:bodyPr anchor="t" rtlCol="false" tIns="0" lIns="0" bIns="0" rIns="0">
            <a:spAutoFit/>
          </a:bodyPr>
          <a:lstStyle/>
          <a:p>
            <a:pPr algn="l">
              <a:lnSpc>
                <a:spcPts val="4200"/>
              </a:lnSpc>
            </a:pPr>
            <a:r>
              <a:rPr lang="en-US" sz="3000" b="true">
                <a:solidFill>
                  <a:srgbClr val="0B1D51"/>
                </a:solidFill>
                <a:latin typeface="Montserrat Bold"/>
                <a:ea typeface="Montserrat Bold"/>
                <a:cs typeface="Montserrat Bold"/>
                <a:sym typeface="Montserrat Bold"/>
              </a:rPr>
              <a:t>Investigation</a:t>
            </a:r>
          </a:p>
        </p:txBody>
      </p:sp>
      <p:sp>
        <p:nvSpPr>
          <p:cNvPr name="TextBox 16" id="16"/>
          <p:cNvSpPr txBox="true"/>
          <p:nvPr/>
        </p:nvSpPr>
        <p:spPr>
          <a:xfrm rot="0">
            <a:off x="14802547" y="3317007"/>
            <a:ext cx="2914699" cy="514350"/>
          </a:xfrm>
          <a:prstGeom prst="rect">
            <a:avLst/>
          </a:prstGeom>
        </p:spPr>
        <p:txBody>
          <a:bodyPr anchor="t" rtlCol="false" tIns="0" lIns="0" bIns="0" rIns="0">
            <a:spAutoFit/>
          </a:bodyPr>
          <a:lstStyle/>
          <a:p>
            <a:pPr algn="l">
              <a:lnSpc>
                <a:spcPts val="4200"/>
              </a:lnSpc>
            </a:pPr>
            <a:r>
              <a:rPr lang="en-US" sz="3000" b="true">
                <a:solidFill>
                  <a:srgbClr val="0B1D51"/>
                </a:solidFill>
                <a:latin typeface="Montserrat Bold"/>
                <a:ea typeface="Montserrat Bold"/>
                <a:cs typeface="Montserrat Bold"/>
                <a:sym typeface="Montserrat Bold"/>
              </a:rPr>
              <a:t>Arrest</a:t>
            </a:r>
          </a:p>
        </p:txBody>
      </p:sp>
      <p:sp>
        <p:nvSpPr>
          <p:cNvPr name="TextBox 17" id="17"/>
          <p:cNvSpPr txBox="true"/>
          <p:nvPr/>
        </p:nvSpPr>
        <p:spPr>
          <a:xfrm rot="0">
            <a:off x="1000125" y="3868045"/>
            <a:ext cx="3260444" cy="3194685"/>
          </a:xfrm>
          <a:prstGeom prst="rect">
            <a:avLst/>
          </a:prstGeom>
        </p:spPr>
        <p:txBody>
          <a:bodyPr anchor="t" rtlCol="false" tIns="0" lIns="0" bIns="0" rIns="0">
            <a:spAutoFit/>
          </a:bodyPr>
          <a:lstStyle/>
          <a:p>
            <a:pPr algn="ctr" marL="0" indent="0" lvl="0">
              <a:lnSpc>
                <a:spcPts val="3079"/>
              </a:lnSpc>
              <a:spcBef>
                <a:spcPct val="0"/>
              </a:spcBef>
            </a:pPr>
            <a:r>
              <a:rPr lang="en-US" sz="2199">
                <a:solidFill>
                  <a:srgbClr val="000000"/>
                </a:solidFill>
                <a:latin typeface="Montserrat"/>
                <a:ea typeface="Montserrat"/>
                <a:cs typeface="Montserrat"/>
                <a:sym typeface="Montserrat"/>
              </a:rPr>
              <a:t>8</a:t>
            </a:r>
            <a:r>
              <a:rPr lang="en-US" sz="2199" strike="noStrike" u="none">
                <a:solidFill>
                  <a:srgbClr val="000000"/>
                </a:solidFill>
                <a:latin typeface="Montserrat"/>
                <a:ea typeface="Montserrat"/>
                <a:cs typeface="Montserrat"/>
                <a:sym typeface="Montserrat"/>
              </a:rPr>
              <a:t>/04/2024</a:t>
            </a:r>
          </a:p>
          <a:p>
            <a:pPr algn="just" marL="0" indent="0" lvl="0">
              <a:lnSpc>
                <a:spcPts val="2800"/>
              </a:lnSpc>
              <a:spcBef>
                <a:spcPct val="0"/>
              </a:spcBef>
            </a:pPr>
            <a:r>
              <a:rPr lang="en-US" sz="2000" strike="noStrike" u="none">
                <a:solidFill>
                  <a:srgbClr val="000000"/>
                </a:solidFill>
                <a:latin typeface="Montserrat"/>
                <a:ea typeface="Montserrat"/>
                <a:cs typeface="Montserrat"/>
                <a:sym typeface="Montserrat"/>
              </a:rPr>
              <a:t>The suspect (victim’s boyfriend) killed his girlfriend, who was 9 months pregnant. After killing her, the suspect stole the victim’s car and fled the scene. </a:t>
            </a:r>
          </a:p>
          <a:p>
            <a:pPr algn="just" marL="0" indent="0" lvl="0">
              <a:lnSpc>
                <a:spcPts val="2800"/>
              </a:lnSpc>
              <a:spcBef>
                <a:spcPct val="0"/>
              </a:spcBef>
            </a:pPr>
          </a:p>
        </p:txBody>
      </p:sp>
      <p:sp>
        <p:nvSpPr>
          <p:cNvPr name="TextBox 18" id="18"/>
          <p:cNvSpPr txBox="true"/>
          <p:nvPr/>
        </p:nvSpPr>
        <p:spPr>
          <a:xfrm rot="0">
            <a:off x="5439951" y="4246605"/>
            <a:ext cx="2693187" cy="2101850"/>
          </a:xfrm>
          <a:prstGeom prst="rect">
            <a:avLst/>
          </a:prstGeom>
        </p:spPr>
        <p:txBody>
          <a:bodyPr anchor="t" rtlCol="false" tIns="0" lIns="0" bIns="0" rIns="0">
            <a:spAutoFit/>
          </a:bodyPr>
          <a:lstStyle/>
          <a:p>
            <a:pPr algn="ctr" marL="0" indent="0" lvl="0">
              <a:lnSpc>
                <a:spcPts val="2800"/>
              </a:lnSpc>
              <a:spcBef>
                <a:spcPct val="0"/>
              </a:spcBef>
            </a:pPr>
            <a:r>
              <a:rPr lang="en-US" sz="2000" strike="noStrike" u="none">
                <a:solidFill>
                  <a:srgbClr val="000000"/>
                </a:solidFill>
                <a:latin typeface="Montserrat"/>
                <a:ea typeface="Montserrat"/>
                <a:cs typeface="Montserrat"/>
                <a:sym typeface="Montserrat"/>
              </a:rPr>
              <a:t>Through further investigation and </a:t>
            </a:r>
            <a:r>
              <a:rPr lang="en-US" sz="2000" strike="noStrike" u="none">
                <a:solidFill>
                  <a:srgbClr val="000000"/>
                </a:solidFill>
                <a:latin typeface="Montserrat"/>
                <a:ea typeface="Montserrat"/>
                <a:cs typeface="Montserrat"/>
                <a:sym typeface="Montserrat"/>
              </a:rPr>
              <a:t>by</a:t>
            </a:r>
            <a:r>
              <a:rPr lang="en-US" sz="2000" strike="noStrike" u="none">
                <a:solidFill>
                  <a:srgbClr val="000000"/>
                </a:solidFill>
                <a:latin typeface="Montserrat"/>
                <a:ea typeface="Montserrat"/>
                <a:cs typeface="Montserrat"/>
                <a:sym typeface="Montserrat"/>
              </a:rPr>
              <a:t> </a:t>
            </a:r>
            <a:r>
              <a:rPr lang="en-US" sz="2000" strike="noStrike" u="none">
                <a:solidFill>
                  <a:srgbClr val="000000"/>
                </a:solidFill>
                <a:latin typeface="Montserrat"/>
                <a:ea typeface="Montserrat"/>
                <a:cs typeface="Montserrat"/>
                <a:sym typeface="Montserrat"/>
              </a:rPr>
              <a:t>u</a:t>
            </a:r>
            <a:r>
              <a:rPr lang="en-US" sz="2000" strike="noStrike" u="none">
                <a:solidFill>
                  <a:srgbClr val="000000"/>
                </a:solidFill>
                <a:latin typeface="Montserrat"/>
                <a:ea typeface="Montserrat"/>
                <a:cs typeface="Montserrat"/>
                <a:sym typeface="Montserrat"/>
              </a:rPr>
              <a:t>ti</a:t>
            </a:r>
            <a:r>
              <a:rPr lang="en-US" sz="2000" strike="noStrike" u="none">
                <a:solidFill>
                  <a:srgbClr val="000000"/>
                </a:solidFill>
                <a:latin typeface="Montserrat"/>
                <a:ea typeface="Montserrat"/>
                <a:cs typeface="Montserrat"/>
                <a:sym typeface="Montserrat"/>
              </a:rPr>
              <a:t>lizi</a:t>
            </a:r>
            <a:r>
              <a:rPr lang="en-US" sz="2000" strike="noStrike" u="none">
                <a:solidFill>
                  <a:srgbClr val="000000"/>
                </a:solidFill>
                <a:latin typeface="Montserrat"/>
                <a:ea typeface="Montserrat"/>
                <a:cs typeface="Montserrat"/>
                <a:sym typeface="Montserrat"/>
              </a:rPr>
              <a:t>n</a:t>
            </a:r>
            <a:r>
              <a:rPr lang="en-US" sz="2000" strike="noStrike" u="none">
                <a:solidFill>
                  <a:srgbClr val="000000"/>
                </a:solidFill>
                <a:latin typeface="Montserrat"/>
                <a:ea typeface="Montserrat"/>
                <a:cs typeface="Montserrat"/>
                <a:sym typeface="Montserrat"/>
              </a:rPr>
              <a:t>g</a:t>
            </a:r>
            <a:r>
              <a:rPr lang="en-US" sz="2000" strike="noStrike" u="none">
                <a:solidFill>
                  <a:srgbClr val="000000"/>
                </a:solidFill>
                <a:latin typeface="Montserrat"/>
                <a:ea typeface="Montserrat"/>
                <a:cs typeface="Montserrat"/>
                <a:sym typeface="Montserrat"/>
              </a:rPr>
              <a:t> </a:t>
            </a:r>
            <a:r>
              <a:rPr lang="en-US" sz="2000" strike="noStrike" u="none">
                <a:solidFill>
                  <a:srgbClr val="000000"/>
                </a:solidFill>
                <a:latin typeface="Montserrat"/>
                <a:ea typeface="Montserrat"/>
                <a:cs typeface="Montserrat"/>
                <a:sym typeface="Montserrat"/>
              </a:rPr>
              <a:t>Fl</a:t>
            </a:r>
            <a:r>
              <a:rPr lang="en-US" sz="2000" strike="noStrike" u="none">
                <a:solidFill>
                  <a:srgbClr val="000000"/>
                </a:solidFill>
                <a:latin typeface="Montserrat"/>
                <a:ea typeface="Montserrat"/>
                <a:cs typeface="Montserrat"/>
                <a:sym typeface="Montserrat"/>
              </a:rPr>
              <a:t>o</a:t>
            </a:r>
            <a:r>
              <a:rPr lang="en-US" sz="2000" strike="noStrike" u="none">
                <a:solidFill>
                  <a:srgbClr val="000000"/>
                </a:solidFill>
                <a:latin typeface="Montserrat"/>
                <a:ea typeface="Montserrat"/>
                <a:cs typeface="Montserrat"/>
                <a:sym typeface="Montserrat"/>
              </a:rPr>
              <a:t>ck,</a:t>
            </a:r>
            <a:r>
              <a:rPr lang="en-US" sz="2000" strike="noStrike" u="none">
                <a:solidFill>
                  <a:srgbClr val="000000"/>
                </a:solidFill>
                <a:latin typeface="Montserrat"/>
                <a:ea typeface="Montserrat"/>
                <a:cs typeface="Montserrat"/>
                <a:sym typeface="Montserrat"/>
              </a:rPr>
              <a:t> </a:t>
            </a:r>
            <a:r>
              <a:rPr lang="en-US" sz="2000" strike="noStrike" u="none">
                <a:solidFill>
                  <a:srgbClr val="000000"/>
                </a:solidFill>
                <a:latin typeface="Montserrat"/>
                <a:ea typeface="Montserrat"/>
                <a:cs typeface="Montserrat"/>
                <a:sym typeface="Montserrat"/>
              </a:rPr>
              <a:t>it</a:t>
            </a:r>
            <a:r>
              <a:rPr lang="en-US" sz="2000" strike="noStrike" u="none">
                <a:solidFill>
                  <a:srgbClr val="000000"/>
                </a:solidFill>
                <a:latin typeface="Montserrat"/>
                <a:ea typeface="Montserrat"/>
                <a:cs typeface="Montserrat"/>
                <a:sym typeface="Montserrat"/>
              </a:rPr>
              <a:t> w</a:t>
            </a:r>
            <a:r>
              <a:rPr lang="en-US" sz="2000" strike="noStrike" u="none">
                <a:solidFill>
                  <a:srgbClr val="000000"/>
                </a:solidFill>
                <a:latin typeface="Montserrat"/>
                <a:ea typeface="Montserrat"/>
                <a:cs typeface="Montserrat"/>
                <a:sym typeface="Montserrat"/>
              </a:rPr>
              <a:t>as</a:t>
            </a:r>
            <a:r>
              <a:rPr lang="en-US" sz="2000" strike="noStrike" u="none">
                <a:solidFill>
                  <a:srgbClr val="000000"/>
                </a:solidFill>
                <a:latin typeface="Montserrat"/>
                <a:ea typeface="Montserrat"/>
                <a:cs typeface="Montserrat"/>
                <a:sym typeface="Montserrat"/>
              </a:rPr>
              <a:t> l</a:t>
            </a:r>
            <a:r>
              <a:rPr lang="en-US" sz="2000" strike="noStrike" u="none">
                <a:solidFill>
                  <a:srgbClr val="000000"/>
                </a:solidFill>
                <a:latin typeface="Montserrat"/>
                <a:ea typeface="Montserrat"/>
                <a:cs typeface="Montserrat"/>
                <a:sym typeface="Montserrat"/>
              </a:rPr>
              <a:t>e</a:t>
            </a:r>
            <a:r>
              <a:rPr lang="en-US" sz="2000" strike="noStrike" u="none">
                <a:solidFill>
                  <a:srgbClr val="000000"/>
                </a:solidFill>
                <a:latin typeface="Montserrat"/>
                <a:ea typeface="Montserrat"/>
                <a:cs typeface="Montserrat"/>
                <a:sym typeface="Montserrat"/>
              </a:rPr>
              <a:t>a</a:t>
            </a:r>
            <a:r>
              <a:rPr lang="en-US" sz="2000" strike="noStrike" u="none">
                <a:solidFill>
                  <a:srgbClr val="000000"/>
                </a:solidFill>
                <a:latin typeface="Montserrat"/>
                <a:ea typeface="Montserrat"/>
                <a:cs typeface="Montserrat"/>
                <a:sym typeface="Montserrat"/>
              </a:rPr>
              <a:t>rn</a:t>
            </a:r>
            <a:r>
              <a:rPr lang="en-US" sz="2000" strike="noStrike" u="none">
                <a:solidFill>
                  <a:srgbClr val="000000"/>
                </a:solidFill>
                <a:latin typeface="Montserrat"/>
                <a:ea typeface="Montserrat"/>
                <a:cs typeface="Montserrat"/>
                <a:sym typeface="Montserrat"/>
              </a:rPr>
              <a:t>ed </a:t>
            </a:r>
            <a:r>
              <a:rPr lang="en-US" sz="2000" strike="noStrike" u="none">
                <a:solidFill>
                  <a:srgbClr val="000000"/>
                </a:solidFill>
                <a:latin typeface="Montserrat"/>
                <a:ea typeface="Montserrat"/>
                <a:cs typeface="Montserrat"/>
                <a:sym typeface="Montserrat"/>
              </a:rPr>
              <a:t>th</a:t>
            </a:r>
            <a:r>
              <a:rPr lang="en-US" sz="2000" strike="noStrike" u="none">
                <a:solidFill>
                  <a:srgbClr val="000000"/>
                </a:solidFill>
                <a:latin typeface="Montserrat"/>
                <a:ea typeface="Montserrat"/>
                <a:cs typeface="Montserrat"/>
                <a:sym typeface="Montserrat"/>
              </a:rPr>
              <a:t>a</a:t>
            </a:r>
            <a:r>
              <a:rPr lang="en-US" sz="2000" strike="noStrike" u="none">
                <a:solidFill>
                  <a:srgbClr val="000000"/>
                </a:solidFill>
                <a:latin typeface="Montserrat"/>
                <a:ea typeface="Montserrat"/>
                <a:cs typeface="Montserrat"/>
                <a:sym typeface="Montserrat"/>
              </a:rPr>
              <a:t>t</a:t>
            </a:r>
            <a:r>
              <a:rPr lang="en-US" sz="2000" strike="noStrike" u="none">
                <a:solidFill>
                  <a:srgbClr val="000000"/>
                </a:solidFill>
                <a:latin typeface="Montserrat"/>
                <a:ea typeface="Montserrat"/>
                <a:cs typeface="Montserrat"/>
                <a:sym typeface="Montserrat"/>
              </a:rPr>
              <a:t> the suspect h</a:t>
            </a:r>
            <a:r>
              <a:rPr lang="en-US" sz="2000" strike="noStrike" u="none">
                <a:solidFill>
                  <a:srgbClr val="000000"/>
                </a:solidFill>
                <a:latin typeface="Montserrat"/>
                <a:ea typeface="Montserrat"/>
                <a:cs typeface="Montserrat"/>
                <a:sym typeface="Montserrat"/>
              </a:rPr>
              <a:t>ad f</a:t>
            </a:r>
            <a:r>
              <a:rPr lang="en-US" sz="2000" strike="noStrike" u="none">
                <a:solidFill>
                  <a:srgbClr val="000000"/>
                </a:solidFill>
                <a:latin typeface="Montserrat"/>
                <a:ea typeface="Montserrat"/>
                <a:cs typeface="Montserrat"/>
                <a:sym typeface="Montserrat"/>
              </a:rPr>
              <a:t>le</a:t>
            </a:r>
            <a:r>
              <a:rPr lang="en-US" sz="2000" strike="noStrike" u="none">
                <a:solidFill>
                  <a:srgbClr val="000000"/>
                </a:solidFill>
                <a:latin typeface="Montserrat"/>
                <a:ea typeface="Montserrat"/>
                <a:cs typeface="Montserrat"/>
                <a:sym typeface="Montserrat"/>
              </a:rPr>
              <a:t>d</a:t>
            </a:r>
            <a:r>
              <a:rPr lang="en-US" sz="2000" strike="noStrike" u="none">
                <a:solidFill>
                  <a:srgbClr val="000000"/>
                </a:solidFill>
                <a:latin typeface="Montserrat"/>
                <a:ea typeface="Montserrat"/>
                <a:cs typeface="Montserrat"/>
                <a:sym typeface="Montserrat"/>
              </a:rPr>
              <a:t> </a:t>
            </a:r>
            <a:r>
              <a:rPr lang="en-US" sz="2000" strike="noStrike" u="none">
                <a:solidFill>
                  <a:srgbClr val="000000"/>
                </a:solidFill>
                <a:latin typeface="Montserrat"/>
                <a:ea typeface="Montserrat"/>
                <a:cs typeface="Montserrat"/>
                <a:sym typeface="Montserrat"/>
              </a:rPr>
              <a:t>to</a:t>
            </a:r>
            <a:r>
              <a:rPr lang="en-US" sz="2000" strike="noStrike" u="none">
                <a:solidFill>
                  <a:srgbClr val="000000"/>
                </a:solidFill>
                <a:latin typeface="Montserrat"/>
                <a:ea typeface="Montserrat"/>
                <a:cs typeface="Montserrat"/>
                <a:sym typeface="Montserrat"/>
              </a:rPr>
              <a:t> </a:t>
            </a:r>
            <a:r>
              <a:rPr lang="en-US" sz="2000" strike="noStrike" u="none">
                <a:solidFill>
                  <a:srgbClr val="000000"/>
                </a:solidFill>
                <a:latin typeface="Montserrat"/>
                <a:ea typeface="Montserrat"/>
                <a:cs typeface="Montserrat"/>
                <a:sym typeface="Montserrat"/>
              </a:rPr>
              <a:t>South</a:t>
            </a:r>
            <a:r>
              <a:rPr lang="en-US" sz="2000" strike="noStrike" u="none">
                <a:solidFill>
                  <a:srgbClr val="000000"/>
                </a:solidFill>
                <a:latin typeface="Montserrat"/>
                <a:ea typeface="Montserrat"/>
                <a:cs typeface="Montserrat"/>
                <a:sym typeface="Montserrat"/>
              </a:rPr>
              <a:t>e</a:t>
            </a:r>
            <a:r>
              <a:rPr lang="en-US" sz="2000" strike="noStrike" u="none">
                <a:solidFill>
                  <a:srgbClr val="000000"/>
                </a:solidFill>
                <a:latin typeface="Montserrat"/>
                <a:ea typeface="Montserrat"/>
                <a:cs typeface="Montserrat"/>
                <a:sym typeface="Montserrat"/>
              </a:rPr>
              <a:t>r</a:t>
            </a:r>
            <a:r>
              <a:rPr lang="en-US" sz="2000" strike="noStrike" u="none">
                <a:solidFill>
                  <a:srgbClr val="000000"/>
                </a:solidFill>
                <a:latin typeface="Montserrat"/>
                <a:ea typeface="Montserrat"/>
                <a:cs typeface="Montserrat"/>
                <a:sym typeface="Montserrat"/>
              </a:rPr>
              <a:t>n</a:t>
            </a:r>
            <a:r>
              <a:rPr lang="en-US" sz="2000" strike="noStrike" u="none">
                <a:solidFill>
                  <a:srgbClr val="000000"/>
                </a:solidFill>
                <a:latin typeface="Montserrat"/>
                <a:ea typeface="Montserrat"/>
                <a:cs typeface="Montserrat"/>
                <a:sym typeface="Montserrat"/>
              </a:rPr>
              <a:t> Cal</a:t>
            </a:r>
            <a:r>
              <a:rPr lang="en-US" sz="2000" strike="noStrike" u="none">
                <a:solidFill>
                  <a:srgbClr val="000000"/>
                </a:solidFill>
                <a:latin typeface="Montserrat"/>
                <a:ea typeface="Montserrat"/>
                <a:cs typeface="Montserrat"/>
                <a:sym typeface="Montserrat"/>
              </a:rPr>
              <a:t>if</a:t>
            </a:r>
            <a:r>
              <a:rPr lang="en-US" sz="2000" strike="noStrike" u="none">
                <a:solidFill>
                  <a:srgbClr val="000000"/>
                </a:solidFill>
                <a:latin typeface="Montserrat"/>
                <a:ea typeface="Montserrat"/>
                <a:cs typeface="Montserrat"/>
                <a:sym typeface="Montserrat"/>
              </a:rPr>
              <a:t>orn</a:t>
            </a:r>
            <a:r>
              <a:rPr lang="en-US" sz="2000" strike="noStrike" u="none">
                <a:solidFill>
                  <a:srgbClr val="000000"/>
                </a:solidFill>
                <a:latin typeface="Montserrat"/>
                <a:ea typeface="Montserrat"/>
                <a:cs typeface="Montserrat"/>
                <a:sym typeface="Montserrat"/>
              </a:rPr>
              <a:t>i</a:t>
            </a:r>
            <a:r>
              <a:rPr lang="en-US" sz="2000" strike="noStrike" u="none">
                <a:solidFill>
                  <a:srgbClr val="000000"/>
                </a:solidFill>
                <a:latin typeface="Montserrat"/>
                <a:ea typeface="Montserrat"/>
                <a:cs typeface="Montserrat"/>
                <a:sym typeface="Montserrat"/>
              </a:rPr>
              <a:t>a</a:t>
            </a:r>
            <a:r>
              <a:rPr lang="en-US" sz="2000" strike="noStrike" u="none">
                <a:solidFill>
                  <a:srgbClr val="000000"/>
                </a:solidFill>
                <a:latin typeface="Montserrat"/>
                <a:ea typeface="Montserrat"/>
                <a:cs typeface="Montserrat"/>
                <a:sym typeface="Montserrat"/>
              </a:rPr>
              <a:t>.</a:t>
            </a:r>
          </a:p>
        </p:txBody>
      </p:sp>
      <p:sp>
        <p:nvSpPr>
          <p:cNvPr name="TextBox 19" id="19"/>
          <p:cNvSpPr txBox="true"/>
          <p:nvPr/>
        </p:nvSpPr>
        <p:spPr>
          <a:xfrm rot="0">
            <a:off x="9385963" y="4109345"/>
            <a:ext cx="3231869" cy="1749425"/>
          </a:xfrm>
          <a:prstGeom prst="rect">
            <a:avLst/>
          </a:prstGeom>
        </p:spPr>
        <p:txBody>
          <a:bodyPr anchor="t" rtlCol="false" tIns="0" lIns="0" bIns="0" rIns="0">
            <a:spAutoFit/>
          </a:bodyPr>
          <a:lstStyle/>
          <a:p>
            <a:pPr algn="ctr" marL="0" indent="0" lvl="0">
              <a:lnSpc>
                <a:spcPts val="2800"/>
              </a:lnSpc>
              <a:spcBef>
                <a:spcPct val="0"/>
              </a:spcBef>
            </a:pPr>
            <a:r>
              <a:rPr lang="en-US" sz="2000">
                <a:solidFill>
                  <a:srgbClr val="000000"/>
                </a:solidFill>
                <a:latin typeface="Montserrat"/>
                <a:ea typeface="Montserrat"/>
                <a:cs typeface="Montserrat"/>
                <a:sym typeface="Montserrat"/>
              </a:rPr>
              <a:t>In </a:t>
            </a:r>
            <a:r>
              <a:rPr lang="en-US" sz="2000" strike="noStrike" u="none">
                <a:solidFill>
                  <a:srgbClr val="000000"/>
                </a:solidFill>
                <a:latin typeface="Montserrat"/>
                <a:ea typeface="Montserrat"/>
                <a:cs typeface="Montserrat"/>
                <a:sym typeface="Montserrat"/>
              </a:rPr>
              <a:t>coordination with Southern California law enforcement agencies, the suspect w</a:t>
            </a:r>
            <a:r>
              <a:rPr lang="en-US" sz="2000" strike="noStrike" u="none">
                <a:solidFill>
                  <a:srgbClr val="000000"/>
                </a:solidFill>
                <a:latin typeface="Montserrat"/>
                <a:ea typeface="Montserrat"/>
                <a:cs typeface="Montserrat"/>
                <a:sym typeface="Montserrat"/>
              </a:rPr>
              <a:t>as</a:t>
            </a:r>
            <a:r>
              <a:rPr lang="en-US" sz="2000" strike="noStrike" u="none">
                <a:solidFill>
                  <a:srgbClr val="000000"/>
                </a:solidFill>
                <a:latin typeface="Montserrat"/>
                <a:ea typeface="Montserrat"/>
                <a:cs typeface="Montserrat"/>
                <a:sym typeface="Montserrat"/>
              </a:rPr>
              <a:t> </a:t>
            </a:r>
            <a:r>
              <a:rPr lang="en-US" sz="2000" strike="noStrike" u="none">
                <a:solidFill>
                  <a:srgbClr val="000000"/>
                </a:solidFill>
                <a:latin typeface="Montserrat"/>
                <a:ea typeface="Montserrat"/>
                <a:cs typeface="Montserrat"/>
                <a:sym typeface="Montserrat"/>
              </a:rPr>
              <a:t>track</a:t>
            </a:r>
            <a:r>
              <a:rPr lang="en-US" sz="2000" strike="noStrike" u="none">
                <a:solidFill>
                  <a:srgbClr val="000000"/>
                </a:solidFill>
                <a:latin typeface="Montserrat"/>
                <a:ea typeface="Montserrat"/>
                <a:cs typeface="Montserrat"/>
                <a:sym typeface="Montserrat"/>
              </a:rPr>
              <a:t>ed down in the </a:t>
            </a:r>
            <a:r>
              <a:rPr lang="en-US" sz="2000" strike="noStrike" u="none">
                <a:solidFill>
                  <a:srgbClr val="000000"/>
                </a:solidFill>
                <a:latin typeface="Montserrat"/>
                <a:ea typeface="Montserrat"/>
                <a:cs typeface="Montserrat"/>
                <a:sym typeface="Montserrat"/>
              </a:rPr>
              <a:t>v</a:t>
            </a:r>
            <a:r>
              <a:rPr lang="en-US" sz="2000" strike="noStrike" u="none">
                <a:solidFill>
                  <a:srgbClr val="000000"/>
                </a:solidFill>
                <a:latin typeface="Montserrat"/>
                <a:ea typeface="Montserrat"/>
                <a:cs typeface="Montserrat"/>
                <a:sym typeface="Montserrat"/>
              </a:rPr>
              <a:t>ictim’s ca</a:t>
            </a:r>
            <a:r>
              <a:rPr lang="en-US" sz="2000" strike="noStrike" u="none">
                <a:solidFill>
                  <a:srgbClr val="000000"/>
                </a:solidFill>
                <a:latin typeface="Montserrat"/>
                <a:ea typeface="Montserrat"/>
                <a:cs typeface="Montserrat"/>
                <a:sym typeface="Montserrat"/>
              </a:rPr>
              <a:t>r</a:t>
            </a:r>
            <a:r>
              <a:rPr lang="en-US" sz="2000" strike="noStrike" u="none">
                <a:solidFill>
                  <a:srgbClr val="000000"/>
                </a:solidFill>
                <a:latin typeface="Montserrat"/>
                <a:ea typeface="Montserrat"/>
                <a:cs typeface="Montserrat"/>
                <a:sym typeface="Montserrat"/>
              </a:rPr>
              <a:t>.</a:t>
            </a:r>
          </a:p>
        </p:txBody>
      </p:sp>
      <p:sp>
        <p:nvSpPr>
          <p:cNvPr name="TextBox 20" id="20"/>
          <p:cNvSpPr txBox="true"/>
          <p:nvPr/>
        </p:nvSpPr>
        <p:spPr>
          <a:xfrm rot="0">
            <a:off x="13698106" y="4235585"/>
            <a:ext cx="3079541" cy="1044575"/>
          </a:xfrm>
          <a:prstGeom prst="rect">
            <a:avLst/>
          </a:prstGeom>
        </p:spPr>
        <p:txBody>
          <a:bodyPr anchor="t" rtlCol="false" tIns="0" lIns="0" bIns="0" rIns="0">
            <a:spAutoFit/>
          </a:bodyPr>
          <a:lstStyle/>
          <a:p>
            <a:pPr algn="ctr" marL="0" indent="0" lvl="0">
              <a:lnSpc>
                <a:spcPts val="2800"/>
              </a:lnSpc>
              <a:spcBef>
                <a:spcPct val="0"/>
              </a:spcBef>
            </a:pPr>
            <a:r>
              <a:rPr lang="en-US" sz="2000">
                <a:solidFill>
                  <a:srgbClr val="000000"/>
                </a:solidFill>
                <a:latin typeface="Montserrat"/>
                <a:ea typeface="Montserrat"/>
                <a:cs typeface="Montserrat"/>
                <a:sym typeface="Montserrat"/>
              </a:rPr>
              <a:t>Aft</a:t>
            </a:r>
            <a:r>
              <a:rPr lang="en-US" sz="2000" strike="noStrike" u="none">
                <a:solidFill>
                  <a:srgbClr val="000000"/>
                </a:solidFill>
                <a:latin typeface="Montserrat"/>
                <a:ea typeface="Montserrat"/>
                <a:cs typeface="Montserrat"/>
                <a:sym typeface="Montserrat"/>
              </a:rPr>
              <a:t>e</a:t>
            </a:r>
            <a:r>
              <a:rPr lang="en-US" sz="2000" strike="noStrike" u="none">
                <a:solidFill>
                  <a:srgbClr val="000000"/>
                </a:solidFill>
                <a:latin typeface="Montserrat"/>
                <a:ea typeface="Montserrat"/>
                <a:cs typeface="Montserrat"/>
                <a:sym typeface="Montserrat"/>
              </a:rPr>
              <a:t>r a</a:t>
            </a:r>
            <a:r>
              <a:rPr lang="en-US" sz="2000" strike="noStrike" u="none">
                <a:solidFill>
                  <a:srgbClr val="000000"/>
                </a:solidFill>
                <a:latin typeface="Montserrat"/>
                <a:ea typeface="Montserrat"/>
                <a:cs typeface="Montserrat"/>
                <a:sym typeface="Montserrat"/>
              </a:rPr>
              <a:t> </a:t>
            </a:r>
            <a:r>
              <a:rPr lang="en-US" sz="2000" strike="noStrike" u="none">
                <a:solidFill>
                  <a:srgbClr val="000000"/>
                </a:solidFill>
                <a:latin typeface="Montserrat"/>
                <a:ea typeface="Montserrat"/>
                <a:cs typeface="Montserrat"/>
                <a:sym typeface="Montserrat"/>
              </a:rPr>
              <a:t>s</a:t>
            </a:r>
            <a:r>
              <a:rPr lang="en-US" sz="2000" strike="noStrike" u="none">
                <a:solidFill>
                  <a:srgbClr val="000000"/>
                </a:solidFill>
                <a:latin typeface="Montserrat"/>
                <a:ea typeface="Montserrat"/>
                <a:cs typeface="Montserrat"/>
                <a:sym typeface="Montserrat"/>
              </a:rPr>
              <a:t>t</a:t>
            </a:r>
            <a:r>
              <a:rPr lang="en-US" sz="2000" strike="noStrike" u="none">
                <a:solidFill>
                  <a:srgbClr val="000000"/>
                </a:solidFill>
                <a:latin typeface="Montserrat"/>
                <a:ea typeface="Montserrat"/>
                <a:cs typeface="Montserrat"/>
                <a:sym typeface="Montserrat"/>
              </a:rPr>
              <a:t>and</a:t>
            </a:r>
            <a:r>
              <a:rPr lang="en-US" sz="2000" strike="noStrike" u="none">
                <a:solidFill>
                  <a:srgbClr val="000000"/>
                </a:solidFill>
                <a:latin typeface="Montserrat"/>
                <a:ea typeface="Montserrat"/>
                <a:cs typeface="Montserrat"/>
                <a:sym typeface="Montserrat"/>
              </a:rPr>
              <a:t>o</a:t>
            </a:r>
            <a:r>
              <a:rPr lang="en-US" sz="2000" strike="noStrike" u="none">
                <a:solidFill>
                  <a:srgbClr val="000000"/>
                </a:solidFill>
                <a:latin typeface="Montserrat"/>
                <a:ea typeface="Montserrat"/>
                <a:cs typeface="Montserrat"/>
                <a:sym typeface="Montserrat"/>
              </a:rPr>
              <a:t>ff with the</a:t>
            </a:r>
            <a:r>
              <a:rPr lang="en-US" sz="2000" strike="noStrike" u="none">
                <a:solidFill>
                  <a:srgbClr val="000000"/>
                </a:solidFill>
                <a:latin typeface="Montserrat"/>
                <a:ea typeface="Montserrat"/>
                <a:cs typeface="Montserrat"/>
                <a:sym typeface="Montserrat"/>
              </a:rPr>
              <a:t> suspect</a:t>
            </a:r>
            <a:r>
              <a:rPr lang="en-US" sz="2000" strike="noStrike" u="none">
                <a:solidFill>
                  <a:srgbClr val="000000"/>
                </a:solidFill>
                <a:latin typeface="Montserrat"/>
                <a:ea typeface="Montserrat"/>
                <a:cs typeface="Montserrat"/>
                <a:sym typeface="Montserrat"/>
              </a:rPr>
              <a:t>,</a:t>
            </a:r>
            <a:r>
              <a:rPr lang="en-US" sz="2000" strike="noStrike" u="none">
                <a:solidFill>
                  <a:srgbClr val="000000"/>
                </a:solidFill>
                <a:latin typeface="Montserrat"/>
                <a:ea typeface="Montserrat"/>
                <a:cs typeface="Montserrat"/>
                <a:sym typeface="Montserrat"/>
              </a:rPr>
              <a:t> </a:t>
            </a:r>
            <a:r>
              <a:rPr lang="en-US" sz="2000" strike="noStrike" u="none">
                <a:solidFill>
                  <a:srgbClr val="000000"/>
                </a:solidFill>
                <a:latin typeface="Montserrat"/>
                <a:ea typeface="Montserrat"/>
                <a:cs typeface="Montserrat"/>
                <a:sym typeface="Montserrat"/>
              </a:rPr>
              <a:t>h</a:t>
            </a:r>
            <a:r>
              <a:rPr lang="en-US" sz="2000" strike="noStrike" u="none">
                <a:solidFill>
                  <a:srgbClr val="000000"/>
                </a:solidFill>
                <a:latin typeface="Montserrat"/>
                <a:ea typeface="Montserrat"/>
                <a:cs typeface="Montserrat"/>
                <a:sym typeface="Montserrat"/>
              </a:rPr>
              <a:t>e </a:t>
            </a:r>
            <a:r>
              <a:rPr lang="en-US" sz="2000" strike="noStrike" u="none">
                <a:solidFill>
                  <a:srgbClr val="000000"/>
                </a:solidFill>
                <a:latin typeface="Montserrat"/>
                <a:ea typeface="Montserrat"/>
                <a:cs typeface="Montserrat"/>
                <a:sym typeface="Montserrat"/>
              </a:rPr>
              <a:t>w</a:t>
            </a:r>
            <a:r>
              <a:rPr lang="en-US" sz="2000" strike="noStrike" u="none">
                <a:solidFill>
                  <a:srgbClr val="000000"/>
                </a:solidFill>
                <a:latin typeface="Montserrat"/>
                <a:ea typeface="Montserrat"/>
                <a:cs typeface="Montserrat"/>
                <a:sym typeface="Montserrat"/>
              </a:rPr>
              <a:t>a</a:t>
            </a:r>
            <a:r>
              <a:rPr lang="en-US" sz="2000" strike="noStrike" u="none">
                <a:solidFill>
                  <a:srgbClr val="000000"/>
                </a:solidFill>
                <a:latin typeface="Montserrat"/>
                <a:ea typeface="Montserrat"/>
                <a:cs typeface="Montserrat"/>
                <a:sym typeface="Montserrat"/>
              </a:rPr>
              <a:t>s</a:t>
            </a:r>
            <a:r>
              <a:rPr lang="en-US" sz="2000" strike="noStrike" u="none">
                <a:solidFill>
                  <a:srgbClr val="000000"/>
                </a:solidFill>
                <a:latin typeface="Montserrat"/>
                <a:ea typeface="Montserrat"/>
                <a:cs typeface="Montserrat"/>
                <a:sym typeface="Montserrat"/>
              </a:rPr>
              <a:t> t</a:t>
            </a:r>
            <a:r>
              <a:rPr lang="en-US" sz="2000" strike="noStrike" u="none">
                <a:solidFill>
                  <a:srgbClr val="000000"/>
                </a:solidFill>
                <a:latin typeface="Montserrat"/>
                <a:ea typeface="Montserrat"/>
                <a:cs typeface="Montserrat"/>
                <a:sym typeface="Montserrat"/>
              </a:rPr>
              <a:t>ak</a:t>
            </a:r>
            <a:r>
              <a:rPr lang="en-US" sz="2000" strike="noStrike" u="none">
                <a:solidFill>
                  <a:srgbClr val="000000"/>
                </a:solidFill>
                <a:latin typeface="Montserrat"/>
                <a:ea typeface="Montserrat"/>
                <a:cs typeface="Montserrat"/>
                <a:sym typeface="Montserrat"/>
              </a:rPr>
              <a:t>e</a:t>
            </a:r>
            <a:r>
              <a:rPr lang="en-US" sz="2000" strike="noStrike" u="none">
                <a:solidFill>
                  <a:srgbClr val="000000"/>
                </a:solidFill>
                <a:latin typeface="Montserrat"/>
                <a:ea typeface="Montserrat"/>
                <a:cs typeface="Montserrat"/>
                <a:sym typeface="Montserrat"/>
              </a:rPr>
              <a:t>n</a:t>
            </a:r>
            <a:r>
              <a:rPr lang="en-US" sz="2000" strike="noStrike" u="none">
                <a:solidFill>
                  <a:srgbClr val="000000"/>
                </a:solidFill>
                <a:latin typeface="Montserrat"/>
                <a:ea typeface="Montserrat"/>
                <a:cs typeface="Montserrat"/>
                <a:sym typeface="Montserrat"/>
              </a:rPr>
              <a:t> </a:t>
            </a:r>
            <a:r>
              <a:rPr lang="en-US" sz="2000" strike="noStrike" u="none">
                <a:solidFill>
                  <a:srgbClr val="000000"/>
                </a:solidFill>
                <a:latin typeface="Montserrat"/>
                <a:ea typeface="Montserrat"/>
                <a:cs typeface="Montserrat"/>
                <a:sym typeface="Montserrat"/>
              </a:rPr>
              <a:t>i</a:t>
            </a:r>
            <a:r>
              <a:rPr lang="en-US" sz="2000" strike="noStrike" u="none">
                <a:solidFill>
                  <a:srgbClr val="000000"/>
                </a:solidFill>
                <a:latin typeface="Montserrat"/>
                <a:ea typeface="Montserrat"/>
                <a:cs typeface="Montserrat"/>
                <a:sym typeface="Montserrat"/>
              </a:rPr>
              <a:t>n</a:t>
            </a:r>
            <a:r>
              <a:rPr lang="en-US" sz="2000" strike="noStrike" u="none">
                <a:solidFill>
                  <a:srgbClr val="000000"/>
                </a:solidFill>
                <a:latin typeface="Montserrat"/>
                <a:ea typeface="Montserrat"/>
                <a:cs typeface="Montserrat"/>
                <a:sym typeface="Montserrat"/>
              </a:rPr>
              <a:t>to</a:t>
            </a:r>
            <a:r>
              <a:rPr lang="en-US" sz="2000" strike="noStrike" u="none">
                <a:solidFill>
                  <a:srgbClr val="000000"/>
                </a:solidFill>
                <a:latin typeface="Montserrat"/>
                <a:ea typeface="Montserrat"/>
                <a:cs typeface="Montserrat"/>
                <a:sym typeface="Montserrat"/>
              </a:rPr>
              <a:t> </a:t>
            </a:r>
            <a:r>
              <a:rPr lang="en-US" sz="2000" strike="noStrike" u="none">
                <a:solidFill>
                  <a:srgbClr val="000000"/>
                </a:solidFill>
                <a:latin typeface="Montserrat"/>
                <a:ea typeface="Montserrat"/>
                <a:cs typeface="Montserrat"/>
                <a:sym typeface="Montserrat"/>
              </a:rPr>
              <a:t>cu</a:t>
            </a:r>
            <a:r>
              <a:rPr lang="en-US" sz="2000" strike="noStrike" u="none">
                <a:solidFill>
                  <a:srgbClr val="000000"/>
                </a:solidFill>
                <a:latin typeface="Montserrat"/>
                <a:ea typeface="Montserrat"/>
                <a:cs typeface="Montserrat"/>
                <a:sym typeface="Montserrat"/>
              </a:rPr>
              <a:t>st</a:t>
            </a:r>
            <a:r>
              <a:rPr lang="en-US" sz="2000" strike="noStrike" u="none">
                <a:solidFill>
                  <a:srgbClr val="000000"/>
                </a:solidFill>
                <a:latin typeface="Montserrat"/>
                <a:ea typeface="Montserrat"/>
                <a:cs typeface="Montserrat"/>
                <a:sym typeface="Montserrat"/>
              </a:rPr>
              <a:t>o</a:t>
            </a:r>
            <a:r>
              <a:rPr lang="en-US" sz="2000" strike="noStrike" u="none">
                <a:solidFill>
                  <a:srgbClr val="000000"/>
                </a:solidFill>
                <a:latin typeface="Montserrat"/>
                <a:ea typeface="Montserrat"/>
                <a:cs typeface="Montserrat"/>
                <a:sym typeface="Montserrat"/>
              </a:rPr>
              <a:t>d</a:t>
            </a:r>
            <a:r>
              <a:rPr lang="en-US" sz="2000" strike="noStrike" u="none">
                <a:solidFill>
                  <a:srgbClr val="000000"/>
                </a:solidFill>
                <a:latin typeface="Montserrat"/>
                <a:ea typeface="Montserrat"/>
                <a:cs typeface="Montserrat"/>
                <a:sym typeface="Montserrat"/>
              </a:rPr>
              <a:t>y</a:t>
            </a:r>
            <a:r>
              <a:rPr lang="en-US" sz="2000" strike="noStrike" u="none">
                <a:solidFill>
                  <a:srgbClr val="000000"/>
                </a:solidFill>
                <a:latin typeface="Montserrat"/>
                <a:ea typeface="Montserrat"/>
                <a:cs typeface="Montserrat"/>
                <a:sym typeface="Montserrat"/>
              </a:rPr>
              <a:t>.</a:t>
            </a:r>
          </a:p>
        </p:txBody>
      </p:sp>
      <p:sp>
        <p:nvSpPr>
          <p:cNvPr name="TextBox 21" id="21"/>
          <p:cNvSpPr txBox="true"/>
          <p:nvPr/>
        </p:nvSpPr>
        <p:spPr>
          <a:xfrm rot="0">
            <a:off x="13946792" y="5608188"/>
            <a:ext cx="1291085" cy="1028700"/>
          </a:xfrm>
          <a:prstGeom prst="rect">
            <a:avLst/>
          </a:prstGeom>
        </p:spPr>
        <p:txBody>
          <a:bodyPr anchor="t" rtlCol="false" tIns="0" lIns="0" bIns="0" rIns="0">
            <a:spAutoFit/>
          </a:bodyPr>
          <a:lstStyle/>
          <a:p>
            <a:pPr algn="l">
              <a:lnSpc>
                <a:spcPts val="8400"/>
              </a:lnSpc>
            </a:pPr>
            <a:r>
              <a:rPr lang="en-US" sz="6000" b="true">
                <a:solidFill>
                  <a:srgbClr val="1E3A8A">
                    <a:alpha val="29804"/>
                  </a:srgbClr>
                </a:solidFill>
                <a:latin typeface="Montserrat Bold"/>
                <a:ea typeface="Montserrat Bold"/>
                <a:cs typeface="Montserrat Bold"/>
                <a:sym typeface="Montserrat Bold"/>
              </a:rPr>
              <a:t>05</a:t>
            </a:r>
          </a:p>
        </p:txBody>
      </p:sp>
      <p:sp>
        <p:nvSpPr>
          <p:cNvPr name="TextBox 22" id="22"/>
          <p:cNvSpPr txBox="true"/>
          <p:nvPr/>
        </p:nvSpPr>
        <p:spPr>
          <a:xfrm rot="0">
            <a:off x="14691766" y="6157814"/>
            <a:ext cx="2914699" cy="514350"/>
          </a:xfrm>
          <a:prstGeom prst="rect">
            <a:avLst/>
          </a:prstGeom>
        </p:spPr>
        <p:txBody>
          <a:bodyPr anchor="t" rtlCol="false" tIns="0" lIns="0" bIns="0" rIns="0">
            <a:spAutoFit/>
          </a:bodyPr>
          <a:lstStyle/>
          <a:p>
            <a:pPr algn="l">
              <a:lnSpc>
                <a:spcPts val="4200"/>
              </a:lnSpc>
            </a:pPr>
            <a:r>
              <a:rPr lang="en-US" sz="3000" b="true">
                <a:solidFill>
                  <a:srgbClr val="0B1D51"/>
                </a:solidFill>
                <a:latin typeface="Montserrat Bold"/>
                <a:ea typeface="Montserrat Bold"/>
                <a:cs typeface="Montserrat Bold"/>
                <a:sym typeface="Montserrat Bold"/>
              </a:rPr>
              <a:t>Justice</a:t>
            </a:r>
          </a:p>
        </p:txBody>
      </p:sp>
      <p:sp>
        <p:nvSpPr>
          <p:cNvPr name="TextBox 23" id="23"/>
          <p:cNvSpPr txBox="true"/>
          <p:nvPr/>
        </p:nvSpPr>
        <p:spPr>
          <a:xfrm rot="0">
            <a:off x="13742642" y="6786464"/>
            <a:ext cx="3122250" cy="1397000"/>
          </a:xfrm>
          <a:prstGeom prst="rect">
            <a:avLst/>
          </a:prstGeom>
        </p:spPr>
        <p:txBody>
          <a:bodyPr anchor="t" rtlCol="false" tIns="0" lIns="0" bIns="0" rIns="0">
            <a:spAutoFit/>
          </a:bodyPr>
          <a:lstStyle/>
          <a:p>
            <a:pPr algn="ctr" marL="0" indent="0" lvl="0">
              <a:lnSpc>
                <a:spcPts val="2800"/>
              </a:lnSpc>
              <a:spcBef>
                <a:spcPct val="0"/>
              </a:spcBef>
            </a:pPr>
            <a:r>
              <a:rPr lang="en-US" sz="2000">
                <a:solidFill>
                  <a:srgbClr val="000000"/>
                </a:solidFill>
                <a:latin typeface="Montserrat"/>
                <a:ea typeface="Montserrat"/>
                <a:cs typeface="Montserrat"/>
                <a:sym typeface="Montserrat"/>
              </a:rPr>
              <a:t>Th</a:t>
            </a:r>
            <a:r>
              <a:rPr lang="en-US" sz="2000" strike="noStrike" u="none">
                <a:solidFill>
                  <a:srgbClr val="000000"/>
                </a:solidFill>
                <a:latin typeface="Montserrat"/>
                <a:ea typeface="Montserrat"/>
                <a:cs typeface="Montserrat"/>
                <a:sym typeface="Montserrat"/>
              </a:rPr>
              <a:t>e </a:t>
            </a:r>
            <a:r>
              <a:rPr lang="en-US" sz="2000" strike="noStrike" u="none">
                <a:solidFill>
                  <a:srgbClr val="000000"/>
                </a:solidFill>
                <a:latin typeface="Montserrat"/>
                <a:ea typeface="Montserrat"/>
                <a:cs typeface="Montserrat"/>
                <a:sym typeface="Montserrat"/>
              </a:rPr>
              <a:t>su</a:t>
            </a:r>
            <a:r>
              <a:rPr lang="en-US" sz="2000" strike="noStrike" u="none">
                <a:solidFill>
                  <a:srgbClr val="000000"/>
                </a:solidFill>
                <a:latin typeface="Montserrat"/>
                <a:ea typeface="Montserrat"/>
                <a:cs typeface="Montserrat"/>
                <a:sym typeface="Montserrat"/>
              </a:rPr>
              <a:t>s</a:t>
            </a:r>
            <a:r>
              <a:rPr lang="en-US" sz="2000" strike="noStrike" u="none">
                <a:solidFill>
                  <a:srgbClr val="000000"/>
                </a:solidFill>
                <a:latin typeface="Montserrat"/>
                <a:ea typeface="Montserrat"/>
                <a:cs typeface="Montserrat"/>
                <a:sym typeface="Montserrat"/>
              </a:rPr>
              <a:t>pec</a:t>
            </a:r>
            <a:r>
              <a:rPr lang="en-US" sz="2000" strike="noStrike" u="none">
                <a:solidFill>
                  <a:srgbClr val="000000"/>
                </a:solidFill>
                <a:latin typeface="Montserrat"/>
                <a:ea typeface="Montserrat"/>
                <a:cs typeface="Montserrat"/>
                <a:sym typeface="Montserrat"/>
              </a:rPr>
              <a:t>t wa</a:t>
            </a:r>
            <a:r>
              <a:rPr lang="en-US" sz="2000" strike="noStrike" u="none">
                <a:solidFill>
                  <a:srgbClr val="000000"/>
                </a:solidFill>
                <a:latin typeface="Montserrat"/>
                <a:ea typeface="Montserrat"/>
                <a:cs typeface="Montserrat"/>
                <a:sym typeface="Montserrat"/>
              </a:rPr>
              <a:t>s co</a:t>
            </a:r>
            <a:r>
              <a:rPr lang="en-US" sz="2000" strike="noStrike" u="none">
                <a:solidFill>
                  <a:srgbClr val="000000"/>
                </a:solidFill>
                <a:latin typeface="Montserrat"/>
                <a:ea typeface="Montserrat"/>
                <a:cs typeface="Montserrat"/>
                <a:sym typeface="Montserrat"/>
              </a:rPr>
              <a:t>n</a:t>
            </a:r>
            <a:r>
              <a:rPr lang="en-US" sz="2000" strike="noStrike" u="none">
                <a:solidFill>
                  <a:srgbClr val="000000"/>
                </a:solidFill>
                <a:latin typeface="Montserrat"/>
                <a:ea typeface="Montserrat"/>
                <a:cs typeface="Montserrat"/>
                <a:sym typeface="Montserrat"/>
              </a:rPr>
              <a:t>victe</a:t>
            </a:r>
            <a:r>
              <a:rPr lang="en-US" sz="2000" strike="noStrike" u="none">
                <a:solidFill>
                  <a:srgbClr val="000000"/>
                </a:solidFill>
                <a:latin typeface="Montserrat"/>
                <a:ea typeface="Montserrat"/>
                <a:cs typeface="Montserrat"/>
                <a:sym typeface="Montserrat"/>
              </a:rPr>
              <a:t>d</a:t>
            </a:r>
            <a:r>
              <a:rPr lang="en-US" sz="2000" strike="noStrike" u="none">
                <a:solidFill>
                  <a:srgbClr val="000000"/>
                </a:solidFill>
                <a:latin typeface="Montserrat"/>
                <a:ea typeface="Montserrat"/>
                <a:cs typeface="Montserrat"/>
                <a:sym typeface="Montserrat"/>
              </a:rPr>
              <a:t> </a:t>
            </a:r>
            <a:r>
              <a:rPr lang="en-US" sz="2000" strike="noStrike" u="none">
                <a:solidFill>
                  <a:srgbClr val="000000"/>
                </a:solidFill>
                <a:latin typeface="Montserrat"/>
                <a:ea typeface="Montserrat"/>
                <a:cs typeface="Montserrat"/>
                <a:sym typeface="Montserrat"/>
              </a:rPr>
              <a:t>of </a:t>
            </a:r>
            <a:r>
              <a:rPr lang="en-US" sz="2000" strike="noStrike" u="none">
                <a:solidFill>
                  <a:srgbClr val="000000"/>
                </a:solidFill>
                <a:latin typeface="Montserrat"/>
                <a:ea typeface="Montserrat"/>
                <a:cs typeface="Montserrat"/>
                <a:sym typeface="Montserrat"/>
              </a:rPr>
              <a:t>murd</a:t>
            </a:r>
            <a:r>
              <a:rPr lang="en-US" sz="2000" strike="noStrike" u="none">
                <a:solidFill>
                  <a:srgbClr val="000000"/>
                </a:solidFill>
                <a:latin typeface="Montserrat"/>
                <a:ea typeface="Montserrat"/>
                <a:cs typeface="Montserrat"/>
                <a:sym typeface="Montserrat"/>
              </a:rPr>
              <a:t>e</a:t>
            </a:r>
            <a:r>
              <a:rPr lang="en-US" sz="2000" strike="noStrike" u="none">
                <a:solidFill>
                  <a:srgbClr val="000000"/>
                </a:solidFill>
                <a:latin typeface="Montserrat"/>
                <a:ea typeface="Montserrat"/>
                <a:cs typeface="Montserrat"/>
                <a:sym typeface="Montserrat"/>
              </a:rPr>
              <a:t>r</a:t>
            </a:r>
            <a:r>
              <a:rPr lang="en-US" sz="2000" strike="noStrike" u="none">
                <a:solidFill>
                  <a:srgbClr val="000000"/>
                </a:solidFill>
                <a:latin typeface="Montserrat"/>
                <a:ea typeface="Montserrat"/>
                <a:cs typeface="Montserrat"/>
                <a:sym typeface="Montserrat"/>
              </a:rPr>
              <a:t> (x2) and is currently serving his senten</a:t>
            </a:r>
            <a:r>
              <a:rPr lang="en-US" sz="2000" strike="noStrike" u="none">
                <a:solidFill>
                  <a:srgbClr val="000000"/>
                </a:solidFill>
                <a:latin typeface="Montserrat"/>
                <a:ea typeface="Montserrat"/>
                <a:cs typeface="Montserrat"/>
                <a:sym typeface="Montserrat"/>
              </a:rPr>
              <a:t>ce</a:t>
            </a:r>
            <a:r>
              <a:rPr lang="en-US" sz="2000" strike="noStrike" u="none">
                <a:solidFill>
                  <a:srgbClr val="000000"/>
                </a:solidFill>
                <a:latin typeface="Montserrat"/>
                <a:ea typeface="Montserrat"/>
                <a:cs typeface="Montserrat"/>
                <a:sym typeface="Montserrat"/>
              </a:rPr>
              <a:t> in priso</a:t>
            </a:r>
            <a:r>
              <a:rPr lang="en-US" sz="2000" strike="noStrike" u="none">
                <a:solidFill>
                  <a:srgbClr val="000000"/>
                </a:solidFill>
                <a:latin typeface="Montserrat"/>
                <a:ea typeface="Montserrat"/>
                <a:cs typeface="Montserrat"/>
                <a:sym typeface="Montserrat"/>
              </a:rPr>
              <a:t>n</a:t>
            </a:r>
            <a:r>
              <a:rPr lang="en-US" sz="2000" strike="noStrike" u="none">
                <a:solidFill>
                  <a:srgbClr val="000000"/>
                </a:solidFill>
                <a:latin typeface="Montserrat"/>
                <a:ea typeface="Montserrat"/>
                <a:cs typeface="Montserrat"/>
                <a:sym typeface="Montserrat"/>
              </a:rPr>
              <a:t>.</a:t>
            </a:r>
          </a:p>
        </p:txBody>
      </p:sp>
      <p:sp>
        <p:nvSpPr>
          <p:cNvPr name="AutoShape 24" id="24"/>
          <p:cNvSpPr/>
          <p:nvPr/>
        </p:nvSpPr>
        <p:spPr>
          <a:xfrm flipV="true">
            <a:off x="-117230" y="10287000"/>
            <a:ext cx="19376532" cy="12351"/>
          </a:xfrm>
          <a:prstGeom prst="line">
            <a:avLst/>
          </a:prstGeom>
          <a:ln cap="flat" w="85725">
            <a:solidFill>
              <a:srgbClr val="1E498A"/>
            </a:solidFill>
            <a:prstDash val="solid"/>
            <a:headEnd type="none" len="sm" w="sm"/>
            <a:tailEnd type="none" len="sm" w="sm"/>
          </a:ln>
        </p:spPr>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217887" y="1508823"/>
            <a:ext cx="7181826" cy="0"/>
          </a:xfrm>
          <a:prstGeom prst="line">
            <a:avLst/>
          </a:prstGeom>
          <a:ln cap="flat" w="47625">
            <a:solidFill>
              <a:srgbClr val="A28231"/>
            </a:solidFill>
            <a:prstDash val="solid"/>
            <a:headEnd type="none" len="sm" w="sm"/>
            <a:tailEnd type="none" len="sm" w="sm"/>
          </a:ln>
        </p:spPr>
      </p:sp>
      <p:grpSp>
        <p:nvGrpSpPr>
          <p:cNvPr name="Group 3" id="3"/>
          <p:cNvGrpSpPr/>
          <p:nvPr/>
        </p:nvGrpSpPr>
        <p:grpSpPr>
          <a:xfrm rot="0">
            <a:off x="933718" y="2528347"/>
            <a:ext cx="817558" cy="817558"/>
            <a:chOff x="0" y="0"/>
            <a:chExt cx="1090078" cy="1090078"/>
          </a:xfrm>
        </p:grpSpPr>
        <p:grpSp>
          <p:nvGrpSpPr>
            <p:cNvPr name="Group 4" id="4"/>
            <p:cNvGrpSpPr/>
            <p:nvPr/>
          </p:nvGrpSpPr>
          <p:grpSpPr>
            <a:xfrm rot="0">
              <a:off x="0" y="0"/>
              <a:ext cx="1090078" cy="1090078"/>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5347E"/>
              </a:solidFill>
              <a:ln w="95250" cap="sq">
                <a:solidFill>
                  <a:srgbClr val="05347E"/>
                </a:solidFill>
                <a:prstDash val="solid"/>
                <a:miter/>
              </a:ln>
            </p:spPr>
          </p:sp>
          <p:sp>
            <p:nvSpPr>
              <p:cNvPr name="TextBox 6" id="6"/>
              <p:cNvSpPr txBox="true"/>
              <p:nvPr/>
            </p:nvSpPr>
            <p:spPr>
              <a:xfrm>
                <a:off x="76200" y="85725"/>
                <a:ext cx="660400" cy="650875"/>
              </a:xfrm>
              <a:prstGeom prst="rect">
                <a:avLst/>
              </a:prstGeom>
            </p:spPr>
            <p:txBody>
              <a:bodyPr anchor="ctr" rtlCol="false" tIns="14266" lIns="14266" bIns="14266" rIns="14266"/>
              <a:lstStyle/>
              <a:p>
                <a:pPr algn="ctr">
                  <a:lnSpc>
                    <a:spcPts val="1216"/>
                  </a:lnSpc>
                </a:pPr>
              </a:p>
            </p:txBody>
          </p:sp>
        </p:grpSp>
        <p:sp>
          <p:nvSpPr>
            <p:cNvPr name="Freeform 7" id="7"/>
            <p:cNvSpPr/>
            <p:nvPr/>
          </p:nvSpPr>
          <p:spPr>
            <a:xfrm flipH="false" flipV="false" rot="0">
              <a:off x="218298" y="216241"/>
              <a:ext cx="653483" cy="746837"/>
            </a:xfrm>
            <a:custGeom>
              <a:avLst/>
              <a:gdLst/>
              <a:ahLst/>
              <a:cxnLst/>
              <a:rect r="r" b="b" t="t" l="l"/>
              <a:pathLst>
                <a:path h="746837" w="653483">
                  <a:moveTo>
                    <a:pt x="0" y="0"/>
                  </a:moveTo>
                  <a:lnTo>
                    <a:pt x="653482" y="0"/>
                  </a:lnTo>
                  <a:lnTo>
                    <a:pt x="653482" y="746837"/>
                  </a:lnTo>
                  <a:lnTo>
                    <a:pt x="0" y="74683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8" id="8"/>
          <p:cNvGrpSpPr/>
          <p:nvPr/>
        </p:nvGrpSpPr>
        <p:grpSpPr>
          <a:xfrm rot="0">
            <a:off x="952768" y="4269831"/>
            <a:ext cx="817558" cy="817558"/>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5347E"/>
            </a:solidFill>
            <a:ln w="95250" cap="sq">
              <a:solidFill>
                <a:srgbClr val="05347E"/>
              </a:solidFill>
              <a:prstDash val="solid"/>
              <a:miter/>
            </a:ln>
          </p:spPr>
        </p:sp>
        <p:sp>
          <p:nvSpPr>
            <p:cNvPr name="TextBox 10" id="10"/>
            <p:cNvSpPr txBox="true"/>
            <p:nvPr/>
          </p:nvSpPr>
          <p:spPr>
            <a:xfrm>
              <a:off x="76200" y="85725"/>
              <a:ext cx="660400" cy="650875"/>
            </a:xfrm>
            <a:prstGeom prst="rect">
              <a:avLst/>
            </a:prstGeom>
          </p:spPr>
          <p:txBody>
            <a:bodyPr anchor="ctr" rtlCol="false" tIns="14266" lIns="14266" bIns="14266" rIns="14266"/>
            <a:lstStyle/>
            <a:p>
              <a:pPr algn="ctr">
                <a:lnSpc>
                  <a:spcPts val="1216"/>
                </a:lnSpc>
              </a:pPr>
            </a:p>
          </p:txBody>
        </p:sp>
      </p:grpSp>
      <p:sp>
        <p:nvSpPr>
          <p:cNvPr name="Freeform 11" id="11"/>
          <p:cNvSpPr/>
          <p:nvPr/>
        </p:nvSpPr>
        <p:spPr>
          <a:xfrm flipH="false" flipV="false" rot="0">
            <a:off x="1103649" y="4424580"/>
            <a:ext cx="515796" cy="508060"/>
          </a:xfrm>
          <a:custGeom>
            <a:avLst/>
            <a:gdLst/>
            <a:ahLst/>
            <a:cxnLst/>
            <a:rect r="r" b="b" t="t" l="l"/>
            <a:pathLst>
              <a:path h="508060" w="515796">
                <a:moveTo>
                  <a:pt x="0" y="0"/>
                </a:moveTo>
                <a:lnTo>
                  <a:pt x="515797" y="0"/>
                </a:lnTo>
                <a:lnTo>
                  <a:pt x="515797" y="508060"/>
                </a:lnTo>
                <a:lnTo>
                  <a:pt x="0" y="5080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2" id="12"/>
          <p:cNvGrpSpPr/>
          <p:nvPr/>
        </p:nvGrpSpPr>
        <p:grpSpPr>
          <a:xfrm rot="0">
            <a:off x="933718" y="5997700"/>
            <a:ext cx="817558" cy="817558"/>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5347E"/>
            </a:solidFill>
            <a:ln w="95250" cap="sq">
              <a:solidFill>
                <a:srgbClr val="05347E"/>
              </a:solidFill>
              <a:prstDash val="solid"/>
              <a:miter/>
            </a:ln>
          </p:spPr>
        </p:sp>
        <p:sp>
          <p:nvSpPr>
            <p:cNvPr name="TextBox 14" id="14"/>
            <p:cNvSpPr txBox="true"/>
            <p:nvPr/>
          </p:nvSpPr>
          <p:spPr>
            <a:xfrm>
              <a:off x="76200" y="85725"/>
              <a:ext cx="660400" cy="650875"/>
            </a:xfrm>
            <a:prstGeom prst="rect">
              <a:avLst/>
            </a:prstGeom>
          </p:spPr>
          <p:txBody>
            <a:bodyPr anchor="ctr" rtlCol="false" tIns="14266" lIns="14266" bIns="14266" rIns="14266"/>
            <a:lstStyle/>
            <a:p>
              <a:pPr algn="ctr">
                <a:lnSpc>
                  <a:spcPts val="1216"/>
                </a:lnSpc>
              </a:pPr>
            </a:p>
          </p:txBody>
        </p:sp>
      </p:grpSp>
      <p:sp>
        <p:nvSpPr>
          <p:cNvPr name="Freeform 15" id="15"/>
          <p:cNvSpPr/>
          <p:nvPr/>
        </p:nvSpPr>
        <p:spPr>
          <a:xfrm flipH="false" flipV="false" rot="0">
            <a:off x="1123084" y="6193648"/>
            <a:ext cx="438827" cy="425663"/>
          </a:xfrm>
          <a:custGeom>
            <a:avLst/>
            <a:gdLst/>
            <a:ahLst/>
            <a:cxnLst/>
            <a:rect r="r" b="b" t="t" l="l"/>
            <a:pathLst>
              <a:path h="425663" w="438827">
                <a:moveTo>
                  <a:pt x="0" y="0"/>
                </a:moveTo>
                <a:lnTo>
                  <a:pt x="438827" y="0"/>
                </a:lnTo>
                <a:lnTo>
                  <a:pt x="438827" y="425663"/>
                </a:lnTo>
                <a:lnTo>
                  <a:pt x="0" y="42566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6" id="16"/>
          <p:cNvGrpSpPr/>
          <p:nvPr/>
        </p:nvGrpSpPr>
        <p:grpSpPr>
          <a:xfrm rot="0">
            <a:off x="952768" y="7614653"/>
            <a:ext cx="817558" cy="817558"/>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5347E"/>
            </a:solidFill>
            <a:ln w="95250" cap="sq">
              <a:solidFill>
                <a:srgbClr val="05347E"/>
              </a:solidFill>
              <a:prstDash val="solid"/>
              <a:miter/>
            </a:ln>
          </p:spPr>
        </p:sp>
        <p:sp>
          <p:nvSpPr>
            <p:cNvPr name="TextBox 18" id="18"/>
            <p:cNvSpPr txBox="true"/>
            <p:nvPr/>
          </p:nvSpPr>
          <p:spPr>
            <a:xfrm>
              <a:off x="76200" y="85725"/>
              <a:ext cx="660400" cy="650875"/>
            </a:xfrm>
            <a:prstGeom prst="rect">
              <a:avLst/>
            </a:prstGeom>
          </p:spPr>
          <p:txBody>
            <a:bodyPr anchor="ctr" rtlCol="false" tIns="14266" lIns="14266" bIns="14266" rIns="14266"/>
            <a:lstStyle/>
            <a:p>
              <a:pPr algn="ctr">
                <a:lnSpc>
                  <a:spcPts val="1216"/>
                </a:lnSpc>
              </a:pPr>
            </a:p>
          </p:txBody>
        </p:sp>
      </p:grpSp>
      <p:sp>
        <p:nvSpPr>
          <p:cNvPr name="TextBox 19" id="19"/>
          <p:cNvSpPr txBox="true"/>
          <p:nvPr/>
        </p:nvSpPr>
        <p:spPr>
          <a:xfrm rot="0">
            <a:off x="2183767" y="2325410"/>
            <a:ext cx="8524248" cy="6061411"/>
          </a:xfrm>
          <a:prstGeom prst="rect">
            <a:avLst/>
          </a:prstGeom>
        </p:spPr>
        <p:txBody>
          <a:bodyPr anchor="t" rtlCol="false" tIns="0" lIns="0" bIns="0" rIns="0">
            <a:spAutoFit/>
          </a:bodyPr>
          <a:lstStyle/>
          <a:p>
            <a:pPr algn="l">
              <a:lnSpc>
                <a:spcPts val="3806"/>
              </a:lnSpc>
            </a:pPr>
            <a:r>
              <a:rPr lang="en-US" sz="2719">
                <a:solidFill>
                  <a:srgbClr val="1D1D1F"/>
                </a:solidFill>
                <a:latin typeface="Canva Sans"/>
                <a:ea typeface="Canva Sans"/>
                <a:cs typeface="Canva Sans"/>
                <a:sym typeface="Canva Sans"/>
              </a:rPr>
              <a:t>ALPR is one tool that helps our officers protect this community, but </a:t>
            </a:r>
            <a:r>
              <a:rPr lang="en-US" sz="2719" b="true">
                <a:solidFill>
                  <a:srgbClr val="17397F"/>
                </a:solidFill>
                <a:latin typeface="Canva Sans Bold"/>
                <a:ea typeface="Canva Sans Bold"/>
                <a:cs typeface="Canva Sans Bold"/>
                <a:sym typeface="Canva Sans Bold"/>
              </a:rPr>
              <a:t>how we use that tool matters</a:t>
            </a:r>
            <a:r>
              <a:rPr lang="en-US" sz="2719">
                <a:solidFill>
                  <a:srgbClr val="1D1D1F"/>
                </a:solidFill>
                <a:latin typeface="Canva Sans"/>
                <a:ea typeface="Canva Sans"/>
                <a:cs typeface="Canva Sans"/>
                <a:sym typeface="Canva Sans"/>
              </a:rPr>
              <a:t>.</a:t>
            </a:r>
          </a:p>
          <a:p>
            <a:pPr algn="l">
              <a:lnSpc>
                <a:spcPts val="3806"/>
              </a:lnSpc>
            </a:pPr>
          </a:p>
          <a:p>
            <a:pPr algn="l">
              <a:lnSpc>
                <a:spcPts val="3806"/>
              </a:lnSpc>
            </a:pPr>
            <a:r>
              <a:rPr lang="en-US" sz="2719">
                <a:solidFill>
                  <a:srgbClr val="1D1D1F"/>
                </a:solidFill>
                <a:latin typeface="Canva Sans"/>
                <a:ea typeface="Canva Sans"/>
                <a:cs typeface="Canva Sans"/>
                <a:sym typeface="Canva Sans"/>
              </a:rPr>
              <a:t>Our commitment is to use it with </a:t>
            </a:r>
            <a:r>
              <a:rPr lang="en-US" sz="2719" b="true">
                <a:solidFill>
                  <a:srgbClr val="17397F"/>
                </a:solidFill>
                <a:latin typeface="Canva Sans Bold"/>
                <a:ea typeface="Canva Sans Bold"/>
                <a:cs typeface="Canva Sans Bold"/>
                <a:sym typeface="Canva Sans Bold"/>
              </a:rPr>
              <a:t>purpose</a:t>
            </a:r>
            <a:r>
              <a:rPr lang="en-US" sz="2719">
                <a:solidFill>
                  <a:srgbClr val="1D1D1F"/>
                </a:solidFill>
                <a:latin typeface="Canva Sans"/>
                <a:ea typeface="Canva Sans"/>
                <a:cs typeface="Canva Sans"/>
                <a:sym typeface="Canva Sans"/>
              </a:rPr>
              <a:t>, with </a:t>
            </a:r>
            <a:r>
              <a:rPr lang="en-US" sz="2719" b="true">
                <a:solidFill>
                  <a:srgbClr val="17397F"/>
                </a:solidFill>
                <a:latin typeface="Canva Sans Bold"/>
                <a:ea typeface="Canva Sans Bold"/>
                <a:cs typeface="Canva Sans Bold"/>
                <a:sym typeface="Canva Sans Bold"/>
              </a:rPr>
              <a:t>appropriate safeguards</a:t>
            </a:r>
            <a:r>
              <a:rPr lang="en-US" sz="2719">
                <a:solidFill>
                  <a:srgbClr val="1D1D1F"/>
                </a:solidFill>
                <a:latin typeface="Canva Sans"/>
                <a:ea typeface="Canva Sans"/>
                <a:cs typeface="Canva Sans"/>
                <a:sym typeface="Canva Sans"/>
              </a:rPr>
              <a:t>, and with </a:t>
            </a:r>
            <a:r>
              <a:rPr lang="en-US" sz="2719" b="true">
                <a:solidFill>
                  <a:srgbClr val="17397F"/>
                </a:solidFill>
                <a:latin typeface="Canva Sans Bold"/>
                <a:ea typeface="Canva Sans Bold"/>
                <a:cs typeface="Canva Sans Bold"/>
                <a:sym typeface="Canva Sans Bold"/>
              </a:rPr>
              <a:t>meaningful oversight</a:t>
            </a:r>
            <a:r>
              <a:rPr lang="en-US" sz="2719">
                <a:solidFill>
                  <a:srgbClr val="1D1D1F"/>
                </a:solidFill>
                <a:latin typeface="Canva Sans"/>
                <a:ea typeface="Canva Sans"/>
                <a:cs typeface="Canva Sans"/>
                <a:sym typeface="Canva Sans"/>
              </a:rPr>
              <a:t>.</a:t>
            </a:r>
          </a:p>
          <a:p>
            <a:pPr algn="l">
              <a:lnSpc>
                <a:spcPts val="3806"/>
              </a:lnSpc>
            </a:pPr>
          </a:p>
          <a:p>
            <a:pPr algn="l">
              <a:lnSpc>
                <a:spcPts val="3806"/>
              </a:lnSpc>
            </a:pPr>
            <a:r>
              <a:rPr lang="en-US" sz="2719">
                <a:solidFill>
                  <a:srgbClr val="1D1D1F"/>
                </a:solidFill>
                <a:latin typeface="Canva Sans"/>
                <a:ea typeface="Canva Sans"/>
                <a:cs typeface="Canva Sans"/>
                <a:sym typeface="Canva Sans"/>
              </a:rPr>
              <a:t>We will continue to </a:t>
            </a:r>
            <a:r>
              <a:rPr lang="en-US" sz="2719" b="true">
                <a:solidFill>
                  <a:srgbClr val="17397F"/>
                </a:solidFill>
                <a:latin typeface="Canva Sans Bold"/>
                <a:ea typeface="Canva Sans Bold"/>
                <a:cs typeface="Canva Sans Bold"/>
                <a:sym typeface="Canva Sans Bold"/>
              </a:rPr>
              <a:t>evaluate our practices</a:t>
            </a:r>
            <a:r>
              <a:rPr lang="en-US" sz="2719">
                <a:solidFill>
                  <a:srgbClr val="1D1D1F"/>
                </a:solidFill>
                <a:latin typeface="Canva Sans"/>
                <a:ea typeface="Canva Sans"/>
                <a:cs typeface="Canva Sans"/>
                <a:sym typeface="Canva Sans"/>
              </a:rPr>
              <a:t>, </a:t>
            </a:r>
            <a:r>
              <a:rPr lang="en-US" sz="2719" b="true">
                <a:solidFill>
                  <a:srgbClr val="17397F"/>
                </a:solidFill>
                <a:latin typeface="Canva Sans Bold"/>
                <a:ea typeface="Canva Sans Bold"/>
                <a:cs typeface="Canva Sans Bold"/>
                <a:sym typeface="Canva Sans Bold"/>
              </a:rPr>
              <a:t>protect privacy</a:t>
            </a:r>
            <a:r>
              <a:rPr lang="en-US" sz="2719">
                <a:solidFill>
                  <a:srgbClr val="1D1D1F"/>
                </a:solidFill>
                <a:latin typeface="Canva Sans"/>
                <a:ea typeface="Canva Sans"/>
                <a:cs typeface="Canva Sans"/>
                <a:sym typeface="Canva Sans"/>
              </a:rPr>
              <a:t>, and remain </a:t>
            </a:r>
            <a:r>
              <a:rPr lang="en-US" sz="2719" b="true">
                <a:solidFill>
                  <a:srgbClr val="17397F"/>
                </a:solidFill>
                <a:latin typeface="Canva Sans Bold"/>
                <a:ea typeface="Canva Sans Bold"/>
                <a:cs typeface="Canva Sans Bold"/>
                <a:sym typeface="Canva Sans Bold"/>
              </a:rPr>
              <a:t>transparent and accountable</a:t>
            </a:r>
            <a:r>
              <a:rPr lang="en-US" sz="2719">
                <a:solidFill>
                  <a:srgbClr val="1D1D1F"/>
                </a:solidFill>
                <a:latin typeface="Canva Sans"/>
                <a:ea typeface="Canva Sans"/>
                <a:cs typeface="Canva Sans"/>
                <a:sym typeface="Canva Sans"/>
              </a:rPr>
              <a:t> to the community we serve.</a:t>
            </a:r>
          </a:p>
          <a:p>
            <a:pPr algn="l">
              <a:lnSpc>
                <a:spcPts val="4086"/>
              </a:lnSpc>
            </a:pPr>
          </a:p>
          <a:p>
            <a:pPr algn="l">
              <a:lnSpc>
                <a:spcPts val="2963"/>
              </a:lnSpc>
            </a:pPr>
            <a:r>
              <a:rPr lang="en-US" sz="2719" b="true">
                <a:solidFill>
                  <a:srgbClr val="1D1D1F"/>
                </a:solidFill>
                <a:latin typeface="Canva Sans Bold"/>
                <a:ea typeface="Canva Sans Bold"/>
                <a:cs typeface="Canva Sans Bold"/>
                <a:sym typeface="Canva Sans Bold"/>
              </a:rPr>
              <a:t>Public safety and public trust </a:t>
            </a:r>
          </a:p>
          <a:p>
            <a:pPr algn="l" marL="0" indent="0" lvl="0">
              <a:lnSpc>
                <a:spcPts val="2963"/>
              </a:lnSpc>
            </a:pPr>
            <a:r>
              <a:rPr lang="en-US" b="true" sz="2719">
                <a:solidFill>
                  <a:srgbClr val="17397F"/>
                </a:solidFill>
                <a:latin typeface="Canva Sans Bold"/>
                <a:ea typeface="Canva Sans Bold"/>
                <a:cs typeface="Canva Sans Bold"/>
                <a:sym typeface="Canva Sans Bold"/>
              </a:rPr>
              <a:t>must always go hand in hand. </a:t>
            </a:r>
          </a:p>
        </p:txBody>
      </p:sp>
      <p:sp>
        <p:nvSpPr>
          <p:cNvPr name="Freeform 20" id="20"/>
          <p:cNvSpPr/>
          <p:nvPr/>
        </p:nvSpPr>
        <p:spPr>
          <a:xfrm flipH="false" flipV="false" rot="0">
            <a:off x="1103649" y="7794921"/>
            <a:ext cx="547330" cy="457021"/>
          </a:xfrm>
          <a:custGeom>
            <a:avLst/>
            <a:gdLst/>
            <a:ahLst/>
            <a:cxnLst/>
            <a:rect r="r" b="b" t="t" l="l"/>
            <a:pathLst>
              <a:path h="457021" w="547330">
                <a:moveTo>
                  <a:pt x="0" y="0"/>
                </a:moveTo>
                <a:lnTo>
                  <a:pt x="547331" y="0"/>
                </a:lnTo>
                <a:lnTo>
                  <a:pt x="547331" y="457021"/>
                </a:lnTo>
                <a:lnTo>
                  <a:pt x="0" y="45702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1" id="21"/>
          <p:cNvSpPr txBox="true"/>
          <p:nvPr/>
        </p:nvSpPr>
        <p:spPr>
          <a:xfrm rot="0">
            <a:off x="952768" y="709334"/>
            <a:ext cx="17054762" cy="854076"/>
          </a:xfrm>
          <a:prstGeom prst="rect">
            <a:avLst/>
          </a:prstGeom>
        </p:spPr>
        <p:txBody>
          <a:bodyPr anchor="t" rtlCol="false" tIns="0" lIns="0" bIns="0" rIns="0">
            <a:spAutoFit/>
          </a:bodyPr>
          <a:lstStyle/>
          <a:p>
            <a:pPr algn="l" marL="0" indent="0" lvl="0">
              <a:lnSpc>
                <a:spcPts val="6999"/>
              </a:lnSpc>
              <a:spcBef>
                <a:spcPct val="0"/>
              </a:spcBef>
            </a:pPr>
            <a:r>
              <a:rPr lang="en-US" b="true" sz="4999">
                <a:solidFill>
                  <a:srgbClr val="002557"/>
                </a:solidFill>
                <a:latin typeface="Open Sauce Bold"/>
                <a:ea typeface="Open Sauce Bold"/>
                <a:cs typeface="Open Sauce Bold"/>
                <a:sym typeface="Open Sauce Bold"/>
              </a:rPr>
              <a:t>Our Commitment to Our Community</a:t>
            </a:r>
          </a:p>
        </p:txBody>
      </p:sp>
      <p:sp>
        <p:nvSpPr>
          <p:cNvPr name="AutoShape 22" id="22"/>
          <p:cNvSpPr/>
          <p:nvPr/>
        </p:nvSpPr>
        <p:spPr>
          <a:xfrm flipV="true">
            <a:off x="-117230" y="10287000"/>
            <a:ext cx="19376532" cy="12351"/>
          </a:xfrm>
          <a:prstGeom prst="line">
            <a:avLst/>
          </a:prstGeom>
          <a:ln cap="flat" w="85725">
            <a:solidFill>
              <a:srgbClr val="1E498A"/>
            </a:solidFill>
            <a:prstDash val="solid"/>
            <a:headEnd type="none" len="sm" w="sm"/>
            <a:tailEnd type="none" len="sm" w="sm"/>
          </a:ln>
        </p:spPr>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833290" cy="1593725"/>
          </a:xfrm>
        </p:grpSpPr>
        <p:sp>
          <p:nvSpPr>
            <p:cNvPr name="Freeform 3" id="3"/>
            <p:cNvSpPr/>
            <p:nvPr/>
          </p:nvSpPr>
          <p:spPr>
            <a:xfrm flipH="false" flipV="false" rot="0">
              <a:off x="0" y="0"/>
              <a:ext cx="2833290" cy="1593725"/>
            </a:xfrm>
            <a:custGeom>
              <a:avLst/>
              <a:gdLst/>
              <a:ahLst/>
              <a:cxnLst/>
              <a:rect r="r" b="b" t="t" l="l"/>
              <a:pathLst>
                <a:path h="1593725" w="2833290">
                  <a:moveTo>
                    <a:pt x="0" y="0"/>
                  </a:moveTo>
                  <a:lnTo>
                    <a:pt x="2833290" y="0"/>
                  </a:lnTo>
                  <a:lnTo>
                    <a:pt x="2833290" y="1593725"/>
                  </a:lnTo>
                  <a:lnTo>
                    <a:pt x="0" y="1593725"/>
                  </a:lnTo>
                  <a:close/>
                </a:path>
              </a:pathLst>
            </a:custGeom>
            <a:blipFill>
              <a:blip r:embed="rId2"/>
              <a:stretch>
                <a:fillRect l="0" t="-28260" r="-52300" b="-40962"/>
              </a:stretch>
            </a:blipFill>
          </p:spPr>
        </p:sp>
      </p:grpSp>
      <p:sp>
        <p:nvSpPr>
          <p:cNvPr name="Freeform 4" id="4"/>
          <p:cNvSpPr/>
          <p:nvPr/>
        </p:nvSpPr>
        <p:spPr>
          <a:xfrm flipH="false" flipV="false" rot="-5400000">
            <a:off x="993569" y="-3997726"/>
            <a:ext cx="16230600" cy="18358261"/>
          </a:xfrm>
          <a:custGeom>
            <a:avLst/>
            <a:gdLst/>
            <a:ahLst/>
            <a:cxnLst/>
            <a:rect r="r" b="b" t="t" l="l"/>
            <a:pathLst>
              <a:path h="18358261" w="16230600">
                <a:moveTo>
                  <a:pt x="0" y="0"/>
                </a:moveTo>
                <a:lnTo>
                  <a:pt x="16230600" y="0"/>
                </a:lnTo>
                <a:lnTo>
                  <a:pt x="16230600" y="18358261"/>
                </a:lnTo>
                <a:lnTo>
                  <a:pt x="0" y="18358261"/>
                </a:lnTo>
                <a:lnTo>
                  <a:pt x="0" y="0"/>
                </a:lnTo>
                <a:close/>
              </a:path>
            </a:pathLst>
          </a:custGeom>
          <a:blipFill>
            <a:blip r:embed="rId3"/>
            <a:stretch>
              <a:fillRect l="-176217" t="0" r="-176217" b="0"/>
            </a:stretch>
          </a:blipFill>
        </p:spPr>
      </p:sp>
      <p:grpSp>
        <p:nvGrpSpPr>
          <p:cNvPr name="Group 5" id="5"/>
          <p:cNvGrpSpPr/>
          <p:nvPr/>
        </p:nvGrpSpPr>
        <p:grpSpPr>
          <a:xfrm rot="0">
            <a:off x="-499397" y="-272443"/>
            <a:ext cx="19002321" cy="10831887"/>
            <a:chOff x="0" y="0"/>
            <a:chExt cx="5004727" cy="2852843"/>
          </a:xfrm>
        </p:grpSpPr>
        <p:sp>
          <p:nvSpPr>
            <p:cNvPr name="Freeform 6" id="6"/>
            <p:cNvSpPr/>
            <p:nvPr/>
          </p:nvSpPr>
          <p:spPr>
            <a:xfrm flipH="false" flipV="false" rot="0">
              <a:off x="0" y="0"/>
              <a:ext cx="5004727" cy="2852843"/>
            </a:xfrm>
            <a:custGeom>
              <a:avLst/>
              <a:gdLst/>
              <a:ahLst/>
              <a:cxnLst/>
              <a:rect r="r" b="b" t="t" l="l"/>
              <a:pathLst>
                <a:path h="2852843" w="5004727">
                  <a:moveTo>
                    <a:pt x="0" y="0"/>
                  </a:moveTo>
                  <a:lnTo>
                    <a:pt x="5004727" y="0"/>
                  </a:lnTo>
                  <a:lnTo>
                    <a:pt x="5004727" y="2852843"/>
                  </a:lnTo>
                  <a:lnTo>
                    <a:pt x="0" y="2852843"/>
                  </a:lnTo>
                  <a:close/>
                </a:path>
              </a:pathLst>
            </a:custGeom>
            <a:gradFill rotWithShape="true">
              <a:gsLst>
                <a:gs pos="0">
                  <a:srgbClr val="000000">
                    <a:alpha val="59000"/>
                  </a:srgbClr>
                </a:gs>
                <a:gs pos="100000">
                  <a:srgbClr val="3253C7">
                    <a:alpha val="59000"/>
                  </a:srgbClr>
                </a:gs>
              </a:gsLst>
              <a:lin ang="16200000"/>
            </a:gradFill>
          </p:spPr>
        </p:sp>
        <p:sp>
          <p:nvSpPr>
            <p:cNvPr name="TextBox 7" id="7"/>
            <p:cNvSpPr txBox="true"/>
            <p:nvPr/>
          </p:nvSpPr>
          <p:spPr>
            <a:xfrm>
              <a:off x="0" y="19050"/>
              <a:ext cx="5004727" cy="2833793"/>
            </a:xfrm>
            <a:prstGeom prst="rect">
              <a:avLst/>
            </a:prstGeom>
          </p:spPr>
          <p:txBody>
            <a:bodyPr anchor="ctr" rtlCol="false" tIns="50800" lIns="50800" bIns="50800" rIns="50800"/>
            <a:lstStyle/>
            <a:p>
              <a:pPr algn="ctr">
                <a:lnSpc>
                  <a:spcPts val="2221"/>
                </a:lnSpc>
              </a:pPr>
            </a:p>
          </p:txBody>
        </p:sp>
      </p:grpSp>
      <p:sp>
        <p:nvSpPr>
          <p:cNvPr name="Freeform 8" id="8"/>
          <p:cNvSpPr/>
          <p:nvPr/>
        </p:nvSpPr>
        <p:spPr>
          <a:xfrm flipH="false" flipV="false" rot="-5400000">
            <a:off x="-4449714" y="2413421"/>
            <a:ext cx="26920720" cy="19393858"/>
          </a:xfrm>
          <a:custGeom>
            <a:avLst/>
            <a:gdLst/>
            <a:ahLst/>
            <a:cxnLst/>
            <a:rect r="r" b="b" t="t" l="l"/>
            <a:pathLst>
              <a:path h="19393858" w="26920720">
                <a:moveTo>
                  <a:pt x="0" y="0"/>
                </a:moveTo>
                <a:lnTo>
                  <a:pt x="26920720" y="0"/>
                </a:lnTo>
                <a:lnTo>
                  <a:pt x="26920720" y="19393858"/>
                </a:lnTo>
                <a:lnTo>
                  <a:pt x="0" y="19393858"/>
                </a:lnTo>
                <a:lnTo>
                  <a:pt x="0" y="0"/>
                </a:lnTo>
                <a:close/>
              </a:path>
            </a:pathLst>
          </a:custGeom>
          <a:blipFill>
            <a:blip r:embed="rId4"/>
            <a:stretch>
              <a:fillRect l="-13276" t="0" r="-13276" b="-12428"/>
            </a:stretch>
          </a:blipFill>
        </p:spPr>
      </p:sp>
      <p:grpSp>
        <p:nvGrpSpPr>
          <p:cNvPr name="Group 9" id="9"/>
          <p:cNvGrpSpPr/>
          <p:nvPr/>
        </p:nvGrpSpPr>
        <p:grpSpPr>
          <a:xfrm rot="0">
            <a:off x="-686283" y="-1671688"/>
            <a:ext cx="21434549" cy="14280760"/>
            <a:chOff x="0" y="0"/>
            <a:chExt cx="28579399" cy="19041013"/>
          </a:xfrm>
        </p:grpSpPr>
        <p:sp>
          <p:nvSpPr>
            <p:cNvPr name="Freeform 10" id="10"/>
            <p:cNvSpPr/>
            <p:nvPr/>
          </p:nvSpPr>
          <p:spPr>
            <a:xfrm flipH="false" flipV="false" rot="-5400000">
              <a:off x="-3114096" y="4954117"/>
              <a:ext cx="17200993" cy="10972800"/>
            </a:xfrm>
            <a:custGeom>
              <a:avLst/>
              <a:gdLst/>
              <a:ahLst/>
              <a:cxnLst/>
              <a:rect r="r" b="b" t="t" l="l"/>
              <a:pathLst>
                <a:path h="10972800" w="17200993">
                  <a:moveTo>
                    <a:pt x="0" y="0"/>
                  </a:moveTo>
                  <a:lnTo>
                    <a:pt x="17200992" y="0"/>
                  </a:lnTo>
                  <a:lnTo>
                    <a:pt x="17200992" y="10972800"/>
                  </a:lnTo>
                  <a:lnTo>
                    <a:pt x="0" y="10972800"/>
                  </a:lnTo>
                  <a:lnTo>
                    <a:pt x="0" y="0"/>
                  </a:lnTo>
                  <a:close/>
                </a:path>
              </a:pathLst>
            </a:custGeom>
            <a:blipFill>
              <a:blip r:embed="rId4"/>
              <a:stretch>
                <a:fillRect l="0" t="0" r="0" b="0"/>
              </a:stretch>
            </a:blipFill>
          </p:spPr>
        </p:sp>
        <p:sp>
          <p:nvSpPr>
            <p:cNvPr name="Freeform 11" id="11"/>
            <p:cNvSpPr/>
            <p:nvPr/>
          </p:nvSpPr>
          <p:spPr>
            <a:xfrm flipH="false" flipV="false" rot="-5482550">
              <a:off x="4354193" y="-3221122"/>
              <a:ext cx="17145000" cy="24423965"/>
            </a:xfrm>
            <a:custGeom>
              <a:avLst/>
              <a:gdLst/>
              <a:ahLst/>
              <a:cxnLst/>
              <a:rect r="r" b="b" t="t" l="l"/>
              <a:pathLst>
                <a:path h="24423965" w="17145000">
                  <a:moveTo>
                    <a:pt x="0" y="0"/>
                  </a:moveTo>
                  <a:lnTo>
                    <a:pt x="17145000" y="0"/>
                  </a:lnTo>
                  <a:lnTo>
                    <a:pt x="17145000" y="24423965"/>
                  </a:lnTo>
                  <a:lnTo>
                    <a:pt x="0" y="24423965"/>
                  </a:lnTo>
                  <a:lnTo>
                    <a:pt x="0" y="0"/>
                  </a:lnTo>
                  <a:close/>
                </a:path>
              </a:pathLst>
            </a:custGeom>
            <a:blipFill>
              <a:blip r:embed="rId4"/>
              <a:stretch>
                <a:fillRect l="-71288" t="0" r="-71288" b="-8981"/>
              </a:stretch>
            </a:blipFill>
          </p:spPr>
        </p:sp>
        <p:sp>
          <p:nvSpPr>
            <p:cNvPr name="Freeform 12" id="12"/>
            <p:cNvSpPr/>
            <p:nvPr/>
          </p:nvSpPr>
          <p:spPr>
            <a:xfrm flipH="false" flipV="false" rot="-5482550">
              <a:off x="7315422" y="-3619342"/>
              <a:ext cx="17145000" cy="24978491"/>
            </a:xfrm>
            <a:custGeom>
              <a:avLst/>
              <a:gdLst/>
              <a:ahLst/>
              <a:cxnLst/>
              <a:rect r="r" b="b" t="t" l="l"/>
              <a:pathLst>
                <a:path h="24978491" w="17145000">
                  <a:moveTo>
                    <a:pt x="0" y="0"/>
                  </a:moveTo>
                  <a:lnTo>
                    <a:pt x="17145000" y="0"/>
                  </a:lnTo>
                  <a:lnTo>
                    <a:pt x="17145000" y="24978491"/>
                  </a:lnTo>
                  <a:lnTo>
                    <a:pt x="0" y="24978491"/>
                  </a:lnTo>
                  <a:lnTo>
                    <a:pt x="0" y="0"/>
                  </a:lnTo>
                  <a:close/>
                </a:path>
              </a:pathLst>
            </a:custGeom>
            <a:blipFill>
              <a:blip r:embed="rId4">
                <a:alphaModFix amt="32999"/>
              </a:blip>
              <a:stretch>
                <a:fillRect l="-63820" t="0" r="-63820" b="0"/>
              </a:stretch>
            </a:blipFill>
          </p:spPr>
        </p:sp>
      </p:grpSp>
      <p:sp>
        <p:nvSpPr>
          <p:cNvPr name="AutoShape 13" id="13"/>
          <p:cNvSpPr/>
          <p:nvPr/>
        </p:nvSpPr>
        <p:spPr>
          <a:xfrm>
            <a:off x="-4824517" y="812133"/>
            <a:ext cx="11794786" cy="0"/>
          </a:xfrm>
          <a:prstGeom prst="line">
            <a:avLst/>
          </a:prstGeom>
          <a:ln cap="flat" w="95250">
            <a:solidFill>
              <a:srgbClr val="A28231"/>
            </a:solidFill>
            <a:prstDash val="solid"/>
            <a:headEnd type="none" len="sm" w="sm"/>
            <a:tailEnd type="none" len="sm" w="sm"/>
          </a:ln>
        </p:spPr>
      </p:sp>
      <p:sp>
        <p:nvSpPr>
          <p:cNvPr name="TextBox 14" id="14"/>
          <p:cNvSpPr txBox="true"/>
          <p:nvPr/>
        </p:nvSpPr>
        <p:spPr>
          <a:xfrm rot="0">
            <a:off x="1072877" y="4433282"/>
            <a:ext cx="11897226" cy="1352550"/>
          </a:xfrm>
          <a:prstGeom prst="rect">
            <a:avLst/>
          </a:prstGeom>
        </p:spPr>
        <p:txBody>
          <a:bodyPr anchor="t" rtlCol="false" tIns="0" lIns="0" bIns="0" rIns="0">
            <a:spAutoFit/>
          </a:bodyPr>
          <a:lstStyle/>
          <a:p>
            <a:pPr algn="l">
              <a:lnSpc>
                <a:spcPts val="5250"/>
              </a:lnSpc>
            </a:pPr>
            <a:r>
              <a:rPr lang="en-US" sz="5000" b="true">
                <a:solidFill>
                  <a:srgbClr val="002557"/>
                </a:solidFill>
                <a:latin typeface="Montserrat Bold"/>
                <a:ea typeface="Montserrat Bold"/>
                <a:cs typeface="Montserrat Bold"/>
                <a:sym typeface="Montserrat Bold"/>
              </a:rPr>
              <a:t>DRONE AS A FIRST </a:t>
            </a:r>
          </a:p>
          <a:p>
            <a:pPr algn="l" marL="0" indent="0" lvl="0">
              <a:lnSpc>
                <a:spcPts val="5250"/>
              </a:lnSpc>
              <a:spcBef>
                <a:spcPct val="0"/>
              </a:spcBef>
            </a:pPr>
            <a:r>
              <a:rPr lang="en-US" b="true" sz="5000">
                <a:solidFill>
                  <a:srgbClr val="002557"/>
                </a:solidFill>
                <a:latin typeface="Montserrat Bold"/>
                <a:ea typeface="Montserrat Bold"/>
                <a:cs typeface="Montserrat Bold"/>
                <a:sym typeface="Montserrat Bold"/>
              </a:rPr>
              <a:t>RESPONDER (DFR)</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2765425"/>
            <a:ext cx="8914751" cy="5061475"/>
            <a:chOff x="0" y="0"/>
            <a:chExt cx="1381128" cy="784155"/>
          </a:xfrm>
        </p:grpSpPr>
        <p:sp>
          <p:nvSpPr>
            <p:cNvPr name="Freeform 3" id="3"/>
            <p:cNvSpPr/>
            <p:nvPr/>
          </p:nvSpPr>
          <p:spPr>
            <a:xfrm flipH="false" flipV="false" rot="0">
              <a:off x="0" y="0"/>
              <a:ext cx="1381128" cy="784155"/>
            </a:xfrm>
            <a:custGeom>
              <a:avLst/>
              <a:gdLst/>
              <a:ahLst/>
              <a:cxnLst/>
              <a:rect r="r" b="b" t="t" l="l"/>
              <a:pathLst>
                <a:path h="784155" w="1381128">
                  <a:moveTo>
                    <a:pt x="0" y="0"/>
                  </a:moveTo>
                  <a:lnTo>
                    <a:pt x="1381128" y="0"/>
                  </a:lnTo>
                  <a:lnTo>
                    <a:pt x="1381128" y="784155"/>
                  </a:lnTo>
                  <a:lnTo>
                    <a:pt x="0" y="784155"/>
                  </a:lnTo>
                  <a:close/>
                </a:path>
              </a:pathLst>
            </a:custGeom>
            <a:blipFill>
              <a:blip r:embed="rId2"/>
              <a:stretch>
                <a:fillRect l="-300" t="0" r="-300" b="0"/>
              </a:stretch>
            </a:blipFill>
          </p:spPr>
        </p:sp>
      </p:grpSp>
      <p:sp>
        <p:nvSpPr>
          <p:cNvPr name="TextBox 4" id="4"/>
          <p:cNvSpPr txBox="true"/>
          <p:nvPr/>
        </p:nvSpPr>
        <p:spPr>
          <a:xfrm rot="0">
            <a:off x="1028700" y="765873"/>
            <a:ext cx="12278884" cy="762000"/>
          </a:xfrm>
          <a:prstGeom prst="rect">
            <a:avLst/>
          </a:prstGeom>
        </p:spPr>
        <p:txBody>
          <a:bodyPr anchor="t" rtlCol="false" tIns="0" lIns="0" bIns="0" rIns="0">
            <a:spAutoFit/>
          </a:bodyPr>
          <a:lstStyle/>
          <a:p>
            <a:pPr algn="l" marL="0" indent="0" lvl="0">
              <a:lnSpc>
                <a:spcPts val="6299"/>
              </a:lnSpc>
              <a:spcBef>
                <a:spcPct val="0"/>
              </a:spcBef>
            </a:pPr>
            <a:r>
              <a:rPr lang="en-US" b="true" sz="4500" strike="noStrike" u="none">
                <a:solidFill>
                  <a:srgbClr val="002557"/>
                </a:solidFill>
                <a:latin typeface="Montserrat Bold"/>
                <a:ea typeface="Montserrat Bold"/>
                <a:cs typeface="Montserrat Bold"/>
                <a:sym typeface="Montserrat Bold"/>
              </a:rPr>
              <a:t>Drone as a First Responder</a:t>
            </a:r>
          </a:p>
        </p:txBody>
      </p:sp>
      <p:sp>
        <p:nvSpPr>
          <p:cNvPr name="AutoShape 5" id="5"/>
          <p:cNvSpPr/>
          <p:nvPr/>
        </p:nvSpPr>
        <p:spPr>
          <a:xfrm flipV="true">
            <a:off x="0" y="1485011"/>
            <a:ext cx="7378521" cy="24702"/>
          </a:xfrm>
          <a:prstGeom prst="line">
            <a:avLst/>
          </a:prstGeom>
          <a:ln cap="flat" w="47625">
            <a:solidFill>
              <a:srgbClr val="A28231"/>
            </a:solidFill>
            <a:prstDash val="solid"/>
            <a:headEnd type="none" len="sm" w="sm"/>
            <a:tailEnd type="none" len="sm" w="sm"/>
          </a:ln>
        </p:spPr>
      </p:sp>
      <p:sp>
        <p:nvSpPr>
          <p:cNvPr name="TextBox 6" id="6"/>
          <p:cNvSpPr txBox="true"/>
          <p:nvPr/>
        </p:nvSpPr>
        <p:spPr>
          <a:xfrm rot="0">
            <a:off x="10937527" y="2746375"/>
            <a:ext cx="6433456" cy="4356100"/>
          </a:xfrm>
          <a:prstGeom prst="rect">
            <a:avLst/>
          </a:prstGeom>
        </p:spPr>
        <p:txBody>
          <a:bodyPr anchor="t" rtlCol="false" tIns="0" lIns="0" bIns="0" rIns="0">
            <a:spAutoFit/>
          </a:bodyPr>
          <a:lstStyle/>
          <a:p>
            <a:pPr algn="l">
              <a:lnSpc>
                <a:spcPts val="3499"/>
              </a:lnSpc>
              <a:spcBef>
                <a:spcPct val="0"/>
              </a:spcBef>
            </a:pPr>
            <a:r>
              <a:rPr lang="en-US" sz="2499">
                <a:solidFill>
                  <a:srgbClr val="000000"/>
                </a:solidFill>
                <a:latin typeface="Montserrat"/>
                <a:ea typeface="Montserrat"/>
                <a:cs typeface="Montserrat"/>
                <a:sym typeface="Montserrat"/>
              </a:rPr>
              <a:t>A public safety tool that responds to a call for s</a:t>
            </a:r>
            <a:r>
              <a:rPr lang="en-US" sz="2499" strike="noStrike" u="none">
                <a:solidFill>
                  <a:srgbClr val="000000"/>
                </a:solidFill>
                <a:latin typeface="Montserrat"/>
                <a:ea typeface="Montserrat"/>
                <a:cs typeface="Montserrat"/>
                <a:sym typeface="Montserrat"/>
              </a:rPr>
              <a:t>e</a:t>
            </a:r>
            <a:r>
              <a:rPr lang="en-US" sz="2499" strike="noStrike" u="none">
                <a:solidFill>
                  <a:srgbClr val="000000"/>
                </a:solidFill>
                <a:latin typeface="Montserrat"/>
                <a:ea typeface="Montserrat"/>
                <a:cs typeface="Montserrat"/>
                <a:sym typeface="Montserrat"/>
              </a:rPr>
              <a:t>r</a:t>
            </a:r>
            <a:r>
              <a:rPr lang="en-US" sz="2499" strike="noStrike" u="none">
                <a:solidFill>
                  <a:srgbClr val="000000"/>
                </a:solidFill>
                <a:latin typeface="Montserrat"/>
                <a:ea typeface="Montserrat"/>
                <a:cs typeface="Montserrat"/>
                <a:sym typeface="Montserrat"/>
              </a:rPr>
              <a:t>v</a:t>
            </a:r>
            <a:r>
              <a:rPr lang="en-US" sz="2499" strike="noStrike" u="none">
                <a:solidFill>
                  <a:srgbClr val="000000"/>
                </a:solidFill>
                <a:latin typeface="Montserrat"/>
                <a:ea typeface="Montserrat"/>
                <a:cs typeface="Montserrat"/>
                <a:sym typeface="Montserrat"/>
              </a:rPr>
              <a:t>ice ahead of the offic</a:t>
            </a:r>
            <a:r>
              <a:rPr lang="en-US" sz="2499" strike="noStrike" u="none">
                <a:solidFill>
                  <a:srgbClr val="000000"/>
                </a:solidFill>
                <a:latin typeface="Montserrat"/>
                <a:ea typeface="Montserrat"/>
                <a:cs typeface="Montserrat"/>
                <a:sym typeface="Montserrat"/>
              </a:rPr>
              <a:t>er</a:t>
            </a:r>
            <a:r>
              <a:rPr lang="en-US" sz="2499" strike="noStrike" u="none">
                <a:solidFill>
                  <a:srgbClr val="000000"/>
                </a:solidFill>
                <a:latin typeface="Montserrat"/>
                <a:ea typeface="Montserrat"/>
                <a:cs typeface="Montserrat"/>
                <a:sym typeface="Montserrat"/>
              </a:rPr>
              <a:t>s, provid</a:t>
            </a:r>
            <a:r>
              <a:rPr lang="en-US" sz="2499" strike="noStrike" u="none">
                <a:solidFill>
                  <a:srgbClr val="000000"/>
                </a:solidFill>
                <a:latin typeface="Montserrat"/>
                <a:ea typeface="Montserrat"/>
                <a:cs typeface="Montserrat"/>
                <a:sym typeface="Montserrat"/>
              </a:rPr>
              <a:t>ing aerial </a:t>
            </a:r>
            <a:r>
              <a:rPr lang="en-US" sz="2499" strike="noStrike" u="none">
                <a:solidFill>
                  <a:srgbClr val="000000"/>
                </a:solidFill>
                <a:latin typeface="Montserrat"/>
                <a:ea typeface="Montserrat"/>
                <a:cs typeface="Montserrat"/>
                <a:sym typeface="Montserrat"/>
              </a:rPr>
              <a:t>in</a:t>
            </a:r>
            <a:r>
              <a:rPr lang="en-US" sz="2499" strike="noStrike" u="none">
                <a:solidFill>
                  <a:srgbClr val="000000"/>
                </a:solidFill>
                <a:latin typeface="Montserrat"/>
                <a:ea typeface="Montserrat"/>
                <a:cs typeface="Montserrat"/>
                <a:sym typeface="Montserrat"/>
              </a:rPr>
              <a:t>te</a:t>
            </a:r>
            <a:r>
              <a:rPr lang="en-US" sz="2499" strike="noStrike" u="none">
                <a:solidFill>
                  <a:srgbClr val="000000"/>
                </a:solidFill>
                <a:latin typeface="Montserrat"/>
                <a:ea typeface="Montserrat"/>
                <a:cs typeface="Montserrat"/>
                <a:sym typeface="Montserrat"/>
              </a:rPr>
              <a:t>lligen</a:t>
            </a:r>
            <a:r>
              <a:rPr lang="en-US" sz="2499" strike="noStrike" u="none">
                <a:solidFill>
                  <a:srgbClr val="000000"/>
                </a:solidFill>
                <a:latin typeface="Montserrat"/>
                <a:ea typeface="Montserrat"/>
                <a:cs typeface="Montserrat"/>
                <a:sym typeface="Montserrat"/>
              </a:rPr>
              <a:t>c</a:t>
            </a:r>
            <a:r>
              <a:rPr lang="en-US" sz="2499" strike="noStrike" u="none">
                <a:solidFill>
                  <a:srgbClr val="000000"/>
                </a:solidFill>
                <a:latin typeface="Montserrat"/>
                <a:ea typeface="Montserrat"/>
                <a:cs typeface="Montserrat"/>
                <a:sym typeface="Montserrat"/>
              </a:rPr>
              <a:t>e to t</a:t>
            </a:r>
            <a:r>
              <a:rPr lang="en-US" sz="2499" strike="noStrike" u="none">
                <a:solidFill>
                  <a:srgbClr val="000000"/>
                </a:solidFill>
                <a:latin typeface="Montserrat"/>
                <a:ea typeface="Montserrat"/>
                <a:cs typeface="Montserrat"/>
                <a:sym typeface="Montserrat"/>
              </a:rPr>
              <a:t>h</a:t>
            </a:r>
            <a:r>
              <a:rPr lang="en-US" sz="2499" strike="noStrike" u="none">
                <a:solidFill>
                  <a:srgbClr val="000000"/>
                </a:solidFill>
                <a:latin typeface="Montserrat"/>
                <a:ea typeface="Montserrat"/>
                <a:cs typeface="Montserrat"/>
                <a:sym typeface="Montserrat"/>
              </a:rPr>
              <a:t>e u</a:t>
            </a:r>
            <a:r>
              <a:rPr lang="en-US" sz="2499" strike="noStrike" u="none">
                <a:solidFill>
                  <a:srgbClr val="000000"/>
                </a:solidFill>
                <a:latin typeface="Montserrat"/>
                <a:ea typeface="Montserrat"/>
                <a:cs typeface="Montserrat"/>
                <a:sym typeface="Montserrat"/>
              </a:rPr>
              <a:t>n</a:t>
            </a:r>
            <a:r>
              <a:rPr lang="en-US" sz="2499" strike="noStrike" u="none">
                <a:solidFill>
                  <a:srgbClr val="000000"/>
                </a:solidFill>
                <a:latin typeface="Montserrat"/>
                <a:ea typeface="Montserrat"/>
                <a:cs typeface="Montserrat"/>
                <a:sym typeface="Montserrat"/>
              </a:rPr>
              <a:t>its </a:t>
            </a:r>
            <a:r>
              <a:rPr lang="en-US" sz="2499" strike="noStrike" u="none">
                <a:solidFill>
                  <a:srgbClr val="000000"/>
                </a:solidFill>
                <a:latin typeface="Montserrat"/>
                <a:ea typeface="Montserrat"/>
                <a:cs typeface="Montserrat"/>
                <a:sym typeface="Montserrat"/>
              </a:rPr>
              <a:t>o</a:t>
            </a:r>
            <a:r>
              <a:rPr lang="en-US" sz="2499" strike="noStrike" u="none">
                <a:solidFill>
                  <a:srgbClr val="000000"/>
                </a:solidFill>
                <a:latin typeface="Montserrat"/>
                <a:ea typeface="Montserrat"/>
                <a:cs typeface="Montserrat"/>
                <a:sym typeface="Montserrat"/>
              </a:rPr>
              <a:t>n the ground. This al</a:t>
            </a:r>
            <a:r>
              <a:rPr lang="en-US" sz="2499" strike="noStrike" u="none">
                <a:solidFill>
                  <a:srgbClr val="000000"/>
                </a:solidFill>
                <a:latin typeface="Montserrat"/>
                <a:ea typeface="Montserrat"/>
                <a:cs typeface="Montserrat"/>
                <a:sym typeface="Montserrat"/>
              </a:rPr>
              <a:t>lo</a:t>
            </a:r>
            <a:r>
              <a:rPr lang="en-US" sz="2499" strike="noStrike" u="none">
                <a:solidFill>
                  <a:srgbClr val="000000"/>
                </a:solidFill>
                <a:latin typeface="Montserrat"/>
                <a:ea typeface="Montserrat"/>
                <a:cs typeface="Montserrat"/>
                <a:sym typeface="Montserrat"/>
              </a:rPr>
              <a:t>ws us</a:t>
            </a:r>
            <a:r>
              <a:rPr lang="en-US" sz="2499" strike="noStrike" u="none">
                <a:solidFill>
                  <a:srgbClr val="000000"/>
                </a:solidFill>
                <a:latin typeface="Montserrat"/>
                <a:ea typeface="Montserrat"/>
                <a:cs typeface="Montserrat"/>
                <a:sym typeface="Montserrat"/>
              </a:rPr>
              <a:t> to </a:t>
            </a:r>
            <a:r>
              <a:rPr lang="en-US" sz="2499" strike="noStrike" u="none">
                <a:solidFill>
                  <a:srgbClr val="000000"/>
                </a:solidFill>
                <a:latin typeface="Montserrat"/>
                <a:ea typeface="Montserrat"/>
                <a:cs typeface="Montserrat"/>
                <a:sym typeface="Montserrat"/>
              </a:rPr>
              <a:t>assess the sit</a:t>
            </a:r>
            <a:r>
              <a:rPr lang="en-US" sz="2499" strike="noStrike" u="none">
                <a:solidFill>
                  <a:srgbClr val="000000"/>
                </a:solidFill>
                <a:latin typeface="Montserrat"/>
                <a:ea typeface="Montserrat"/>
                <a:cs typeface="Montserrat"/>
                <a:sym typeface="Montserrat"/>
              </a:rPr>
              <a:t>u</a:t>
            </a:r>
            <a:r>
              <a:rPr lang="en-US" sz="2499" strike="noStrike" u="none">
                <a:solidFill>
                  <a:srgbClr val="000000"/>
                </a:solidFill>
                <a:latin typeface="Montserrat"/>
                <a:ea typeface="Montserrat"/>
                <a:cs typeface="Montserrat"/>
                <a:sym typeface="Montserrat"/>
              </a:rPr>
              <a:t>at</a:t>
            </a:r>
            <a:r>
              <a:rPr lang="en-US" sz="2499" strike="noStrike" u="none">
                <a:solidFill>
                  <a:srgbClr val="000000"/>
                </a:solidFill>
                <a:latin typeface="Montserrat"/>
                <a:ea typeface="Montserrat"/>
                <a:cs typeface="Montserrat"/>
                <a:sym typeface="Montserrat"/>
              </a:rPr>
              <a:t>i</a:t>
            </a:r>
            <a:r>
              <a:rPr lang="en-US" sz="2499" strike="noStrike" u="none">
                <a:solidFill>
                  <a:srgbClr val="000000"/>
                </a:solidFill>
                <a:latin typeface="Montserrat"/>
                <a:ea typeface="Montserrat"/>
                <a:cs typeface="Montserrat"/>
                <a:sym typeface="Montserrat"/>
              </a:rPr>
              <a:t>on instant</a:t>
            </a:r>
            <a:r>
              <a:rPr lang="en-US" sz="2499" strike="noStrike" u="none">
                <a:solidFill>
                  <a:srgbClr val="000000"/>
                </a:solidFill>
                <a:latin typeface="Montserrat"/>
                <a:ea typeface="Montserrat"/>
                <a:cs typeface="Montserrat"/>
                <a:sym typeface="Montserrat"/>
              </a:rPr>
              <a:t>ly</a:t>
            </a:r>
            <a:r>
              <a:rPr lang="en-US" sz="2499" strike="noStrike" u="none">
                <a:solidFill>
                  <a:srgbClr val="000000"/>
                </a:solidFill>
                <a:latin typeface="Montserrat"/>
                <a:ea typeface="Montserrat"/>
                <a:cs typeface="Montserrat"/>
                <a:sym typeface="Montserrat"/>
              </a:rPr>
              <a:t>,</a:t>
            </a:r>
            <a:r>
              <a:rPr lang="en-US" sz="2499" strike="noStrike" u="none">
                <a:solidFill>
                  <a:srgbClr val="000000"/>
                </a:solidFill>
                <a:latin typeface="Montserrat"/>
                <a:ea typeface="Montserrat"/>
                <a:cs typeface="Montserrat"/>
                <a:sym typeface="Montserrat"/>
              </a:rPr>
              <a:t> </a:t>
            </a:r>
            <a:r>
              <a:rPr lang="en-US" sz="2499" strike="noStrike" u="none">
                <a:solidFill>
                  <a:srgbClr val="000000"/>
                </a:solidFill>
                <a:latin typeface="Montserrat"/>
                <a:ea typeface="Montserrat"/>
                <a:cs typeface="Montserrat"/>
                <a:sym typeface="Montserrat"/>
              </a:rPr>
              <a:t>s</a:t>
            </a:r>
            <a:r>
              <a:rPr lang="en-US" sz="2499" strike="noStrike" u="none">
                <a:solidFill>
                  <a:srgbClr val="000000"/>
                </a:solidFill>
                <a:latin typeface="Montserrat"/>
                <a:ea typeface="Montserrat"/>
                <a:cs typeface="Montserrat"/>
                <a:sym typeface="Montserrat"/>
              </a:rPr>
              <a:t>end t</a:t>
            </a:r>
            <a:r>
              <a:rPr lang="en-US" sz="2499" strike="noStrike" u="none">
                <a:solidFill>
                  <a:srgbClr val="000000"/>
                </a:solidFill>
                <a:latin typeface="Montserrat"/>
                <a:ea typeface="Montserrat"/>
                <a:cs typeface="Montserrat"/>
                <a:sym typeface="Montserrat"/>
              </a:rPr>
              <a:t>he appropriate resources,</a:t>
            </a:r>
            <a:r>
              <a:rPr lang="en-US" sz="2499" strike="noStrike" u="none">
                <a:solidFill>
                  <a:srgbClr val="000000"/>
                </a:solidFill>
                <a:latin typeface="Montserrat"/>
                <a:ea typeface="Montserrat"/>
                <a:cs typeface="Montserrat"/>
                <a:sym typeface="Montserrat"/>
              </a:rPr>
              <a:t> and in</a:t>
            </a:r>
            <a:r>
              <a:rPr lang="en-US" sz="2499" strike="noStrike" u="none">
                <a:solidFill>
                  <a:srgbClr val="000000"/>
                </a:solidFill>
                <a:latin typeface="Montserrat"/>
                <a:ea typeface="Montserrat"/>
                <a:cs typeface="Montserrat"/>
                <a:sym typeface="Montserrat"/>
              </a:rPr>
              <a:t> many </a:t>
            </a:r>
            <a:r>
              <a:rPr lang="en-US" sz="2499" strike="noStrike" u="none">
                <a:solidFill>
                  <a:srgbClr val="000000"/>
                </a:solidFill>
                <a:latin typeface="Montserrat"/>
                <a:ea typeface="Montserrat"/>
                <a:cs typeface="Montserrat"/>
                <a:sym typeface="Montserrat"/>
              </a:rPr>
              <a:t>c</a:t>
            </a:r>
            <a:r>
              <a:rPr lang="en-US" sz="2499" strike="noStrike" u="none">
                <a:solidFill>
                  <a:srgbClr val="000000"/>
                </a:solidFill>
                <a:latin typeface="Montserrat"/>
                <a:ea typeface="Montserrat"/>
                <a:cs typeface="Montserrat"/>
                <a:sym typeface="Montserrat"/>
              </a:rPr>
              <a:t>as</a:t>
            </a:r>
            <a:r>
              <a:rPr lang="en-US" sz="2499" strike="noStrike" u="none">
                <a:solidFill>
                  <a:srgbClr val="000000"/>
                </a:solidFill>
                <a:latin typeface="Montserrat"/>
                <a:ea typeface="Montserrat"/>
                <a:cs typeface="Montserrat"/>
                <a:sym typeface="Montserrat"/>
              </a:rPr>
              <a:t>e</a:t>
            </a:r>
            <a:r>
              <a:rPr lang="en-US" sz="2499" strike="noStrike" u="none">
                <a:solidFill>
                  <a:srgbClr val="000000"/>
                </a:solidFill>
                <a:latin typeface="Montserrat"/>
                <a:ea typeface="Montserrat"/>
                <a:cs typeface="Montserrat"/>
                <a:sym typeface="Montserrat"/>
              </a:rPr>
              <a:t>s, ca</a:t>
            </a:r>
            <a:r>
              <a:rPr lang="en-US" sz="2499" strike="noStrike" u="none">
                <a:solidFill>
                  <a:srgbClr val="000000"/>
                </a:solidFill>
                <a:latin typeface="Montserrat"/>
                <a:ea typeface="Montserrat"/>
                <a:cs typeface="Montserrat"/>
                <a:sym typeface="Montserrat"/>
              </a:rPr>
              <a:t>n</a:t>
            </a:r>
            <a:r>
              <a:rPr lang="en-US" sz="2499" strike="noStrike" u="none">
                <a:solidFill>
                  <a:srgbClr val="000000"/>
                </a:solidFill>
                <a:latin typeface="Montserrat"/>
                <a:ea typeface="Montserrat"/>
                <a:cs typeface="Montserrat"/>
                <a:sym typeface="Montserrat"/>
              </a:rPr>
              <a:t>cel </a:t>
            </a:r>
            <a:r>
              <a:rPr lang="en-US" sz="2499" strike="noStrike" u="none">
                <a:solidFill>
                  <a:srgbClr val="000000"/>
                </a:solidFill>
                <a:latin typeface="Montserrat"/>
                <a:ea typeface="Montserrat"/>
                <a:cs typeface="Montserrat"/>
                <a:sym typeface="Montserrat"/>
              </a:rPr>
              <a:t>t</a:t>
            </a:r>
            <a:r>
              <a:rPr lang="en-US" sz="2499" strike="noStrike" u="none">
                <a:solidFill>
                  <a:srgbClr val="000000"/>
                </a:solidFill>
                <a:latin typeface="Montserrat"/>
                <a:ea typeface="Montserrat"/>
                <a:cs typeface="Montserrat"/>
                <a:sym typeface="Montserrat"/>
              </a:rPr>
              <a:t>he</a:t>
            </a:r>
            <a:r>
              <a:rPr lang="en-US" sz="2499" strike="noStrike" u="none">
                <a:solidFill>
                  <a:srgbClr val="000000"/>
                </a:solidFill>
                <a:latin typeface="Montserrat"/>
                <a:ea typeface="Montserrat"/>
                <a:cs typeface="Montserrat"/>
                <a:sym typeface="Montserrat"/>
              </a:rPr>
              <a:t> </a:t>
            </a:r>
            <a:r>
              <a:rPr lang="en-US" sz="2499" strike="noStrike" u="none">
                <a:solidFill>
                  <a:srgbClr val="000000"/>
                </a:solidFill>
                <a:latin typeface="Montserrat"/>
                <a:ea typeface="Montserrat"/>
                <a:cs typeface="Montserrat"/>
                <a:sym typeface="Montserrat"/>
              </a:rPr>
              <a:t>disp</a:t>
            </a:r>
            <a:r>
              <a:rPr lang="en-US" sz="2499" strike="noStrike" u="none">
                <a:solidFill>
                  <a:srgbClr val="000000"/>
                </a:solidFill>
                <a:latin typeface="Montserrat"/>
                <a:ea typeface="Montserrat"/>
                <a:cs typeface="Montserrat"/>
                <a:sym typeface="Montserrat"/>
              </a:rPr>
              <a:t>a</a:t>
            </a:r>
            <a:r>
              <a:rPr lang="en-US" sz="2499" strike="noStrike" u="none">
                <a:solidFill>
                  <a:srgbClr val="000000"/>
                </a:solidFill>
                <a:latin typeface="Montserrat"/>
                <a:ea typeface="Montserrat"/>
                <a:cs typeface="Montserrat"/>
                <a:sym typeface="Montserrat"/>
              </a:rPr>
              <a:t>tch e</a:t>
            </a:r>
            <a:r>
              <a:rPr lang="en-US" sz="2499" strike="noStrike" u="none">
                <a:solidFill>
                  <a:srgbClr val="000000"/>
                </a:solidFill>
                <a:latin typeface="Montserrat"/>
                <a:ea typeface="Montserrat"/>
                <a:cs typeface="Montserrat"/>
                <a:sym typeface="Montserrat"/>
              </a:rPr>
              <a:t>n</a:t>
            </a:r>
            <a:r>
              <a:rPr lang="en-US" sz="2499" strike="noStrike" u="none">
                <a:solidFill>
                  <a:srgbClr val="000000"/>
                </a:solidFill>
                <a:latin typeface="Montserrat"/>
                <a:ea typeface="Montserrat"/>
                <a:cs typeface="Montserrat"/>
                <a:sym typeface="Montserrat"/>
              </a:rPr>
              <a:t>tirely so</a:t>
            </a:r>
            <a:r>
              <a:rPr lang="en-US" sz="2499" strike="noStrike" u="none">
                <a:solidFill>
                  <a:srgbClr val="000000"/>
                </a:solidFill>
                <a:latin typeface="Montserrat"/>
                <a:ea typeface="Montserrat"/>
                <a:cs typeface="Montserrat"/>
                <a:sym typeface="Montserrat"/>
              </a:rPr>
              <a:t> po</a:t>
            </a:r>
            <a:r>
              <a:rPr lang="en-US" sz="2499" strike="noStrike" u="none">
                <a:solidFill>
                  <a:srgbClr val="000000"/>
                </a:solidFill>
                <a:latin typeface="Montserrat"/>
                <a:ea typeface="Montserrat"/>
                <a:cs typeface="Montserrat"/>
                <a:sym typeface="Montserrat"/>
              </a:rPr>
              <a:t>l</a:t>
            </a:r>
            <a:r>
              <a:rPr lang="en-US" sz="2499" strike="noStrike" u="none">
                <a:solidFill>
                  <a:srgbClr val="000000"/>
                </a:solidFill>
                <a:latin typeface="Montserrat"/>
                <a:ea typeface="Montserrat"/>
                <a:cs typeface="Montserrat"/>
                <a:sym typeface="Montserrat"/>
              </a:rPr>
              <a:t>i</a:t>
            </a:r>
            <a:r>
              <a:rPr lang="en-US" sz="2499" strike="noStrike" u="none">
                <a:solidFill>
                  <a:srgbClr val="000000"/>
                </a:solidFill>
                <a:latin typeface="Montserrat"/>
                <a:ea typeface="Montserrat"/>
                <a:cs typeface="Montserrat"/>
                <a:sym typeface="Montserrat"/>
              </a:rPr>
              <a:t>c</a:t>
            </a:r>
            <a:r>
              <a:rPr lang="en-US" sz="2499" strike="noStrike" u="none">
                <a:solidFill>
                  <a:srgbClr val="000000"/>
                </a:solidFill>
                <a:latin typeface="Montserrat"/>
                <a:ea typeface="Montserrat"/>
                <a:cs typeface="Montserrat"/>
                <a:sym typeface="Montserrat"/>
              </a:rPr>
              <a:t>e </a:t>
            </a:r>
            <a:r>
              <a:rPr lang="en-US" sz="2499" strike="noStrike" u="none">
                <a:solidFill>
                  <a:srgbClr val="000000"/>
                </a:solidFill>
                <a:latin typeface="Montserrat"/>
                <a:ea typeface="Montserrat"/>
                <a:cs typeface="Montserrat"/>
                <a:sym typeface="Montserrat"/>
              </a:rPr>
              <a:t>office</a:t>
            </a:r>
            <a:r>
              <a:rPr lang="en-US" sz="2499" strike="noStrike" u="none">
                <a:solidFill>
                  <a:srgbClr val="000000"/>
                </a:solidFill>
                <a:latin typeface="Montserrat"/>
                <a:ea typeface="Montserrat"/>
                <a:cs typeface="Montserrat"/>
                <a:sym typeface="Montserrat"/>
              </a:rPr>
              <a:t>r</a:t>
            </a:r>
            <a:r>
              <a:rPr lang="en-US" sz="2499" strike="noStrike" u="none">
                <a:solidFill>
                  <a:srgbClr val="000000"/>
                </a:solidFill>
                <a:latin typeface="Montserrat"/>
                <a:ea typeface="Montserrat"/>
                <a:cs typeface="Montserrat"/>
                <a:sym typeface="Montserrat"/>
              </a:rPr>
              <a:t>s don'</a:t>
            </a:r>
            <a:r>
              <a:rPr lang="en-US" sz="2499" strike="noStrike" u="none">
                <a:solidFill>
                  <a:srgbClr val="000000"/>
                </a:solidFill>
                <a:latin typeface="Montserrat"/>
                <a:ea typeface="Montserrat"/>
                <a:cs typeface="Montserrat"/>
                <a:sym typeface="Montserrat"/>
              </a:rPr>
              <a:t>t</a:t>
            </a:r>
            <a:r>
              <a:rPr lang="en-US" sz="2499" strike="noStrike" u="none">
                <a:solidFill>
                  <a:srgbClr val="000000"/>
                </a:solidFill>
                <a:latin typeface="Montserrat"/>
                <a:ea typeface="Montserrat"/>
                <a:cs typeface="Montserrat"/>
                <a:sym typeface="Montserrat"/>
              </a:rPr>
              <a:t> hav</a:t>
            </a:r>
            <a:r>
              <a:rPr lang="en-US" sz="2499" strike="noStrike" u="none">
                <a:solidFill>
                  <a:srgbClr val="000000"/>
                </a:solidFill>
                <a:latin typeface="Montserrat"/>
                <a:ea typeface="Montserrat"/>
                <a:cs typeface="Montserrat"/>
                <a:sym typeface="Montserrat"/>
              </a:rPr>
              <a:t>e </a:t>
            </a:r>
            <a:r>
              <a:rPr lang="en-US" sz="2499" strike="noStrike" u="none">
                <a:solidFill>
                  <a:srgbClr val="000000"/>
                </a:solidFill>
                <a:latin typeface="Montserrat"/>
                <a:ea typeface="Montserrat"/>
                <a:cs typeface="Montserrat"/>
                <a:sym typeface="Montserrat"/>
              </a:rPr>
              <a:t>to e</a:t>
            </a:r>
            <a:r>
              <a:rPr lang="en-US" sz="2499" strike="noStrike" u="none">
                <a:solidFill>
                  <a:srgbClr val="000000"/>
                </a:solidFill>
                <a:latin typeface="Montserrat"/>
                <a:ea typeface="Montserrat"/>
                <a:cs typeface="Montserrat"/>
                <a:sym typeface="Montserrat"/>
              </a:rPr>
              <a:t>nte</a:t>
            </a:r>
            <a:r>
              <a:rPr lang="en-US" sz="2499" strike="noStrike" u="none">
                <a:solidFill>
                  <a:srgbClr val="000000"/>
                </a:solidFill>
                <a:latin typeface="Montserrat"/>
                <a:ea typeface="Montserrat"/>
                <a:cs typeface="Montserrat"/>
                <a:sym typeface="Montserrat"/>
              </a:rPr>
              <a:t>r a ne</a:t>
            </a:r>
            <a:r>
              <a:rPr lang="en-US" sz="2499" strike="noStrike" u="none">
                <a:solidFill>
                  <a:srgbClr val="000000"/>
                </a:solidFill>
                <a:latin typeface="Montserrat"/>
                <a:ea typeface="Montserrat"/>
                <a:cs typeface="Montserrat"/>
                <a:sym typeface="Montserrat"/>
              </a:rPr>
              <a:t>ig</a:t>
            </a:r>
            <a:r>
              <a:rPr lang="en-US" sz="2499" strike="noStrike" u="none">
                <a:solidFill>
                  <a:srgbClr val="000000"/>
                </a:solidFill>
                <a:latin typeface="Montserrat"/>
                <a:ea typeface="Montserrat"/>
                <a:cs typeface="Montserrat"/>
                <a:sym typeface="Montserrat"/>
              </a:rPr>
              <a:t>hborhood u</a:t>
            </a:r>
            <a:r>
              <a:rPr lang="en-US" sz="2499" strike="noStrike" u="none">
                <a:solidFill>
                  <a:srgbClr val="000000"/>
                </a:solidFill>
                <a:latin typeface="Montserrat"/>
                <a:ea typeface="Montserrat"/>
                <a:cs typeface="Montserrat"/>
                <a:sym typeface="Montserrat"/>
              </a:rPr>
              <a:t>n</a:t>
            </a:r>
            <a:r>
              <a:rPr lang="en-US" sz="2499" strike="noStrike" u="none">
                <a:solidFill>
                  <a:srgbClr val="000000"/>
                </a:solidFill>
                <a:latin typeface="Montserrat"/>
                <a:ea typeface="Montserrat"/>
                <a:cs typeface="Montserrat"/>
                <a:sym typeface="Montserrat"/>
              </a:rPr>
              <a:t>ne</a:t>
            </a:r>
            <a:r>
              <a:rPr lang="en-US" sz="2499" strike="noStrike" u="none">
                <a:solidFill>
                  <a:srgbClr val="000000"/>
                </a:solidFill>
                <a:latin typeface="Montserrat"/>
                <a:ea typeface="Montserrat"/>
                <a:cs typeface="Montserrat"/>
                <a:sym typeface="Montserrat"/>
              </a:rPr>
              <a:t>ce</a:t>
            </a:r>
            <a:r>
              <a:rPr lang="en-US" sz="2499" strike="noStrike" u="none">
                <a:solidFill>
                  <a:srgbClr val="000000"/>
                </a:solidFill>
                <a:latin typeface="Montserrat"/>
                <a:ea typeface="Montserrat"/>
                <a:cs typeface="Montserrat"/>
                <a:sym typeface="Montserrat"/>
              </a:rPr>
              <a:t>ssarily.</a:t>
            </a:r>
            <a:r>
              <a:rPr lang="en-US" sz="2499" strike="noStrike" u="none">
                <a:solidFill>
                  <a:srgbClr val="000000"/>
                </a:solidFill>
                <a:latin typeface="Montserrat"/>
                <a:ea typeface="Montserrat"/>
                <a:cs typeface="Montserrat"/>
                <a:sym typeface="Montserrat"/>
              </a:rPr>
              <a:t>​</a:t>
            </a:r>
          </a:p>
          <a:p>
            <a:pPr algn="l" marL="0" indent="0" lvl="0">
              <a:lnSpc>
                <a:spcPts val="3499"/>
              </a:lnSpc>
              <a:spcBef>
                <a:spcPct val="0"/>
              </a:spcBef>
            </a:pPr>
          </a:p>
        </p:txBody>
      </p:sp>
      <p:sp>
        <p:nvSpPr>
          <p:cNvPr name="AutoShape 7" id="7"/>
          <p:cNvSpPr/>
          <p:nvPr/>
        </p:nvSpPr>
        <p:spPr>
          <a:xfrm flipV="true">
            <a:off x="-117230" y="10287000"/>
            <a:ext cx="19376532" cy="12351"/>
          </a:xfrm>
          <a:prstGeom prst="line">
            <a:avLst/>
          </a:prstGeom>
          <a:ln cap="flat" w="85725">
            <a:solidFill>
              <a:srgbClr val="1E498A"/>
            </a:solidFill>
            <a:prstDash val="solid"/>
            <a:headEnd type="none" len="sm" w="sm"/>
            <a:tailEnd type="none" len="sm" w="sm"/>
          </a:ln>
        </p:spPr>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43910" y="2403497"/>
            <a:ext cx="8914751" cy="4653185"/>
            <a:chOff x="0" y="0"/>
            <a:chExt cx="1381128" cy="720900"/>
          </a:xfrm>
        </p:grpSpPr>
        <p:sp>
          <p:nvSpPr>
            <p:cNvPr name="Freeform 3" id="3"/>
            <p:cNvSpPr/>
            <p:nvPr/>
          </p:nvSpPr>
          <p:spPr>
            <a:xfrm flipH="false" flipV="false" rot="0">
              <a:off x="0" y="0"/>
              <a:ext cx="1381128" cy="720900"/>
            </a:xfrm>
            <a:custGeom>
              <a:avLst/>
              <a:gdLst/>
              <a:ahLst/>
              <a:cxnLst/>
              <a:rect r="r" b="b" t="t" l="l"/>
              <a:pathLst>
                <a:path h="720900" w="1381128">
                  <a:moveTo>
                    <a:pt x="0" y="0"/>
                  </a:moveTo>
                  <a:lnTo>
                    <a:pt x="1381128" y="0"/>
                  </a:lnTo>
                  <a:lnTo>
                    <a:pt x="1381128" y="720900"/>
                  </a:lnTo>
                  <a:lnTo>
                    <a:pt x="0" y="720900"/>
                  </a:lnTo>
                  <a:close/>
                </a:path>
              </a:pathLst>
            </a:custGeom>
            <a:blipFill>
              <a:blip r:embed="rId2"/>
              <a:stretch>
                <a:fillRect l="-16944" t="-68035" r="0" b="0"/>
              </a:stretch>
            </a:blipFill>
          </p:spPr>
        </p:sp>
      </p:grpSp>
      <p:sp>
        <p:nvSpPr>
          <p:cNvPr name="TextBox 4" id="4"/>
          <p:cNvSpPr txBox="true"/>
          <p:nvPr/>
        </p:nvSpPr>
        <p:spPr>
          <a:xfrm rot="0">
            <a:off x="1043910" y="765873"/>
            <a:ext cx="12278884" cy="762000"/>
          </a:xfrm>
          <a:prstGeom prst="rect">
            <a:avLst/>
          </a:prstGeom>
        </p:spPr>
        <p:txBody>
          <a:bodyPr anchor="t" rtlCol="false" tIns="0" lIns="0" bIns="0" rIns="0">
            <a:spAutoFit/>
          </a:bodyPr>
          <a:lstStyle/>
          <a:p>
            <a:pPr algn="l" marL="0" indent="0" lvl="0">
              <a:lnSpc>
                <a:spcPts val="6299"/>
              </a:lnSpc>
              <a:spcBef>
                <a:spcPct val="0"/>
              </a:spcBef>
            </a:pPr>
            <a:r>
              <a:rPr lang="en-US" b="true" sz="4500" strike="noStrike" u="none">
                <a:solidFill>
                  <a:srgbClr val="002557"/>
                </a:solidFill>
                <a:latin typeface="Montserrat Bold"/>
                <a:ea typeface="Montserrat Bold"/>
                <a:cs typeface="Montserrat Bold"/>
                <a:sym typeface="Montserrat Bold"/>
              </a:rPr>
              <a:t>Drone as a First Responder</a:t>
            </a:r>
          </a:p>
        </p:txBody>
      </p:sp>
      <p:sp>
        <p:nvSpPr>
          <p:cNvPr name="AutoShape 5" id="5"/>
          <p:cNvSpPr/>
          <p:nvPr/>
        </p:nvSpPr>
        <p:spPr>
          <a:xfrm flipV="true">
            <a:off x="0" y="1485011"/>
            <a:ext cx="7378521" cy="24702"/>
          </a:xfrm>
          <a:prstGeom prst="line">
            <a:avLst/>
          </a:prstGeom>
          <a:ln cap="flat" w="47625">
            <a:solidFill>
              <a:srgbClr val="A28231"/>
            </a:solidFill>
            <a:prstDash val="solid"/>
            <a:headEnd type="none" len="sm" w="sm"/>
            <a:tailEnd type="none" len="sm" w="sm"/>
          </a:ln>
        </p:spPr>
      </p:sp>
      <p:sp>
        <p:nvSpPr>
          <p:cNvPr name="TextBox 6" id="6"/>
          <p:cNvSpPr txBox="true"/>
          <p:nvPr/>
        </p:nvSpPr>
        <p:spPr>
          <a:xfrm rot="0">
            <a:off x="10546095" y="2346347"/>
            <a:ext cx="6937864" cy="5773569"/>
          </a:xfrm>
          <a:prstGeom prst="rect">
            <a:avLst/>
          </a:prstGeom>
        </p:spPr>
        <p:txBody>
          <a:bodyPr anchor="t" rtlCol="false" tIns="0" lIns="0" bIns="0" rIns="0">
            <a:spAutoFit/>
          </a:bodyPr>
          <a:lstStyle/>
          <a:p>
            <a:pPr algn="l" marL="635635" indent="-317817" lvl="1">
              <a:lnSpc>
                <a:spcPts val="4121"/>
              </a:lnSpc>
              <a:buFont typeface="Arial"/>
              <a:buChar char="•"/>
            </a:pPr>
            <a:r>
              <a:rPr lang="en-US" b="true" sz="2944" u="sng">
                <a:solidFill>
                  <a:srgbClr val="1E3A8A"/>
                </a:solidFill>
                <a:latin typeface="Montserrat Bold"/>
                <a:ea typeface="Montserrat Bold"/>
                <a:cs typeface="Montserrat Bold"/>
                <a:sym typeface="Montserrat Bold"/>
              </a:rPr>
              <a:t>X10 Docks – 3</a:t>
            </a:r>
            <a:r>
              <a:rPr lang="en-US" b="true" sz="2944">
                <a:solidFill>
                  <a:srgbClr val="1E3A8A"/>
                </a:solidFill>
                <a:latin typeface="Montserrat Bold"/>
                <a:ea typeface="Montserrat Bold"/>
                <a:cs typeface="Montserrat Bold"/>
                <a:sym typeface="Montserrat Bold"/>
              </a:rPr>
              <a:t>​</a:t>
            </a:r>
          </a:p>
          <a:p>
            <a:pPr algn="l" marL="1079499" indent="-359833" lvl="2">
              <a:lnSpc>
                <a:spcPts val="3499"/>
              </a:lnSpc>
              <a:spcBef>
                <a:spcPct val="0"/>
              </a:spcBef>
              <a:buFont typeface="Arial"/>
              <a:buChar char="⚬"/>
            </a:pPr>
            <a:r>
              <a:rPr lang="en-US" sz="2499">
                <a:solidFill>
                  <a:srgbClr val="000000"/>
                </a:solidFill>
                <a:latin typeface="Montserrat"/>
                <a:ea typeface="Montserrat"/>
                <a:cs typeface="Montserrat"/>
                <a:sym typeface="Montserrat"/>
              </a:rPr>
              <a:t>Docks are stationary and flown </a:t>
            </a:r>
            <a:r>
              <a:rPr lang="en-US" sz="2499" strike="noStrike" u="none">
                <a:solidFill>
                  <a:srgbClr val="000000"/>
                </a:solidFill>
                <a:latin typeface="Montserrat"/>
                <a:ea typeface="Montserrat"/>
                <a:cs typeface="Montserrat"/>
                <a:sym typeface="Montserrat"/>
              </a:rPr>
              <a:t>re</a:t>
            </a:r>
            <a:r>
              <a:rPr lang="en-US" sz="2499" strike="noStrike" u="none">
                <a:solidFill>
                  <a:srgbClr val="000000"/>
                </a:solidFill>
                <a:latin typeface="Montserrat"/>
                <a:ea typeface="Montserrat"/>
                <a:cs typeface="Montserrat"/>
                <a:sym typeface="Montserrat"/>
              </a:rPr>
              <a:t>mot</a:t>
            </a:r>
            <a:r>
              <a:rPr lang="en-US" sz="2499" strike="noStrike" u="none">
                <a:solidFill>
                  <a:srgbClr val="000000"/>
                </a:solidFill>
                <a:latin typeface="Montserrat"/>
                <a:ea typeface="Montserrat"/>
                <a:cs typeface="Montserrat"/>
                <a:sym typeface="Montserrat"/>
              </a:rPr>
              <a:t>e</a:t>
            </a:r>
            <a:r>
              <a:rPr lang="en-US" sz="2499" strike="noStrike" u="none">
                <a:solidFill>
                  <a:srgbClr val="000000"/>
                </a:solidFill>
                <a:latin typeface="Montserrat"/>
                <a:ea typeface="Montserrat"/>
                <a:cs typeface="Montserrat"/>
                <a:sym typeface="Montserrat"/>
              </a:rPr>
              <a:t>ly</a:t>
            </a:r>
            <a:r>
              <a:rPr lang="en-US" sz="2499" strike="noStrike" u="none">
                <a:solidFill>
                  <a:srgbClr val="000000"/>
                </a:solidFill>
                <a:latin typeface="Montserrat"/>
                <a:ea typeface="Montserrat"/>
                <a:cs typeface="Montserrat"/>
                <a:sym typeface="Montserrat"/>
              </a:rPr>
              <a:t> </a:t>
            </a:r>
            <a:r>
              <a:rPr lang="en-US" sz="2499" strike="noStrike" u="none">
                <a:solidFill>
                  <a:srgbClr val="000000"/>
                </a:solidFill>
                <a:latin typeface="Montserrat"/>
                <a:ea typeface="Montserrat"/>
                <a:cs typeface="Montserrat"/>
                <a:sym typeface="Montserrat"/>
              </a:rPr>
              <a:t>fr</a:t>
            </a:r>
            <a:r>
              <a:rPr lang="en-US" sz="2499" strike="noStrike" u="none">
                <a:solidFill>
                  <a:srgbClr val="000000"/>
                </a:solidFill>
                <a:latin typeface="Montserrat"/>
                <a:ea typeface="Montserrat"/>
                <a:cs typeface="Montserrat"/>
                <a:sym typeface="Montserrat"/>
              </a:rPr>
              <a:t>o</a:t>
            </a:r>
            <a:r>
              <a:rPr lang="en-US" sz="2499" strike="noStrike" u="none">
                <a:solidFill>
                  <a:srgbClr val="000000"/>
                </a:solidFill>
                <a:latin typeface="Montserrat"/>
                <a:ea typeface="Montserrat"/>
                <a:cs typeface="Montserrat"/>
                <a:sym typeface="Montserrat"/>
              </a:rPr>
              <a:t>m</a:t>
            </a:r>
            <a:r>
              <a:rPr lang="en-US" sz="2499" strike="noStrike" u="none">
                <a:solidFill>
                  <a:srgbClr val="000000"/>
                </a:solidFill>
                <a:latin typeface="Montserrat"/>
                <a:ea typeface="Montserrat"/>
                <a:cs typeface="Montserrat"/>
                <a:sym typeface="Montserrat"/>
              </a:rPr>
              <a:t> the </a:t>
            </a:r>
            <a:r>
              <a:rPr lang="en-US" sz="2499" strike="noStrike" u="none">
                <a:solidFill>
                  <a:srgbClr val="000000"/>
                </a:solidFill>
                <a:latin typeface="Montserrat"/>
                <a:ea typeface="Montserrat"/>
                <a:cs typeface="Montserrat"/>
                <a:sym typeface="Montserrat"/>
              </a:rPr>
              <a:t>RTIC.</a:t>
            </a:r>
          </a:p>
          <a:p>
            <a:pPr algn="l">
              <a:lnSpc>
                <a:spcPts val="3499"/>
              </a:lnSpc>
              <a:spcBef>
                <a:spcPct val="0"/>
              </a:spcBef>
            </a:pPr>
            <a:r>
              <a:rPr lang="en-US" sz="2499" strike="noStrike" u="none">
                <a:solidFill>
                  <a:srgbClr val="1E3A8A"/>
                </a:solidFill>
                <a:latin typeface="Montserrat"/>
                <a:ea typeface="Montserrat"/>
                <a:cs typeface="Montserrat"/>
                <a:sym typeface="Montserrat"/>
              </a:rPr>
              <a:t>​</a:t>
            </a:r>
          </a:p>
          <a:p>
            <a:pPr algn="l" marL="635635" indent="-317817" lvl="1">
              <a:lnSpc>
                <a:spcPts val="4121"/>
              </a:lnSpc>
              <a:spcBef>
                <a:spcPct val="0"/>
              </a:spcBef>
              <a:buFont typeface="Arial"/>
              <a:buChar char="•"/>
            </a:pPr>
            <a:r>
              <a:rPr lang="en-US" b="true" sz="2944" strike="noStrike" u="sng">
                <a:solidFill>
                  <a:srgbClr val="1E3A8A"/>
                </a:solidFill>
                <a:latin typeface="Montserrat Bold"/>
                <a:ea typeface="Montserrat Bold"/>
                <a:cs typeface="Montserrat Bold"/>
                <a:sym typeface="Montserrat Bold"/>
              </a:rPr>
              <a:t>X10 F</a:t>
            </a:r>
            <a:r>
              <a:rPr lang="en-US" b="true" sz="2944" strike="noStrike" u="sng">
                <a:solidFill>
                  <a:srgbClr val="1E3A8A"/>
                </a:solidFill>
                <a:latin typeface="Montserrat Bold"/>
                <a:ea typeface="Montserrat Bold"/>
                <a:cs typeface="Montserrat Bold"/>
                <a:sym typeface="Montserrat Bold"/>
              </a:rPr>
              <a:t>ield </a:t>
            </a:r>
            <a:r>
              <a:rPr lang="en-US" b="true" sz="2944" strike="noStrike" u="sng">
                <a:solidFill>
                  <a:srgbClr val="1E3A8A"/>
                </a:solidFill>
                <a:latin typeface="Montserrat Bold"/>
                <a:ea typeface="Montserrat Bold"/>
                <a:cs typeface="Montserrat Bold"/>
                <a:sym typeface="Montserrat Bold"/>
              </a:rPr>
              <a:t>De</a:t>
            </a:r>
            <a:r>
              <a:rPr lang="en-US" b="true" sz="2944" strike="noStrike" u="sng">
                <a:solidFill>
                  <a:srgbClr val="1E3A8A"/>
                </a:solidFill>
                <a:latin typeface="Montserrat Bold"/>
                <a:ea typeface="Montserrat Bold"/>
                <a:cs typeface="Montserrat Bold"/>
                <a:sym typeface="Montserrat Bold"/>
              </a:rPr>
              <a:t>p</a:t>
            </a:r>
            <a:r>
              <a:rPr lang="en-US" b="true" sz="2944" strike="noStrike" u="sng">
                <a:solidFill>
                  <a:srgbClr val="1E3A8A"/>
                </a:solidFill>
                <a:latin typeface="Montserrat Bold"/>
                <a:ea typeface="Montserrat Bold"/>
                <a:cs typeface="Montserrat Bold"/>
                <a:sym typeface="Montserrat Bold"/>
              </a:rPr>
              <a:t>l</a:t>
            </a:r>
            <a:r>
              <a:rPr lang="en-US" b="true" sz="2944" strike="noStrike" u="sng">
                <a:solidFill>
                  <a:srgbClr val="1E3A8A"/>
                </a:solidFill>
                <a:latin typeface="Montserrat Bold"/>
                <a:ea typeface="Montserrat Bold"/>
                <a:cs typeface="Montserrat Bold"/>
                <a:sym typeface="Montserrat Bold"/>
              </a:rPr>
              <a:t>o</a:t>
            </a:r>
            <a:r>
              <a:rPr lang="en-US" b="true" sz="2944" strike="noStrike" u="sng">
                <a:solidFill>
                  <a:srgbClr val="1E3A8A"/>
                </a:solidFill>
                <a:latin typeface="Montserrat Bold"/>
                <a:ea typeface="Montserrat Bold"/>
                <a:cs typeface="Montserrat Bold"/>
                <a:sym typeface="Montserrat Bold"/>
              </a:rPr>
              <a:t>ye</a:t>
            </a:r>
            <a:r>
              <a:rPr lang="en-US" b="true" sz="2944" strike="noStrike" u="sng">
                <a:solidFill>
                  <a:srgbClr val="1E3A8A"/>
                </a:solidFill>
                <a:latin typeface="Montserrat Bold"/>
                <a:ea typeface="Montserrat Bold"/>
                <a:cs typeface="Montserrat Bold"/>
                <a:sym typeface="Montserrat Bold"/>
              </a:rPr>
              <a:t>d – </a:t>
            </a:r>
            <a:r>
              <a:rPr lang="en-US" b="true" sz="2944" strike="noStrike" u="sng">
                <a:solidFill>
                  <a:srgbClr val="1E3A8A"/>
                </a:solidFill>
                <a:latin typeface="Montserrat Bold"/>
                <a:ea typeface="Montserrat Bold"/>
                <a:cs typeface="Montserrat Bold"/>
                <a:sym typeface="Montserrat Bold"/>
              </a:rPr>
              <a:t>3​</a:t>
            </a:r>
          </a:p>
          <a:p>
            <a:pPr algn="l" marL="1079499" indent="-359833" lvl="2">
              <a:lnSpc>
                <a:spcPts val="3499"/>
              </a:lnSpc>
              <a:spcBef>
                <a:spcPct val="0"/>
              </a:spcBef>
              <a:buFont typeface="Arial"/>
              <a:buChar char="⚬"/>
            </a:pPr>
            <a:r>
              <a:rPr lang="en-US" sz="2499" strike="noStrike" u="none">
                <a:solidFill>
                  <a:srgbClr val="000000"/>
                </a:solidFill>
                <a:latin typeface="Montserrat"/>
                <a:ea typeface="Montserrat"/>
                <a:cs typeface="Montserrat"/>
                <a:sym typeface="Montserrat"/>
              </a:rPr>
              <a:t>Field deployed drones are deployed from our patrol vehicles.​</a:t>
            </a:r>
          </a:p>
          <a:p>
            <a:pPr algn="l">
              <a:lnSpc>
                <a:spcPts val="1819"/>
              </a:lnSpc>
              <a:spcBef>
                <a:spcPct val="0"/>
              </a:spcBef>
            </a:pPr>
          </a:p>
          <a:p>
            <a:pPr algn="l" marL="635635" indent="-317817" lvl="1">
              <a:lnSpc>
                <a:spcPts val="4121"/>
              </a:lnSpc>
              <a:spcBef>
                <a:spcPct val="0"/>
              </a:spcBef>
              <a:buFont typeface="Arial"/>
              <a:buChar char="•"/>
            </a:pPr>
            <a:r>
              <a:rPr lang="en-US" b="true" sz="2944" strike="noStrike" u="sng">
                <a:solidFill>
                  <a:srgbClr val="1E3A8A"/>
                </a:solidFill>
                <a:latin typeface="Montserrat Bold"/>
                <a:ea typeface="Montserrat Bold"/>
                <a:cs typeface="Montserrat Bold"/>
                <a:sym typeface="Montserrat Bold"/>
              </a:rPr>
              <a:t>R10</a:t>
            </a:r>
            <a:r>
              <a:rPr lang="en-US" b="true" sz="2944" strike="noStrike" u="sng">
                <a:solidFill>
                  <a:srgbClr val="1E3A8A"/>
                </a:solidFill>
                <a:latin typeface="Montserrat Bold"/>
                <a:ea typeface="Montserrat Bold"/>
                <a:cs typeface="Montserrat Bold"/>
                <a:sym typeface="Montserrat Bold"/>
              </a:rPr>
              <a:t> </a:t>
            </a:r>
            <a:r>
              <a:rPr lang="en-US" b="true" sz="2944" strike="noStrike" u="sng">
                <a:solidFill>
                  <a:srgbClr val="1E3A8A"/>
                </a:solidFill>
                <a:latin typeface="Montserrat Bold"/>
                <a:ea typeface="Montserrat Bold"/>
                <a:cs typeface="Montserrat Bold"/>
                <a:sym typeface="Montserrat Bold"/>
              </a:rPr>
              <a:t>Int</a:t>
            </a:r>
            <a:r>
              <a:rPr lang="en-US" b="true" sz="2944" strike="noStrike" u="sng">
                <a:solidFill>
                  <a:srgbClr val="1E3A8A"/>
                </a:solidFill>
                <a:latin typeface="Montserrat Bold"/>
                <a:ea typeface="Montserrat Bold"/>
                <a:cs typeface="Montserrat Bold"/>
                <a:sym typeface="Montserrat Bold"/>
              </a:rPr>
              <a:t>erior </a:t>
            </a:r>
            <a:r>
              <a:rPr lang="en-US" b="true" sz="2944" strike="noStrike" u="sng">
                <a:solidFill>
                  <a:srgbClr val="1E3A8A"/>
                </a:solidFill>
                <a:latin typeface="Montserrat Bold"/>
                <a:ea typeface="Montserrat Bold"/>
                <a:cs typeface="Montserrat Bold"/>
                <a:sym typeface="Montserrat Bold"/>
              </a:rPr>
              <a:t>–</a:t>
            </a:r>
            <a:r>
              <a:rPr lang="en-US" b="true" sz="2944" strike="noStrike" u="sng">
                <a:solidFill>
                  <a:srgbClr val="1E3A8A"/>
                </a:solidFill>
                <a:latin typeface="Montserrat Bold"/>
                <a:ea typeface="Montserrat Bold"/>
                <a:cs typeface="Montserrat Bold"/>
                <a:sym typeface="Montserrat Bold"/>
              </a:rPr>
              <a:t> </a:t>
            </a:r>
            <a:r>
              <a:rPr lang="en-US" b="true" sz="2944" strike="noStrike" u="sng">
                <a:solidFill>
                  <a:srgbClr val="1E3A8A"/>
                </a:solidFill>
                <a:latin typeface="Montserrat Bold"/>
                <a:ea typeface="Montserrat Bold"/>
                <a:cs typeface="Montserrat Bold"/>
                <a:sym typeface="Montserrat Bold"/>
              </a:rPr>
              <a:t>5​</a:t>
            </a:r>
          </a:p>
          <a:p>
            <a:pPr algn="l" marL="1079499" indent="-359833" lvl="2">
              <a:lnSpc>
                <a:spcPts val="3499"/>
              </a:lnSpc>
              <a:spcBef>
                <a:spcPct val="0"/>
              </a:spcBef>
              <a:buFont typeface="Arial"/>
              <a:buChar char="⚬"/>
            </a:pPr>
            <a:r>
              <a:rPr lang="en-US" sz="2499" strike="noStrike" u="none">
                <a:solidFill>
                  <a:srgbClr val="000000"/>
                </a:solidFill>
                <a:latin typeface="Montserrat"/>
                <a:ea typeface="Montserrat"/>
                <a:cs typeface="Montserrat"/>
                <a:sym typeface="Montserrat"/>
              </a:rPr>
              <a:t>R10</a:t>
            </a:r>
            <a:r>
              <a:rPr lang="en-US" sz="2499" strike="noStrike" u="none">
                <a:solidFill>
                  <a:srgbClr val="000000"/>
                </a:solidFill>
                <a:latin typeface="Montserrat"/>
                <a:ea typeface="Montserrat"/>
                <a:cs typeface="Montserrat"/>
                <a:sym typeface="Montserrat"/>
              </a:rPr>
              <a:t> dron</a:t>
            </a:r>
            <a:r>
              <a:rPr lang="en-US" sz="2499" strike="noStrike" u="none">
                <a:solidFill>
                  <a:srgbClr val="000000"/>
                </a:solidFill>
                <a:latin typeface="Montserrat"/>
                <a:ea typeface="Montserrat"/>
                <a:cs typeface="Montserrat"/>
                <a:sym typeface="Montserrat"/>
              </a:rPr>
              <a:t>es</a:t>
            </a:r>
            <a:r>
              <a:rPr lang="en-US" sz="2499" strike="noStrike" u="none">
                <a:solidFill>
                  <a:srgbClr val="000000"/>
                </a:solidFill>
                <a:latin typeface="Montserrat"/>
                <a:ea typeface="Montserrat"/>
                <a:cs typeface="Montserrat"/>
                <a:sym typeface="Montserrat"/>
              </a:rPr>
              <a:t> a</a:t>
            </a:r>
            <a:r>
              <a:rPr lang="en-US" sz="2499" strike="noStrike" u="none">
                <a:solidFill>
                  <a:srgbClr val="000000"/>
                </a:solidFill>
                <a:latin typeface="Montserrat"/>
                <a:ea typeface="Montserrat"/>
                <a:cs typeface="Montserrat"/>
                <a:sym typeface="Montserrat"/>
              </a:rPr>
              <a:t>r</a:t>
            </a:r>
            <a:r>
              <a:rPr lang="en-US" sz="2499" strike="noStrike" u="none">
                <a:solidFill>
                  <a:srgbClr val="000000"/>
                </a:solidFill>
                <a:latin typeface="Montserrat"/>
                <a:ea typeface="Montserrat"/>
                <a:cs typeface="Montserrat"/>
                <a:sym typeface="Montserrat"/>
              </a:rPr>
              <a:t>e </a:t>
            </a:r>
            <a:r>
              <a:rPr lang="en-US" sz="2499" strike="noStrike" u="none">
                <a:solidFill>
                  <a:srgbClr val="000000"/>
                </a:solidFill>
                <a:latin typeface="Montserrat"/>
                <a:ea typeface="Montserrat"/>
                <a:cs typeface="Montserrat"/>
                <a:sym typeface="Montserrat"/>
              </a:rPr>
              <a:t>d</a:t>
            </a:r>
            <a:r>
              <a:rPr lang="en-US" sz="2499" strike="noStrike" u="none">
                <a:solidFill>
                  <a:srgbClr val="000000"/>
                </a:solidFill>
                <a:latin typeface="Montserrat"/>
                <a:ea typeface="Montserrat"/>
                <a:cs typeface="Montserrat"/>
                <a:sym typeface="Montserrat"/>
              </a:rPr>
              <a:t>e</a:t>
            </a:r>
            <a:r>
              <a:rPr lang="en-US" sz="2499" strike="noStrike" u="none">
                <a:solidFill>
                  <a:srgbClr val="000000"/>
                </a:solidFill>
                <a:latin typeface="Montserrat"/>
                <a:ea typeface="Montserrat"/>
                <a:cs typeface="Montserrat"/>
                <a:sym typeface="Montserrat"/>
              </a:rPr>
              <a:t>p</a:t>
            </a:r>
            <a:r>
              <a:rPr lang="en-US" sz="2499" strike="noStrike" u="none">
                <a:solidFill>
                  <a:srgbClr val="000000"/>
                </a:solidFill>
                <a:latin typeface="Montserrat"/>
                <a:ea typeface="Montserrat"/>
                <a:cs typeface="Montserrat"/>
                <a:sym typeface="Montserrat"/>
              </a:rPr>
              <a:t>l</a:t>
            </a:r>
            <a:r>
              <a:rPr lang="en-US" sz="2499" strike="noStrike" u="none">
                <a:solidFill>
                  <a:srgbClr val="000000"/>
                </a:solidFill>
                <a:latin typeface="Montserrat"/>
                <a:ea typeface="Montserrat"/>
                <a:cs typeface="Montserrat"/>
                <a:sym typeface="Montserrat"/>
              </a:rPr>
              <a:t>oy</a:t>
            </a:r>
            <a:r>
              <a:rPr lang="en-US" sz="2499" strike="noStrike" u="none">
                <a:solidFill>
                  <a:srgbClr val="000000"/>
                </a:solidFill>
                <a:latin typeface="Montserrat"/>
                <a:ea typeface="Montserrat"/>
                <a:cs typeface="Montserrat"/>
                <a:sym typeface="Montserrat"/>
              </a:rPr>
              <a:t>e</a:t>
            </a:r>
            <a:r>
              <a:rPr lang="en-US" sz="2499" strike="noStrike" u="none">
                <a:solidFill>
                  <a:srgbClr val="000000"/>
                </a:solidFill>
                <a:latin typeface="Montserrat"/>
                <a:ea typeface="Montserrat"/>
                <a:cs typeface="Montserrat"/>
                <a:sym typeface="Montserrat"/>
              </a:rPr>
              <a:t>d inside structures ahead of officers keeping them out of harm’</a:t>
            </a:r>
            <a:r>
              <a:rPr lang="en-US" sz="2499" strike="noStrike" u="none">
                <a:solidFill>
                  <a:srgbClr val="000000"/>
                </a:solidFill>
                <a:latin typeface="Montserrat"/>
                <a:ea typeface="Montserrat"/>
                <a:cs typeface="Montserrat"/>
                <a:sym typeface="Montserrat"/>
              </a:rPr>
              <a:t>s way.</a:t>
            </a:r>
          </a:p>
          <a:p>
            <a:pPr algn="l" marL="0" indent="0" lvl="0">
              <a:lnSpc>
                <a:spcPts val="4121"/>
              </a:lnSpc>
              <a:spcBef>
                <a:spcPct val="0"/>
              </a:spcBef>
            </a:pPr>
          </a:p>
        </p:txBody>
      </p:sp>
      <p:sp>
        <p:nvSpPr>
          <p:cNvPr name="TextBox 7" id="7"/>
          <p:cNvSpPr txBox="true"/>
          <p:nvPr/>
        </p:nvSpPr>
        <p:spPr>
          <a:xfrm rot="0">
            <a:off x="1043910" y="7302478"/>
            <a:ext cx="8914751" cy="1047750"/>
          </a:xfrm>
          <a:prstGeom prst="rect">
            <a:avLst/>
          </a:prstGeom>
        </p:spPr>
        <p:txBody>
          <a:bodyPr anchor="t" rtlCol="false" tIns="0" lIns="0" bIns="0" rIns="0">
            <a:spAutoFit/>
          </a:bodyPr>
          <a:lstStyle/>
          <a:p>
            <a:pPr algn="l">
              <a:lnSpc>
                <a:spcPts val="4200"/>
              </a:lnSpc>
            </a:pPr>
            <a:r>
              <a:rPr lang="en-US" sz="3000" b="true">
                <a:solidFill>
                  <a:srgbClr val="1E3A8A"/>
                </a:solidFill>
                <a:latin typeface="Montserrat Bold"/>
                <a:ea typeface="Montserrat Bold"/>
                <a:cs typeface="Montserrat Bold"/>
                <a:sym typeface="Montserrat Bold"/>
              </a:rPr>
              <a:t>SMPD has partnered with Skydio for DFR​.</a:t>
            </a:r>
          </a:p>
          <a:p>
            <a:pPr algn="l">
              <a:lnSpc>
                <a:spcPts val="4200"/>
              </a:lnSpc>
            </a:pPr>
          </a:p>
        </p:txBody>
      </p:sp>
      <p:sp>
        <p:nvSpPr>
          <p:cNvPr name="AutoShape 8" id="8"/>
          <p:cNvSpPr/>
          <p:nvPr/>
        </p:nvSpPr>
        <p:spPr>
          <a:xfrm flipV="true">
            <a:off x="-117230" y="10287000"/>
            <a:ext cx="19376532" cy="12351"/>
          </a:xfrm>
          <a:prstGeom prst="line">
            <a:avLst/>
          </a:prstGeom>
          <a:ln cap="flat" w="85725">
            <a:solidFill>
              <a:srgbClr val="1E498A"/>
            </a:solidFill>
            <a:prstDash val="solid"/>
            <a:headEnd type="none" len="sm" w="sm"/>
            <a:tailEnd type="none" len="sm" w="sm"/>
          </a:ln>
        </p:spPr>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35453" y="2182840"/>
            <a:ext cx="7708547" cy="6182607"/>
            <a:chOff x="0" y="0"/>
            <a:chExt cx="1257272" cy="1008390"/>
          </a:xfrm>
        </p:grpSpPr>
        <p:sp>
          <p:nvSpPr>
            <p:cNvPr name="Freeform 3" id="3"/>
            <p:cNvSpPr/>
            <p:nvPr/>
          </p:nvSpPr>
          <p:spPr>
            <a:xfrm flipH="false" flipV="false" rot="0">
              <a:off x="0" y="0"/>
              <a:ext cx="1257272" cy="1008390"/>
            </a:xfrm>
            <a:custGeom>
              <a:avLst/>
              <a:gdLst/>
              <a:ahLst/>
              <a:cxnLst/>
              <a:rect r="r" b="b" t="t" l="l"/>
              <a:pathLst>
                <a:path h="1008390" w="1257272">
                  <a:moveTo>
                    <a:pt x="0" y="0"/>
                  </a:moveTo>
                  <a:lnTo>
                    <a:pt x="1257272" y="0"/>
                  </a:lnTo>
                  <a:lnTo>
                    <a:pt x="1257272" y="1008390"/>
                  </a:lnTo>
                  <a:lnTo>
                    <a:pt x="0" y="1008390"/>
                  </a:lnTo>
                  <a:close/>
                </a:path>
              </a:pathLst>
            </a:custGeom>
            <a:blipFill>
              <a:blip r:embed="rId3"/>
              <a:stretch>
                <a:fillRect l="-4095" t="0" r="-4095" b="0"/>
              </a:stretch>
            </a:blipFill>
          </p:spPr>
        </p:sp>
      </p:grpSp>
      <p:sp>
        <p:nvSpPr>
          <p:cNvPr name="TextBox 4" id="4"/>
          <p:cNvSpPr txBox="true"/>
          <p:nvPr/>
        </p:nvSpPr>
        <p:spPr>
          <a:xfrm rot="0">
            <a:off x="10263327" y="2287615"/>
            <a:ext cx="6560983" cy="1131570"/>
          </a:xfrm>
          <a:prstGeom prst="rect">
            <a:avLst/>
          </a:prstGeom>
        </p:spPr>
        <p:txBody>
          <a:bodyPr anchor="t" rtlCol="false" tIns="0" lIns="0" bIns="0" rIns="0">
            <a:spAutoFit/>
          </a:bodyPr>
          <a:lstStyle/>
          <a:p>
            <a:pPr algn="l" marL="0" indent="0" lvl="0">
              <a:lnSpc>
                <a:spcPts val="4365"/>
              </a:lnSpc>
            </a:pPr>
            <a:r>
              <a:rPr lang="en-US" b="true" sz="4500" strike="noStrike" u="none">
                <a:solidFill>
                  <a:srgbClr val="002557"/>
                </a:solidFill>
                <a:latin typeface="Montserrat Bold"/>
                <a:ea typeface="Montserrat Bold"/>
                <a:cs typeface="Montserrat Bold"/>
                <a:sym typeface="Montserrat Bold"/>
              </a:rPr>
              <a:t>Why do we have a DFR Program?</a:t>
            </a:r>
          </a:p>
        </p:txBody>
      </p:sp>
      <p:sp>
        <p:nvSpPr>
          <p:cNvPr name="TextBox 5" id="5"/>
          <p:cNvSpPr txBox="true"/>
          <p:nvPr/>
        </p:nvSpPr>
        <p:spPr>
          <a:xfrm rot="0">
            <a:off x="10064955" y="3521782"/>
            <a:ext cx="8223045" cy="5148620"/>
          </a:xfrm>
          <a:prstGeom prst="rect">
            <a:avLst/>
          </a:prstGeom>
        </p:spPr>
        <p:txBody>
          <a:bodyPr anchor="t" rtlCol="false" tIns="0" lIns="0" bIns="0" rIns="0">
            <a:spAutoFit/>
          </a:bodyPr>
          <a:lstStyle/>
          <a:p>
            <a:pPr algn="l" marL="649421" indent="-324710" lvl="1">
              <a:lnSpc>
                <a:spcPts val="4181"/>
              </a:lnSpc>
              <a:buFont typeface="Arial"/>
              <a:buChar char="•"/>
            </a:pPr>
            <a:r>
              <a:rPr lang="en-US" sz="3007">
                <a:solidFill>
                  <a:srgbClr val="000000"/>
                </a:solidFill>
                <a:latin typeface="Montserrat"/>
                <a:ea typeface="Montserrat"/>
                <a:cs typeface="Montserrat"/>
                <a:sym typeface="Montserrat"/>
              </a:rPr>
              <a:t>Rapid Situational Awareness​</a:t>
            </a:r>
          </a:p>
          <a:p>
            <a:pPr algn="l" marL="649421" indent="-324710" lvl="1">
              <a:lnSpc>
                <a:spcPts val="4181"/>
              </a:lnSpc>
              <a:buFont typeface="Arial"/>
              <a:buChar char="•"/>
            </a:pPr>
            <a:r>
              <a:rPr lang="en-US" sz="3007">
                <a:solidFill>
                  <a:srgbClr val="000000"/>
                </a:solidFill>
                <a:latin typeface="Montserrat"/>
                <a:ea typeface="Montserrat"/>
                <a:cs typeface="Montserrat"/>
                <a:sym typeface="Montserrat"/>
              </a:rPr>
              <a:t>Search and Rescue​</a:t>
            </a:r>
          </a:p>
          <a:p>
            <a:pPr algn="l" marL="649421" indent="-324710" lvl="1">
              <a:lnSpc>
                <a:spcPts val="4181"/>
              </a:lnSpc>
              <a:buFont typeface="Arial"/>
              <a:buChar char="•"/>
            </a:pPr>
            <a:r>
              <a:rPr lang="en-US" sz="3007">
                <a:solidFill>
                  <a:srgbClr val="000000"/>
                </a:solidFill>
                <a:latin typeface="Montserrat"/>
                <a:ea typeface="Montserrat"/>
                <a:cs typeface="Montserrat"/>
                <a:sym typeface="Montserrat"/>
              </a:rPr>
              <a:t>Fire Watch and Firefighting​</a:t>
            </a:r>
          </a:p>
          <a:p>
            <a:pPr algn="l" marL="649421" indent="-324710" lvl="1">
              <a:lnSpc>
                <a:spcPts val="4181"/>
              </a:lnSpc>
              <a:buFont typeface="Arial"/>
              <a:buChar char="•"/>
            </a:pPr>
            <a:r>
              <a:rPr lang="en-US" sz="3007">
                <a:solidFill>
                  <a:srgbClr val="000000"/>
                </a:solidFill>
                <a:latin typeface="Montserrat"/>
                <a:ea typeface="Montserrat"/>
                <a:cs typeface="Montserrat"/>
                <a:sym typeface="Montserrat"/>
              </a:rPr>
              <a:t>Critical Operations Support​</a:t>
            </a:r>
          </a:p>
          <a:p>
            <a:pPr algn="l" marL="649421" indent="-324710" lvl="1">
              <a:lnSpc>
                <a:spcPts val="4181"/>
              </a:lnSpc>
              <a:buFont typeface="Arial"/>
              <a:buChar char="•"/>
            </a:pPr>
            <a:r>
              <a:rPr lang="en-US" sz="3007">
                <a:solidFill>
                  <a:srgbClr val="000000"/>
                </a:solidFill>
                <a:latin typeface="Montserrat"/>
                <a:ea typeface="Montserrat"/>
                <a:cs typeface="Montserrat"/>
                <a:sym typeface="Montserrat"/>
              </a:rPr>
              <a:t>Increased Officer Safety​</a:t>
            </a:r>
          </a:p>
          <a:p>
            <a:pPr algn="l" marL="649421" indent="-324710" lvl="1">
              <a:lnSpc>
                <a:spcPts val="4181"/>
              </a:lnSpc>
              <a:buFont typeface="Arial"/>
              <a:buChar char="•"/>
            </a:pPr>
            <a:r>
              <a:rPr lang="en-US" sz="3007">
                <a:solidFill>
                  <a:srgbClr val="000000"/>
                </a:solidFill>
                <a:latin typeface="Montserrat"/>
                <a:ea typeface="Montserrat"/>
                <a:cs typeface="Montserrat"/>
                <a:sym typeface="Montserrat"/>
              </a:rPr>
              <a:t>Reduced Use of Force​</a:t>
            </a:r>
          </a:p>
          <a:p>
            <a:pPr algn="l" marL="649421" indent="-324710" lvl="1">
              <a:lnSpc>
                <a:spcPts val="4181"/>
              </a:lnSpc>
              <a:buFont typeface="Arial"/>
              <a:buChar char="•"/>
            </a:pPr>
            <a:r>
              <a:rPr lang="en-US" sz="3007">
                <a:solidFill>
                  <a:srgbClr val="000000"/>
                </a:solidFill>
                <a:latin typeface="Montserrat"/>
                <a:ea typeface="Montserrat"/>
                <a:cs typeface="Montserrat"/>
                <a:sym typeface="Montserrat"/>
              </a:rPr>
              <a:t>Delivery of Life-Saving Payloads​</a:t>
            </a:r>
          </a:p>
          <a:p>
            <a:pPr algn="l" marL="649421" indent="-324710" lvl="1">
              <a:lnSpc>
                <a:spcPts val="4181"/>
              </a:lnSpc>
              <a:buFont typeface="Arial"/>
              <a:buChar char="•"/>
            </a:pPr>
            <a:r>
              <a:rPr lang="en-US" sz="3007">
                <a:solidFill>
                  <a:srgbClr val="000000"/>
                </a:solidFill>
                <a:latin typeface="Montserrat"/>
                <a:ea typeface="Montserrat"/>
                <a:cs typeface="Montserrat"/>
                <a:sym typeface="Montserrat"/>
              </a:rPr>
              <a:t>De-escalation of situations ​</a:t>
            </a:r>
          </a:p>
          <a:p>
            <a:pPr algn="l" marL="649421" indent="-324710" lvl="1">
              <a:lnSpc>
                <a:spcPts val="4181"/>
              </a:lnSpc>
              <a:buFont typeface="Arial"/>
              <a:buChar char="•"/>
            </a:pPr>
            <a:r>
              <a:rPr lang="en-US" sz="3007">
                <a:solidFill>
                  <a:srgbClr val="000000"/>
                </a:solidFill>
                <a:latin typeface="Montserrat"/>
                <a:ea typeface="Montserrat"/>
                <a:cs typeface="Montserrat"/>
                <a:sym typeface="Montserrat"/>
              </a:rPr>
              <a:t>HAZMAT incidents​</a:t>
            </a:r>
          </a:p>
          <a:p>
            <a:pPr algn="l" marL="0" indent="0" lvl="0">
              <a:lnSpc>
                <a:spcPts val="3509"/>
              </a:lnSpc>
              <a:spcBef>
                <a:spcPct val="0"/>
              </a:spcBef>
            </a:pPr>
          </a:p>
        </p:txBody>
      </p:sp>
      <p:sp>
        <p:nvSpPr>
          <p:cNvPr name="AutoShape 6" id="6"/>
          <p:cNvSpPr/>
          <p:nvPr/>
        </p:nvSpPr>
        <p:spPr>
          <a:xfrm flipV="true">
            <a:off x="-117230" y="10287000"/>
            <a:ext cx="19376532" cy="12351"/>
          </a:xfrm>
          <a:prstGeom prst="line">
            <a:avLst/>
          </a:prstGeom>
          <a:ln cap="flat" w="85725">
            <a:solidFill>
              <a:srgbClr val="1E498A"/>
            </a:solidFill>
            <a:prstDash val="solid"/>
            <a:headEnd type="none" len="sm" w="sm"/>
            <a:tailEnd type="none" len="sm" w="sm"/>
          </a:ln>
        </p:spPr>
      </p:sp>
    </p:spTree>
  </p:cSld>
  <p:clrMapOvr>
    <a:masterClrMapping/>
  </p:clrMapOvr>
</p:sld>
</file>

<file path=ppt/slides/slide3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922407" y="3022974"/>
            <a:ext cx="3097188" cy="5306533"/>
            <a:chOff x="0" y="0"/>
            <a:chExt cx="842400" cy="1443316"/>
          </a:xfrm>
        </p:grpSpPr>
        <p:sp>
          <p:nvSpPr>
            <p:cNvPr name="Freeform 3" id="3"/>
            <p:cNvSpPr/>
            <p:nvPr/>
          </p:nvSpPr>
          <p:spPr>
            <a:xfrm flipH="false" flipV="false" rot="0">
              <a:off x="0" y="0"/>
              <a:ext cx="842400" cy="1443316"/>
            </a:xfrm>
            <a:custGeom>
              <a:avLst/>
              <a:gdLst/>
              <a:ahLst/>
              <a:cxnLst/>
              <a:rect r="r" b="b" t="t" l="l"/>
              <a:pathLst>
                <a:path h="1443316" w="842400">
                  <a:moveTo>
                    <a:pt x="74990" y="0"/>
                  </a:moveTo>
                  <a:lnTo>
                    <a:pt x="767410" y="0"/>
                  </a:lnTo>
                  <a:cubicBezTo>
                    <a:pt x="787299" y="0"/>
                    <a:pt x="806373" y="7901"/>
                    <a:pt x="820436" y="21964"/>
                  </a:cubicBezTo>
                  <a:cubicBezTo>
                    <a:pt x="834499" y="36027"/>
                    <a:pt x="842400" y="55101"/>
                    <a:pt x="842400" y="74990"/>
                  </a:cubicBezTo>
                  <a:lnTo>
                    <a:pt x="842400" y="1368326"/>
                  </a:lnTo>
                  <a:cubicBezTo>
                    <a:pt x="842400" y="1409742"/>
                    <a:pt x="808826" y="1443316"/>
                    <a:pt x="767410" y="1443316"/>
                  </a:cubicBezTo>
                  <a:lnTo>
                    <a:pt x="74990" y="1443316"/>
                  </a:lnTo>
                  <a:cubicBezTo>
                    <a:pt x="33574" y="1443316"/>
                    <a:pt x="0" y="1409742"/>
                    <a:pt x="0" y="1368326"/>
                  </a:cubicBezTo>
                  <a:lnTo>
                    <a:pt x="0" y="74990"/>
                  </a:lnTo>
                  <a:cubicBezTo>
                    <a:pt x="0" y="33574"/>
                    <a:pt x="33574" y="0"/>
                    <a:pt x="74990" y="0"/>
                  </a:cubicBezTo>
                  <a:close/>
                </a:path>
              </a:pathLst>
            </a:custGeom>
            <a:solidFill>
              <a:srgbClr val="D2DAE9">
                <a:alpha val="89804"/>
              </a:srgbClr>
            </a:solidFill>
            <a:ln w="28575" cap="rnd">
              <a:solidFill>
                <a:srgbClr val="05347E">
                  <a:alpha val="89804"/>
                </a:srgbClr>
              </a:solidFill>
              <a:prstDash val="solid"/>
              <a:round/>
            </a:ln>
          </p:spPr>
        </p:sp>
        <p:sp>
          <p:nvSpPr>
            <p:cNvPr name="TextBox 4" id="4"/>
            <p:cNvSpPr txBox="true"/>
            <p:nvPr/>
          </p:nvSpPr>
          <p:spPr>
            <a:xfrm>
              <a:off x="0" y="-152400"/>
              <a:ext cx="842400" cy="1595716"/>
            </a:xfrm>
            <a:prstGeom prst="rect">
              <a:avLst/>
            </a:prstGeom>
          </p:spPr>
          <p:txBody>
            <a:bodyPr anchor="ctr" rtlCol="false" tIns="50800" lIns="50800" bIns="50800" rIns="50800"/>
            <a:lstStyle/>
            <a:p>
              <a:pPr algn="ctr" marL="0" indent="0" lvl="0">
                <a:lnSpc>
                  <a:spcPts val="4320"/>
                </a:lnSpc>
                <a:spcBef>
                  <a:spcPct val="0"/>
                </a:spcBef>
              </a:pPr>
            </a:p>
          </p:txBody>
        </p:sp>
      </p:grpSp>
      <p:grpSp>
        <p:nvGrpSpPr>
          <p:cNvPr name="Group 5" id="5"/>
          <p:cNvGrpSpPr/>
          <p:nvPr/>
        </p:nvGrpSpPr>
        <p:grpSpPr>
          <a:xfrm rot="0">
            <a:off x="4261367" y="3022974"/>
            <a:ext cx="3103854" cy="5306533"/>
            <a:chOff x="0" y="0"/>
            <a:chExt cx="844213" cy="1443316"/>
          </a:xfrm>
        </p:grpSpPr>
        <p:sp>
          <p:nvSpPr>
            <p:cNvPr name="Freeform 6" id="6"/>
            <p:cNvSpPr/>
            <p:nvPr/>
          </p:nvSpPr>
          <p:spPr>
            <a:xfrm flipH="false" flipV="false" rot="0">
              <a:off x="0" y="0"/>
              <a:ext cx="844213" cy="1443316"/>
            </a:xfrm>
            <a:custGeom>
              <a:avLst/>
              <a:gdLst/>
              <a:ahLst/>
              <a:cxnLst/>
              <a:rect r="r" b="b" t="t" l="l"/>
              <a:pathLst>
                <a:path h="1443316" w="844213">
                  <a:moveTo>
                    <a:pt x="74829" y="0"/>
                  </a:moveTo>
                  <a:lnTo>
                    <a:pt x="769384" y="0"/>
                  </a:lnTo>
                  <a:cubicBezTo>
                    <a:pt x="810711" y="0"/>
                    <a:pt x="844213" y="33502"/>
                    <a:pt x="844213" y="74829"/>
                  </a:cubicBezTo>
                  <a:lnTo>
                    <a:pt x="844213" y="1368487"/>
                  </a:lnTo>
                  <a:cubicBezTo>
                    <a:pt x="844213" y="1409814"/>
                    <a:pt x="810711" y="1443316"/>
                    <a:pt x="769384" y="1443316"/>
                  </a:cubicBezTo>
                  <a:lnTo>
                    <a:pt x="74829" y="1443316"/>
                  </a:lnTo>
                  <a:cubicBezTo>
                    <a:pt x="33502" y="1443316"/>
                    <a:pt x="0" y="1409814"/>
                    <a:pt x="0" y="1368487"/>
                  </a:cubicBezTo>
                  <a:lnTo>
                    <a:pt x="0" y="74829"/>
                  </a:lnTo>
                  <a:cubicBezTo>
                    <a:pt x="0" y="33502"/>
                    <a:pt x="33502" y="0"/>
                    <a:pt x="74829" y="0"/>
                  </a:cubicBezTo>
                  <a:close/>
                </a:path>
              </a:pathLst>
            </a:custGeom>
            <a:solidFill>
              <a:srgbClr val="B1BED9">
                <a:alpha val="89804"/>
              </a:srgbClr>
            </a:solidFill>
            <a:ln w="28575" cap="rnd">
              <a:solidFill>
                <a:srgbClr val="05347E">
                  <a:alpha val="89804"/>
                </a:srgbClr>
              </a:solidFill>
              <a:prstDash val="solid"/>
              <a:round/>
            </a:ln>
          </p:spPr>
        </p:sp>
        <p:sp>
          <p:nvSpPr>
            <p:cNvPr name="TextBox 7" id="7"/>
            <p:cNvSpPr txBox="true"/>
            <p:nvPr/>
          </p:nvSpPr>
          <p:spPr>
            <a:xfrm>
              <a:off x="0" y="-152400"/>
              <a:ext cx="844213" cy="1595716"/>
            </a:xfrm>
            <a:prstGeom prst="rect">
              <a:avLst/>
            </a:prstGeom>
          </p:spPr>
          <p:txBody>
            <a:bodyPr anchor="ctr" rtlCol="false" tIns="50800" lIns="50800" bIns="50800" rIns="50800"/>
            <a:lstStyle/>
            <a:p>
              <a:pPr algn="ctr" marL="0" indent="0" lvl="0">
                <a:lnSpc>
                  <a:spcPts val="4320"/>
                </a:lnSpc>
                <a:spcBef>
                  <a:spcPct val="0"/>
                </a:spcBef>
              </a:pPr>
            </a:p>
          </p:txBody>
        </p:sp>
      </p:grpSp>
      <p:grpSp>
        <p:nvGrpSpPr>
          <p:cNvPr name="Group 8" id="8"/>
          <p:cNvGrpSpPr/>
          <p:nvPr/>
        </p:nvGrpSpPr>
        <p:grpSpPr>
          <a:xfrm rot="0">
            <a:off x="7612872" y="3022974"/>
            <a:ext cx="3090734" cy="5306533"/>
            <a:chOff x="0" y="0"/>
            <a:chExt cx="840644" cy="1443316"/>
          </a:xfrm>
        </p:grpSpPr>
        <p:sp>
          <p:nvSpPr>
            <p:cNvPr name="Freeform 9" id="9"/>
            <p:cNvSpPr/>
            <p:nvPr/>
          </p:nvSpPr>
          <p:spPr>
            <a:xfrm flipH="false" flipV="false" rot="0">
              <a:off x="0" y="0"/>
              <a:ext cx="840644" cy="1443316"/>
            </a:xfrm>
            <a:custGeom>
              <a:avLst/>
              <a:gdLst/>
              <a:ahLst/>
              <a:cxnLst/>
              <a:rect r="r" b="b" t="t" l="l"/>
              <a:pathLst>
                <a:path h="1443316" w="840644">
                  <a:moveTo>
                    <a:pt x="75146" y="0"/>
                  </a:moveTo>
                  <a:lnTo>
                    <a:pt x="765498" y="0"/>
                  </a:lnTo>
                  <a:cubicBezTo>
                    <a:pt x="785428" y="0"/>
                    <a:pt x="804542" y="7917"/>
                    <a:pt x="818634" y="22010"/>
                  </a:cubicBezTo>
                  <a:cubicBezTo>
                    <a:pt x="832727" y="36103"/>
                    <a:pt x="840644" y="55216"/>
                    <a:pt x="840644" y="75146"/>
                  </a:cubicBezTo>
                  <a:lnTo>
                    <a:pt x="840644" y="1368170"/>
                  </a:lnTo>
                  <a:cubicBezTo>
                    <a:pt x="840644" y="1388100"/>
                    <a:pt x="832727" y="1407214"/>
                    <a:pt x="818634" y="1421306"/>
                  </a:cubicBezTo>
                  <a:cubicBezTo>
                    <a:pt x="804542" y="1435399"/>
                    <a:pt x="785428" y="1443316"/>
                    <a:pt x="765498" y="1443316"/>
                  </a:cubicBezTo>
                  <a:lnTo>
                    <a:pt x="75146" y="1443316"/>
                  </a:lnTo>
                  <a:cubicBezTo>
                    <a:pt x="33644" y="1443316"/>
                    <a:pt x="0" y="1409672"/>
                    <a:pt x="0" y="1368170"/>
                  </a:cubicBezTo>
                  <a:lnTo>
                    <a:pt x="0" y="75146"/>
                  </a:lnTo>
                  <a:cubicBezTo>
                    <a:pt x="0" y="55216"/>
                    <a:pt x="7917" y="36103"/>
                    <a:pt x="22010" y="22010"/>
                  </a:cubicBezTo>
                  <a:cubicBezTo>
                    <a:pt x="36103" y="7917"/>
                    <a:pt x="55216" y="0"/>
                    <a:pt x="75146" y="0"/>
                  </a:cubicBezTo>
                  <a:close/>
                </a:path>
              </a:pathLst>
            </a:custGeom>
            <a:solidFill>
              <a:srgbClr val="8299C7">
                <a:alpha val="89804"/>
              </a:srgbClr>
            </a:solidFill>
            <a:ln w="28575" cap="rnd">
              <a:solidFill>
                <a:srgbClr val="05347E">
                  <a:alpha val="89804"/>
                </a:srgbClr>
              </a:solidFill>
              <a:prstDash val="solid"/>
              <a:round/>
            </a:ln>
          </p:spPr>
        </p:sp>
        <p:sp>
          <p:nvSpPr>
            <p:cNvPr name="TextBox 10" id="10"/>
            <p:cNvSpPr txBox="true"/>
            <p:nvPr/>
          </p:nvSpPr>
          <p:spPr>
            <a:xfrm>
              <a:off x="0" y="-152400"/>
              <a:ext cx="840644" cy="1595716"/>
            </a:xfrm>
            <a:prstGeom prst="rect">
              <a:avLst/>
            </a:prstGeom>
          </p:spPr>
          <p:txBody>
            <a:bodyPr anchor="ctr" rtlCol="false" tIns="50800" lIns="50800" bIns="50800" rIns="50800"/>
            <a:lstStyle/>
            <a:p>
              <a:pPr algn="ctr" marL="0" indent="0" lvl="0">
                <a:lnSpc>
                  <a:spcPts val="4320"/>
                </a:lnSpc>
                <a:spcBef>
                  <a:spcPct val="0"/>
                </a:spcBef>
              </a:pPr>
            </a:p>
          </p:txBody>
        </p:sp>
      </p:grpSp>
      <p:grpSp>
        <p:nvGrpSpPr>
          <p:cNvPr name="Group 11" id="11"/>
          <p:cNvGrpSpPr/>
          <p:nvPr/>
        </p:nvGrpSpPr>
        <p:grpSpPr>
          <a:xfrm rot="0">
            <a:off x="10951255" y="2975962"/>
            <a:ext cx="3103854" cy="5306533"/>
            <a:chOff x="0" y="0"/>
            <a:chExt cx="844213" cy="1443316"/>
          </a:xfrm>
        </p:grpSpPr>
        <p:sp>
          <p:nvSpPr>
            <p:cNvPr name="Freeform 12" id="12"/>
            <p:cNvSpPr/>
            <p:nvPr/>
          </p:nvSpPr>
          <p:spPr>
            <a:xfrm flipH="false" flipV="false" rot="0">
              <a:off x="0" y="0"/>
              <a:ext cx="844213" cy="1443316"/>
            </a:xfrm>
            <a:custGeom>
              <a:avLst/>
              <a:gdLst/>
              <a:ahLst/>
              <a:cxnLst/>
              <a:rect r="r" b="b" t="t" l="l"/>
              <a:pathLst>
                <a:path h="1443316" w="844213">
                  <a:moveTo>
                    <a:pt x="74829" y="0"/>
                  </a:moveTo>
                  <a:lnTo>
                    <a:pt x="769384" y="0"/>
                  </a:lnTo>
                  <a:cubicBezTo>
                    <a:pt x="810711" y="0"/>
                    <a:pt x="844213" y="33502"/>
                    <a:pt x="844213" y="74829"/>
                  </a:cubicBezTo>
                  <a:lnTo>
                    <a:pt x="844213" y="1368487"/>
                  </a:lnTo>
                  <a:cubicBezTo>
                    <a:pt x="844213" y="1409814"/>
                    <a:pt x="810711" y="1443316"/>
                    <a:pt x="769384" y="1443316"/>
                  </a:cubicBezTo>
                  <a:lnTo>
                    <a:pt x="74829" y="1443316"/>
                  </a:lnTo>
                  <a:cubicBezTo>
                    <a:pt x="33502" y="1443316"/>
                    <a:pt x="0" y="1409814"/>
                    <a:pt x="0" y="1368487"/>
                  </a:cubicBezTo>
                  <a:lnTo>
                    <a:pt x="0" y="74829"/>
                  </a:lnTo>
                  <a:cubicBezTo>
                    <a:pt x="0" y="33502"/>
                    <a:pt x="33502" y="0"/>
                    <a:pt x="74829" y="0"/>
                  </a:cubicBezTo>
                  <a:close/>
                </a:path>
              </a:pathLst>
            </a:custGeom>
            <a:solidFill>
              <a:srgbClr val="6683BE">
                <a:alpha val="89804"/>
              </a:srgbClr>
            </a:solidFill>
            <a:ln w="28575" cap="rnd">
              <a:solidFill>
                <a:srgbClr val="0B1D51">
                  <a:alpha val="89804"/>
                </a:srgbClr>
              </a:solidFill>
              <a:prstDash val="solid"/>
              <a:round/>
            </a:ln>
          </p:spPr>
        </p:sp>
        <p:sp>
          <p:nvSpPr>
            <p:cNvPr name="TextBox 13" id="13"/>
            <p:cNvSpPr txBox="true"/>
            <p:nvPr/>
          </p:nvSpPr>
          <p:spPr>
            <a:xfrm>
              <a:off x="0" y="-152400"/>
              <a:ext cx="844213" cy="1595716"/>
            </a:xfrm>
            <a:prstGeom prst="rect">
              <a:avLst/>
            </a:prstGeom>
          </p:spPr>
          <p:txBody>
            <a:bodyPr anchor="ctr" rtlCol="false" tIns="50800" lIns="50800" bIns="50800" rIns="50800"/>
            <a:lstStyle/>
            <a:p>
              <a:pPr algn="ctr" marL="0" indent="0" lvl="0">
                <a:lnSpc>
                  <a:spcPts val="4320"/>
                </a:lnSpc>
                <a:spcBef>
                  <a:spcPct val="0"/>
                </a:spcBef>
              </a:pPr>
            </a:p>
          </p:txBody>
        </p:sp>
      </p:grpSp>
      <p:grpSp>
        <p:nvGrpSpPr>
          <p:cNvPr name="Group 14" id="14"/>
          <p:cNvGrpSpPr/>
          <p:nvPr/>
        </p:nvGrpSpPr>
        <p:grpSpPr>
          <a:xfrm rot="0">
            <a:off x="14302759" y="3022974"/>
            <a:ext cx="3103854" cy="5306533"/>
            <a:chOff x="0" y="0"/>
            <a:chExt cx="844213" cy="1443316"/>
          </a:xfrm>
        </p:grpSpPr>
        <p:sp>
          <p:nvSpPr>
            <p:cNvPr name="Freeform 15" id="15"/>
            <p:cNvSpPr/>
            <p:nvPr/>
          </p:nvSpPr>
          <p:spPr>
            <a:xfrm flipH="false" flipV="false" rot="0">
              <a:off x="0" y="0"/>
              <a:ext cx="844213" cy="1443316"/>
            </a:xfrm>
            <a:custGeom>
              <a:avLst/>
              <a:gdLst/>
              <a:ahLst/>
              <a:cxnLst/>
              <a:rect r="r" b="b" t="t" l="l"/>
              <a:pathLst>
                <a:path h="1443316" w="844213">
                  <a:moveTo>
                    <a:pt x="74829" y="0"/>
                  </a:moveTo>
                  <a:lnTo>
                    <a:pt x="769384" y="0"/>
                  </a:lnTo>
                  <a:cubicBezTo>
                    <a:pt x="810711" y="0"/>
                    <a:pt x="844213" y="33502"/>
                    <a:pt x="844213" y="74829"/>
                  </a:cubicBezTo>
                  <a:lnTo>
                    <a:pt x="844213" y="1368487"/>
                  </a:lnTo>
                  <a:cubicBezTo>
                    <a:pt x="844213" y="1409814"/>
                    <a:pt x="810711" y="1443316"/>
                    <a:pt x="769384" y="1443316"/>
                  </a:cubicBezTo>
                  <a:lnTo>
                    <a:pt x="74829" y="1443316"/>
                  </a:lnTo>
                  <a:cubicBezTo>
                    <a:pt x="33502" y="1443316"/>
                    <a:pt x="0" y="1409814"/>
                    <a:pt x="0" y="1368487"/>
                  </a:cubicBezTo>
                  <a:lnTo>
                    <a:pt x="0" y="74829"/>
                  </a:lnTo>
                  <a:cubicBezTo>
                    <a:pt x="0" y="33502"/>
                    <a:pt x="33502" y="0"/>
                    <a:pt x="74829" y="0"/>
                  </a:cubicBezTo>
                  <a:close/>
                </a:path>
              </a:pathLst>
            </a:custGeom>
            <a:solidFill>
              <a:srgbClr val="4F6FAE">
                <a:alpha val="89804"/>
              </a:srgbClr>
            </a:solidFill>
            <a:ln w="28575" cap="rnd">
              <a:solidFill>
                <a:srgbClr val="0B1D51">
                  <a:alpha val="89804"/>
                </a:srgbClr>
              </a:solidFill>
              <a:prstDash val="solid"/>
              <a:round/>
            </a:ln>
          </p:spPr>
        </p:sp>
        <p:sp>
          <p:nvSpPr>
            <p:cNvPr name="TextBox 16" id="16"/>
            <p:cNvSpPr txBox="true"/>
            <p:nvPr/>
          </p:nvSpPr>
          <p:spPr>
            <a:xfrm>
              <a:off x="0" y="-152400"/>
              <a:ext cx="844213" cy="1595716"/>
            </a:xfrm>
            <a:prstGeom prst="rect">
              <a:avLst/>
            </a:prstGeom>
          </p:spPr>
          <p:txBody>
            <a:bodyPr anchor="ctr" rtlCol="false" tIns="50800" lIns="50800" bIns="50800" rIns="50800"/>
            <a:lstStyle/>
            <a:p>
              <a:pPr algn="ctr">
                <a:lnSpc>
                  <a:spcPts val="4320"/>
                </a:lnSpc>
              </a:pPr>
            </a:p>
          </p:txBody>
        </p:sp>
      </p:grpSp>
      <p:grpSp>
        <p:nvGrpSpPr>
          <p:cNvPr name="Group 17" id="17"/>
          <p:cNvGrpSpPr/>
          <p:nvPr/>
        </p:nvGrpSpPr>
        <p:grpSpPr>
          <a:xfrm rot="0">
            <a:off x="3525362" y="7328118"/>
            <a:ext cx="1072451" cy="719404"/>
            <a:chOff x="0" y="0"/>
            <a:chExt cx="954737" cy="640441"/>
          </a:xfrm>
        </p:grpSpPr>
        <p:sp>
          <p:nvSpPr>
            <p:cNvPr name="Freeform 18" id="18"/>
            <p:cNvSpPr/>
            <p:nvPr/>
          </p:nvSpPr>
          <p:spPr>
            <a:xfrm flipH="false" flipV="false" rot="0">
              <a:off x="0" y="0"/>
              <a:ext cx="954737" cy="640441"/>
            </a:xfrm>
            <a:custGeom>
              <a:avLst/>
              <a:gdLst/>
              <a:ahLst/>
              <a:cxnLst/>
              <a:rect r="r" b="b" t="t" l="l"/>
              <a:pathLst>
                <a:path h="640441" w="954737">
                  <a:moveTo>
                    <a:pt x="954737" y="320221"/>
                  </a:moveTo>
                  <a:lnTo>
                    <a:pt x="548337" y="0"/>
                  </a:lnTo>
                  <a:lnTo>
                    <a:pt x="548337" y="203200"/>
                  </a:lnTo>
                  <a:lnTo>
                    <a:pt x="0" y="203200"/>
                  </a:lnTo>
                  <a:lnTo>
                    <a:pt x="0" y="437241"/>
                  </a:lnTo>
                  <a:lnTo>
                    <a:pt x="548337" y="437241"/>
                  </a:lnTo>
                  <a:lnTo>
                    <a:pt x="548337" y="640441"/>
                  </a:lnTo>
                  <a:lnTo>
                    <a:pt x="954737" y="320221"/>
                  </a:lnTo>
                  <a:close/>
                </a:path>
              </a:pathLst>
            </a:custGeom>
            <a:solidFill>
              <a:srgbClr val="A28231"/>
            </a:solidFill>
          </p:spPr>
        </p:sp>
        <p:sp>
          <p:nvSpPr>
            <p:cNvPr name="TextBox 19" id="19"/>
            <p:cNvSpPr txBox="true"/>
            <p:nvPr/>
          </p:nvSpPr>
          <p:spPr>
            <a:xfrm>
              <a:off x="0" y="50800"/>
              <a:ext cx="853137" cy="386441"/>
            </a:xfrm>
            <a:prstGeom prst="rect">
              <a:avLst/>
            </a:prstGeom>
          </p:spPr>
          <p:txBody>
            <a:bodyPr anchor="ctr" rtlCol="false" tIns="50800" lIns="50800" bIns="50800" rIns="50800"/>
            <a:lstStyle/>
            <a:p>
              <a:pPr algn="ctr">
                <a:lnSpc>
                  <a:spcPts val="4320"/>
                </a:lnSpc>
              </a:pPr>
            </a:p>
          </p:txBody>
        </p:sp>
      </p:grpSp>
      <p:sp>
        <p:nvSpPr>
          <p:cNvPr name="TextBox 20" id="20"/>
          <p:cNvSpPr txBox="true"/>
          <p:nvPr/>
        </p:nvSpPr>
        <p:spPr>
          <a:xfrm rot="0">
            <a:off x="1028700" y="809625"/>
            <a:ext cx="6923762" cy="762000"/>
          </a:xfrm>
          <a:prstGeom prst="rect">
            <a:avLst/>
          </a:prstGeom>
        </p:spPr>
        <p:txBody>
          <a:bodyPr anchor="t" rtlCol="false" tIns="0" lIns="0" bIns="0" rIns="0">
            <a:spAutoFit/>
          </a:bodyPr>
          <a:lstStyle/>
          <a:p>
            <a:pPr algn="l" marL="0" indent="0" lvl="0">
              <a:lnSpc>
                <a:spcPts val="6299"/>
              </a:lnSpc>
              <a:spcBef>
                <a:spcPct val="0"/>
              </a:spcBef>
            </a:pPr>
            <a:r>
              <a:rPr lang="en-US" b="true" sz="4500" strike="noStrike" u="none">
                <a:solidFill>
                  <a:srgbClr val="002557"/>
                </a:solidFill>
                <a:latin typeface="Montserrat Bold"/>
                <a:ea typeface="Montserrat Bold"/>
                <a:cs typeface="Montserrat Bold"/>
                <a:sym typeface="Montserrat Bold"/>
              </a:rPr>
              <a:t>DFR Workflow</a:t>
            </a:r>
          </a:p>
        </p:txBody>
      </p:sp>
      <p:sp>
        <p:nvSpPr>
          <p:cNvPr name="TextBox 21" id="21"/>
          <p:cNvSpPr txBox="true"/>
          <p:nvPr/>
        </p:nvSpPr>
        <p:spPr>
          <a:xfrm rot="0">
            <a:off x="1265097" y="4747704"/>
            <a:ext cx="2431279" cy="1476375"/>
          </a:xfrm>
          <a:prstGeom prst="rect">
            <a:avLst/>
          </a:prstGeom>
        </p:spPr>
        <p:txBody>
          <a:bodyPr anchor="t" rtlCol="false" tIns="0" lIns="0" bIns="0" rIns="0">
            <a:spAutoFit/>
          </a:bodyPr>
          <a:lstStyle/>
          <a:p>
            <a:pPr algn="ctr">
              <a:lnSpc>
                <a:spcPts val="2999"/>
              </a:lnSpc>
            </a:pPr>
            <a:r>
              <a:rPr lang="en-US" sz="2499" spc="49">
                <a:solidFill>
                  <a:srgbClr val="000000"/>
                </a:solidFill>
                <a:latin typeface="Montserrat"/>
                <a:ea typeface="Montserrat"/>
                <a:cs typeface="Montserrat"/>
                <a:sym typeface="Montserrat"/>
              </a:rPr>
              <a:t>Begins with a documented public safety purpose.</a:t>
            </a:r>
          </a:p>
        </p:txBody>
      </p:sp>
      <p:sp>
        <p:nvSpPr>
          <p:cNvPr name="TextBox 22" id="22"/>
          <p:cNvSpPr txBox="true"/>
          <p:nvPr/>
        </p:nvSpPr>
        <p:spPr>
          <a:xfrm rot="0">
            <a:off x="1265097" y="3439520"/>
            <a:ext cx="1748694" cy="625475"/>
          </a:xfrm>
          <a:prstGeom prst="rect">
            <a:avLst/>
          </a:prstGeom>
        </p:spPr>
        <p:txBody>
          <a:bodyPr anchor="t" rtlCol="false" tIns="0" lIns="0" bIns="0" rIns="0">
            <a:spAutoFit/>
          </a:bodyPr>
          <a:lstStyle/>
          <a:p>
            <a:pPr algn="l" marL="0" indent="0" lvl="0">
              <a:lnSpc>
                <a:spcPts val="4600"/>
              </a:lnSpc>
              <a:spcBef>
                <a:spcPct val="0"/>
              </a:spcBef>
            </a:pPr>
            <a:r>
              <a:rPr lang="en-US" b="true" sz="5000" strike="noStrike" u="none">
                <a:solidFill>
                  <a:srgbClr val="1E3A8A"/>
                </a:solidFill>
                <a:latin typeface="Montserrat Bold"/>
                <a:ea typeface="Montserrat Bold"/>
                <a:cs typeface="Montserrat Bold"/>
                <a:sym typeface="Montserrat Bold"/>
              </a:rPr>
              <a:t>1</a:t>
            </a:r>
          </a:p>
        </p:txBody>
      </p:sp>
      <p:sp>
        <p:nvSpPr>
          <p:cNvPr name="TextBox 23" id="23"/>
          <p:cNvSpPr txBox="true"/>
          <p:nvPr/>
        </p:nvSpPr>
        <p:spPr>
          <a:xfrm rot="0">
            <a:off x="4591464" y="4716212"/>
            <a:ext cx="2421543" cy="1847850"/>
          </a:xfrm>
          <a:prstGeom prst="rect">
            <a:avLst/>
          </a:prstGeom>
        </p:spPr>
        <p:txBody>
          <a:bodyPr anchor="t" rtlCol="false" tIns="0" lIns="0" bIns="0" rIns="0">
            <a:spAutoFit/>
          </a:bodyPr>
          <a:lstStyle/>
          <a:p>
            <a:pPr algn="ctr" marL="0" indent="0" lvl="0">
              <a:lnSpc>
                <a:spcPts val="2999"/>
              </a:lnSpc>
              <a:spcBef>
                <a:spcPct val="0"/>
              </a:spcBef>
            </a:pPr>
            <a:r>
              <a:rPr lang="en-US" sz="2499" spc="49" strike="noStrike" u="none">
                <a:solidFill>
                  <a:srgbClr val="000000"/>
                </a:solidFill>
                <a:latin typeface="Montserrat"/>
                <a:ea typeface="Montserrat"/>
                <a:cs typeface="Montserrat"/>
                <a:sym typeface="Montserrat"/>
              </a:rPr>
              <a:t>Addresses an identified concern within a defined area.</a:t>
            </a:r>
          </a:p>
        </p:txBody>
      </p:sp>
      <p:sp>
        <p:nvSpPr>
          <p:cNvPr name="TextBox 24" id="24"/>
          <p:cNvSpPr txBox="true"/>
          <p:nvPr/>
        </p:nvSpPr>
        <p:spPr>
          <a:xfrm rot="0">
            <a:off x="4602226" y="3449045"/>
            <a:ext cx="1751611" cy="615995"/>
          </a:xfrm>
          <a:prstGeom prst="rect">
            <a:avLst/>
          </a:prstGeom>
        </p:spPr>
        <p:txBody>
          <a:bodyPr anchor="t" rtlCol="false" tIns="0" lIns="0" bIns="0" rIns="0">
            <a:spAutoFit/>
          </a:bodyPr>
          <a:lstStyle/>
          <a:p>
            <a:pPr algn="l" marL="0" indent="0" lvl="0">
              <a:lnSpc>
                <a:spcPts val="4599"/>
              </a:lnSpc>
              <a:spcBef>
                <a:spcPct val="0"/>
              </a:spcBef>
            </a:pPr>
            <a:r>
              <a:rPr lang="en-US" b="true" sz="4999" strike="noStrike" u="none">
                <a:solidFill>
                  <a:srgbClr val="1E3A8A"/>
                </a:solidFill>
                <a:latin typeface="Montserrat Bold"/>
                <a:ea typeface="Montserrat Bold"/>
                <a:cs typeface="Montserrat Bold"/>
                <a:sym typeface="Montserrat Bold"/>
              </a:rPr>
              <a:t>2</a:t>
            </a:r>
          </a:p>
        </p:txBody>
      </p:sp>
      <p:sp>
        <p:nvSpPr>
          <p:cNvPr name="TextBox 25" id="25"/>
          <p:cNvSpPr txBox="true"/>
          <p:nvPr/>
        </p:nvSpPr>
        <p:spPr>
          <a:xfrm rot="0">
            <a:off x="7828170" y="4747704"/>
            <a:ext cx="2679608" cy="1503102"/>
          </a:xfrm>
          <a:prstGeom prst="rect">
            <a:avLst/>
          </a:prstGeom>
        </p:spPr>
        <p:txBody>
          <a:bodyPr anchor="t" rtlCol="false" tIns="0" lIns="0" bIns="0" rIns="0">
            <a:spAutoFit/>
          </a:bodyPr>
          <a:lstStyle/>
          <a:p>
            <a:pPr algn="ctr" marL="0" indent="0" lvl="0">
              <a:lnSpc>
                <a:spcPts val="2999"/>
              </a:lnSpc>
              <a:spcBef>
                <a:spcPct val="0"/>
              </a:spcBef>
            </a:pPr>
            <a:r>
              <a:rPr lang="en-US" sz="2499" spc="49" strike="noStrike" u="none">
                <a:solidFill>
                  <a:srgbClr val="000000"/>
                </a:solidFill>
                <a:latin typeface="Montserrat"/>
                <a:ea typeface="Montserrat"/>
                <a:cs typeface="Montserrat"/>
                <a:sym typeface="Montserrat"/>
              </a:rPr>
              <a:t>Limits observation to the purpose of the assignment.</a:t>
            </a:r>
          </a:p>
        </p:txBody>
      </p:sp>
      <p:sp>
        <p:nvSpPr>
          <p:cNvPr name="TextBox 26" id="26"/>
          <p:cNvSpPr txBox="true"/>
          <p:nvPr/>
        </p:nvSpPr>
        <p:spPr>
          <a:xfrm rot="0">
            <a:off x="7890700" y="3449045"/>
            <a:ext cx="1475667" cy="615995"/>
          </a:xfrm>
          <a:prstGeom prst="rect">
            <a:avLst/>
          </a:prstGeom>
        </p:spPr>
        <p:txBody>
          <a:bodyPr anchor="t" rtlCol="false" tIns="0" lIns="0" bIns="0" rIns="0">
            <a:spAutoFit/>
          </a:bodyPr>
          <a:lstStyle/>
          <a:p>
            <a:pPr algn="l" marL="0" indent="0" lvl="0">
              <a:lnSpc>
                <a:spcPts val="4599"/>
              </a:lnSpc>
              <a:spcBef>
                <a:spcPct val="0"/>
              </a:spcBef>
            </a:pPr>
            <a:r>
              <a:rPr lang="en-US" b="true" sz="4999" strike="noStrike" u="none">
                <a:solidFill>
                  <a:srgbClr val="1E3A8A"/>
                </a:solidFill>
                <a:latin typeface="Montserrat Bold"/>
                <a:ea typeface="Montserrat Bold"/>
                <a:cs typeface="Montserrat Bold"/>
                <a:sym typeface="Montserrat Bold"/>
              </a:rPr>
              <a:t>3</a:t>
            </a:r>
          </a:p>
        </p:txBody>
      </p:sp>
      <p:sp>
        <p:nvSpPr>
          <p:cNvPr name="TextBox 27" id="27"/>
          <p:cNvSpPr txBox="true"/>
          <p:nvPr/>
        </p:nvSpPr>
        <p:spPr>
          <a:xfrm rot="0">
            <a:off x="11127930" y="5089070"/>
            <a:ext cx="2690983" cy="746789"/>
          </a:xfrm>
          <a:prstGeom prst="rect">
            <a:avLst/>
          </a:prstGeom>
        </p:spPr>
        <p:txBody>
          <a:bodyPr anchor="t" rtlCol="false" tIns="0" lIns="0" bIns="0" rIns="0">
            <a:spAutoFit/>
          </a:bodyPr>
          <a:lstStyle/>
          <a:p>
            <a:pPr algn="ctr" marL="0" indent="0" lvl="0">
              <a:lnSpc>
                <a:spcPts val="2999"/>
              </a:lnSpc>
              <a:spcBef>
                <a:spcPct val="0"/>
              </a:spcBef>
            </a:pPr>
            <a:r>
              <a:rPr lang="en-US" sz="2499" spc="49" strike="noStrike" u="none">
                <a:solidFill>
                  <a:srgbClr val="000000"/>
                </a:solidFill>
                <a:latin typeface="Montserrat"/>
                <a:ea typeface="Montserrat"/>
                <a:cs typeface="Montserrat"/>
                <a:sym typeface="Montserrat"/>
              </a:rPr>
              <a:t>Has a defined end point.</a:t>
            </a:r>
          </a:p>
        </p:txBody>
      </p:sp>
      <p:sp>
        <p:nvSpPr>
          <p:cNvPr name="TextBox 28" id="28"/>
          <p:cNvSpPr txBox="true"/>
          <p:nvPr/>
        </p:nvSpPr>
        <p:spPr>
          <a:xfrm rot="0">
            <a:off x="11224802" y="3402033"/>
            <a:ext cx="1481932" cy="615995"/>
          </a:xfrm>
          <a:prstGeom prst="rect">
            <a:avLst/>
          </a:prstGeom>
        </p:spPr>
        <p:txBody>
          <a:bodyPr anchor="t" rtlCol="false" tIns="0" lIns="0" bIns="0" rIns="0">
            <a:spAutoFit/>
          </a:bodyPr>
          <a:lstStyle/>
          <a:p>
            <a:pPr algn="l" marL="0" indent="0" lvl="0">
              <a:lnSpc>
                <a:spcPts val="4599"/>
              </a:lnSpc>
              <a:spcBef>
                <a:spcPct val="0"/>
              </a:spcBef>
            </a:pPr>
            <a:r>
              <a:rPr lang="en-US" b="true" sz="4999" strike="noStrike" u="none">
                <a:solidFill>
                  <a:srgbClr val="1E3A8A"/>
                </a:solidFill>
                <a:latin typeface="Montserrat Bold"/>
                <a:ea typeface="Montserrat Bold"/>
                <a:cs typeface="Montserrat Bold"/>
                <a:sym typeface="Montserrat Bold"/>
              </a:rPr>
              <a:t>4</a:t>
            </a:r>
          </a:p>
        </p:txBody>
      </p:sp>
      <p:sp>
        <p:nvSpPr>
          <p:cNvPr name="TextBox 29" id="29"/>
          <p:cNvSpPr txBox="true"/>
          <p:nvPr/>
        </p:nvSpPr>
        <p:spPr>
          <a:xfrm rot="0">
            <a:off x="14502995" y="4693361"/>
            <a:ext cx="2690983" cy="1881259"/>
          </a:xfrm>
          <a:prstGeom prst="rect">
            <a:avLst/>
          </a:prstGeom>
        </p:spPr>
        <p:txBody>
          <a:bodyPr anchor="t" rtlCol="false" tIns="0" lIns="0" bIns="0" rIns="0">
            <a:spAutoFit/>
          </a:bodyPr>
          <a:lstStyle/>
          <a:p>
            <a:pPr algn="ctr" marL="0" indent="0" lvl="0">
              <a:lnSpc>
                <a:spcPts val="2999"/>
              </a:lnSpc>
              <a:spcBef>
                <a:spcPct val="0"/>
              </a:spcBef>
            </a:pPr>
            <a:r>
              <a:rPr lang="en-US" sz="2499" spc="49" strike="noStrike" u="none">
                <a:solidFill>
                  <a:srgbClr val="000000"/>
                </a:solidFill>
                <a:latin typeface="Montserrat"/>
                <a:ea typeface="Montserrat"/>
                <a:cs typeface="Montserrat"/>
                <a:sym typeface="Montserrat"/>
              </a:rPr>
              <a:t>Does not permit random patrol flights or general surveillance.</a:t>
            </a:r>
          </a:p>
        </p:txBody>
      </p:sp>
      <p:sp>
        <p:nvSpPr>
          <p:cNvPr name="TextBox 30" id="30"/>
          <p:cNvSpPr txBox="true"/>
          <p:nvPr/>
        </p:nvSpPr>
        <p:spPr>
          <a:xfrm rot="0">
            <a:off x="14578984" y="3455161"/>
            <a:ext cx="1481932" cy="615995"/>
          </a:xfrm>
          <a:prstGeom prst="rect">
            <a:avLst/>
          </a:prstGeom>
        </p:spPr>
        <p:txBody>
          <a:bodyPr anchor="t" rtlCol="false" tIns="0" lIns="0" bIns="0" rIns="0">
            <a:spAutoFit/>
          </a:bodyPr>
          <a:lstStyle/>
          <a:p>
            <a:pPr algn="l" marL="0" indent="0" lvl="0">
              <a:lnSpc>
                <a:spcPts val="4599"/>
              </a:lnSpc>
              <a:spcBef>
                <a:spcPct val="0"/>
              </a:spcBef>
            </a:pPr>
            <a:r>
              <a:rPr lang="en-US" b="true" sz="4999" strike="noStrike" u="none">
                <a:solidFill>
                  <a:srgbClr val="1E3A8A"/>
                </a:solidFill>
                <a:latin typeface="Montserrat Bold"/>
                <a:ea typeface="Montserrat Bold"/>
                <a:cs typeface="Montserrat Bold"/>
                <a:sym typeface="Montserrat Bold"/>
              </a:rPr>
              <a:t>5</a:t>
            </a:r>
          </a:p>
        </p:txBody>
      </p:sp>
      <p:grpSp>
        <p:nvGrpSpPr>
          <p:cNvPr name="Group 31" id="31"/>
          <p:cNvGrpSpPr/>
          <p:nvPr/>
        </p:nvGrpSpPr>
        <p:grpSpPr>
          <a:xfrm rot="0">
            <a:off x="6824584" y="7328118"/>
            <a:ext cx="1072451" cy="719404"/>
            <a:chOff x="0" y="0"/>
            <a:chExt cx="954737" cy="640441"/>
          </a:xfrm>
        </p:grpSpPr>
        <p:sp>
          <p:nvSpPr>
            <p:cNvPr name="Freeform 32" id="32"/>
            <p:cNvSpPr/>
            <p:nvPr/>
          </p:nvSpPr>
          <p:spPr>
            <a:xfrm flipH="false" flipV="false" rot="0">
              <a:off x="0" y="0"/>
              <a:ext cx="954737" cy="640441"/>
            </a:xfrm>
            <a:custGeom>
              <a:avLst/>
              <a:gdLst/>
              <a:ahLst/>
              <a:cxnLst/>
              <a:rect r="r" b="b" t="t" l="l"/>
              <a:pathLst>
                <a:path h="640441" w="954737">
                  <a:moveTo>
                    <a:pt x="954737" y="320221"/>
                  </a:moveTo>
                  <a:lnTo>
                    <a:pt x="548337" y="0"/>
                  </a:lnTo>
                  <a:lnTo>
                    <a:pt x="548337" y="203200"/>
                  </a:lnTo>
                  <a:lnTo>
                    <a:pt x="0" y="203200"/>
                  </a:lnTo>
                  <a:lnTo>
                    <a:pt x="0" y="437241"/>
                  </a:lnTo>
                  <a:lnTo>
                    <a:pt x="548337" y="437241"/>
                  </a:lnTo>
                  <a:lnTo>
                    <a:pt x="548337" y="640441"/>
                  </a:lnTo>
                  <a:lnTo>
                    <a:pt x="954737" y="320221"/>
                  </a:lnTo>
                  <a:close/>
                </a:path>
              </a:pathLst>
            </a:custGeom>
            <a:solidFill>
              <a:srgbClr val="A28231"/>
            </a:solidFill>
          </p:spPr>
        </p:sp>
        <p:sp>
          <p:nvSpPr>
            <p:cNvPr name="TextBox 33" id="33"/>
            <p:cNvSpPr txBox="true"/>
            <p:nvPr/>
          </p:nvSpPr>
          <p:spPr>
            <a:xfrm>
              <a:off x="0" y="50800"/>
              <a:ext cx="853137" cy="386441"/>
            </a:xfrm>
            <a:prstGeom prst="rect">
              <a:avLst/>
            </a:prstGeom>
          </p:spPr>
          <p:txBody>
            <a:bodyPr anchor="ctr" rtlCol="false" tIns="50800" lIns="50800" bIns="50800" rIns="50800"/>
            <a:lstStyle/>
            <a:p>
              <a:pPr algn="ctr">
                <a:lnSpc>
                  <a:spcPts val="4320"/>
                </a:lnSpc>
              </a:pPr>
            </a:p>
          </p:txBody>
        </p:sp>
      </p:grpSp>
      <p:grpSp>
        <p:nvGrpSpPr>
          <p:cNvPr name="Group 34" id="34"/>
          <p:cNvGrpSpPr/>
          <p:nvPr/>
        </p:nvGrpSpPr>
        <p:grpSpPr>
          <a:xfrm rot="0">
            <a:off x="10162967" y="7328118"/>
            <a:ext cx="1072451" cy="719404"/>
            <a:chOff x="0" y="0"/>
            <a:chExt cx="954737" cy="640441"/>
          </a:xfrm>
        </p:grpSpPr>
        <p:sp>
          <p:nvSpPr>
            <p:cNvPr name="Freeform 35" id="35"/>
            <p:cNvSpPr/>
            <p:nvPr/>
          </p:nvSpPr>
          <p:spPr>
            <a:xfrm flipH="false" flipV="false" rot="0">
              <a:off x="0" y="0"/>
              <a:ext cx="954737" cy="640441"/>
            </a:xfrm>
            <a:custGeom>
              <a:avLst/>
              <a:gdLst/>
              <a:ahLst/>
              <a:cxnLst/>
              <a:rect r="r" b="b" t="t" l="l"/>
              <a:pathLst>
                <a:path h="640441" w="954737">
                  <a:moveTo>
                    <a:pt x="954737" y="320221"/>
                  </a:moveTo>
                  <a:lnTo>
                    <a:pt x="548337" y="0"/>
                  </a:lnTo>
                  <a:lnTo>
                    <a:pt x="548337" y="203200"/>
                  </a:lnTo>
                  <a:lnTo>
                    <a:pt x="0" y="203200"/>
                  </a:lnTo>
                  <a:lnTo>
                    <a:pt x="0" y="437241"/>
                  </a:lnTo>
                  <a:lnTo>
                    <a:pt x="548337" y="437241"/>
                  </a:lnTo>
                  <a:lnTo>
                    <a:pt x="548337" y="640441"/>
                  </a:lnTo>
                  <a:lnTo>
                    <a:pt x="954737" y="320221"/>
                  </a:lnTo>
                  <a:close/>
                </a:path>
              </a:pathLst>
            </a:custGeom>
            <a:solidFill>
              <a:srgbClr val="A28231"/>
            </a:solidFill>
          </p:spPr>
        </p:sp>
        <p:sp>
          <p:nvSpPr>
            <p:cNvPr name="TextBox 36" id="36"/>
            <p:cNvSpPr txBox="true"/>
            <p:nvPr/>
          </p:nvSpPr>
          <p:spPr>
            <a:xfrm>
              <a:off x="0" y="50800"/>
              <a:ext cx="853137" cy="386441"/>
            </a:xfrm>
            <a:prstGeom prst="rect">
              <a:avLst/>
            </a:prstGeom>
          </p:spPr>
          <p:txBody>
            <a:bodyPr anchor="ctr" rtlCol="false" tIns="50800" lIns="50800" bIns="50800" rIns="50800"/>
            <a:lstStyle/>
            <a:p>
              <a:pPr algn="ctr">
                <a:lnSpc>
                  <a:spcPts val="4320"/>
                </a:lnSpc>
              </a:pPr>
            </a:p>
          </p:txBody>
        </p:sp>
      </p:grpSp>
      <p:grpSp>
        <p:nvGrpSpPr>
          <p:cNvPr name="Group 37" id="37"/>
          <p:cNvGrpSpPr/>
          <p:nvPr/>
        </p:nvGrpSpPr>
        <p:grpSpPr>
          <a:xfrm rot="0">
            <a:off x="13518884" y="7328118"/>
            <a:ext cx="1072451" cy="719404"/>
            <a:chOff x="0" y="0"/>
            <a:chExt cx="954737" cy="640441"/>
          </a:xfrm>
        </p:grpSpPr>
        <p:sp>
          <p:nvSpPr>
            <p:cNvPr name="Freeform 38" id="38"/>
            <p:cNvSpPr/>
            <p:nvPr/>
          </p:nvSpPr>
          <p:spPr>
            <a:xfrm flipH="false" flipV="false" rot="0">
              <a:off x="0" y="0"/>
              <a:ext cx="954737" cy="640441"/>
            </a:xfrm>
            <a:custGeom>
              <a:avLst/>
              <a:gdLst/>
              <a:ahLst/>
              <a:cxnLst/>
              <a:rect r="r" b="b" t="t" l="l"/>
              <a:pathLst>
                <a:path h="640441" w="954737">
                  <a:moveTo>
                    <a:pt x="954737" y="320221"/>
                  </a:moveTo>
                  <a:lnTo>
                    <a:pt x="548337" y="0"/>
                  </a:lnTo>
                  <a:lnTo>
                    <a:pt x="548337" y="203200"/>
                  </a:lnTo>
                  <a:lnTo>
                    <a:pt x="0" y="203200"/>
                  </a:lnTo>
                  <a:lnTo>
                    <a:pt x="0" y="437241"/>
                  </a:lnTo>
                  <a:lnTo>
                    <a:pt x="548337" y="437241"/>
                  </a:lnTo>
                  <a:lnTo>
                    <a:pt x="548337" y="640441"/>
                  </a:lnTo>
                  <a:lnTo>
                    <a:pt x="954737" y="320221"/>
                  </a:lnTo>
                  <a:close/>
                </a:path>
              </a:pathLst>
            </a:custGeom>
            <a:solidFill>
              <a:srgbClr val="A28231"/>
            </a:solidFill>
          </p:spPr>
        </p:sp>
        <p:sp>
          <p:nvSpPr>
            <p:cNvPr name="TextBox 39" id="39"/>
            <p:cNvSpPr txBox="true"/>
            <p:nvPr/>
          </p:nvSpPr>
          <p:spPr>
            <a:xfrm>
              <a:off x="0" y="50800"/>
              <a:ext cx="853137" cy="386441"/>
            </a:xfrm>
            <a:prstGeom prst="rect">
              <a:avLst/>
            </a:prstGeom>
          </p:spPr>
          <p:txBody>
            <a:bodyPr anchor="ctr" rtlCol="false" tIns="50800" lIns="50800" bIns="50800" rIns="50800"/>
            <a:lstStyle/>
            <a:p>
              <a:pPr algn="ctr">
                <a:lnSpc>
                  <a:spcPts val="4320"/>
                </a:lnSpc>
              </a:pPr>
            </a:p>
          </p:txBody>
        </p:sp>
      </p:grpSp>
      <p:sp>
        <p:nvSpPr>
          <p:cNvPr name="AutoShape 40" id="40"/>
          <p:cNvSpPr/>
          <p:nvPr/>
        </p:nvSpPr>
        <p:spPr>
          <a:xfrm flipV="true">
            <a:off x="0" y="1485011"/>
            <a:ext cx="7378521" cy="24702"/>
          </a:xfrm>
          <a:prstGeom prst="line">
            <a:avLst/>
          </a:prstGeom>
          <a:ln cap="flat" w="47625">
            <a:solidFill>
              <a:srgbClr val="A28231"/>
            </a:solidFill>
            <a:prstDash val="solid"/>
            <a:headEnd type="none" len="sm" w="sm"/>
            <a:tailEnd type="none" len="sm" w="sm"/>
          </a:ln>
        </p:spPr>
      </p:sp>
      <p:sp>
        <p:nvSpPr>
          <p:cNvPr name="AutoShape 41" id="41"/>
          <p:cNvSpPr/>
          <p:nvPr/>
        </p:nvSpPr>
        <p:spPr>
          <a:xfrm flipV="true">
            <a:off x="-117230" y="10287000"/>
            <a:ext cx="19376532" cy="12351"/>
          </a:xfrm>
          <a:prstGeom prst="line">
            <a:avLst/>
          </a:prstGeom>
          <a:ln cap="flat" w="85725">
            <a:solidFill>
              <a:srgbClr val="1E498A"/>
            </a:solidFill>
            <a:prstDash val="solid"/>
            <a:headEnd type="none" len="sm" w="sm"/>
            <a:tailEnd type="none" len="sm" w="sm"/>
          </a:ln>
        </p:spPr>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80" y="1357486"/>
            <a:ext cx="7378521" cy="24702"/>
          </a:xfrm>
          <a:prstGeom prst="line">
            <a:avLst/>
          </a:prstGeom>
          <a:ln cap="flat" w="47625">
            <a:solidFill>
              <a:srgbClr val="A28231"/>
            </a:solidFill>
            <a:prstDash val="solid"/>
            <a:headEnd type="none" len="sm" w="sm"/>
            <a:tailEnd type="none" len="sm" w="sm"/>
          </a:ln>
        </p:spPr>
      </p:sp>
      <p:grpSp>
        <p:nvGrpSpPr>
          <p:cNvPr name="Group 3" id="3"/>
          <p:cNvGrpSpPr/>
          <p:nvPr/>
        </p:nvGrpSpPr>
        <p:grpSpPr>
          <a:xfrm rot="0">
            <a:off x="11522027" y="431129"/>
            <a:ext cx="5619649" cy="3082546"/>
            <a:chOff x="0" y="0"/>
            <a:chExt cx="1481779" cy="812800"/>
          </a:xfrm>
        </p:grpSpPr>
        <p:sp>
          <p:nvSpPr>
            <p:cNvPr name="Freeform 4" id="4"/>
            <p:cNvSpPr/>
            <p:nvPr/>
          </p:nvSpPr>
          <p:spPr>
            <a:xfrm flipH="false" flipV="false" rot="0">
              <a:off x="0" y="0"/>
              <a:ext cx="1481779" cy="812800"/>
            </a:xfrm>
            <a:custGeom>
              <a:avLst/>
              <a:gdLst/>
              <a:ahLst/>
              <a:cxnLst/>
              <a:rect r="r" b="b" t="t" l="l"/>
              <a:pathLst>
                <a:path h="812800" w="1481779">
                  <a:moveTo>
                    <a:pt x="0" y="0"/>
                  </a:moveTo>
                  <a:lnTo>
                    <a:pt x="1481779" y="0"/>
                  </a:lnTo>
                  <a:lnTo>
                    <a:pt x="1481779" y="812800"/>
                  </a:lnTo>
                  <a:lnTo>
                    <a:pt x="0" y="812800"/>
                  </a:lnTo>
                  <a:close/>
                </a:path>
              </a:pathLst>
            </a:custGeom>
            <a:blipFill>
              <a:blip r:embed="rId3"/>
              <a:stretch>
                <a:fillRect l="0" t="-22865" r="0" b="-22865"/>
              </a:stretch>
            </a:blipFill>
          </p:spPr>
        </p:sp>
      </p:grpSp>
      <p:sp>
        <p:nvSpPr>
          <p:cNvPr name="TextBox 5" id="5"/>
          <p:cNvSpPr txBox="true"/>
          <p:nvPr/>
        </p:nvSpPr>
        <p:spPr>
          <a:xfrm rot="0">
            <a:off x="915344" y="658287"/>
            <a:ext cx="12278884" cy="762000"/>
          </a:xfrm>
          <a:prstGeom prst="rect">
            <a:avLst/>
          </a:prstGeom>
        </p:spPr>
        <p:txBody>
          <a:bodyPr anchor="t" rtlCol="false" tIns="0" lIns="0" bIns="0" rIns="0">
            <a:spAutoFit/>
          </a:bodyPr>
          <a:lstStyle/>
          <a:p>
            <a:pPr algn="l" marL="0" indent="0" lvl="0">
              <a:lnSpc>
                <a:spcPts val="6299"/>
              </a:lnSpc>
              <a:spcBef>
                <a:spcPct val="0"/>
              </a:spcBef>
            </a:pPr>
            <a:r>
              <a:rPr lang="en-US" b="true" sz="4500" strike="noStrike" u="none">
                <a:solidFill>
                  <a:srgbClr val="002557"/>
                </a:solidFill>
                <a:latin typeface="Montserrat Bold"/>
                <a:ea typeface="Montserrat Bold"/>
                <a:cs typeface="Montserrat Bold"/>
                <a:sym typeface="Montserrat Bold"/>
              </a:rPr>
              <a:t>Protecting Privacy</a:t>
            </a:r>
          </a:p>
        </p:txBody>
      </p:sp>
      <p:grpSp>
        <p:nvGrpSpPr>
          <p:cNvPr name="Group 6" id="6"/>
          <p:cNvGrpSpPr/>
          <p:nvPr/>
        </p:nvGrpSpPr>
        <p:grpSpPr>
          <a:xfrm rot="0">
            <a:off x="11522027" y="3602227"/>
            <a:ext cx="5619649" cy="3082546"/>
            <a:chOff x="0" y="0"/>
            <a:chExt cx="1481779" cy="812800"/>
          </a:xfrm>
        </p:grpSpPr>
        <p:sp>
          <p:nvSpPr>
            <p:cNvPr name="Freeform 7" id="7"/>
            <p:cNvSpPr/>
            <p:nvPr/>
          </p:nvSpPr>
          <p:spPr>
            <a:xfrm flipH="false" flipV="false" rot="0">
              <a:off x="0" y="0"/>
              <a:ext cx="1481779" cy="812800"/>
            </a:xfrm>
            <a:custGeom>
              <a:avLst/>
              <a:gdLst/>
              <a:ahLst/>
              <a:cxnLst/>
              <a:rect r="r" b="b" t="t" l="l"/>
              <a:pathLst>
                <a:path h="812800" w="1481779">
                  <a:moveTo>
                    <a:pt x="0" y="0"/>
                  </a:moveTo>
                  <a:lnTo>
                    <a:pt x="1481779" y="0"/>
                  </a:lnTo>
                  <a:lnTo>
                    <a:pt x="1481779" y="812800"/>
                  </a:lnTo>
                  <a:lnTo>
                    <a:pt x="0" y="812800"/>
                  </a:lnTo>
                  <a:close/>
                </a:path>
              </a:pathLst>
            </a:custGeom>
            <a:blipFill>
              <a:blip r:embed="rId4"/>
              <a:stretch>
                <a:fillRect l="0" t="-22722" r="0" b="-22722"/>
              </a:stretch>
            </a:blipFill>
          </p:spPr>
        </p:sp>
      </p:grpSp>
      <p:grpSp>
        <p:nvGrpSpPr>
          <p:cNvPr name="Group 8" id="8"/>
          <p:cNvGrpSpPr/>
          <p:nvPr/>
        </p:nvGrpSpPr>
        <p:grpSpPr>
          <a:xfrm rot="0">
            <a:off x="11522027" y="6773325"/>
            <a:ext cx="5619649" cy="3082546"/>
            <a:chOff x="0" y="0"/>
            <a:chExt cx="1481779" cy="812800"/>
          </a:xfrm>
        </p:grpSpPr>
        <p:sp>
          <p:nvSpPr>
            <p:cNvPr name="Freeform 9" id="9"/>
            <p:cNvSpPr/>
            <p:nvPr/>
          </p:nvSpPr>
          <p:spPr>
            <a:xfrm flipH="false" flipV="false" rot="0">
              <a:off x="0" y="0"/>
              <a:ext cx="1481779" cy="812800"/>
            </a:xfrm>
            <a:custGeom>
              <a:avLst/>
              <a:gdLst/>
              <a:ahLst/>
              <a:cxnLst/>
              <a:rect r="r" b="b" t="t" l="l"/>
              <a:pathLst>
                <a:path h="812800" w="1481779">
                  <a:moveTo>
                    <a:pt x="0" y="0"/>
                  </a:moveTo>
                  <a:lnTo>
                    <a:pt x="1481779" y="0"/>
                  </a:lnTo>
                  <a:lnTo>
                    <a:pt x="1481779" y="812800"/>
                  </a:lnTo>
                  <a:lnTo>
                    <a:pt x="0" y="812800"/>
                  </a:lnTo>
                  <a:close/>
                </a:path>
              </a:pathLst>
            </a:custGeom>
            <a:blipFill>
              <a:blip r:embed="rId5"/>
              <a:stretch>
                <a:fillRect l="0" t="-22806" r="0" b="-22806"/>
              </a:stretch>
            </a:blipFill>
          </p:spPr>
        </p:sp>
      </p:grpSp>
      <p:sp>
        <p:nvSpPr>
          <p:cNvPr name="TextBox 10" id="10"/>
          <p:cNvSpPr txBox="true"/>
          <p:nvPr/>
        </p:nvSpPr>
        <p:spPr>
          <a:xfrm rot="0">
            <a:off x="915344" y="1729739"/>
            <a:ext cx="9307096" cy="6789421"/>
          </a:xfrm>
          <a:prstGeom prst="rect">
            <a:avLst/>
          </a:prstGeom>
        </p:spPr>
        <p:txBody>
          <a:bodyPr anchor="t" rtlCol="false" tIns="0" lIns="0" bIns="0" rIns="0">
            <a:spAutoFit/>
          </a:bodyPr>
          <a:lstStyle/>
          <a:p>
            <a:pPr algn="l" marL="474981" indent="-237491" lvl="1">
              <a:lnSpc>
                <a:spcPts val="3080"/>
              </a:lnSpc>
              <a:buFont typeface="Arial"/>
              <a:buChar char="•"/>
            </a:pPr>
            <a:r>
              <a:rPr lang="en-US" sz="2200">
                <a:solidFill>
                  <a:srgbClr val="152047"/>
                </a:solidFill>
                <a:latin typeface="Montserrat"/>
                <a:ea typeface="Montserrat"/>
                <a:cs typeface="Montserrat"/>
                <a:sym typeface="Montserrat"/>
              </a:rPr>
              <a:t>Protecting community privacy is part of how we operate the DFR program.​</a:t>
            </a:r>
          </a:p>
          <a:p>
            <a:pPr algn="l">
              <a:lnSpc>
                <a:spcPts val="1819"/>
              </a:lnSpc>
            </a:pPr>
          </a:p>
          <a:p>
            <a:pPr algn="l" marL="474981" indent="-237491" lvl="1">
              <a:lnSpc>
                <a:spcPts val="3080"/>
              </a:lnSpc>
              <a:buFont typeface="Arial"/>
              <a:buChar char="•"/>
            </a:pPr>
            <a:r>
              <a:rPr lang="en-US" sz="2200">
                <a:solidFill>
                  <a:srgbClr val="152047"/>
                </a:solidFill>
                <a:latin typeface="Montserrat"/>
                <a:ea typeface="Montserrat"/>
                <a:cs typeface="Montserrat"/>
                <a:sym typeface="Montserrat"/>
              </a:rPr>
              <a:t>During a flight</a:t>
            </a:r>
            <a:r>
              <a:rPr lang="en-US" sz="2200">
                <a:solidFill>
                  <a:srgbClr val="152047"/>
                </a:solidFill>
                <a:latin typeface="Montserrat"/>
                <a:ea typeface="Montserrat"/>
                <a:cs typeface="Montserrat"/>
                <a:sym typeface="Montserrat"/>
              </a:rPr>
              <a:t>, our pilots keep the camera pointed toward the horizon to reduce incidental recording of people and private property along the flight path. Upon arrival, the camera focuses on the incident and the information needed to assist first responders. ​The process is repeated for return flights.</a:t>
            </a:r>
          </a:p>
          <a:p>
            <a:pPr algn="l">
              <a:lnSpc>
                <a:spcPts val="1819"/>
              </a:lnSpc>
            </a:pPr>
          </a:p>
          <a:p>
            <a:pPr algn="l" marL="474981" indent="-237491" lvl="1">
              <a:lnSpc>
                <a:spcPts val="3080"/>
              </a:lnSpc>
              <a:buFont typeface="Arial"/>
              <a:buChar char="•"/>
            </a:pPr>
            <a:r>
              <a:rPr lang="en-US" sz="2200">
                <a:solidFill>
                  <a:srgbClr val="152047"/>
                </a:solidFill>
                <a:latin typeface="Montserrat"/>
                <a:ea typeface="Montserrat"/>
                <a:cs typeface="Montserrat"/>
                <a:sym typeface="Montserrat"/>
              </a:rPr>
              <a:t>We record every DFR flight from start to finish. That recording preserves a record of the operation that can be reviewed to evaluate how the drone and camera were used.​</a:t>
            </a:r>
          </a:p>
          <a:p>
            <a:pPr algn="l">
              <a:lnSpc>
                <a:spcPts val="1819"/>
              </a:lnSpc>
            </a:pPr>
          </a:p>
          <a:p>
            <a:pPr algn="l" marL="474981" indent="-237491" lvl="1">
              <a:lnSpc>
                <a:spcPts val="3080"/>
              </a:lnSpc>
              <a:buFont typeface="Arial"/>
              <a:buChar char="•"/>
            </a:pPr>
            <a:r>
              <a:rPr lang="en-US" sz="2200">
                <a:solidFill>
                  <a:srgbClr val="152047"/>
                </a:solidFill>
                <a:latin typeface="Montserrat"/>
                <a:ea typeface="Montserrat"/>
                <a:cs typeface="Montserrat"/>
                <a:sym typeface="Montserrat"/>
              </a:rPr>
              <a:t>The data is automatically uploaded to our CJIS compliant evidence software​.</a:t>
            </a:r>
          </a:p>
          <a:p>
            <a:pPr algn="l">
              <a:lnSpc>
                <a:spcPts val="1819"/>
              </a:lnSpc>
            </a:pPr>
          </a:p>
          <a:p>
            <a:pPr algn="l" marL="474981" indent="-237491" lvl="1">
              <a:lnSpc>
                <a:spcPts val="3080"/>
              </a:lnSpc>
              <a:buFont typeface="Arial"/>
              <a:buChar char="•"/>
            </a:pPr>
            <a:r>
              <a:rPr lang="en-US" sz="2200">
                <a:solidFill>
                  <a:srgbClr val="152047"/>
                </a:solidFill>
                <a:latin typeface="Montserrat"/>
                <a:ea typeface="Montserrat"/>
                <a:cs typeface="Montserrat"/>
                <a:sym typeface="Montserrat"/>
              </a:rPr>
              <a:t>These safeguards reduce unnecessary observation and help protect community privacy.​</a:t>
            </a:r>
          </a:p>
          <a:p>
            <a:pPr algn="l">
              <a:lnSpc>
                <a:spcPts val="3429"/>
              </a:lnSpc>
            </a:pPr>
          </a:p>
        </p:txBody>
      </p:sp>
      <p:sp>
        <p:nvSpPr>
          <p:cNvPr name="AutoShape 11" id="11"/>
          <p:cNvSpPr/>
          <p:nvPr/>
        </p:nvSpPr>
        <p:spPr>
          <a:xfrm flipV="true">
            <a:off x="-117230" y="10287000"/>
            <a:ext cx="19376532" cy="12351"/>
          </a:xfrm>
          <a:prstGeom prst="line">
            <a:avLst/>
          </a:prstGeom>
          <a:ln cap="flat" w="85725">
            <a:solidFill>
              <a:srgbClr val="1E498A"/>
            </a:solidFill>
            <a:prstDash val="solid"/>
            <a:headEnd type="none" len="sm" w="sm"/>
            <a:tailEnd type="none" len="sm" w="sm"/>
          </a:ln>
        </p:spPr>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106775" y="428625"/>
            <a:ext cx="1314450" cy="1504950"/>
          </a:xfrm>
          <a:custGeom>
            <a:avLst/>
            <a:gdLst/>
            <a:ahLst/>
            <a:cxnLst/>
            <a:rect r="r" b="b" t="t" l="l"/>
            <a:pathLst>
              <a:path h="1504950" w="1314450">
                <a:moveTo>
                  <a:pt x="0" y="0"/>
                </a:moveTo>
                <a:lnTo>
                  <a:pt x="1314450" y="0"/>
                </a:lnTo>
                <a:lnTo>
                  <a:pt x="1314450" y="1504950"/>
                </a:lnTo>
                <a:lnTo>
                  <a:pt x="0" y="1504950"/>
                </a:lnTo>
                <a:lnTo>
                  <a:pt x="0" y="0"/>
                </a:lnTo>
                <a:close/>
              </a:path>
            </a:pathLst>
          </a:custGeom>
          <a:blipFill>
            <a:blip r:embed="rId2"/>
            <a:stretch>
              <a:fillRect l="0" t="0" r="0" b="0"/>
            </a:stretch>
          </a:blipFill>
        </p:spPr>
      </p:sp>
      <p:sp>
        <p:nvSpPr>
          <p:cNvPr name="AutoShape 3" id="3"/>
          <p:cNvSpPr/>
          <p:nvPr/>
        </p:nvSpPr>
        <p:spPr>
          <a:xfrm>
            <a:off x="-653058" y="1566862"/>
            <a:ext cx="8736354" cy="0"/>
          </a:xfrm>
          <a:prstGeom prst="line">
            <a:avLst/>
          </a:prstGeom>
          <a:ln cap="flat" w="47625">
            <a:solidFill>
              <a:srgbClr val="A28231"/>
            </a:solidFill>
            <a:prstDash val="solid"/>
            <a:headEnd type="none" len="sm" w="sm"/>
            <a:tailEnd type="none" len="sm" w="sm"/>
          </a:ln>
        </p:spPr>
      </p:sp>
      <p:sp>
        <p:nvSpPr>
          <p:cNvPr name="TextBox 4" id="4"/>
          <p:cNvSpPr txBox="true"/>
          <p:nvPr/>
        </p:nvSpPr>
        <p:spPr>
          <a:xfrm rot="0">
            <a:off x="1028700" y="690880"/>
            <a:ext cx="14606954" cy="795020"/>
          </a:xfrm>
          <a:prstGeom prst="rect">
            <a:avLst/>
          </a:prstGeom>
        </p:spPr>
        <p:txBody>
          <a:bodyPr anchor="t" rtlCol="false" tIns="0" lIns="0" bIns="0" rIns="0">
            <a:spAutoFit/>
          </a:bodyPr>
          <a:lstStyle/>
          <a:p>
            <a:pPr algn="l" marL="0" indent="0" lvl="0">
              <a:lnSpc>
                <a:spcPts val="6579"/>
              </a:lnSpc>
              <a:spcBef>
                <a:spcPct val="0"/>
              </a:spcBef>
            </a:pPr>
            <a:r>
              <a:rPr lang="en-US" b="true" sz="4699" strike="noStrike" u="none">
                <a:solidFill>
                  <a:srgbClr val="002557"/>
                </a:solidFill>
                <a:latin typeface="Montserrat Bold"/>
                <a:ea typeface="Montserrat Bold"/>
                <a:cs typeface="Montserrat Bold"/>
                <a:sym typeface="Montserrat Bold"/>
              </a:rPr>
              <a:t>D</a:t>
            </a:r>
            <a:r>
              <a:rPr lang="en-US" b="true" sz="4699" strike="noStrike" u="none">
                <a:solidFill>
                  <a:srgbClr val="002557"/>
                </a:solidFill>
                <a:latin typeface="Montserrat Bold"/>
                <a:ea typeface="Montserrat Bold"/>
                <a:cs typeface="Montserrat Bold"/>
                <a:sym typeface="Montserrat Bold"/>
              </a:rPr>
              <a:t>FR Account</a:t>
            </a:r>
            <a:r>
              <a:rPr lang="en-US" b="true" sz="4699" strike="noStrike" u="none">
                <a:solidFill>
                  <a:srgbClr val="002557"/>
                </a:solidFill>
                <a:latin typeface="Montserrat Bold"/>
                <a:ea typeface="Montserrat Bold"/>
                <a:cs typeface="Montserrat Bold"/>
                <a:sym typeface="Montserrat Bold"/>
              </a:rPr>
              <a:t>a</a:t>
            </a:r>
            <a:r>
              <a:rPr lang="en-US" b="true" sz="4699" strike="noStrike" u="none">
                <a:solidFill>
                  <a:srgbClr val="002557"/>
                </a:solidFill>
                <a:latin typeface="Montserrat Bold"/>
                <a:ea typeface="Montserrat Bold"/>
                <a:cs typeface="Montserrat Bold"/>
                <a:sym typeface="Montserrat Bold"/>
              </a:rPr>
              <a:t>bili</a:t>
            </a:r>
            <a:r>
              <a:rPr lang="en-US" b="true" sz="4699" strike="noStrike" u="none">
                <a:solidFill>
                  <a:srgbClr val="002557"/>
                </a:solidFill>
                <a:latin typeface="Montserrat Bold"/>
                <a:ea typeface="Montserrat Bold"/>
                <a:cs typeface="Montserrat Bold"/>
                <a:sym typeface="Montserrat Bold"/>
              </a:rPr>
              <a:t>t</a:t>
            </a:r>
            <a:r>
              <a:rPr lang="en-US" b="true" sz="4699" strike="noStrike" u="none">
                <a:solidFill>
                  <a:srgbClr val="002557"/>
                </a:solidFill>
                <a:latin typeface="Montserrat Bold"/>
                <a:ea typeface="Montserrat Bold"/>
                <a:cs typeface="Montserrat Bold"/>
                <a:sym typeface="Montserrat Bold"/>
              </a:rPr>
              <a:t>y: From</a:t>
            </a:r>
            <a:r>
              <a:rPr lang="en-US" b="true" sz="4699" strike="noStrike" u="none">
                <a:solidFill>
                  <a:srgbClr val="002557"/>
                </a:solidFill>
                <a:latin typeface="Montserrat Bold"/>
                <a:ea typeface="Montserrat Bold"/>
                <a:cs typeface="Montserrat Bold"/>
                <a:sym typeface="Montserrat Bold"/>
              </a:rPr>
              <a:t> </a:t>
            </a:r>
            <a:r>
              <a:rPr lang="en-US" b="true" sz="4699" strike="noStrike" u="none">
                <a:solidFill>
                  <a:srgbClr val="002557"/>
                </a:solidFill>
                <a:latin typeface="Montserrat Bold"/>
                <a:ea typeface="Montserrat Bold"/>
                <a:cs typeface="Montserrat Bold"/>
                <a:sym typeface="Montserrat Bold"/>
              </a:rPr>
              <a:t>L</a:t>
            </a:r>
            <a:r>
              <a:rPr lang="en-US" b="true" sz="4699" strike="noStrike" u="none">
                <a:solidFill>
                  <a:srgbClr val="002557"/>
                </a:solidFill>
                <a:latin typeface="Montserrat Bold"/>
                <a:ea typeface="Montserrat Bold"/>
                <a:cs typeface="Montserrat Bold"/>
                <a:sym typeface="Montserrat Bold"/>
              </a:rPr>
              <a:t>a</a:t>
            </a:r>
            <a:r>
              <a:rPr lang="en-US" b="true" sz="4699" strike="noStrike" u="none">
                <a:solidFill>
                  <a:srgbClr val="002557"/>
                </a:solidFill>
                <a:latin typeface="Montserrat Bold"/>
                <a:ea typeface="Montserrat Bold"/>
                <a:cs typeface="Montserrat Bold"/>
                <a:sym typeface="Montserrat Bold"/>
              </a:rPr>
              <a:t>unch to Landing</a:t>
            </a:r>
          </a:p>
        </p:txBody>
      </p:sp>
      <p:grpSp>
        <p:nvGrpSpPr>
          <p:cNvPr name="Group 5" id="5"/>
          <p:cNvGrpSpPr/>
          <p:nvPr/>
        </p:nvGrpSpPr>
        <p:grpSpPr>
          <a:xfrm rot="0">
            <a:off x="1072877" y="2644141"/>
            <a:ext cx="3143250" cy="2190750"/>
            <a:chOff x="0" y="0"/>
            <a:chExt cx="4191000" cy="2921000"/>
          </a:xfrm>
        </p:grpSpPr>
        <p:sp>
          <p:nvSpPr>
            <p:cNvPr name="Freeform 6" id="6"/>
            <p:cNvSpPr/>
            <p:nvPr/>
          </p:nvSpPr>
          <p:spPr>
            <a:xfrm flipH="false" flipV="false" rot="0">
              <a:off x="0" y="0"/>
              <a:ext cx="4191000" cy="2921000"/>
            </a:xfrm>
            <a:custGeom>
              <a:avLst/>
              <a:gdLst/>
              <a:ahLst/>
              <a:cxnLst/>
              <a:rect r="r" b="b" t="t" l="l"/>
              <a:pathLst>
                <a:path h="2921000" w="4191000">
                  <a:moveTo>
                    <a:pt x="177800" y="0"/>
                  </a:moveTo>
                  <a:lnTo>
                    <a:pt x="4013200" y="0"/>
                  </a:lnTo>
                  <a:cubicBezTo>
                    <a:pt x="4111396" y="0"/>
                    <a:pt x="4191000" y="79604"/>
                    <a:pt x="4191000" y="177800"/>
                  </a:cubicBezTo>
                  <a:lnTo>
                    <a:pt x="4191000" y="2743200"/>
                  </a:lnTo>
                  <a:cubicBezTo>
                    <a:pt x="4191000" y="2841396"/>
                    <a:pt x="4111396" y="2921000"/>
                    <a:pt x="4013200" y="2921000"/>
                  </a:cubicBezTo>
                  <a:lnTo>
                    <a:pt x="177800" y="2921000"/>
                  </a:lnTo>
                  <a:cubicBezTo>
                    <a:pt x="79604" y="2921000"/>
                    <a:pt x="0" y="2841396"/>
                    <a:pt x="0" y="2743200"/>
                  </a:cubicBezTo>
                  <a:lnTo>
                    <a:pt x="0" y="177800"/>
                  </a:lnTo>
                  <a:cubicBezTo>
                    <a:pt x="0" y="79604"/>
                    <a:pt x="79604" y="0"/>
                    <a:pt x="177800" y="0"/>
                  </a:cubicBezTo>
                  <a:close/>
                </a:path>
              </a:pathLst>
            </a:custGeom>
            <a:solidFill>
              <a:srgbClr val="EAF3FB"/>
            </a:solidFill>
            <a:ln w="19050" cap="sq">
              <a:solidFill>
                <a:srgbClr val="C6DBEF"/>
              </a:solidFill>
              <a:prstDash val="solid"/>
              <a:miter/>
            </a:ln>
          </p:spPr>
        </p:sp>
        <p:sp>
          <p:nvSpPr>
            <p:cNvPr name="TextBox 7" id="7"/>
            <p:cNvSpPr txBox="true"/>
            <p:nvPr/>
          </p:nvSpPr>
          <p:spPr>
            <a:xfrm>
              <a:off x="0" y="-38100"/>
              <a:ext cx="4191000" cy="2959100"/>
            </a:xfrm>
            <a:prstGeom prst="rect">
              <a:avLst/>
            </a:prstGeom>
          </p:spPr>
          <p:txBody>
            <a:bodyPr anchor="ctr" rtlCol="false" tIns="50800" lIns="50800" bIns="50800" rIns="50800"/>
            <a:lstStyle/>
            <a:p>
              <a:pPr algn="l">
                <a:lnSpc>
                  <a:spcPts val="1679"/>
                </a:lnSpc>
              </a:pPr>
            </a:p>
          </p:txBody>
        </p:sp>
      </p:grpSp>
      <p:grpSp>
        <p:nvGrpSpPr>
          <p:cNvPr name="Group 8" id="8"/>
          <p:cNvGrpSpPr/>
          <p:nvPr/>
        </p:nvGrpSpPr>
        <p:grpSpPr>
          <a:xfrm rot="0">
            <a:off x="1282427" y="2834641"/>
            <a:ext cx="514350" cy="514350"/>
            <a:chOff x="0" y="0"/>
            <a:chExt cx="685800" cy="685800"/>
          </a:xfrm>
        </p:grpSpPr>
        <p:sp>
          <p:nvSpPr>
            <p:cNvPr name="Freeform 9" id="9"/>
            <p:cNvSpPr/>
            <p:nvPr/>
          </p:nvSpPr>
          <p:spPr>
            <a:xfrm flipH="false" flipV="false" rot="0">
              <a:off x="0" y="0"/>
              <a:ext cx="685800" cy="685800"/>
            </a:xfrm>
            <a:custGeom>
              <a:avLst/>
              <a:gdLst/>
              <a:ahLst/>
              <a:cxnLst/>
              <a:rect r="r" b="b" t="t" l="l"/>
              <a:pathLst>
                <a:path h="685800" w="685800">
                  <a:moveTo>
                    <a:pt x="0" y="342900"/>
                  </a:moveTo>
                  <a:cubicBezTo>
                    <a:pt x="0" y="532278"/>
                    <a:pt x="153522" y="685800"/>
                    <a:pt x="342900" y="685800"/>
                  </a:cubicBezTo>
                  <a:cubicBezTo>
                    <a:pt x="532278" y="685800"/>
                    <a:pt x="685800" y="532278"/>
                    <a:pt x="685800" y="342900"/>
                  </a:cubicBezTo>
                  <a:cubicBezTo>
                    <a:pt x="685800" y="153522"/>
                    <a:pt x="532278" y="0"/>
                    <a:pt x="342900" y="0"/>
                  </a:cubicBezTo>
                  <a:cubicBezTo>
                    <a:pt x="153522" y="0"/>
                    <a:pt x="0" y="153522"/>
                    <a:pt x="0" y="342900"/>
                  </a:cubicBezTo>
                  <a:close/>
                </a:path>
              </a:pathLst>
            </a:custGeom>
            <a:solidFill>
              <a:srgbClr val="2A5A96"/>
            </a:solidFill>
          </p:spPr>
        </p:sp>
        <p:sp>
          <p:nvSpPr>
            <p:cNvPr name="TextBox 10" id="10"/>
            <p:cNvSpPr txBox="true"/>
            <p:nvPr/>
          </p:nvSpPr>
          <p:spPr>
            <a:xfrm>
              <a:off x="0" y="-38100"/>
              <a:ext cx="685800" cy="723900"/>
            </a:xfrm>
            <a:prstGeom prst="rect">
              <a:avLst/>
            </a:prstGeom>
          </p:spPr>
          <p:txBody>
            <a:bodyPr anchor="ctr" rtlCol="false" tIns="50800" lIns="50800" bIns="50800" rIns="50800"/>
            <a:lstStyle/>
            <a:p>
              <a:pPr algn="ctr">
                <a:lnSpc>
                  <a:spcPts val="2520"/>
                </a:lnSpc>
              </a:pPr>
              <a:r>
                <a:rPr lang="en-US" sz="1800" b="true">
                  <a:solidFill>
                    <a:srgbClr val="FFFFFF"/>
                  </a:solidFill>
                  <a:latin typeface="Montserrat Bold"/>
                  <a:ea typeface="Montserrat Bold"/>
                  <a:cs typeface="Montserrat Bold"/>
                  <a:sym typeface="Montserrat Bold"/>
                </a:rPr>
                <a:t>1</a:t>
              </a:r>
            </a:p>
          </p:txBody>
        </p:sp>
      </p:grpSp>
      <p:sp>
        <p:nvSpPr>
          <p:cNvPr name="TextBox 11" id="11"/>
          <p:cNvSpPr txBox="true"/>
          <p:nvPr/>
        </p:nvSpPr>
        <p:spPr>
          <a:xfrm rot="0">
            <a:off x="1320527" y="3596641"/>
            <a:ext cx="2647950" cy="643763"/>
          </a:xfrm>
          <a:prstGeom prst="rect">
            <a:avLst/>
          </a:prstGeom>
        </p:spPr>
        <p:txBody>
          <a:bodyPr anchor="t" rtlCol="false" tIns="0" lIns="0" bIns="0" rIns="0">
            <a:spAutoFit/>
          </a:bodyPr>
          <a:lstStyle/>
          <a:p>
            <a:pPr algn="ctr">
              <a:lnSpc>
                <a:spcPts val="2595"/>
              </a:lnSpc>
            </a:pPr>
            <a:r>
              <a:rPr lang="en-US" sz="2199" b="true">
                <a:solidFill>
                  <a:srgbClr val="002557"/>
                </a:solidFill>
                <a:latin typeface="Montserrat Bold"/>
                <a:ea typeface="Montserrat Bold"/>
                <a:cs typeface="Montserrat Bold"/>
                <a:sym typeface="Montserrat Bold"/>
              </a:rPr>
              <a:t>Authorized purpose</a:t>
            </a:r>
          </a:p>
        </p:txBody>
      </p:sp>
      <p:grpSp>
        <p:nvGrpSpPr>
          <p:cNvPr name="Group 12" id="12"/>
          <p:cNvGrpSpPr/>
          <p:nvPr/>
        </p:nvGrpSpPr>
        <p:grpSpPr>
          <a:xfrm rot="0">
            <a:off x="5301977" y="2644141"/>
            <a:ext cx="3143250" cy="2190750"/>
            <a:chOff x="0" y="0"/>
            <a:chExt cx="4191000" cy="2921000"/>
          </a:xfrm>
        </p:grpSpPr>
        <p:sp>
          <p:nvSpPr>
            <p:cNvPr name="Freeform 13" id="13"/>
            <p:cNvSpPr/>
            <p:nvPr/>
          </p:nvSpPr>
          <p:spPr>
            <a:xfrm flipH="false" flipV="false" rot="0">
              <a:off x="0" y="0"/>
              <a:ext cx="4191000" cy="2921000"/>
            </a:xfrm>
            <a:custGeom>
              <a:avLst/>
              <a:gdLst/>
              <a:ahLst/>
              <a:cxnLst/>
              <a:rect r="r" b="b" t="t" l="l"/>
              <a:pathLst>
                <a:path h="2921000" w="4191000">
                  <a:moveTo>
                    <a:pt x="177800" y="0"/>
                  </a:moveTo>
                  <a:lnTo>
                    <a:pt x="4013200" y="0"/>
                  </a:lnTo>
                  <a:cubicBezTo>
                    <a:pt x="4111396" y="0"/>
                    <a:pt x="4191000" y="79604"/>
                    <a:pt x="4191000" y="177800"/>
                  </a:cubicBezTo>
                  <a:lnTo>
                    <a:pt x="4191000" y="2743200"/>
                  </a:lnTo>
                  <a:cubicBezTo>
                    <a:pt x="4191000" y="2841396"/>
                    <a:pt x="4111396" y="2921000"/>
                    <a:pt x="4013200" y="2921000"/>
                  </a:cubicBezTo>
                  <a:lnTo>
                    <a:pt x="177800" y="2921000"/>
                  </a:lnTo>
                  <a:cubicBezTo>
                    <a:pt x="79604" y="2921000"/>
                    <a:pt x="0" y="2841396"/>
                    <a:pt x="0" y="2743200"/>
                  </a:cubicBezTo>
                  <a:lnTo>
                    <a:pt x="0" y="177800"/>
                  </a:lnTo>
                  <a:cubicBezTo>
                    <a:pt x="0" y="79604"/>
                    <a:pt x="79604" y="0"/>
                    <a:pt x="177800" y="0"/>
                  </a:cubicBezTo>
                  <a:close/>
                </a:path>
              </a:pathLst>
            </a:custGeom>
            <a:solidFill>
              <a:srgbClr val="EAF3FB"/>
            </a:solidFill>
            <a:ln w="19050" cap="sq">
              <a:solidFill>
                <a:srgbClr val="C6DBEF"/>
              </a:solidFill>
              <a:prstDash val="solid"/>
              <a:miter/>
            </a:ln>
          </p:spPr>
        </p:sp>
        <p:sp>
          <p:nvSpPr>
            <p:cNvPr name="TextBox 14" id="14"/>
            <p:cNvSpPr txBox="true"/>
            <p:nvPr/>
          </p:nvSpPr>
          <p:spPr>
            <a:xfrm>
              <a:off x="0" y="-38100"/>
              <a:ext cx="4191000" cy="2959100"/>
            </a:xfrm>
            <a:prstGeom prst="rect">
              <a:avLst/>
            </a:prstGeom>
          </p:spPr>
          <p:txBody>
            <a:bodyPr anchor="ctr" rtlCol="false" tIns="50800" lIns="50800" bIns="50800" rIns="50800"/>
            <a:lstStyle/>
            <a:p>
              <a:pPr algn="l">
                <a:lnSpc>
                  <a:spcPts val="1679"/>
                </a:lnSpc>
              </a:pPr>
            </a:p>
          </p:txBody>
        </p:sp>
      </p:grpSp>
      <p:grpSp>
        <p:nvGrpSpPr>
          <p:cNvPr name="Group 15" id="15"/>
          <p:cNvGrpSpPr/>
          <p:nvPr/>
        </p:nvGrpSpPr>
        <p:grpSpPr>
          <a:xfrm rot="0">
            <a:off x="5511527" y="2834641"/>
            <a:ext cx="514350" cy="514350"/>
            <a:chOff x="0" y="0"/>
            <a:chExt cx="685800" cy="685800"/>
          </a:xfrm>
        </p:grpSpPr>
        <p:sp>
          <p:nvSpPr>
            <p:cNvPr name="Freeform 16" id="16"/>
            <p:cNvSpPr/>
            <p:nvPr/>
          </p:nvSpPr>
          <p:spPr>
            <a:xfrm flipH="false" flipV="false" rot="0">
              <a:off x="0" y="0"/>
              <a:ext cx="685800" cy="685800"/>
            </a:xfrm>
            <a:custGeom>
              <a:avLst/>
              <a:gdLst/>
              <a:ahLst/>
              <a:cxnLst/>
              <a:rect r="r" b="b" t="t" l="l"/>
              <a:pathLst>
                <a:path h="685800" w="685800">
                  <a:moveTo>
                    <a:pt x="0" y="342900"/>
                  </a:moveTo>
                  <a:cubicBezTo>
                    <a:pt x="0" y="532278"/>
                    <a:pt x="153522" y="685800"/>
                    <a:pt x="342900" y="685800"/>
                  </a:cubicBezTo>
                  <a:cubicBezTo>
                    <a:pt x="532278" y="685800"/>
                    <a:pt x="685800" y="532278"/>
                    <a:pt x="685800" y="342900"/>
                  </a:cubicBezTo>
                  <a:cubicBezTo>
                    <a:pt x="685800" y="153522"/>
                    <a:pt x="532278" y="0"/>
                    <a:pt x="342900" y="0"/>
                  </a:cubicBezTo>
                  <a:cubicBezTo>
                    <a:pt x="153522" y="0"/>
                    <a:pt x="0" y="153522"/>
                    <a:pt x="0" y="342900"/>
                  </a:cubicBezTo>
                  <a:close/>
                </a:path>
              </a:pathLst>
            </a:custGeom>
            <a:solidFill>
              <a:srgbClr val="2A5A96"/>
            </a:solidFill>
          </p:spPr>
        </p:sp>
        <p:sp>
          <p:nvSpPr>
            <p:cNvPr name="TextBox 17" id="17"/>
            <p:cNvSpPr txBox="true"/>
            <p:nvPr/>
          </p:nvSpPr>
          <p:spPr>
            <a:xfrm>
              <a:off x="0" y="-38100"/>
              <a:ext cx="685800" cy="723900"/>
            </a:xfrm>
            <a:prstGeom prst="rect">
              <a:avLst/>
            </a:prstGeom>
          </p:spPr>
          <p:txBody>
            <a:bodyPr anchor="ctr" rtlCol="false" tIns="50800" lIns="50800" bIns="50800" rIns="50800"/>
            <a:lstStyle/>
            <a:p>
              <a:pPr algn="ctr">
                <a:lnSpc>
                  <a:spcPts val="2520"/>
                </a:lnSpc>
              </a:pPr>
              <a:r>
                <a:rPr lang="en-US" sz="1800" b="true">
                  <a:solidFill>
                    <a:srgbClr val="FFFFFF"/>
                  </a:solidFill>
                  <a:latin typeface="Montserrat Bold"/>
                  <a:ea typeface="Montserrat Bold"/>
                  <a:cs typeface="Montserrat Bold"/>
                  <a:sym typeface="Montserrat Bold"/>
                </a:rPr>
                <a:t>2</a:t>
              </a:r>
            </a:p>
          </p:txBody>
        </p:sp>
      </p:grpSp>
      <p:sp>
        <p:nvSpPr>
          <p:cNvPr name="TextBox 18" id="18"/>
          <p:cNvSpPr txBox="true"/>
          <p:nvPr/>
        </p:nvSpPr>
        <p:spPr>
          <a:xfrm rot="0">
            <a:off x="5549627" y="3596641"/>
            <a:ext cx="2647950" cy="319913"/>
          </a:xfrm>
          <a:prstGeom prst="rect">
            <a:avLst/>
          </a:prstGeom>
        </p:spPr>
        <p:txBody>
          <a:bodyPr anchor="t" rtlCol="false" tIns="0" lIns="0" bIns="0" rIns="0">
            <a:spAutoFit/>
          </a:bodyPr>
          <a:lstStyle/>
          <a:p>
            <a:pPr algn="ctr">
              <a:lnSpc>
                <a:spcPts val="2595"/>
              </a:lnSpc>
            </a:pPr>
            <a:r>
              <a:rPr lang="en-US" sz="2199" b="true">
                <a:solidFill>
                  <a:srgbClr val="002557"/>
                </a:solidFill>
                <a:latin typeface="Montserrat Bold"/>
                <a:ea typeface="Montserrat Bold"/>
                <a:cs typeface="Montserrat Bold"/>
                <a:sym typeface="Montserrat Bold"/>
              </a:rPr>
              <a:t>Flight recorded</a:t>
            </a:r>
          </a:p>
        </p:txBody>
      </p:sp>
      <p:grpSp>
        <p:nvGrpSpPr>
          <p:cNvPr name="Group 19" id="19"/>
          <p:cNvGrpSpPr/>
          <p:nvPr/>
        </p:nvGrpSpPr>
        <p:grpSpPr>
          <a:xfrm rot="0">
            <a:off x="9531077" y="2644141"/>
            <a:ext cx="3143250" cy="2190750"/>
            <a:chOff x="0" y="0"/>
            <a:chExt cx="4191000" cy="2921000"/>
          </a:xfrm>
        </p:grpSpPr>
        <p:sp>
          <p:nvSpPr>
            <p:cNvPr name="Freeform 20" id="20"/>
            <p:cNvSpPr/>
            <p:nvPr/>
          </p:nvSpPr>
          <p:spPr>
            <a:xfrm flipH="false" flipV="false" rot="0">
              <a:off x="0" y="0"/>
              <a:ext cx="4191000" cy="2921000"/>
            </a:xfrm>
            <a:custGeom>
              <a:avLst/>
              <a:gdLst/>
              <a:ahLst/>
              <a:cxnLst/>
              <a:rect r="r" b="b" t="t" l="l"/>
              <a:pathLst>
                <a:path h="2921000" w="4191000">
                  <a:moveTo>
                    <a:pt x="177800" y="0"/>
                  </a:moveTo>
                  <a:lnTo>
                    <a:pt x="4013200" y="0"/>
                  </a:lnTo>
                  <a:cubicBezTo>
                    <a:pt x="4111396" y="0"/>
                    <a:pt x="4191000" y="79604"/>
                    <a:pt x="4191000" y="177800"/>
                  </a:cubicBezTo>
                  <a:lnTo>
                    <a:pt x="4191000" y="2743200"/>
                  </a:lnTo>
                  <a:cubicBezTo>
                    <a:pt x="4191000" y="2841396"/>
                    <a:pt x="4111396" y="2921000"/>
                    <a:pt x="4013200" y="2921000"/>
                  </a:cubicBezTo>
                  <a:lnTo>
                    <a:pt x="177800" y="2921000"/>
                  </a:lnTo>
                  <a:cubicBezTo>
                    <a:pt x="79604" y="2921000"/>
                    <a:pt x="0" y="2841396"/>
                    <a:pt x="0" y="2743200"/>
                  </a:cubicBezTo>
                  <a:lnTo>
                    <a:pt x="0" y="177800"/>
                  </a:lnTo>
                  <a:cubicBezTo>
                    <a:pt x="0" y="79604"/>
                    <a:pt x="79604" y="0"/>
                    <a:pt x="177800" y="0"/>
                  </a:cubicBezTo>
                  <a:close/>
                </a:path>
              </a:pathLst>
            </a:custGeom>
            <a:solidFill>
              <a:srgbClr val="EAF3FB"/>
            </a:solidFill>
            <a:ln w="19050" cap="sq">
              <a:solidFill>
                <a:srgbClr val="C6DBEF"/>
              </a:solidFill>
              <a:prstDash val="solid"/>
              <a:miter/>
            </a:ln>
          </p:spPr>
        </p:sp>
        <p:sp>
          <p:nvSpPr>
            <p:cNvPr name="TextBox 21" id="21"/>
            <p:cNvSpPr txBox="true"/>
            <p:nvPr/>
          </p:nvSpPr>
          <p:spPr>
            <a:xfrm>
              <a:off x="0" y="-38100"/>
              <a:ext cx="4191000" cy="2959100"/>
            </a:xfrm>
            <a:prstGeom prst="rect">
              <a:avLst/>
            </a:prstGeom>
          </p:spPr>
          <p:txBody>
            <a:bodyPr anchor="ctr" rtlCol="false" tIns="50800" lIns="50800" bIns="50800" rIns="50800"/>
            <a:lstStyle/>
            <a:p>
              <a:pPr algn="l">
                <a:lnSpc>
                  <a:spcPts val="1679"/>
                </a:lnSpc>
              </a:pPr>
            </a:p>
          </p:txBody>
        </p:sp>
      </p:grpSp>
      <p:grpSp>
        <p:nvGrpSpPr>
          <p:cNvPr name="Group 22" id="22"/>
          <p:cNvGrpSpPr/>
          <p:nvPr/>
        </p:nvGrpSpPr>
        <p:grpSpPr>
          <a:xfrm rot="0">
            <a:off x="9740627" y="2834641"/>
            <a:ext cx="514350" cy="514350"/>
            <a:chOff x="0" y="0"/>
            <a:chExt cx="685800" cy="685800"/>
          </a:xfrm>
        </p:grpSpPr>
        <p:sp>
          <p:nvSpPr>
            <p:cNvPr name="Freeform 23" id="23"/>
            <p:cNvSpPr/>
            <p:nvPr/>
          </p:nvSpPr>
          <p:spPr>
            <a:xfrm flipH="false" flipV="false" rot="0">
              <a:off x="0" y="0"/>
              <a:ext cx="685800" cy="685800"/>
            </a:xfrm>
            <a:custGeom>
              <a:avLst/>
              <a:gdLst/>
              <a:ahLst/>
              <a:cxnLst/>
              <a:rect r="r" b="b" t="t" l="l"/>
              <a:pathLst>
                <a:path h="685800" w="685800">
                  <a:moveTo>
                    <a:pt x="0" y="342900"/>
                  </a:moveTo>
                  <a:cubicBezTo>
                    <a:pt x="0" y="532278"/>
                    <a:pt x="153522" y="685800"/>
                    <a:pt x="342900" y="685800"/>
                  </a:cubicBezTo>
                  <a:cubicBezTo>
                    <a:pt x="532278" y="685800"/>
                    <a:pt x="685800" y="532278"/>
                    <a:pt x="685800" y="342900"/>
                  </a:cubicBezTo>
                  <a:cubicBezTo>
                    <a:pt x="685800" y="153522"/>
                    <a:pt x="532278" y="0"/>
                    <a:pt x="342900" y="0"/>
                  </a:cubicBezTo>
                  <a:cubicBezTo>
                    <a:pt x="153522" y="0"/>
                    <a:pt x="0" y="153522"/>
                    <a:pt x="0" y="342900"/>
                  </a:cubicBezTo>
                  <a:close/>
                </a:path>
              </a:pathLst>
            </a:custGeom>
            <a:solidFill>
              <a:srgbClr val="2A5A96"/>
            </a:solidFill>
          </p:spPr>
        </p:sp>
        <p:sp>
          <p:nvSpPr>
            <p:cNvPr name="TextBox 24" id="24"/>
            <p:cNvSpPr txBox="true"/>
            <p:nvPr/>
          </p:nvSpPr>
          <p:spPr>
            <a:xfrm>
              <a:off x="0" y="-38100"/>
              <a:ext cx="685800" cy="723900"/>
            </a:xfrm>
            <a:prstGeom prst="rect">
              <a:avLst/>
            </a:prstGeom>
          </p:spPr>
          <p:txBody>
            <a:bodyPr anchor="ctr" rtlCol="false" tIns="50800" lIns="50800" bIns="50800" rIns="50800"/>
            <a:lstStyle/>
            <a:p>
              <a:pPr algn="ctr">
                <a:lnSpc>
                  <a:spcPts val="2520"/>
                </a:lnSpc>
              </a:pPr>
              <a:r>
                <a:rPr lang="en-US" sz="1800" b="true">
                  <a:solidFill>
                    <a:srgbClr val="FFFFFF"/>
                  </a:solidFill>
                  <a:latin typeface="Montserrat Bold"/>
                  <a:ea typeface="Montserrat Bold"/>
                  <a:cs typeface="Montserrat Bold"/>
                  <a:sym typeface="Montserrat Bold"/>
                </a:rPr>
                <a:t>3</a:t>
              </a:r>
            </a:p>
          </p:txBody>
        </p:sp>
      </p:grpSp>
      <p:sp>
        <p:nvSpPr>
          <p:cNvPr name="TextBox 25" id="25"/>
          <p:cNvSpPr txBox="true"/>
          <p:nvPr/>
        </p:nvSpPr>
        <p:spPr>
          <a:xfrm rot="0">
            <a:off x="9778727" y="3596641"/>
            <a:ext cx="2647950" cy="643763"/>
          </a:xfrm>
          <a:prstGeom prst="rect">
            <a:avLst/>
          </a:prstGeom>
        </p:spPr>
        <p:txBody>
          <a:bodyPr anchor="t" rtlCol="false" tIns="0" lIns="0" bIns="0" rIns="0">
            <a:spAutoFit/>
          </a:bodyPr>
          <a:lstStyle/>
          <a:p>
            <a:pPr algn="ctr">
              <a:lnSpc>
                <a:spcPts val="2595"/>
              </a:lnSpc>
            </a:pPr>
            <a:r>
              <a:rPr lang="en-US" sz="2199" b="true">
                <a:solidFill>
                  <a:srgbClr val="002557"/>
                </a:solidFill>
                <a:latin typeface="Montserrat Bold"/>
                <a:ea typeface="Montserrat Bold"/>
                <a:cs typeface="Montserrat Bold"/>
                <a:sym typeface="Montserrat Bold"/>
              </a:rPr>
              <a:t>Camera use documented</a:t>
            </a:r>
          </a:p>
        </p:txBody>
      </p:sp>
      <p:grpSp>
        <p:nvGrpSpPr>
          <p:cNvPr name="Group 26" id="26"/>
          <p:cNvGrpSpPr/>
          <p:nvPr/>
        </p:nvGrpSpPr>
        <p:grpSpPr>
          <a:xfrm rot="0">
            <a:off x="13760177" y="2644141"/>
            <a:ext cx="3143250" cy="2190750"/>
            <a:chOff x="0" y="0"/>
            <a:chExt cx="4191000" cy="2921000"/>
          </a:xfrm>
        </p:grpSpPr>
        <p:sp>
          <p:nvSpPr>
            <p:cNvPr name="Freeform 27" id="27"/>
            <p:cNvSpPr/>
            <p:nvPr/>
          </p:nvSpPr>
          <p:spPr>
            <a:xfrm flipH="false" flipV="false" rot="0">
              <a:off x="0" y="0"/>
              <a:ext cx="4191000" cy="2921000"/>
            </a:xfrm>
            <a:custGeom>
              <a:avLst/>
              <a:gdLst/>
              <a:ahLst/>
              <a:cxnLst/>
              <a:rect r="r" b="b" t="t" l="l"/>
              <a:pathLst>
                <a:path h="2921000" w="4191000">
                  <a:moveTo>
                    <a:pt x="177800" y="0"/>
                  </a:moveTo>
                  <a:lnTo>
                    <a:pt x="4013200" y="0"/>
                  </a:lnTo>
                  <a:cubicBezTo>
                    <a:pt x="4111396" y="0"/>
                    <a:pt x="4191000" y="79604"/>
                    <a:pt x="4191000" y="177800"/>
                  </a:cubicBezTo>
                  <a:lnTo>
                    <a:pt x="4191000" y="2743200"/>
                  </a:lnTo>
                  <a:cubicBezTo>
                    <a:pt x="4191000" y="2841396"/>
                    <a:pt x="4111396" y="2921000"/>
                    <a:pt x="4013200" y="2921000"/>
                  </a:cubicBezTo>
                  <a:lnTo>
                    <a:pt x="177800" y="2921000"/>
                  </a:lnTo>
                  <a:cubicBezTo>
                    <a:pt x="79604" y="2921000"/>
                    <a:pt x="0" y="2841396"/>
                    <a:pt x="0" y="2743200"/>
                  </a:cubicBezTo>
                  <a:lnTo>
                    <a:pt x="0" y="177800"/>
                  </a:lnTo>
                  <a:cubicBezTo>
                    <a:pt x="0" y="79604"/>
                    <a:pt x="79604" y="0"/>
                    <a:pt x="177800" y="0"/>
                  </a:cubicBezTo>
                  <a:close/>
                </a:path>
              </a:pathLst>
            </a:custGeom>
            <a:solidFill>
              <a:srgbClr val="EAF3FB"/>
            </a:solidFill>
            <a:ln w="19050" cap="sq">
              <a:solidFill>
                <a:srgbClr val="C6DBEF"/>
              </a:solidFill>
              <a:prstDash val="solid"/>
              <a:miter/>
            </a:ln>
          </p:spPr>
        </p:sp>
        <p:sp>
          <p:nvSpPr>
            <p:cNvPr name="TextBox 28" id="28"/>
            <p:cNvSpPr txBox="true"/>
            <p:nvPr/>
          </p:nvSpPr>
          <p:spPr>
            <a:xfrm>
              <a:off x="0" y="-38100"/>
              <a:ext cx="4191000" cy="2959100"/>
            </a:xfrm>
            <a:prstGeom prst="rect">
              <a:avLst/>
            </a:prstGeom>
          </p:spPr>
          <p:txBody>
            <a:bodyPr anchor="ctr" rtlCol="false" tIns="50800" lIns="50800" bIns="50800" rIns="50800"/>
            <a:lstStyle/>
            <a:p>
              <a:pPr algn="l">
                <a:lnSpc>
                  <a:spcPts val="1679"/>
                </a:lnSpc>
              </a:pPr>
            </a:p>
          </p:txBody>
        </p:sp>
      </p:grpSp>
      <p:grpSp>
        <p:nvGrpSpPr>
          <p:cNvPr name="Group 29" id="29"/>
          <p:cNvGrpSpPr/>
          <p:nvPr/>
        </p:nvGrpSpPr>
        <p:grpSpPr>
          <a:xfrm rot="0">
            <a:off x="13969727" y="2834641"/>
            <a:ext cx="514350" cy="514350"/>
            <a:chOff x="0" y="0"/>
            <a:chExt cx="685800" cy="685800"/>
          </a:xfrm>
        </p:grpSpPr>
        <p:sp>
          <p:nvSpPr>
            <p:cNvPr name="Freeform 30" id="30"/>
            <p:cNvSpPr/>
            <p:nvPr/>
          </p:nvSpPr>
          <p:spPr>
            <a:xfrm flipH="false" flipV="false" rot="0">
              <a:off x="0" y="0"/>
              <a:ext cx="685800" cy="685800"/>
            </a:xfrm>
            <a:custGeom>
              <a:avLst/>
              <a:gdLst/>
              <a:ahLst/>
              <a:cxnLst/>
              <a:rect r="r" b="b" t="t" l="l"/>
              <a:pathLst>
                <a:path h="685800" w="685800">
                  <a:moveTo>
                    <a:pt x="0" y="342900"/>
                  </a:moveTo>
                  <a:cubicBezTo>
                    <a:pt x="0" y="532278"/>
                    <a:pt x="153522" y="685800"/>
                    <a:pt x="342900" y="685800"/>
                  </a:cubicBezTo>
                  <a:cubicBezTo>
                    <a:pt x="532278" y="685800"/>
                    <a:pt x="685800" y="532278"/>
                    <a:pt x="685800" y="342900"/>
                  </a:cubicBezTo>
                  <a:cubicBezTo>
                    <a:pt x="685800" y="153522"/>
                    <a:pt x="532278" y="0"/>
                    <a:pt x="342900" y="0"/>
                  </a:cubicBezTo>
                  <a:cubicBezTo>
                    <a:pt x="153522" y="0"/>
                    <a:pt x="0" y="153522"/>
                    <a:pt x="0" y="342900"/>
                  </a:cubicBezTo>
                  <a:close/>
                </a:path>
              </a:pathLst>
            </a:custGeom>
            <a:solidFill>
              <a:srgbClr val="2A5A96"/>
            </a:solidFill>
          </p:spPr>
        </p:sp>
        <p:sp>
          <p:nvSpPr>
            <p:cNvPr name="TextBox 31" id="31"/>
            <p:cNvSpPr txBox="true"/>
            <p:nvPr/>
          </p:nvSpPr>
          <p:spPr>
            <a:xfrm>
              <a:off x="0" y="-38100"/>
              <a:ext cx="685800" cy="723900"/>
            </a:xfrm>
            <a:prstGeom prst="rect">
              <a:avLst/>
            </a:prstGeom>
          </p:spPr>
          <p:txBody>
            <a:bodyPr anchor="ctr" rtlCol="false" tIns="50800" lIns="50800" bIns="50800" rIns="50800"/>
            <a:lstStyle/>
            <a:p>
              <a:pPr algn="ctr">
                <a:lnSpc>
                  <a:spcPts val="2520"/>
                </a:lnSpc>
              </a:pPr>
              <a:r>
                <a:rPr lang="en-US" sz="1800" b="true">
                  <a:solidFill>
                    <a:srgbClr val="FFFFFF"/>
                  </a:solidFill>
                  <a:latin typeface="Montserrat Bold"/>
                  <a:ea typeface="Montserrat Bold"/>
                  <a:cs typeface="Montserrat Bold"/>
                  <a:sym typeface="Montserrat Bold"/>
                </a:rPr>
                <a:t>4</a:t>
              </a:r>
            </a:p>
          </p:txBody>
        </p:sp>
      </p:grpSp>
      <p:sp>
        <p:nvSpPr>
          <p:cNvPr name="TextBox 32" id="32"/>
          <p:cNvSpPr txBox="true"/>
          <p:nvPr/>
        </p:nvSpPr>
        <p:spPr>
          <a:xfrm rot="0">
            <a:off x="14007827" y="3596641"/>
            <a:ext cx="2647950" cy="643763"/>
          </a:xfrm>
          <a:prstGeom prst="rect">
            <a:avLst/>
          </a:prstGeom>
        </p:spPr>
        <p:txBody>
          <a:bodyPr anchor="t" rtlCol="false" tIns="0" lIns="0" bIns="0" rIns="0">
            <a:spAutoFit/>
          </a:bodyPr>
          <a:lstStyle/>
          <a:p>
            <a:pPr algn="ctr">
              <a:lnSpc>
                <a:spcPts val="2595"/>
              </a:lnSpc>
            </a:pPr>
            <a:r>
              <a:rPr lang="en-US" sz="2199" b="true">
                <a:solidFill>
                  <a:srgbClr val="002557"/>
                </a:solidFill>
                <a:latin typeface="Montserrat Bold"/>
                <a:ea typeface="Montserrat Bold"/>
                <a:cs typeface="Montserrat Bold"/>
                <a:sym typeface="Montserrat Bold"/>
              </a:rPr>
              <a:t>Role-based access</a:t>
            </a:r>
          </a:p>
        </p:txBody>
      </p:sp>
      <p:grpSp>
        <p:nvGrpSpPr>
          <p:cNvPr name="Group 33" id="33"/>
          <p:cNvGrpSpPr/>
          <p:nvPr/>
        </p:nvGrpSpPr>
        <p:grpSpPr>
          <a:xfrm rot="0">
            <a:off x="13760177" y="6406516"/>
            <a:ext cx="3143250" cy="2190750"/>
            <a:chOff x="0" y="0"/>
            <a:chExt cx="4191000" cy="2921000"/>
          </a:xfrm>
        </p:grpSpPr>
        <p:sp>
          <p:nvSpPr>
            <p:cNvPr name="Freeform 34" id="34"/>
            <p:cNvSpPr/>
            <p:nvPr/>
          </p:nvSpPr>
          <p:spPr>
            <a:xfrm flipH="false" flipV="false" rot="0">
              <a:off x="0" y="0"/>
              <a:ext cx="4191000" cy="2921000"/>
            </a:xfrm>
            <a:custGeom>
              <a:avLst/>
              <a:gdLst/>
              <a:ahLst/>
              <a:cxnLst/>
              <a:rect r="r" b="b" t="t" l="l"/>
              <a:pathLst>
                <a:path h="2921000" w="4191000">
                  <a:moveTo>
                    <a:pt x="177800" y="0"/>
                  </a:moveTo>
                  <a:lnTo>
                    <a:pt x="4013200" y="0"/>
                  </a:lnTo>
                  <a:cubicBezTo>
                    <a:pt x="4111396" y="0"/>
                    <a:pt x="4191000" y="79604"/>
                    <a:pt x="4191000" y="177800"/>
                  </a:cubicBezTo>
                  <a:lnTo>
                    <a:pt x="4191000" y="2743200"/>
                  </a:lnTo>
                  <a:cubicBezTo>
                    <a:pt x="4191000" y="2841396"/>
                    <a:pt x="4111396" y="2921000"/>
                    <a:pt x="4013200" y="2921000"/>
                  </a:cubicBezTo>
                  <a:lnTo>
                    <a:pt x="177800" y="2921000"/>
                  </a:lnTo>
                  <a:cubicBezTo>
                    <a:pt x="79604" y="2921000"/>
                    <a:pt x="0" y="2841396"/>
                    <a:pt x="0" y="2743200"/>
                  </a:cubicBezTo>
                  <a:lnTo>
                    <a:pt x="0" y="177800"/>
                  </a:lnTo>
                  <a:cubicBezTo>
                    <a:pt x="0" y="79604"/>
                    <a:pt x="79604" y="0"/>
                    <a:pt x="177800" y="0"/>
                  </a:cubicBezTo>
                  <a:close/>
                </a:path>
              </a:pathLst>
            </a:custGeom>
            <a:solidFill>
              <a:srgbClr val="EAF3FB"/>
            </a:solidFill>
            <a:ln w="19050" cap="sq">
              <a:solidFill>
                <a:srgbClr val="C6DBEF"/>
              </a:solidFill>
              <a:prstDash val="solid"/>
              <a:miter/>
            </a:ln>
          </p:spPr>
        </p:sp>
        <p:sp>
          <p:nvSpPr>
            <p:cNvPr name="TextBox 35" id="35"/>
            <p:cNvSpPr txBox="true"/>
            <p:nvPr/>
          </p:nvSpPr>
          <p:spPr>
            <a:xfrm>
              <a:off x="0" y="-38100"/>
              <a:ext cx="4191000" cy="2959100"/>
            </a:xfrm>
            <a:prstGeom prst="rect">
              <a:avLst/>
            </a:prstGeom>
          </p:spPr>
          <p:txBody>
            <a:bodyPr anchor="ctr" rtlCol="false" tIns="50800" lIns="50800" bIns="50800" rIns="50800"/>
            <a:lstStyle/>
            <a:p>
              <a:pPr algn="l">
                <a:lnSpc>
                  <a:spcPts val="1679"/>
                </a:lnSpc>
              </a:pPr>
            </a:p>
          </p:txBody>
        </p:sp>
      </p:grpSp>
      <p:grpSp>
        <p:nvGrpSpPr>
          <p:cNvPr name="Group 36" id="36"/>
          <p:cNvGrpSpPr/>
          <p:nvPr/>
        </p:nvGrpSpPr>
        <p:grpSpPr>
          <a:xfrm rot="0">
            <a:off x="13969727" y="6597016"/>
            <a:ext cx="514350" cy="514350"/>
            <a:chOff x="0" y="0"/>
            <a:chExt cx="685800" cy="685800"/>
          </a:xfrm>
        </p:grpSpPr>
        <p:sp>
          <p:nvSpPr>
            <p:cNvPr name="Freeform 37" id="37"/>
            <p:cNvSpPr/>
            <p:nvPr/>
          </p:nvSpPr>
          <p:spPr>
            <a:xfrm flipH="false" flipV="false" rot="0">
              <a:off x="0" y="0"/>
              <a:ext cx="685800" cy="685800"/>
            </a:xfrm>
            <a:custGeom>
              <a:avLst/>
              <a:gdLst/>
              <a:ahLst/>
              <a:cxnLst/>
              <a:rect r="r" b="b" t="t" l="l"/>
              <a:pathLst>
                <a:path h="685800" w="685800">
                  <a:moveTo>
                    <a:pt x="0" y="342900"/>
                  </a:moveTo>
                  <a:cubicBezTo>
                    <a:pt x="0" y="532278"/>
                    <a:pt x="153522" y="685800"/>
                    <a:pt x="342900" y="685800"/>
                  </a:cubicBezTo>
                  <a:cubicBezTo>
                    <a:pt x="532278" y="685800"/>
                    <a:pt x="685800" y="532278"/>
                    <a:pt x="685800" y="342900"/>
                  </a:cubicBezTo>
                  <a:cubicBezTo>
                    <a:pt x="685800" y="153522"/>
                    <a:pt x="532278" y="0"/>
                    <a:pt x="342900" y="0"/>
                  </a:cubicBezTo>
                  <a:cubicBezTo>
                    <a:pt x="153522" y="0"/>
                    <a:pt x="0" y="153522"/>
                    <a:pt x="0" y="342900"/>
                  </a:cubicBezTo>
                  <a:close/>
                </a:path>
              </a:pathLst>
            </a:custGeom>
            <a:solidFill>
              <a:srgbClr val="2A5A96"/>
            </a:solidFill>
          </p:spPr>
        </p:sp>
        <p:sp>
          <p:nvSpPr>
            <p:cNvPr name="TextBox 38" id="38"/>
            <p:cNvSpPr txBox="true"/>
            <p:nvPr/>
          </p:nvSpPr>
          <p:spPr>
            <a:xfrm>
              <a:off x="0" y="-38100"/>
              <a:ext cx="685800" cy="723900"/>
            </a:xfrm>
            <a:prstGeom prst="rect">
              <a:avLst/>
            </a:prstGeom>
          </p:spPr>
          <p:txBody>
            <a:bodyPr anchor="ctr" rtlCol="false" tIns="50800" lIns="50800" bIns="50800" rIns="50800"/>
            <a:lstStyle/>
            <a:p>
              <a:pPr algn="ctr">
                <a:lnSpc>
                  <a:spcPts val="2520"/>
                </a:lnSpc>
              </a:pPr>
              <a:r>
                <a:rPr lang="en-US" sz="1800" b="true">
                  <a:solidFill>
                    <a:srgbClr val="FFFFFF"/>
                  </a:solidFill>
                  <a:latin typeface="Montserrat Bold"/>
                  <a:ea typeface="Montserrat Bold"/>
                  <a:cs typeface="Montserrat Bold"/>
                  <a:sym typeface="Montserrat Bold"/>
                </a:rPr>
                <a:t>5</a:t>
              </a:r>
            </a:p>
          </p:txBody>
        </p:sp>
      </p:grpSp>
      <p:sp>
        <p:nvSpPr>
          <p:cNvPr name="TextBox 39" id="39"/>
          <p:cNvSpPr txBox="true"/>
          <p:nvPr/>
        </p:nvSpPr>
        <p:spPr>
          <a:xfrm rot="0">
            <a:off x="14007827" y="7359016"/>
            <a:ext cx="2647950" cy="643763"/>
          </a:xfrm>
          <a:prstGeom prst="rect">
            <a:avLst/>
          </a:prstGeom>
        </p:spPr>
        <p:txBody>
          <a:bodyPr anchor="t" rtlCol="false" tIns="0" lIns="0" bIns="0" rIns="0">
            <a:spAutoFit/>
          </a:bodyPr>
          <a:lstStyle/>
          <a:p>
            <a:pPr algn="ctr">
              <a:lnSpc>
                <a:spcPts val="2595"/>
              </a:lnSpc>
            </a:pPr>
            <a:r>
              <a:rPr lang="en-US" sz="2199" b="true">
                <a:solidFill>
                  <a:srgbClr val="002557"/>
                </a:solidFill>
                <a:latin typeface="Montserrat Bold"/>
                <a:ea typeface="Montserrat Bold"/>
                <a:cs typeface="Montserrat Bold"/>
                <a:sym typeface="Montserrat Bold"/>
              </a:rPr>
              <a:t>Secured CJIS Compliant Cloud</a:t>
            </a:r>
          </a:p>
        </p:txBody>
      </p:sp>
      <p:grpSp>
        <p:nvGrpSpPr>
          <p:cNvPr name="Group 40" id="40"/>
          <p:cNvGrpSpPr/>
          <p:nvPr/>
        </p:nvGrpSpPr>
        <p:grpSpPr>
          <a:xfrm rot="0">
            <a:off x="9531077" y="6406516"/>
            <a:ext cx="3143250" cy="2190750"/>
            <a:chOff x="0" y="0"/>
            <a:chExt cx="4191000" cy="2921000"/>
          </a:xfrm>
        </p:grpSpPr>
        <p:sp>
          <p:nvSpPr>
            <p:cNvPr name="Freeform 41" id="41"/>
            <p:cNvSpPr/>
            <p:nvPr/>
          </p:nvSpPr>
          <p:spPr>
            <a:xfrm flipH="false" flipV="false" rot="0">
              <a:off x="0" y="0"/>
              <a:ext cx="4191000" cy="2921000"/>
            </a:xfrm>
            <a:custGeom>
              <a:avLst/>
              <a:gdLst/>
              <a:ahLst/>
              <a:cxnLst/>
              <a:rect r="r" b="b" t="t" l="l"/>
              <a:pathLst>
                <a:path h="2921000" w="4191000">
                  <a:moveTo>
                    <a:pt x="177800" y="0"/>
                  </a:moveTo>
                  <a:lnTo>
                    <a:pt x="4013200" y="0"/>
                  </a:lnTo>
                  <a:cubicBezTo>
                    <a:pt x="4111396" y="0"/>
                    <a:pt x="4191000" y="79604"/>
                    <a:pt x="4191000" y="177800"/>
                  </a:cubicBezTo>
                  <a:lnTo>
                    <a:pt x="4191000" y="2743200"/>
                  </a:lnTo>
                  <a:cubicBezTo>
                    <a:pt x="4191000" y="2841396"/>
                    <a:pt x="4111396" y="2921000"/>
                    <a:pt x="4013200" y="2921000"/>
                  </a:cubicBezTo>
                  <a:lnTo>
                    <a:pt x="177800" y="2921000"/>
                  </a:lnTo>
                  <a:cubicBezTo>
                    <a:pt x="79604" y="2921000"/>
                    <a:pt x="0" y="2841396"/>
                    <a:pt x="0" y="2743200"/>
                  </a:cubicBezTo>
                  <a:lnTo>
                    <a:pt x="0" y="177800"/>
                  </a:lnTo>
                  <a:cubicBezTo>
                    <a:pt x="0" y="79604"/>
                    <a:pt x="79604" y="0"/>
                    <a:pt x="177800" y="0"/>
                  </a:cubicBezTo>
                  <a:close/>
                </a:path>
              </a:pathLst>
            </a:custGeom>
            <a:solidFill>
              <a:srgbClr val="EAF3FB"/>
            </a:solidFill>
            <a:ln w="19050" cap="sq">
              <a:solidFill>
                <a:srgbClr val="C6DBEF"/>
              </a:solidFill>
              <a:prstDash val="solid"/>
              <a:miter/>
            </a:ln>
          </p:spPr>
        </p:sp>
        <p:sp>
          <p:nvSpPr>
            <p:cNvPr name="TextBox 42" id="42"/>
            <p:cNvSpPr txBox="true"/>
            <p:nvPr/>
          </p:nvSpPr>
          <p:spPr>
            <a:xfrm>
              <a:off x="0" y="-38100"/>
              <a:ext cx="4191000" cy="2959100"/>
            </a:xfrm>
            <a:prstGeom prst="rect">
              <a:avLst/>
            </a:prstGeom>
          </p:spPr>
          <p:txBody>
            <a:bodyPr anchor="ctr" rtlCol="false" tIns="50800" lIns="50800" bIns="50800" rIns="50800"/>
            <a:lstStyle/>
            <a:p>
              <a:pPr algn="l">
                <a:lnSpc>
                  <a:spcPts val="1679"/>
                </a:lnSpc>
              </a:pPr>
            </a:p>
          </p:txBody>
        </p:sp>
      </p:grpSp>
      <p:grpSp>
        <p:nvGrpSpPr>
          <p:cNvPr name="Group 43" id="43"/>
          <p:cNvGrpSpPr/>
          <p:nvPr/>
        </p:nvGrpSpPr>
        <p:grpSpPr>
          <a:xfrm rot="0">
            <a:off x="9740627" y="6597016"/>
            <a:ext cx="514350" cy="514350"/>
            <a:chOff x="0" y="0"/>
            <a:chExt cx="685800" cy="685800"/>
          </a:xfrm>
        </p:grpSpPr>
        <p:sp>
          <p:nvSpPr>
            <p:cNvPr name="Freeform 44" id="44"/>
            <p:cNvSpPr/>
            <p:nvPr/>
          </p:nvSpPr>
          <p:spPr>
            <a:xfrm flipH="false" flipV="false" rot="0">
              <a:off x="0" y="0"/>
              <a:ext cx="685800" cy="685800"/>
            </a:xfrm>
            <a:custGeom>
              <a:avLst/>
              <a:gdLst/>
              <a:ahLst/>
              <a:cxnLst/>
              <a:rect r="r" b="b" t="t" l="l"/>
              <a:pathLst>
                <a:path h="685800" w="685800">
                  <a:moveTo>
                    <a:pt x="0" y="342900"/>
                  </a:moveTo>
                  <a:cubicBezTo>
                    <a:pt x="0" y="532278"/>
                    <a:pt x="153522" y="685800"/>
                    <a:pt x="342900" y="685800"/>
                  </a:cubicBezTo>
                  <a:cubicBezTo>
                    <a:pt x="532278" y="685800"/>
                    <a:pt x="685800" y="532278"/>
                    <a:pt x="685800" y="342900"/>
                  </a:cubicBezTo>
                  <a:cubicBezTo>
                    <a:pt x="685800" y="153522"/>
                    <a:pt x="532278" y="0"/>
                    <a:pt x="342900" y="0"/>
                  </a:cubicBezTo>
                  <a:cubicBezTo>
                    <a:pt x="153522" y="0"/>
                    <a:pt x="0" y="153522"/>
                    <a:pt x="0" y="342900"/>
                  </a:cubicBezTo>
                  <a:close/>
                </a:path>
              </a:pathLst>
            </a:custGeom>
            <a:solidFill>
              <a:srgbClr val="2A5A96"/>
            </a:solidFill>
          </p:spPr>
        </p:sp>
        <p:sp>
          <p:nvSpPr>
            <p:cNvPr name="TextBox 45" id="45"/>
            <p:cNvSpPr txBox="true"/>
            <p:nvPr/>
          </p:nvSpPr>
          <p:spPr>
            <a:xfrm>
              <a:off x="0" y="-38100"/>
              <a:ext cx="685800" cy="723900"/>
            </a:xfrm>
            <a:prstGeom prst="rect">
              <a:avLst/>
            </a:prstGeom>
          </p:spPr>
          <p:txBody>
            <a:bodyPr anchor="ctr" rtlCol="false" tIns="50800" lIns="50800" bIns="50800" rIns="50800"/>
            <a:lstStyle/>
            <a:p>
              <a:pPr algn="ctr">
                <a:lnSpc>
                  <a:spcPts val="2520"/>
                </a:lnSpc>
              </a:pPr>
              <a:r>
                <a:rPr lang="en-US" sz="1800" b="true">
                  <a:solidFill>
                    <a:srgbClr val="FFFFFF"/>
                  </a:solidFill>
                  <a:latin typeface="Montserrat Bold"/>
                  <a:ea typeface="Montserrat Bold"/>
                  <a:cs typeface="Montserrat Bold"/>
                  <a:sym typeface="Montserrat Bold"/>
                </a:rPr>
                <a:t>6</a:t>
              </a:r>
            </a:p>
          </p:txBody>
        </p:sp>
      </p:grpSp>
      <p:sp>
        <p:nvSpPr>
          <p:cNvPr name="TextBox 46" id="46"/>
          <p:cNvSpPr txBox="true"/>
          <p:nvPr/>
        </p:nvSpPr>
        <p:spPr>
          <a:xfrm rot="0">
            <a:off x="9778727" y="7359016"/>
            <a:ext cx="2647950" cy="319913"/>
          </a:xfrm>
          <a:prstGeom prst="rect">
            <a:avLst/>
          </a:prstGeom>
        </p:spPr>
        <p:txBody>
          <a:bodyPr anchor="t" rtlCol="false" tIns="0" lIns="0" bIns="0" rIns="0">
            <a:spAutoFit/>
          </a:bodyPr>
          <a:lstStyle/>
          <a:p>
            <a:pPr algn="ctr">
              <a:lnSpc>
                <a:spcPts val="2595"/>
              </a:lnSpc>
            </a:pPr>
            <a:r>
              <a:rPr lang="en-US" sz="2199" b="true">
                <a:solidFill>
                  <a:srgbClr val="002557"/>
                </a:solidFill>
                <a:latin typeface="Montserrat Bold"/>
                <a:ea typeface="Montserrat Bold"/>
                <a:cs typeface="Montserrat Bold"/>
                <a:sym typeface="Montserrat Bold"/>
              </a:rPr>
              <a:t>Access audit trail</a:t>
            </a:r>
          </a:p>
        </p:txBody>
      </p:sp>
      <p:grpSp>
        <p:nvGrpSpPr>
          <p:cNvPr name="Group 47" id="47"/>
          <p:cNvGrpSpPr/>
          <p:nvPr/>
        </p:nvGrpSpPr>
        <p:grpSpPr>
          <a:xfrm rot="0">
            <a:off x="5301977" y="6406516"/>
            <a:ext cx="3143250" cy="2190750"/>
            <a:chOff x="0" y="0"/>
            <a:chExt cx="4191000" cy="2921000"/>
          </a:xfrm>
        </p:grpSpPr>
        <p:sp>
          <p:nvSpPr>
            <p:cNvPr name="Freeform 48" id="48"/>
            <p:cNvSpPr/>
            <p:nvPr/>
          </p:nvSpPr>
          <p:spPr>
            <a:xfrm flipH="false" flipV="false" rot="0">
              <a:off x="0" y="0"/>
              <a:ext cx="4191000" cy="2921000"/>
            </a:xfrm>
            <a:custGeom>
              <a:avLst/>
              <a:gdLst/>
              <a:ahLst/>
              <a:cxnLst/>
              <a:rect r="r" b="b" t="t" l="l"/>
              <a:pathLst>
                <a:path h="2921000" w="4191000">
                  <a:moveTo>
                    <a:pt x="177800" y="0"/>
                  </a:moveTo>
                  <a:lnTo>
                    <a:pt x="4013200" y="0"/>
                  </a:lnTo>
                  <a:cubicBezTo>
                    <a:pt x="4111396" y="0"/>
                    <a:pt x="4191000" y="79604"/>
                    <a:pt x="4191000" y="177800"/>
                  </a:cubicBezTo>
                  <a:lnTo>
                    <a:pt x="4191000" y="2743200"/>
                  </a:lnTo>
                  <a:cubicBezTo>
                    <a:pt x="4191000" y="2841396"/>
                    <a:pt x="4111396" y="2921000"/>
                    <a:pt x="4013200" y="2921000"/>
                  </a:cubicBezTo>
                  <a:lnTo>
                    <a:pt x="177800" y="2921000"/>
                  </a:lnTo>
                  <a:cubicBezTo>
                    <a:pt x="79604" y="2921000"/>
                    <a:pt x="0" y="2841396"/>
                    <a:pt x="0" y="2743200"/>
                  </a:cubicBezTo>
                  <a:lnTo>
                    <a:pt x="0" y="177800"/>
                  </a:lnTo>
                  <a:cubicBezTo>
                    <a:pt x="0" y="79604"/>
                    <a:pt x="79604" y="0"/>
                    <a:pt x="177800" y="0"/>
                  </a:cubicBezTo>
                  <a:close/>
                </a:path>
              </a:pathLst>
            </a:custGeom>
            <a:solidFill>
              <a:srgbClr val="EAF3FB"/>
            </a:solidFill>
            <a:ln w="19050" cap="sq">
              <a:solidFill>
                <a:srgbClr val="C6DBEF"/>
              </a:solidFill>
              <a:prstDash val="solid"/>
              <a:miter/>
            </a:ln>
          </p:spPr>
        </p:sp>
        <p:sp>
          <p:nvSpPr>
            <p:cNvPr name="TextBox 49" id="49"/>
            <p:cNvSpPr txBox="true"/>
            <p:nvPr/>
          </p:nvSpPr>
          <p:spPr>
            <a:xfrm>
              <a:off x="0" y="-38100"/>
              <a:ext cx="4191000" cy="2959100"/>
            </a:xfrm>
            <a:prstGeom prst="rect">
              <a:avLst/>
            </a:prstGeom>
          </p:spPr>
          <p:txBody>
            <a:bodyPr anchor="ctr" rtlCol="false" tIns="50800" lIns="50800" bIns="50800" rIns="50800"/>
            <a:lstStyle/>
            <a:p>
              <a:pPr algn="l">
                <a:lnSpc>
                  <a:spcPts val="1679"/>
                </a:lnSpc>
              </a:pPr>
            </a:p>
          </p:txBody>
        </p:sp>
      </p:grpSp>
      <p:grpSp>
        <p:nvGrpSpPr>
          <p:cNvPr name="Group 50" id="50"/>
          <p:cNvGrpSpPr/>
          <p:nvPr/>
        </p:nvGrpSpPr>
        <p:grpSpPr>
          <a:xfrm rot="0">
            <a:off x="5511527" y="6597016"/>
            <a:ext cx="514350" cy="514350"/>
            <a:chOff x="0" y="0"/>
            <a:chExt cx="685800" cy="685800"/>
          </a:xfrm>
        </p:grpSpPr>
        <p:sp>
          <p:nvSpPr>
            <p:cNvPr name="Freeform 51" id="51"/>
            <p:cNvSpPr/>
            <p:nvPr/>
          </p:nvSpPr>
          <p:spPr>
            <a:xfrm flipH="false" flipV="false" rot="0">
              <a:off x="0" y="0"/>
              <a:ext cx="685800" cy="685800"/>
            </a:xfrm>
            <a:custGeom>
              <a:avLst/>
              <a:gdLst/>
              <a:ahLst/>
              <a:cxnLst/>
              <a:rect r="r" b="b" t="t" l="l"/>
              <a:pathLst>
                <a:path h="685800" w="685800">
                  <a:moveTo>
                    <a:pt x="0" y="342900"/>
                  </a:moveTo>
                  <a:cubicBezTo>
                    <a:pt x="0" y="532278"/>
                    <a:pt x="153522" y="685800"/>
                    <a:pt x="342900" y="685800"/>
                  </a:cubicBezTo>
                  <a:cubicBezTo>
                    <a:pt x="532278" y="685800"/>
                    <a:pt x="685800" y="532278"/>
                    <a:pt x="685800" y="342900"/>
                  </a:cubicBezTo>
                  <a:cubicBezTo>
                    <a:pt x="685800" y="153522"/>
                    <a:pt x="532278" y="0"/>
                    <a:pt x="342900" y="0"/>
                  </a:cubicBezTo>
                  <a:cubicBezTo>
                    <a:pt x="153522" y="0"/>
                    <a:pt x="0" y="153522"/>
                    <a:pt x="0" y="342900"/>
                  </a:cubicBezTo>
                  <a:close/>
                </a:path>
              </a:pathLst>
            </a:custGeom>
            <a:solidFill>
              <a:srgbClr val="2A5A96"/>
            </a:solidFill>
          </p:spPr>
        </p:sp>
        <p:sp>
          <p:nvSpPr>
            <p:cNvPr name="TextBox 52" id="52"/>
            <p:cNvSpPr txBox="true"/>
            <p:nvPr/>
          </p:nvSpPr>
          <p:spPr>
            <a:xfrm>
              <a:off x="0" y="-38100"/>
              <a:ext cx="685800" cy="723900"/>
            </a:xfrm>
            <a:prstGeom prst="rect">
              <a:avLst/>
            </a:prstGeom>
          </p:spPr>
          <p:txBody>
            <a:bodyPr anchor="ctr" rtlCol="false" tIns="50800" lIns="50800" bIns="50800" rIns="50800"/>
            <a:lstStyle/>
            <a:p>
              <a:pPr algn="ctr">
                <a:lnSpc>
                  <a:spcPts val="2520"/>
                </a:lnSpc>
              </a:pPr>
              <a:r>
                <a:rPr lang="en-US" sz="1800" b="true">
                  <a:solidFill>
                    <a:srgbClr val="FFFFFF"/>
                  </a:solidFill>
                  <a:latin typeface="Montserrat Bold"/>
                  <a:ea typeface="Montserrat Bold"/>
                  <a:cs typeface="Montserrat Bold"/>
                  <a:sym typeface="Montserrat Bold"/>
                </a:rPr>
                <a:t>7</a:t>
              </a:r>
            </a:p>
          </p:txBody>
        </p:sp>
      </p:grpSp>
      <p:sp>
        <p:nvSpPr>
          <p:cNvPr name="TextBox 53" id="53"/>
          <p:cNvSpPr txBox="true"/>
          <p:nvPr/>
        </p:nvSpPr>
        <p:spPr>
          <a:xfrm rot="0">
            <a:off x="5549627" y="7359016"/>
            <a:ext cx="2647950" cy="643763"/>
          </a:xfrm>
          <a:prstGeom prst="rect">
            <a:avLst/>
          </a:prstGeom>
        </p:spPr>
        <p:txBody>
          <a:bodyPr anchor="t" rtlCol="false" tIns="0" lIns="0" bIns="0" rIns="0">
            <a:spAutoFit/>
          </a:bodyPr>
          <a:lstStyle/>
          <a:p>
            <a:pPr algn="ctr" marL="0" indent="0" lvl="0">
              <a:lnSpc>
                <a:spcPts val="2595"/>
              </a:lnSpc>
              <a:spcBef>
                <a:spcPct val="0"/>
              </a:spcBef>
            </a:pPr>
            <a:r>
              <a:rPr lang="en-US" b="true" sz="2199" strike="noStrike" u="none">
                <a:solidFill>
                  <a:srgbClr val="002557"/>
                </a:solidFill>
                <a:latin typeface="Montserrat Bold"/>
                <a:ea typeface="Montserrat Bold"/>
                <a:cs typeface="Montserrat Bold"/>
                <a:sym typeface="Montserrat Bold"/>
              </a:rPr>
              <a:t>Retention/</a:t>
            </a:r>
          </a:p>
          <a:p>
            <a:pPr algn="ctr" marL="0" indent="0" lvl="0">
              <a:lnSpc>
                <a:spcPts val="2595"/>
              </a:lnSpc>
              <a:spcBef>
                <a:spcPct val="0"/>
              </a:spcBef>
            </a:pPr>
            <a:r>
              <a:rPr lang="en-US" b="true" sz="2199" strike="noStrike" u="none">
                <a:solidFill>
                  <a:srgbClr val="002557"/>
                </a:solidFill>
                <a:latin typeface="Montserrat Bold"/>
                <a:ea typeface="Montserrat Bold"/>
                <a:cs typeface="Montserrat Bold"/>
                <a:sym typeface="Montserrat Bold"/>
              </a:rPr>
              <a:t>deletion</a:t>
            </a:r>
          </a:p>
        </p:txBody>
      </p:sp>
      <p:grpSp>
        <p:nvGrpSpPr>
          <p:cNvPr name="Group 54" id="54"/>
          <p:cNvGrpSpPr/>
          <p:nvPr/>
        </p:nvGrpSpPr>
        <p:grpSpPr>
          <a:xfrm rot="0">
            <a:off x="1072877" y="6406516"/>
            <a:ext cx="3143250" cy="2190750"/>
            <a:chOff x="0" y="0"/>
            <a:chExt cx="4191000" cy="2921000"/>
          </a:xfrm>
        </p:grpSpPr>
        <p:sp>
          <p:nvSpPr>
            <p:cNvPr name="Freeform 55" id="55"/>
            <p:cNvSpPr/>
            <p:nvPr/>
          </p:nvSpPr>
          <p:spPr>
            <a:xfrm flipH="false" flipV="false" rot="0">
              <a:off x="0" y="0"/>
              <a:ext cx="4191000" cy="2921000"/>
            </a:xfrm>
            <a:custGeom>
              <a:avLst/>
              <a:gdLst/>
              <a:ahLst/>
              <a:cxnLst/>
              <a:rect r="r" b="b" t="t" l="l"/>
              <a:pathLst>
                <a:path h="2921000" w="4191000">
                  <a:moveTo>
                    <a:pt x="177800" y="0"/>
                  </a:moveTo>
                  <a:lnTo>
                    <a:pt x="4013200" y="0"/>
                  </a:lnTo>
                  <a:cubicBezTo>
                    <a:pt x="4111396" y="0"/>
                    <a:pt x="4191000" y="79604"/>
                    <a:pt x="4191000" y="177800"/>
                  </a:cubicBezTo>
                  <a:lnTo>
                    <a:pt x="4191000" y="2743200"/>
                  </a:lnTo>
                  <a:cubicBezTo>
                    <a:pt x="4191000" y="2841396"/>
                    <a:pt x="4111396" y="2921000"/>
                    <a:pt x="4013200" y="2921000"/>
                  </a:cubicBezTo>
                  <a:lnTo>
                    <a:pt x="177800" y="2921000"/>
                  </a:lnTo>
                  <a:cubicBezTo>
                    <a:pt x="79604" y="2921000"/>
                    <a:pt x="0" y="2841396"/>
                    <a:pt x="0" y="2743200"/>
                  </a:cubicBezTo>
                  <a:lnTo>
                    <a:pt x="0" y="177800"/>
                  </a:lnTo>
                  <a:cubicBezTo>
                    <a:pt x="0" y="79604"/>
                    <a:pt x="79604" y="0"/>
                    <a:pt x="177800" y="0"/>
                  </a:cubicBezTo>
                  <a:close/>
                </a:path>
              </a:pathLst>
            </a:custGeom>
            <a:solidFill>
              <a:srgbClr val="EAF3FB"/>
            </a:solidFill>
            <a:ln w="19050" cap="sq">
              <a:solidFill>
                <a:srgbClr val="C6DBEF"/>
              </a:solidFill>
              <a:prstDash val="solid"/>
              <a:miter/>
            </a:ln>
          </p:spPr>
        </p:sp>
        <p:sp>
          <p:nvSpPr>
            <p:cNvPr name="TextBox 56" id="56"/>
            <p:cNvSpPr txBox="true"/>
            <p:nvPr/>
          </p:nvSpPr>
          <p:spPr>
            <a:xfrm>
              <a:off x="0" y="-38100"/>
              <a:ext cx="4191000" cy="2959100"/>
            </a:xfrm>
            <a:prstGeom prst="rect">
              <a:avLst/>
            </a:prstGeom>
          </p:spPr>
          <p:txBody>
            <a:bodyPr anchor="ctr" rtlCol="false" tIns="50800" lIns="50800" bIns="50800" rIns="50800"/>
            <a:lstStyle/>
            <a:p>
              <a:pPr algn="l">
                <a:lnSpc>
                  <a:spcPts val="1679"/>
                </a:lnSpc>
              </a:pPr>
            </a:p>
          </p:txBody>
        </p:sp>
      </p:grpSp>
      <p:grpSp>
        <p:nvGrpSpPr>
          <p:cNvPr name="Group 57" id="57"/>
          <p:cNvGrpSpPr/>
          <p:nvPr/>
        </p:nvGrpSpPr>
        <p:grpSpPr>
          <a:xfrm rot="0">
            <a:off x="1282427" y="6597016"/>
            <a:ext cx="514350" cy="514350"/>
            <a:chOff x="0" y="0"/>
            <a:chExt cx="685800" cy="685800"/>
          </a:xfrm>
        </p:grpSpPr>
        <p:sp>
          <p:nvSpPr>
            <p:cNvPr name="Freeform 58" id="58"/>
            <p:cNvSpPr/>
            <p:nvPr/>
          </p:nvSpPr>
          <p:spPr>
            <a:xfrm flipH="false" flipV="false" rot="0">
              <a:off x="0" y="0"/>
              <a:ext cx="685800" cy="685800"/>
            </a:xfrm>
            <a:custGeom>
              <a:avLst/>
              <a:gdLst/>
              <a:ahLst/>
              <a:cxnLst/>
              <a:rect r="r" b="b" t="t" l="l"/>
              <a:pathLst>
                <a:path h="685800" w="685800">
                  <a:moveTo>
                    <a:pt x="0" y="342900"/>
                  </a:moveTo>
                  <a:cubicBezTo>
                    <a:pt x="0" y="532278"/>
                    <a:pt x="153522" y="685800"/>
                    <a:pt x="342900" y="685800"/>
                  </a:cubicBezTo>
                  <a:cubicBezTo>
                    <a:pt x="532278" y="685800"/>
                    <a:pt x="685800" y="532278"/>
                    <a:pt x="685800" y="342900"/>
                  </a:cubicBezTo>
                  <a:cubicBezTo>
                    <a:pt x="685800" y="153522"/>
                    <a:pt x="532278" y="0"/>
                    <a:pt x="342900" y="0"/>
                  </a:cubicBezTo>
                  <a:cubicBezTo>
                    <a:pt x="153522" y="0"/>
                    <a:pt x="0" y="153522"/>
                    <a:pt x="0" y="342900"/>
                  </a:cubicBezTo>
                  <a:close/>
                </a:path>
              </a:pathLst>
            </a:custGeom>
            <a:solidFill>
              <a:srgbClr val="2A5A96"/>
            </a:solidFill>
          </p:spPr>
        </p:sp>
        <p:sp>
          <p:nvSpPr>
            <p:cNvPr name="TextBox 59" id="59"/>
            <p:cNvSpPr txBox="true"/>
            <p:nvPr/>
          </p:nvSpPr>
          <p:spPr>
            <a:xfrm>
              <a:off x="0" y="-38100"/>
              <a:ext cx="685800" cy="723900"/>
            </a:xfrm>
            <a:prstGeom prst="rect">
              <a:avLst/>
            </a:prstGeom>
          </p:spPr>
          <p:txBody>
            <a:bodyPr anchor="ctr" rtlCol="false" tIns="50800" lIns="50800" bIns="50800" rIns="50800"/>
            <a:lstStyle/>
            <a:p>
              <a:pPr algn="ctr">
                <a:lnSpc>
                  <a:spcPts val="2520"/>
                </a:lnSpc>
              </a:pPr>
              <a:r>
                <a:rPr lang="en-US" sz="1800" b="true">
                  <a:solidFill>
                    <a:srgbClr val="FFFFFF"/>
                  </a:solidFill>
                  <a:latin typeface="Montserrat Bold"/>
                  <a:ea typeface="Montserrat Bold"/>
                  <a:cs typeface="Montserrat Bold"/>
                  <a:sym typeface="Montserrat Bold"/>
                </a:rPr>
                <a:t>8</a:t>
              </a:r>
            </a:p>
          </p:txBody>
        </p:sp>
      </p:grpSp>
      <p:sp>
        <p:nvSpPr>
          <p:cNvPr name="TextBox 60" id="60"/>
          <p:cNvSpPr txBox="true"/>
          <p:nvPr/>
        </p:nvSpPr>
        <p:spPr>
          <a:xfrm rot="0">
            <a:off x="1320527" y="7349491"/>
            <a:ext cx="2647950" cy="557276"/>
          </a:xfrm>
          <a:prstGeom prst="rect">
            <a:avLst/>
          </a:prstGeom>
        </p:spPr>
        <p:txBody>
          <a:bodyPr anchor="t" rtlCol="false" tIns="0" lIns="0" bIns="0" rIns="0">
            <a:spAutoFit/>
          </a:bodyPr>
          <a:lstStyle/>
          <a:p>
            <a:pPr algn="ctr" marL="0" indent="0" lvl="0">
              <a:lnSpc>
                <a:spcPts val="2241"/>
              </a:lnSpc>
              <a:spcBef>
                <a:spcPct val="0"/>
              </a:spcBef>
            </a:pPr>
            <a:r>
              <a:rPr lang="en-US" b="true" sz="1899" strike="noStrike" u="none">
                <a:solidFill>
                  <a:srgbClr val="002557"/>
                </a:solidFill>
                <a:latin typeface="Montserrat Bold"/>
                <a:ea typeface="Montserrat Bold"/>
                <a:cs typeface="Montserrat Bold"/>
                <a:sym typeface="Montserrat Bold"/>
              </a:rPr>
              <a:t>Supervisor/Program</a:t>
            </a:r>
          </a:p>
          <a:p>
            <a:pPr algn="ctr" marL="0" indent="0" lvl="0">
              <a:lnSpc>
                <a:spcPts val="2241"/>
              </a:lnSpc>
              <a:spcBef>
                <a:spcPct val="0"/>
              </a:spcBef>
            </a:pPr>
            <a:r>
              <a:rPr lang="en-US" b="true" sz="1899" strike="noStrike" u="none">
                <a:solidFill>
                  <a:srgbClr val="002557"/>
                </a:solidFill>
                <a:latin typeface="Montserrat Bold"/>
                <a:ea typeface="Montserrat Bold"/>
                <a:cs typeface="Montserrat Bold"/>
                <a:sym typeface="Montserrat Bold"/>
              </a:rPr>
              <a:t>Review</a:t>
            </a:r>
          </a:p>
        </p:txBody>
      </p:sp>
      <p:sp>
        <p:nvSpPr>
          <p:cNvPr name="AutoShape 61" id="61"/>
          <p:cNvSpPr/>
          <p:nvPr/>
        </p:nvSpPr>
        <p:spPr>
          <a:xfrm>
            <a:off x="4330427" y="3739516"/>
            <a:ext cx="857250" cy="0"/>
          </a:xfrm>
          <a:prstGeom prst="line">
            <a:avLst/>
          </a:prstGeom>
          <a:ln cap="flat" w="47625">
            <a:solidFill>
              <a:srgbClr val="2A5A96"/>
            </a:solidFill>
            <a:prstDash val="solid"/>
            <a:headEnd type="none" len="sm" w="sm"/>
            <a:tailEnd type="arrow" len="sm" w="med"/>
          </a:ln>
        </p:spPr>
      </p:sp>
      <p:sp>
        <p:nvSpPr>
          <p:cNvPr name="AutoShape 62" id="62"/>
          <p:cNvSpPr/>
          <p:nvPr/>
        </p:nvSpPr>
        <p:spPr>
          <a:xfrm>
            <a:off x="8559527" y="3739516"/>
            <a:ext cx="857250" cy="0"/>
          </a:xfrm>
          <a:prstGeom prst="line">
            <a:avLst/>
          </a:prstGeom>
          <a:ln cap="flat" w="47625">
            <a:solidFill>
              <a:srgbClr val="2A5A96"/>
            </a:solidFill>
            <a:prstDash val="solid"/>
            <a:headEnd type="none" len="sm" w="sm"/>
            <a:tailEnd type="arrow" len="sm" w="med"/>
          </a:ln>
        </p:spPr>
      </p:sp>
      <p:sp>
        <p:nvSpPr>
          <p:cNvPr name="AutoShape 63" id="63"/>
          <p:cNvSpPr/>
          <p:nvPr/>
        </p:nvSpPr>
        <p:spPr>
          <a:xfrm>
            <a:off x="12788627" y="3739516"/>
            <a:ext cx="857250" cy="0"/>
          </a:xfrm>
          <a:prstGeom prst="line">
            <a:avLst/>
          </a:prstGeom>
          <a:ln cap="flat" w="47625">
            <a:solidFill>
              <a:srgbClr val="2A5A96"/>
            </a:solidFill>
            <a:prstDash val="solid"/>
            <a:headEnd type="none" len="sm" w="sm"/>
            <a:tailEnd type="arrow" len="sm" w="med"/>
          </a:ln>
        </p:spPr>
      </p:sp>
      <p:sp>
        <p:nvSpPr>
          <p:cNvPr name="AutoShape 64" id="64"/>
          <p:cNvSpPr/>
          <p:nvPr/>
        </p:nvSpPr>
        <p:spPr>
          <a:xfrm>
            <a:off x="15331802" y="4949191"/>
            <a:ext cx="0" cy="1343025"/>
          </a:xfrm>
          <a:prstGeom prst="line">
            <a:avLst/>
          </a:prstGeom>
          <a:ln cap="flat" w="47625">
            <a:solidFill>
              <a:srgbClr val="2A5A96"/>
            </a:solidFill>
            <a:prstDash val="solid"/>
            <a:headEnd type="none" len="sm" w="sm"/>
            <a:tailEnd type="arrow" len="sm" w="med"/>
          </a:ln>
        </p:spPr>
      </p:sp>
      <p:sp>
        <p:nvSpPr>
          <p:cNvPr name="AutoShape 65" id="65"/>
          <p:cNvSpPr/>
          <p:nvPr/>
        </p:nvSpPr>
        <p:spPr>
          <a:xfrm flipH="true">
            <a:off x="12788627" y="7501891"/>
            <a:ext cx="857250" cy="0"/>
          </a:xfrm>
          <a:prstGeom prst="line">
            <a:avLst/>
          </a:prstGeom>
          <a:ln cap="flat" w="47625">
            <a:solidFill>
              <a:srgbClr val="2A5A96"/>
            </a:solidFill>
            <a:prstDash val="solid"/>
            <a:headEnd type="none" len="sm" w="sm"/>
            <a:tailEnd type="arrow" len="sm" w="med"/>
          </a:ln>
        </p:spPr>
      </p:sp>
      <p:sp>
        <p:nvSpPr>
          <p:cNvPr name="AutoShape 66" id="66"/>
          <p:cNvSpPr/>
          <p:nvPr/>
        </p:nvSpPr>
        <p:spPr>
          <a:xfrm flipH="true">
            <a:off x="8559527" y="7501891"/>
            <a:ext cx="857250" cy="0"/>
          </a:xfrm>
          <a:prstGeom prst="line">
            <a:avLst/>
          </a:prstGeom>
          <a:ln cap="flat" w="47625">
            <a:solidFill>
              <a:srgbClr val="2A5A96"/>
            </a:solidFill>
            <a:prstDash val="solid"/>
            <a:headEnd type="none" len="sm" w="sm"/>
            <a:tailEnd type="arrow" len="sm" w="med"/>
          </a:ln>
        </p:spPr>
      </p:sp>
      <p:sp>
        <p:nvSpPr>
          <p:cNvPr name="AutoShape 67" id="67"/>
          <p:cNvSpPr/>
          <p:nvPr/>
        </p:nvSpPr>
        <p:spPr>
          <a:xfrm flipH="true">
            <a:off x="4330427" y="7501891"/>
            <a:ext cx="857250" cy="0"/>
          </a:xfrm>
          <a:prstGeom prst="line">
            <a:avLst/>
          </a:prstGeom>
          <a:ln cap="flat" w="47625">
            <a:solidFill>
              <a:srgbClr val="2A5A96"/>
            </a:solidFill>
            <a:prstDash val="solid"/>
            <a:headEnd type="none" len="sm" w="sm"/>
            <a:tailEnd type="arrow" len="sm" w="med"/>
          </a:ln>
        </p:spPr>
      </p:sp>
      <p:sp>
        <p:nvSpPr>
          <p:cNvPr name="AutoShape 68" id="68"/>
          <p:cNvSpPr/>
          <p:nvPr/>
        </p:nvSpPr>
        <p:spPr>
          <a:xfrm flipV="true">
            <a:off x="-117230" y="10287000"/>
            <a:ext cx="19376532" cy="12351"/>
          </a:xfrm>
          <a:prstGeom prst="line">
            <a:avLst/>
          </a:prstGeom>
          <a:ln cap="flat" w="85725">
            <a:solidFill>
              <a:srgbClr val="1E498A"/>
            </a:solidFill>
            <a:prstDash val="solid"/>
            <a:headEnd type="none" len="sm" w="sm"/>
            <a:tailEnd type="none" len="sm" w="sm"/>
          </a:ln>
        </p:spPr>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0" y="8997026"/>
            <a:ext cx="9800268" cy="218640"/>
          </a:xfrm>
          <a:custGeom>
            <a:avLst/>
            <a:gdLst/>
            <a:ahLst/>
            <a:cxnLst/>
            <a:rect r="r" b="b" t="t" l="l"/>
            <a:pathLst>
              <a:path h="218640" w="9800268">
                <a:moveTo>
                  <a:pt x="0" y="0"/>
                </a:moveTo>
                <a:lnTo>
                  <a:pt x="9800268" y="0"/>
                </a:lnTo>
                <a:lnTo>
                  <a:pt x="9800268" y="218639"/>
                </a:lnTo>
                <a:lnTo>
                  <a:pt x="0" y="218639"/>
                </a:lnTo>
                <a:lnTo>
                  <a:pt x="0" y="0"/>
                </a:lnTo>
                <a:close/>
              </a:path>
            </a:pathLst>
          </a:custGeom>
          <a:blipFill>
            <a:blip r:embed="rId3"/>
            <a:stretch>
              <a:fillRect l="0" t="0" r="0" b="0"/>
            </a:stretch>
          </a:blipFill>
        </p:spPr>
      </p:sp>
      <p:sp>
        <p:nvSpPr>
          <p:cNvPr name="Freeform 4" id="4"/>
          <p:cNvSpPr/>
          <p:nvPr/>
        </p:nvSpPr>
        <p:spPr>
          <a:xfrm flipH="false" flipV="false" rot="0">
            <a:off x="1028700" y="2726492"/>
            <a:ext cx="1104718" cy="1082267"/>
          </a:xfrm>
          <a:custGeom>
            <a:avLst/>
            <a:gdLst/>
            <a:ahLst/>
            <a:cxnLst/>
            <a:rect r="r" b="b" t="t" l="l"/>
            <a:pathLst>
              <a:path h="1082267" w="1104718">
                <a:moveTo>
                  <a:pt x="0" y="0"/>
                </a:moveTo>
                <a:lnTo>
                  <a:pt x="1104718" y="0"/>
                </a:lnTo>
                <a:lnTo>
                  <a:pt x="1104718" y="1082267"/>
                </a:lnTo>
                <a:lnTo>
                  <a:pt x="0" y="1082267"/>
                </a:lnTo>
                <a:lnTo>
                  <a:pt x="0" y="0"/>
                </a:lnTo>
                <a:close/>
              </a:path>
            </a:pathLst>
          </a:custGeom>
          <a:blipFill>
            <a:blip r:embed="rId4"/>
            <a:stretch>
              <a:fillRect l="0" t="0" r="0" b="0"/>
            </a:stretch>
          </a:blipFill>
        </p:spPr>
      </p:sp>
      <p:sp>
        <p:nvSpPr>
          <p:cNvPr name="Freeform 5" id="5"/>
          <p:cNvSpPr/>
          <p:nvPr/>
        </p:nvSpPr>
        <p:spPr>
          <a:xfrm flipH="false" flipV="false" rot="0">
            <a:off x="1028700" y="4669572"/>
            <a:ext cx="1104718" cy="1082267"/>
          </a:xfrm>
          <a:custGeom>
            <a:avLst/>
            <a:gdLst/>
            <a:ahLst/>
            <a:cxnLst/>
            <a:rect r="r" b="b" t="t" l="l"/>
            <a:pathLst>
              <a:path h="1082267" w="1104718">
                <a:moveTo>
                  <a:pt x="0" y="0"/>
                </a:moveTo>
                <a:lnTo>
                  <a:pt x="1104718" y="0"/>
                </a:lnTo>
                <a:lnTo>
                  <a:pt x="1104718" y="1082267"/>
                </a:lnTo>
                <a:lnTo>
                  <a:pt x="0" y="1082267"/>
                </a:lnTo>
                <a:lnTo>
                  <a:pt x="0" y="0"/>
                </a:lnTo>
                <a:close/>
              </a:path>
            </a:pathLst>
          </a:custGeom>
          <a:blipFill>
            <a:blip r:embed="rId5"/>
            <a:stretch>
              <a:fillRect l="0" t="0" r="0" b="0"/>
            </a:stretch>
          </a:blipFill>
        </p:spPr>
      </p:sp>
      <p:sp>
        <p:nvSpPr>
          <p:cNvPr name="Freeform 6" id="6"/>
          <p:cNvSpPr/>
          <p:nvPr/>
        </p:nvSpPr>
        <p:spPr>
          <a:xfrm flipH="false" flipV="false" rot="0">
            <a:off x="1028700" y="6574552"/>
            <a:ext cx="1104718" cy="1082267"/>
          </a:xfrm>
          <a:custGeom>
            <a:avLst/>
            <a:gdLst/>
            <a:ahLst/>
            <a:cxnLst/>
            <a:rect r="r" b="b" t="t" l="l"/>
            <a:pathLst>
              <a:path h="1082267" w="1104718">
                <a:moveTo>
                  <a:pt x="0" y="0"/>
                </a:moveTo>
                <a:lnTo>
                  <a:pt x="1104718" y="0"/>
                </a:lnTo>
                <a:lnTo>
                  <a:pt x="1104718" y="1082266"/>
                </a:lnTo>
                <a:lnTo>
                  <a:pt x="0" y="1082266"/>
                </a:lnTo>
                <a:lnTo>
                  <a:pt x="0" y="0"/>
                </a:lnTo>
                <a:close/>
              </a:path>
            </a:pathLst>
          </a:custGeom>
          <a:blipFill>
            <a:blip r:embed="rId6"/>
            <a:stretch>
              <a:fillRect l="0" t="0" r="0" b="0"/>
            </a:stretch>
          </a:blipFill>
        </p:spPr>
      </p:sp>
      <p:sp>
        <p:nvSpPr>
          <p:cNvPr name="AutoShape 7" id="7"/>
          <p:cNvSpPr/>
          <p:nvPr/>
        </p:nvSpPr>
        <p:spPr>
          <a:xfrm>
            <a:off x="-589653" y="1631459"/>
            <a:ext cx="8736354" cy="0"/>
          </a:xfrm>
          <a:prstGeom prst="line">
            <a:avLst/>
          </a:prstGeom>
          <a:ln cap="flat" w="47625">
            <a:solidFill>
              <a:srgbClr val="A28231"/>
            </a:solidFill>
            <a:prstDash val="solid"/>
            <a:headEnd type="none" len="sm" w="sm"/>
            <a:tailEnd type="none" len="sm" w="sm"/>
          </a:ln>
        </p:spPr>
      </p:sp>
      <p:grpSp>
        <p:nvGrpSpPr>
          <p:cNvPr name="Group 8" id="8"/>
          <p:cNvGrpSpPr/>
          <p:nvPr/>
        </p:nvGrpSpPr>
        <p:grpSpPr>
          <a:xfrm rot="0">
            <a:off x="16410880" y="8397522"/>
            <a:ext cx="1583819" cy="1606888"/>
            <a:chOff x="0" y="0"/>
            <a:chExt cx="511033" cy="518476"/>
          </a:xfrm>
        </p:grpSpPr>
        <p:sp>
          <p:nvSpPr>
            <p:cNvPr name="Freeform 9" id="9"/>
            <p:cNvSpPr/>
            <p:nvPr/>
          </p:nvSpPr>
          <p:spPr>
            <a:xfrm flipH="false" flipV="false" rot="0">
              <a:off x="0" y="0"/>
              <a:ext cx="511033" cy="518476"/>
            </a:xfrm>
            <a:custGeom>
              <a:avLst/>
              <a:gdLst/>
              <a:ahLst/>
              <a:cxnLst/>
              <a:rect r="r" b="b" t="t" l="l"/>
              <a:pathLst>
                <a:path h="518476" w="511033">
                  <a:moveTo>
                    <a:pt x="0" y="0"/>
                  </a:moveTo>
                  <a:lnTo>
                    <a:pt x="511033" y="0"/>
                  </a:lnTo>
                  <a:lnTo>
                    <a:pt x="511033" y="518476"/>
                  </a:lnTo>
                  <a:lnTo>
                    <a:pt x="0" y="518476"/>
                  </a:lnTo>
                  <a:close/>
                </a:path>
              </a:pathLst>
            </a:custGeom>
            <a:solidFill>
              <a:srgbClr val="17397F"/>
            </a:solidFill>
          </p:spPr>
        </p:sp>
        <p:sp>
          <p:nvSpPr>
            <p:cNvPr name="TextBox 10" id="10"/>
            <p:cNvSpPr txBox="true"/>
            <p:nvPr/>
          </p:nvSpPr>
          <p:spPr>
            <a:xfrm>
              <a:off x="0" y="-38100"/>
              <a:ext cx="511033" cy="556576"/>
            </a:xfrm>
            <a:prstGeom prst="rect">
              <a:avLst/>
            </a:prstGeom>
          </p:spPr>
          <p:txBody>
            <a:bodyPr anchor="ctr" rtlCol="false" tIns="50800" lIns="50800" bIns="50800" rIns="50800"/>
            <a:lstStyle/>
            <a:p>
              <a:pPr algn="ctr">
                <a:lnSpc>
                  <a:spcPts val="2520"/>
                </a:lnSpc>
              </a:pPr>
            </a:p>
          </p:txBody>
        </p:sp>
      </p:grpSp>
      <p:pic>
        <p:nvPicPr>
          <p:cNvPr name="Picture 11" id="11"/>
          <p:cNvPicPr>
            <a:picLocks noChangeAspect="true"/>
          </p:cNvPicPr>
          <p:nvPr/>
        </p:nvPicPr>
        <p:blipFill>
          <a:blip r:embed="rId7"/>
          <a:stretch>
            <a:fillRect/>
          </a:stretch>
        </p:blipFill>
        <p:spPr>
          <a:xfrm rot="0">
            <a:off x="16389838" y="8388015"/>
            <a:ext cx="1625902" cy="1625902"/>
          </a:xfrm>
          <a:prstGeom prst="rect">
            <a:avLst/>
          </a:prstGeom>
        </p:spPr>
      </p:pic>
      <p:sp>
        <p:nvSpPr>
          <p:cNvPr name="Freeform 12" id="12"/>
          <p:cNvSpPr/>
          <p:nvPr/>
        </p:nvSpPr>
        <p:spPr>
          <a:xfrm flipH="false" flipV="false" rot="0">
            <a:off x="8146701" y="3139262"/>
            <a:ext cx="9741446" cy="3750457"/>
          </a:xfrm>
          <a:custGeom>
            <a:avLst/>
            <a:gdLst/>
            <a:ahLst/>
            <a:cxnLst/>
            <a:rect r="r" b="b" t="t" l="l"/>
            <a:pathLst>
              <a:path h="3750457" w="9741446">
                <a:moveTo>
                  <a:pt x="0" y="0"/>
                </a:moveTo>
                <a:lnTo>
                  <a:pt x="9741446" y="0"/>
                </a:lnTo>
                <a:lnTo>
                  <a:pt x="9741446" y="3750457"/>
                </a:lnTo>
                <a:lnTo>
                  <a:pt x="0" y="3750457"/>
                </a:lnTo>
                <a:lnTo>
                  <a:pt x="0" y="0"/>
                </a:lnTo>
                <a:close/>
              </a:path>
            </a:pathLst>
          </a:custGeom>
          <a:blipFill>
            <a:blip r:embed="rId8"/>
            <a:stretch>
              <a:fillRect l="0" t="0" r="0" b="0"/>
            </a:stretch>
          </a:blipFill>
        </p:spPr>
      </p:sp>
      <p:sp>
        <p:nvSpPr>
          <p:cNvPr name="TextBox 13" id="13"/>
          <p:cNvSpPr txBox="true"/>
          <p:nvPr/>
        </p:nvSpPr>
        <p:spPr>
          <a:xfrm rot="0">
            <a:off x="2433026" y="2708320"/>
            <a:ext cx="5285232" cy="1431027"/>
          </a:xfrm>
          <a:prstGeom prst="rect">
            <a:avLst/>
          </a:prstGeom>
        </p:spPr>
        <p:txBody>
          <a:bodyPr anchor="t" rtlCol="false" tIns="0" lIns="0" bIns="0" rIns="0">
            <a:spAutoFit/>
          </a:bodyPr>
          <a:lstStyle/>
          <a:p>
            <a:pPr algn="l">
              <a:lnSpc>
                <a:spcPts val="3813"/>
              </a:lnSpc>
            </a:pPr>
            <a:r>
              <a:rPr lang="en-US" sz="2723" b="true">
                <a:solidFill>
                  <a:srgbClr val="002352"/>
                </a:solidFill>
                <a:latin typeface="Montserrat Medium"/>
                <a:ea typeface="Montserrat Medium"/>
                <a:cs typeface="Montserrat Medium"/>
                <a:sym typeface="Montserrat Medium"/>
              </a:rPr>
              <a:t>SMPD has a DFR program transparency page available to the public</a:t>
            </a:r>
          </a:p>
        </p:txBody>
      </p:sp>
      <p:sp>
        <p:nvSpPr>
          <p:cNvPr name="TextBox 14" id="14"/>
          <p:cNvSpPr txBox="true"/>
          <p:nvPr/>
        </p:nvSpPr>
        <p:spPr>
          <a:xfrm rot="0">
            <a:off x="2433026" y="4723048"/>
            <a:ext cx="5522976" cy="1431027"/>
          </a:xfrm>
          <a:prstGeom prst="rect">
            <a:avLst/>
          </a:prstGeom>
        </p:spPr>
        <p:txBody>
          <a:bodyPr anchor="t" rtlCol="false" tIns="0" lIns="0" bIns="0" rIns="0">
            <a:spAutoFit/>
          </a:bodyPr>
          <a:lstStyle/>
          <a:p>
            <a:pPr algn="l">
              <a:lnSpc>
                <a:spcPts val="3813"/>
              </a:lnSpc>
            </a:pPr>
            <a:r>
              <a:rPr lang="en-US" sz="2723" b="true">
                <a:solidFill>
                  <a:srgbClr val="002352"/>
                </a:solidFill>
                <a:latin typeface="Montserrat Medium"/>
                <a:ea typeface="Montserrat Medium"/>
                <a:cs typeface="Montserrat Medium"/>
                <a:sym typeface="Montserrat Medium"/>
              </a:rPr>
              <a:t>Flight logs and live flights are monitored weekly by the program manager</a:t>
            </a:r>
          </a:p>
        </p:txBody>
      </p:sp>
      <p:sp>
        <p:nvSpPr>
          <p:cNvPr name="TextBox 15" id="15"/>
          <p:cNvSpPr txBox="true"/>
          <p:nvPr/>
        </p:nvSpPr>
        <p:spPr>
          <a:xfrm rot="0">
            <a:off x="2387306" y="6852604"/>
            <a:ext cx="5376672" cy="469013"/>
          </a:xfrm>
          <a:prstGeom prst="rect">
            <a:avLst/>
          </a:prstGeom>
        </p:spPr>
        <p:txBody>
          <a:bodyPr anchor="t" rtlCol="false" tIns="0" lIns="0" bIns="0" rIns="0">
            <a:spAutoFit/>
          </a:bodyPr>
          <a:lstStyle/>
          <a:p>
            <a:pPr algn="l">
              <a:lnSpc>
                <a:spcPts val="3813"/>
              </a:lnSpc>
            </a:pPr>
            <a:r>
              <a:rPr lang="en-US" sz="2723" b="true">
                <a:solidFill>
                  <a:srgbClr val="002352"/>
                </a:solidFill>
                <a:latin typeface="Montserrat Medium"/>
                <a:ea typeface="Montserrat Medium"/>
                <a:cs typeface="Montserrat Medium"/>
                <a:sym typeface="Montserrat Medium"/>
              </a:rPr>
              <a:t>DFR Policy is published online</a:t>
            </a:r>
          </a:p>
        </p:txBody>
      </p:sp>
      <p:sp>
        <p:nvSpPr>
          <p:cNvPr name="TextBox 16" id="16"/>
          <p:cNvSpPr txBox="true"/>
          <p:nvPr/>
        </p:nvSpPr>
        <p:spPr>
          <a:xfrm rot="0">
            <a:off x="1063712" y="869459"/>
            <a:ext cx="8115300" cy="762000"/>
          </a:xfrm>
          <a:prstGeom prst="rect">
            <a:avLst/>
          </a:prstGeom>
        </p:spPr>
        <p:txBody>
          <a:bodyPr anchor="t" rtlCol="false" tIns="0" lIns="0" bIns="0" rIns="0">
            <a:spAutoFit/>
          </a:bodyPr>
          <a:lstStyle/>
          <a:p>
            <a:pPr algn="l" marL="0" indent="0" lvl="0">
              <a:lnSpc>
                <a:spcPts val="6299"/>
              </a:lnSpc>
              <a:spcBef>
                <a:spcPct val="0"/>
              </a:spcBef>
            </a:pPr>
            <a:r>
              <a:rPr lang="en-US" b="true" sz="4500" strike="noStrike" u="none">
                <a:solidFill>
                  <a:srgbClr val="002557"/>
                </a:solidFill>
                <a:latin typeface="Montserrat Bold"/>
                <a:ea typeface="Montserrat Bold"/>
                <a:cs typeface="Montserrat Bold"/>
                <a:sym typeface="Montserrat Bold"/>
              </a:rPr>
              <a:t>Transparency</a:t>
            </a:r>
          </a:p>
        </p:txBody>
      </p:sp>
    </p:spTree>
  </p:cSld>
  <p:clrMapOvr>
    <a:masterClrMapping/>
  </p:clrMapOvr>
</p:sld>
</file>

<file path=ppt/slides/slide4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3116" y="904239"/>
            <a:ext cx="16377914" cy="1054227"/>
          </a:xfrm>
          <a:prstGeom prst="rect">
            <a:avLst/>
          </a:prstGeom>
        </p:spPr>
        <p:txBody>
          <a:bodyPr anchor="t" rtlCol="false" tIns="0" lIns="0" bIns="0" rIns="0">
            <a:spAutoFit/>
          </a:bodyPr>
          <a:lstStyle/>
          <a:p>
            <a:pPr algn="l" marL="0" indent="0" lvl="0">
              <a:lnSpc>
                <a:spcPts val="5357"/>
              </a:lnSpc>
            </a:pPr>
            <a:r>
              <a:rPr lang="en-US" b="true" sz="4699">
                <a:solidFill>
                  <a:srgbClr val="002557"/>
                </a:solidFill>
                <a:latin typeface="Montserrat Bold"/>
                <a:ea typeface="Montserrat Bold"/>
                <a:cs typeface="Montserrat Bold"/>
                <a:sym typeface="Montserrat Bold"/>
              </a:rPr>
              <a:t>What We Do</a:t>
            </a:r>
          </a:p>
          <a:p>
            <a:pPr algn="l" marL="0" indent="0" lvl="0">
              <a:lnSpc>
                <a:spcPts val="3359"/>
              </a:lnSpc>
              <a:spcBef>
                <a:spcPct val="0"/>
              </a:spcBef>
            </a:pPr>
          </a:p>
        </p:txBody>
      </p:sp>
      <p:grpSp>
        <p:nvGrpSpPr>
          <p:cNvPr name="Group 3" id="3"/>
          <p:cNvGrpSpPr/>
          <p:nvPr/>
        </p:nvGrpSpPr>
        <p:grpSpPr>
          <a:xfrm rot="0">
            <a:off x="899459" y="2095500"/>
            <a:ext cx="114133" cy="1238250"/>
            <a:chOff x="0" y="0"/>
            <a:chExt cx="133448" cy="1447800"/>
          </a:xfrm>
        </p:grpSpPr>
        <p:sp>
          <p:nvSpPr>
            <p:cNvPr name="Freeform 4" id="4"/>
            <p:cNvSpPr/>
            <p:nvPr/>
          </p:nvSpPr>
          <p:spPr>
            <a:xfrm flipH="false" flipV="false" rot="0">
              <a:off x="0" y="0"/>
              <a:ext cx="133448" cy="1447800"/>
            </a:xfrm>
            <a:custGeom>
              <a:avLst/>
              <a:gdLst/>
              <a:ahLst/>
              <a:cxnLst/>
              <a:rect r="r" b="b" t="t" l="l"/>
              <a:pathLst>
                <a:path h="1447800" w="133448">
                  <a:moveTo>
                    <a:pt x="0" y="0"/>
                  </a:moveTo>
                  <a:lnTo>
                    <a:pt x="133448" y="0"/>
                  </a:lnTo>
                  <a:lnTo>
                    <a:pt x="133448" y="1447800"/>
                  </a:lnTo>
                  <a:lnTo>
                    <a:pt x="0" y="1447800"/>
                  </a:lnTo>
                  <a:close/>
                </a:path>
              </a:pathLst>
            </a:custGeom>
            <a:solidFill>
              <a:srgbClr val="A28231"/>
            </a:solidFill>
          </p:spPr>
        </p:sp>
        <p:sp>
          <p:nvSpPr>
            <p:cNvPr name="TextBox 5" id="5"/>
            <p:cNvSpPr txBox="true"/>
            <p:nvPr/>
          </p:nvSpPr>
          <p:spPr>
            <a:xfrm>
              <a:off x="0" y="-38100"/>
              <a:ext cx="133448" cy="1485900"/>
            </a:xfrm>
            <a:prstGeom prst="rect">
              <a:avLst/>
            </a:prstGeom>
          </p:spPr>
          <p:txBody>
            <a:bodyPr anchor="ctr" rtlCol="false" tIns="50800" lIns="50800" bIns="50800" rIns="50800"/>
            <a:lstStyle/>
            <a:p>
              <a:pPr algn="l">
                <a:lnSpc>
                  <a:spcPts val="1679"/>
                </a:lnSpc>
              </a:pPr>
            </a:p>
          </p:txBody>
        </p:sp>
      </p:grpSp>
      <p:sp>
        <p:nvSpPr>
          <p:cNvPr name="AutoShape 6" id="6"/>
          <p:cNvSpPr/>
          <p:nvPr/>
        </p:nvSpPr>
        <p:spPr>
          <a:xfrm>
            <a:off x="956525" y="1662113"/>
            <a:ext cx="7181826" cy="0"/>
          </a:xfrm>
          <a:prstGeom prst="line">
            <a:avLst/>
          </a:prstGeom>
          <a:ln cap="flat" w="47625">
            <a:solidFill>
              <a:srgbClr val="A28231"/>
            </a:solidFill>
            <a:prstDash val="solid"/>
            <a:headEnd type="none" len="sm" w="sm"/>
            <a:tailEnd type="none" len="sm" w="sm"/>
          </a:ln>
        </p:spPr>
      </p:sp>
      <p:sp>
        <p:nvSpPr>
          <p:cNvPr name="TextBox 7" id="7"/>
          <p:cNvSpPr txBox="true"/>
          <p:nvPr/>
        </p:nvSpPr>
        <p:spPr>
          <a:xfrm rot="0">
            <a:off x="1239085" y="3552349"/>
            <a:ext cx="15195333" cy="314325"/>
          </a:xfrm>
          <a:prstGeom prst="rect">
            <a:avLst/>
          </a:prstGeom>
        </p:spPr>
        <p:txBody>
          <a:bodyPr anchor="t" rtlCol="false" tIns="0" lIns="0" bIns="0" rIns="0">
            <a:spAutoFit/>
          </a:bodyPr>
          <a:lstStyle/>
          <a:p>
            <a:pPr algn="l" marL="453390" indent="-226695" lvl="1">
              <a:lnSpc>
                <a:spcPts val="2520"/>
              </a:lnSpc>
              <a:buFont typeface="Arial"/>
              <a:buChar char="•"/>
            </a:pPr>
            <a:r>
              <a:rPr lang="en-US" sz="2100">
                <a:solidFill>
                  <a:srgbClr val="1D1D1F"/>
                </a:solidFill>
                <a:latin typeface="Montserrat"/>
                <a:ea typeface="Montserrat"/>
                <a:cs typeface="Montserrat"/>
                <a:sym typeface="Montserrat"/>
              </a:rPr>
              <a:t>Respond to calls for service</a:t>
            </a:r>
          </a:p>
        </p:txBody>
      </p:sp>
      <p:sp>
        <p:nvSpPr>
          <p:cNvPr name="TextBox 8" id="8"/>
          <p:cNvSpPr txBox="true"/>
          <p:nvPr/>
        </p:nvSpPr>
        <p:spPr>
          <a:xfrm rot="0">
            <a:off x="1239085" y="4026853"/>
            <a:ext cx="15195333" cy="314325"/>
          </a:xfrm>
          <a:prstGeom prst="rect">
            <a:avLst/>
          </a:prstGeom>
        </p:spPr>
        <p:txBody>
          <a:bodyPr anchor="t" rtlCol="false" tIns="0" lIns="0" bIns="0" rIns="0">
            <a:spAutoFit/>
          </a:bodyPr>
          <a:lstStyle/>
          <a:p>
            <a:pPr algn="l" marL="453390" indent="-226695" lvl="1">
              <a:lnSpc>
                <a:spcPts val="2520"/>
              </a:lnSpc>
              <a:buFont typeface="Arial"/>
              <a:buChar char="•"/>
            </a:pPr>
            <a:r>
              <a:rPr lang="en-US" sz="2100">
                <a:solidFill>
                  <a:srgbClr val="1D1D1F"/>
                </a:solidFill>
                <a:latin typeface="Montserrat"/>
                <a:ea typeface="Montserrat"/>
                <a:cs typeface="Montserrat"/>
                <a:sym typeface="Montserrat"/>
              </a:rPr>
              <a:t>Assist with the apprehension of criminal offenders</a:t>
            </a:r>
          </a:p>
        </p:txBody>
      </p:sp>
      <p:sp>
        <p:nvSpPr>
          <p:cNvPr name="TextBox 9" id="9"/>
          <p:cNvSpPr txBox="true"/>
          <p:nvPr/>
        </p:nvSpPr>
        <p:spPr>
          <a:xfrm rot="0">
            <a:off x="1239085" y="4598353"/>
            <a:ext cx="14875197" cy="314325"/>
          </a:xfrm>
          <a:prstGeom prst="rect">
            <a:avLst/>
          </a:prstGeom>
        </p:spPr>
        <p:txBody>
          <a:bodyPr anchor="t" rtlCol="false" tIns="0" lIns="0" bIns="0" rIns="0">
            <a:spAutoFit/>
          </a:bodyPr>
          <a:lstStyle/>
          <a:p>
            <a:pPr algn="l" marL="453390" indent="-226695" lvl="1">
              <a:lnSpc>
                <a:spcPts val="2520"/>
              </a:lnSpc>
              <a:buFont typeface="Arial"/>
              <a:buChar char="•"/>
            </a:pPr>
            <a:r>
              <a:rPr lang="en-US" sz="2100">
                <a:solidFill>
                  <a:srgbClr val="1D1D1F"/>
                </a:solidFill>
                <a:latin typeface="Montserrat"/>
                <a:ea typeface="Montserrat"/>
                <a:cs typeface="Montserrat"/>
                <a:sym typeface="Montserrat"/>
              </a:rPr>
              <a:t>To protect life, limb, and property</a:t>
            </a:r>
          </a:p>
        </p:txBody>
      </p:sp>
      <p:sp>
        <p:nvSpPr>
          <p:cNvPr name="TextBox 10" id="10"/>
          <p:cNvSpPr txBox="true"/>
          <p:nvPr/>
        </p:nvSpPr>
        <p:spPr>
          <a:xfrm rot="0">
            <a:off x="1194566" y="5624926"/>
            <a:ext cx="15195333" cy="314325"/>
          </a:xfrm>
          <a:prstGeom prst="rect">
            <a:avLst/>
          </a:prstGeom>
        </p:spPr>
        <p:txBody>
          <a:bodyPr anchor="t" rtlCol="false" tIns="0" lIns="0" bIns="0" rIns="0">
            <a:spAutoFit/>
          </a:bodyPr>
          <a:lstStyle/>
          <a:p>
            <a:pPr algn="l" marL="453390" indent="-226695" lvl="1">
              <a:lnSpc>
                <a:spcPts val="2520"/>
              </a:lnSpc>
              <a:buFont typeface="Arial"/>
              <a:buChar char="•"/>
            </a:pPr>
            <a:r>
              <a:rPr lang="en-US" sz="2100">
                <a:solidFill>
                  <a:srgbClr val="1D1D1F"/>
                </a:solidFill>
                <a:latin typeface="Montserrat"/>
                <a:ea typeface="Montserrat"/>
                <a:cs typeface="Montserrat"/>
                <a:sym typeface="Montserrat"/>
              </a:rPr>
              <a:t>Crime scene reconstruction / Mapping</a:t>
            </a:r>
          </a:p>
        </p:txBody>
      </p:sp>
      <p:sp>
        <p:nvSpPr>
          <p:cNvPr name="TextBox 11" id="11"/>
          <p:cNvSpPr txBox="true"/>
          <p:nvPr/>
        </p:nvSpPr>
        <p:spPr>
          <a:xfrm rot="0">
            <a:off x="1194566" y="7110826"/>
            <a:ext cx="15195333" cy="628650"/>
          </a:xfrm>
          <a:prstGeom prst="rect">
            <a:avLst/>
          </a:prstGeom>
        </p:spPr>
        <p:txBody>
          <a:bodyPr anchor="t" rtlCol="false" tIns="0" lIns="0" bIns="0" rIns="0">
            <a:spAutoFit/>
          </a:bodyPr>
          <a:lstStyle/>
          <a:p>
            <a:pPr algn="l" marL="453390" indent="-226695" lvl="1">
              <a:lnSpc>
                <a:spcPts val="2520"/>
              </a:lnSpc>
              <a:buFont typeface="Arial"/>
              <a:buChar char="•"/>
            </a:pPr>
            <a:r>
              <a:rPr lang="en-US" sz="2100">
                <a:solidFill>
                  <a:srgbClr val="1D1D1F"/>
                </a:solidFill>
                <a:latin typeface="Montserrat"/>
                <a:ea typeface="Montserrat"/>
                <a:cs typeface="Montserrat"/>
                <a:sym typeface="Montserrat"/>
              </a:rPr>
              <a:t>UAS program readiness activities including, but not limited to, training, certification, evaluation, and maintenance.</a:t>
            </a:r>
          </a:p>
        </p:txBody>
      </p:sp>
      <p:sp>
        <p:nvSpPr>
          <p:cNvPr name="TextBox 12" id="12"/>
          <p:cNvSpPr txBox="true"/>
          <p:nvPr/>
        </p:nvSpPr>
        <p:spPr>
          <a:xfrm rot="0">
            <a:off x="1194566" y="2047875"/>
            <a:ext cx="10332720" cy="480060"/>
          </a:xfrm>
          <a:prstGeom prst="rect">
            <a:avLst/>
          </a:prstGeom>
        </p:spPr>
        <p:txBody>
          <a:bodyPr anchor="t" rtlCol="false" tIns="0" lIns="0" bIns="0" rIns="0">
            <a:spAutoFit/>
          </a:bodyPr>
          <a:lstStyle/>
          <a:p>
            <a:pPr algn="l">
              <a:lnSpc>
                <a:spcPts val="3990"/>
              </a:lnSpc>
            </a:pPr>
            <a:r>
              <a:rPr lang="en-US" b="true" sz="2850">
                <a:solidFill>
                  <a:srgbClr val="003D06"/>
                </a:solidFill>
                <a:latin typeface="Montserrat Bold"/>
                <a:ea typeface="Montserrat Bold"/>
                <a:cs typeface="Montserrat Bold"/>
                <a:sym typeface="Montserrat Bold"/>
              </a:rPr>
              <a:t>AUTHORIZED USES PER OUR POLICY</a:t>
            </a:r>
          </a:p>
        </p:txBody>
      </p:sp>
      <p:sp>
        <p:nvSpPr>
          <p:cNvPr name="TextBox 13" id="13"/>
          <p:cNvSpPr txBox="true"/>
          <p:nvPr/>
        </p:nvSpPr>
        <p:spPr>
          <a:xfrm rot="0">
            <a:off x="1194566" y="2724150"/>
            <a:ext cx="15104038" cy="624459"/>
          </a:xfrm>
          <a:prstGeom prst="rect">
            <a:avLst/>
          </a:prstGeom>
        </p:spPr>
        <p:txBody>
          <a:bodyPr anchor="t" rtlCol="false" tIns="0" lIns="0" bIns="0" rIns="0">
            <a:spAutoFit/>
          </a:bodyPr>
          <a:lstStyle/>
          <a:p>
            <a:pPr algn="l">
              <a:lnSpc>
                <a:spcPts val="2477"/>
              </a:lnSpc>
            </a:pPr>
            <a:r>
              <a:rPr lang="en-US" sz="2100">
                <a:solidFill>
                  <a:srgbClr val="1D1D1F"/>
                </a:solidFill>
                <a:latin typeface="Montserrat"/>
                <a:ea typeface="Montserrat"/>
                <a:cs typeface="Montserrat"/>
                <a:sym typeface="Montserrat"/>
              </a:rPr>
              <a:t>Only authorized operators who have completed the required training shall be permitted to operate the sUAS for the following purposes:</a:t>
            </a:r>
          </a:p>
        </p:txBody>
      </p:sp>
      <p:sp>
        <p:nvSpPr>
          <p:cNvPr name="TextBox 14" id="14"/>
          <p:cNvSpPr txBox="true"/>
          <p:nvPr/>
        </p:nvSpPr>
        <p:spPr>
          <a:xfrm rot="0">
            <a:off x="1239085" y="5093653"/>
            <a:ext cx="14306568" cy="304800"/>
          </a:xfrm>
          <a:prstGeom prst="rect">
            <a:avLst/>
          </a:prstGeom>
        </p:spPr>
        <p:txBody>
          <a:bodyPr anchor="t" rtlCol="false" tIns="0" lIns="0" bIns="0" rIns="0">
            <a:spAutoFit/>
          </a:bodyPr>
          <a:lstStyle/>
          <a:p>
            <a:pPr algn="l" marL="436059" indent="-218030" lvl="1">
              <a:lnSpc>
                <a:spcPts val="2423"/>
              </a:lnSpc>
              <a:buFont typeface="Arial"/>
              <a:buChar char="•"/>
            </a:pPr>
            <a:r>
              <a:rPr lang="en-US" sz="2019">
                <a:solidFill>
                  <a:srgbClr val="1D1D1F"/>
                </a:solidFill>
                <a:latin typeface="Montserrat"/>
                <a:ea typeface="Montserrat"/>
                <a:cs typeface="Montserrat"/>
                <a:sym typeface="Montserrat"/>
              </a:rPr>
              <a:t>Search and rescue / Disaster response </a:t>
            </a:r>
          </a:p>
        </p:txBody>
      </p:sp>
      <p:sp>
        <p:nvSpPr>
          <p:cNvPr name="TextBox 15" id="15"/>
          <p:cNvSpPr txBox="true"/>
          <p:nvPr/>
        </p:nvSpPr>
        <p:spPr>
          <a:xfrm rot="0">
            <a:off x="1194566" y="7872826"/>
            <a:ext cx="14875197" cy="314325"/>
          </a:xfrm>
          <a:prstGeom prst="rect">
            <a:avLst/>
          </a:prstGeom>
        </p:spPr>
        <p:txBody>
          <a:bodyPr anchor="t" rtlCol="false" tIns="0" lIns="0" bIns="0" rIns="0">
            <a:spAutoFit/>
          </a:bodyPr>
          <a:lstStyle/>
          <a:p>
            <a:pPr algn="l" marL="453390" indent="-226695" lvl="1">
              <a:lnSpc>
                <a:spcPts val="2520"/>
              </a:lnSpc>
              <a:buFont typeface="Arial"/>
              <a:buChar char="•"/>
            </a:pPr>
            <a:r>
              <a:rPr lang="en-US" sz="2100">
                <a:solidFill>
                  <a:srgbClr val="1D1D1F"/>
                </a:solidFill>
                <a:latin typeface="Montserrat"/>
                <a:ea typeface="Montserrat"/>
                <a:cs typeface="Montserrat"/>
                <a:sym typeface="Montserrat"/>
              </a:rPr>
              <a:t>Acts of terrorism / Mass casualty incidents</a:t>
            </a:r>
          </a:p>
        </p:txBody>
      </p:sp>
      <p:sp>
        <p:nvSpPr>
          <p:cNvPr name="TextBox 16" id="16"/>
          <p:cNvSpPr txBox="true"/>
          <p:nvPr/>
        </p:nvSpPr>
        <p:spPr>
          <a:xfrm rot="0">
            <a:off x="1194566" y="6615526"/>
            <a:ext cx="15195333" cy="314325"/>
          </a:xfrm>
          <a:prstGeom prst="rect">
            <a:avLst/>
          </a:prstGeom>
        </p:spPr>
        <p:txBody>
          <a:bodyPr anchor="t" rtlCol="false" tIns="0" lIns="0" bIns="0" rIns="0">
            <a:spAutoFit/>
          </a:bodyPr>
          <a:lstStyle/>
          <a:p>
            <a:pPr algn="l" marL="453390" indent="-226695" lvl="1">
              <a:lnSpc>
                <a:spcPts val="2520"/>
              </a:lnSpc>
              <a:buFont typeface="Arial"/>
              <a:buChar char="•"/>
            </a:pPr>
            <a:r>
              <a:rPr lang="en-US" sz="2100">
                <a:solidFill>
                  <a:srgbClr val="1D1D1F"/>
                </a:solidFill>
                <a:latin typeface="Montserrat"/>
                <a:ea typeface="Montserrat"/>
                <a:cs typeface="Montserrat"/>
                <a:sym typeface="Montserrat"/>
              </a:rPr>
              <a:t>For infrastructure inspections emergency management and disaster response, or surveying and mapping.</a:t>
            </a:r>
          </a:p>
        </p:txBody>
      </p:sp>
      <p:sp>
        <p:nvSpPr>
          <p:cNvPr name="TextBox 17" id="17"/>
          <p:cNvSpPr txBox="true"/>
          <p:nvPr/>
        </p:nvSpPr>
        <p:spPr>
          <a:xfrm rot="0">
            <a:off x="1194566" y="6120226"/>
            <a:ext cx="15195333" cy="314325"/>
          </a:xfrm>
          <a:prstGeom prst="rect">
            <a:avLst/>
          </a:prstGeom>
        </p:spPr>
        <p:txBody>
          <a:bodyPr anchor="t" rtlCol="false" tIns="0" lIns="0" bIns="0" rIns="0">
            <a:spAutoFit/>
          </a:bodyPr>
          <a:lstStyle/>
          <a:p>
            <a:pPr algn="l" marL="453390" indent="-226695" lvl="1">
              <a:lnSpc>
                <a:spcPts val="2520"/>
              </a:lnSpc>
              <a:buFont typeface="Arial"/>
              <a:buChar char="•"/>
            </a:pPr>
            <a:r>
              <a:rPr lang="en-US" sz="2100">
                <a:solidFill>
                  <a:srgbClr val="1D1D1F"/>
                </a:solidFill>
                <a:latin typeface="Montserrat"/>
                <a:ea typeface="Montserrat"/>
                <a:cs typeface="Montserrat"/>
                <a:sym typeface="Montserrat"/>
              </a:rPr>
              <a:t>Individuals in physical or mental distress</a:t>
            </a:r>
          </a:p>
        </p:txBody>
      </p:sp>
      <p:sp>
        <p:nvSpPr>
          <p:cNvPr name="AutoShape 18" id="18"/>
          <p:cNvSpPr/>
          <p:nvPr/>
        </p:nvSpPr>
        <p:spPr>
          <a:xfrm flipV="true">
            <a:off x="-117230" y="10287000"/>
            <a:ext cx="19376532" cy="12351"/>
          </a:xfrm>
          <a:prstGeom prst="line">
            <a:avLst/>
          </a:prstGeom>
          <a:ln cap="flat" w="85725">
            <a:solidFill>
              <a:srgbClr val="1E498A"/>
            </a:solidFill>
            <a:prstDash val="solid"/>
            <a:headEnd type="none" len="sm" w="sm"/>
            <a:tailEnd type="none" len="sm" w="sm"/>
          </a:ln>
        </p:spPr>
      </p:sp>
    </p:spTree>
  </p:cSld>
  <p:clrMapOvr>
    <a:masterClrMapping/>
  </p:clrMapOvr>
</p:sld>
</file>

<file path=ppt/slides/slide4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3116" y="904239"/>
            <a:ext cx="16377914" cy="1054227"/>
          </a:xfrm>
          <a:prstGeom prst="rect">
            <a:avLst/>
          </a:prstGeom>
        </p:spPr>
        <p:txBody>
          <a:bodyPr anchor="t" rtlCol="false" tIns="0" lIns="0" bIns="0" rIns="0">
            <a:spAutoFit/>
          </a:bodyPr>
          <a:lstStyle/>
          <a:p>
            <a:pPr algn="l" marL="0" indent="0" lvl="0">
              <a:lnSpc>
                <a:spcPts val="5357"/>
              </a:lnSpc>
            </a:pPr>
            <a:r>
              <a:rPr lang="en-US" b="true" sz="4699">
                <a:solidFill>
                  <a:srgbClr val="002557"/>
                </a:solidFill>
                <a:latin typeface="Montserrat Bold"/>
                <a:ea typeface="Montserrat Bold"/>
                <a:cs typeface="Montserrat Bold"/>
                <a:sym typeface="Montserrat Bold"/>
              </a:rPr>
              <a:t>What We Don’t Do</a:t>
            </a:r>
          </a:p>
          <a:p>
            <a:pPr algn="l" marL="0" indent="0" lvl="0">
              <a:lnSpc>
                <a:spcPts val="3359"/>
              </a:lnSpc>
              <a:spcBef>
                <a:spcPct val="0"/>
              </a:spcBef>
            </a:pPr>
          </a:p>
        </p:txBody>
      </p:sp>
      <p:grpSp>
        <p:nvGrpSpPr>
          <p:cNvPr name="Group 3" id="3"/>
          <p:cNvGrpSpPr/>
          <p:nvPr/>
        </p:nvGrpSpPr>
        <p:grpSpPr>
          <a:xfrm rot="0">
            <a:off x="899459" y="2095500"/>
            <a:ext cx="114133" cy="1238250"/>
            <a:chOff x="0" y="0"/>
            <a:chExt cx="133448" cy="1447800"/>
          </a:xfrm>
        </p:grpSpPr>
        <p:sp>
          <p:nvSpPr>
            <p:cNvPr name="Freeform 4" id="4"/>
            <p:cNvSpPr/>
            <p:nvPr/>
          </p:nvSpPr>
          <p:spPr>
            <a:xfrm flipH="false" flipV="false" rot="0">
              <a:off x="0" y="0"/>
              <a:ext cx="133448" cy="1447800"/>
            </a:xfrm>
            <a:custGeom>
              <a:avLst/>
              <a:gdLst/>
              <a:ahLst/>
              <a:cxnLst/>
              <a:rect r="r" b="b" t="t" l="l"/>
              <a:pathLst>
                <a:path h="1447800" w="133448">
                  <a:moveTo>
                    <a:pt x="0" y="0"/>
                  </a:moveTo>
                  <a:lnTo>
                    <a:pt x="133448" y="0"/>
                  </a:lnTo>
                  <a:lnTo>
                    <a:pt x="133448" y="1447800"/>
                  </a:lnTo>
                  <a:lnTo>
                    <a:pt x="0" y="1447800"/>
                  </a:lnTo>
                  <a:close/>
                </a:path>
              </a:pathLst>
            </a:custGeom>
            <a:solidFill>
              <a:srgbClr val="A28231"/>
            </a:solidFill>
          </p:spPr>
        </p:sp>
        <p:sp>
          <p:nvSpPr>
            <p:cNvPr name="TextBox 5" id="5"/>
            <p:cNvSpPr txBox="true"/>
            <p:nvPr/>
          </p:nvSpPr>
          <p:spPr>
            <a:xfrm>
              <a:off x="0" y="-38100"/>
              <a:ext cx="133448" cy="1485900"/>
            </a:xfrm>
            <a:prstGeom prst="rect">
              <a:avLst/>
            </a:prstGeom>
          </p:spPr>
          <p:txBody>
            <a:bodyPr anchor="ctr" rtlCol="false" tIns="50800" lIns="50800" bIns="50800" rIns="50800"/>
            <a:lstStyle/>
            <a:p>
              <a:pPr algn="l">
                <a:lnSpc>
                  <a:spcPts val="1679"/>
                </a:lnSpc>
              </a:pPr>
            </a:p>
          </p:txBody>
        </p:sp>
      </p:grpSp>
      <p:sp>
        <p:nvSpPr>
          <p:cNvPr name="AutoShape 6" id="6"/>
          <p:cNvSpPr/>
          <p:nvPr/>
        </p:nvSpPr>
        <p:spPr>
          <a:xfrm>
            <a:off x="956525" y="1662113"/>
            <a:ext cx="7181826" cy="0"/>
          </a:xfrm>
          <a:prstGeom prst="line">
            <a:avLst/>
          </a:prstGeom>
          <a:ln cap="flat" w="47625">
            <a:solidFill>
              <a:srgbClr val="A28231"/>
            </a:solidFill>
            <a:prstDash val="solid"/>
            <a:headEnd type="none" len="sm" w="sm"/>
            <a:tailEnd type="none" len="sm" w="sm"/>
          </a:ln>
        </p:spPr>
      </p:sp>
      <p:sp>
        <p:nvSpPr>
          <p:cNvPr name="TextBox 7" id="7"/>
          <p:cNvSpPr txBox="true"/>
          <p:nvPr/>
        </p:nvSpPr>
        <p:spPr>
          <a:xfrm rot="0">
            <a:off x="1194566" y="2047875"/>
            <a:ext cx="10332720" cy="480060"/>
          </a:xfrm>
          <a:prstGeom prst="rect">
            <a:avLst/>
          </a:prstGeom>
        </p:spPr>
        <p:txBody>
          <a:bodyPr anchor="t" rtlCol="false" tIns="0" lIns="0" bIns="0" rIns="0">
            <a:spAutoFit/>
          </a:bodyPr>
          <a:lstStyle/>
          <a:p>
            <a:pPr algn="l">
              <a:lnSpc>
                <a:spcPts val="3990"/>
              </a:lnSpc>
            </a:pPr>
            <a:r>
              <a:rPr lang="en-US" sz="2850" b="true">
                <a:solidFill>
                  <a:srgbClr val="700C0C"/>
                </a:solidFill>
                <a:latin typeface="Montserrat Bold"/>
                <a:ea typeface="Montserrat Bold"/>
                <a:cs typeface="Montserrat Bold"/>
                <a:sym typeface="Montserrat Bold"/>
              </a:rPr>
              <a:t>UNAUTHORIZED USES PER OUR POLICY</a:t>
            </a:r>
          </a:p>
        </p:txBody>
      </p:sp>
      <p:sp>
        <p:nvSpPr>
          <p:cNvPr name="TextBox 8" id="8"/>
          <p:cNvSpPr txBox="true"/>
          <p:nvPr/>
        </p:nvSpPr>
        <p:spPr>
          <a:xfrm rot="0">
            <a:off x="1189927" y="2433920"/>
            <a:ext cx="11211559" cy="4206113"/>
          </a:xfrm>
          <a:prstGeom prst="rect">
            <a:avLst/>
          </a:prstGeom>
        </p:spPr>
        <p:txBody>
          <a:bodyPr anchor="t" rtlCol="false" tIns="0" lIns="0" bIns="0" rIns="0">
            <a:spAutoFit/>
          </a:bodyPr>
          <a:lstStyle/>
          <a:p>
            <a:pPr algn="l">
              <a:lnSpc>
                <a:spcPts val="2595"/>
              </a:lnSpc>
            </a:pPr>
          </a:p>
          <a:p>
            <a:pPr algn="l" marL="474979" indent="-237490" lvl="1">
              <a:lnSpc>
                <a:spcPts val="2595"/>
              </a:lnSpc>
              <a:buFont typeface="Arial"/>
              <a:buChar char="•"/>
            </a:pPr>
            <a:r>
              <a:rPr lang="en-US" sz="2199">
                <a:solidFill>
                  <a:srgbClr val="1D1D1F"/>
                </a:solidFill>
                <a:latin typeface="Montserrat"/>
                <a:ea typeface="Montserrat"/>
                <a:cs typeface="Montserrat"/>
                <a:sym typeface="Montserrat"/>
              </a:rPr>
              <a:t>To conduct random surveillance activities.</a:t>
            </a:r>
          </a:p>
          <a:p>
            <a:pPr algn="l">
              <a:lnSpc>
                <a:spcPts val="2595"/>
              </a:lnSpc>
            </a:pPr>
            <a:r>
              <a:rPr lang="en-US" sz="2199">
                <a:solidFill>
                  <a:srgbClr val="1D1D1F"/>
                </a:solidFill>
                <a:latin typeface="Montserrat"/>
                <a:ea typeface="Montserrat"/>
                <a:cs typeface="Montserrat"/>
                <a:sym typeface="Montserrat"/>
              </a:rPr>
              <a:t>​</a:t>
            </a:r>
          </a:p>
          <a:p>
            <a:pPr algn="l" marL="474979" indent="-237490" lvl="1">
              <a:lnSpc>
                <a:spcPts val="2595"/>
              </a:lnSpc>
              <a:buFont typeface="Arial"/>
              <a:buChar char="•"/>
            </a:pPr>
            <a:r>
              <a:rPr lang="en-US" sz="2199">
                <a:solidFill>
                  <a:srgbClr val="1D1D1F"/>
                </a:solidFill>
                <a:latin typeface="Montserrat"/>
                <a:ea typeface="Montserrat"/>
                <a:cs typeface="Montserrat"/>
                <a:sym typeface="Montserrat"/>
              </a:rPr>
              <a:t>To target a person based solely on actual or perceived characteristics, such as race, ethnicity, national origin, religion, sex, sexual orientation, gender identity or expression, economic status, age, cultural group, or disability. </a:t>
            </a:r>
          </a:p>
          <a:p>
            <a:pPr algn="l">
              <a:lnSpc>
                <a:spcPts val="2595"/>
              </a:lnSpc>
            </a:pPr>
            <a:r>
              <a:rPr lang="en-US" sz="2199">
                <a:solidFill>
                  <a:srgbClr val="1D1D1F"/>
                </a:solidFill>
                <a:latin typeface="Montserrat"/>
                <a:ea typeface="Montserrat"/>
                <a:cs typeface="Montserrat"/>
                <a:sym typeface="Montserrat"/>
              </a:rPr>
              <a:t>​</a:t>
            </a:r>
          </a:p>
          <a:p>
            <a:pPr algn="l" marL="474979" indent="-237490" lvl="1">
              <a:lnSpc>
                <a:spcPts val="2595"/>
              </a:lnSpc>
              <a:buFont typeface="Arial"/>
              <a:buChar char="•"/>
            </a:pPr>
            <a:r>
              <a:rPr lang="en-US" sz="2199">
                <a:solidFill>
                  <a:srgbClr val="1D1D1F"/>
                </a:solidFill>
                <a:latin typeface="Montserrat"/>
                <a:ea typeface="Montserrat"/>
                <a:cs typeface="Montserrat"/>
                <a:sym typeface="Montserrat"/>
              </a:rPr>
              <a:t>To harass, intimidate, or discriminate against any individual or group.</a:t>
            </a:r>
          </a:p>
          <a:p>
            <a:pPr algn="l">
              <a:lnSpc>
                <a:spcPts val="2595"/>
              </a:lnSpc>
            </a:pPr>
            <a:r>
              <a:rPr lang="en-US" sz="2199">
                <a:solidFill>
                  <a:srgbClr val="1D1D1F"/>
                </a:solidFill>
                <a:latin typeface="Montserrat"/>
                <a:ea typeface="Montserrat"/>
                <a:cs typeface="Montserrat"/>
                <a:sym typeface="Montserrat"/>
              </a:rPr>
              <a:t>​</a:t>
            </a:r>
          </a:p>
          <a:p>
            <a:pPr algn="l" marL="474979" indent="-237490" lvl="1">
              <a:lnSpc>
                <a:spcPts val="2595"/>
              </a:lnSpc>
              <a:buFont typeface="Arial"/>
              <a:buChar char="•"/>
            </a:pPr>
            <a:r>
              <a:rPr lang="en-US" sz="2199">
                <a:solidFill>
                  <a:srgbClr val="1D1D1F"/>
                </a:solidFill>
                <a:latin typeface="Montserrat"/>
                <a:ea typeface="Montserrat"/>
                <a:cs typeface="Montserrat"/>
                <a:sym typeface="Montserrat"/>
              </a:rPr>
              <a:t>To conduct any business other than official Department business.​</a:t>
            </a:r>
          </a:p>
          <a:p>
            <a:pPr algn="l">
              <a:lnSpc>
                <a:spcPts val="2595"/>
              </a:lnSpc>
            </a:pPr>
          </a:p>
          <a:p>
            <a:pPr algn="l" marL="474979" indent="-237490" lvl="1">
              <a:lnSpc>
                <a:spcPts val="2595"/>
              </a:lnSpc>
              <a:buFont typeface="Arial"/>
              <a:buChar char="•"/>
            </a:pPr>
            <a:r>
              <a:rPr lang="en-US" sz="2199">
                <a:solidFill>
                  <a:srgbClr val="1D1D1F"/>
                </a:solidFill>
                <a:latin typeface="Montserrat"/>
                <a:ea typeface="Montserrat"/>
                <a:cs typeface="Montserrat"/>
                <a:sym typeface="Montserrat"/>
              </a:rPr>
              <a:t>The UAS shall not be weaponized</a:t>
            </a:r>
          </a:p>
          <a:p>
            <a:pPr algn="l">
              <a:lnSpc>
                <a:spcPts val="2595"/>
              </a:lnSpc>
            </a:pPr>
          </a:p>
        </p:txBody>
      </p:sp>
      <p:sp>
        <p:nvSpPr>
          <p:cNvPr name="AutoShape 9" id="9"/>
          <p:cNvSpPr/>
          <p:nvPr/>
        </p:nvSpPr>
        <p:spPr>
          <a:xfrm flipV="true">
            <a:off x="-117230" y="10287000"/>
            <a:ext cx="19376532" cy="12351"/>
          </a:xfrm>
          <a:prstGeom prst="line">
            <a:avLst/>
          </a:prstGeom>
          <a:ln cap="flat" w="85725">
            <a:solidFill>
              <a:srgbClr val="1E498A"/>
            </a:solidFill>
            <a:prstDash val="solid"/>
            <a:headEnd type="none" len="sm" w="sm"/>
            <a:tailEnd type="none" len="sm" w="sm"/>
          </a:ln>
        </p:spPr>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317350"/>
            <a:ext cx="8279914" cy="218640"/>
          </a:xfrm>
          <a:custGeom>
            <a:avLst/>
            <a:gdLst/>
            <a:ahLst/>
            <a:cxnLst/>
            <a:rect r="r" b="b" t="t" l="l"/>
            <a:pathLst>
              <a:path h="218640" w="8279914">
                <a:moveTo>
                  <a:pt x="0" y="0"/>
                </a:moveTo>
                <a:lnTo>
                  <a:pt x="8279914" y="0"/>
                </a:lnTo>
                <a:lnTo>
                  <a:pt x="8279914" y="218640"/>
                </a:lnTo>
                <a:lnTo>
                  <a:pt x="0" y="218640"/>
                </a:lnTo>
                <a:lnTo>
                  <a:pt x="0" y="0"/>
                </a:lnTo>
                <a:close/>
              </a:path>
            </a:pathLst>
          </a:custGeom>
          <a:blipFill>
            <a:blip r:embed="rId3"/>
            <a:stretch>
              <a:fillRect l="0" t="0" r="0" b="0"/>
            </a:stretch>
          </a:blipFill>
        </p:spPr>
      </p:sp>
      <p:sp>
        <p:nvSpPr>
          <p:cNvPr name="TextBox 3" id="3"/>
          <p:cNvSpPr txBox="true"/>
          <p:nvPr/>
        </p:nvSpPr>
        <p:spPr>
          <a:xfrm rot="0">
            <a:off x="2599372" y="2374431"/>
            <a:ext cx="5091415" cy="372745"/>
          </a:xfrm>
          <a:prstGeom prst="rect">
            <a:avLst/>
          </a:prstGeom>
        </p:spPr>
        <p:txBody>
          <a:bodyPr anchor="t" rtlCol="false" tIns="0" lIns="0" bIns="0" rIns="0">
            <a:spAutoFit/>
          </a:bodyPr>
          <a:lstStyle/>
          <a:p>
            <a:pPr algn="l" marL="0" indent="0" lvl="0">
              <a:lnSpc>
                <a:spcPts val="3079"/>
              </a:lnSpc>
              <a:spcBef>
                <a:spcPct val="0"/>
              </a:spcBef>
            </a:pPr>
            <a:r>
              <a:rPr lang="en-US" sz="2199" strike="noStrike" u="none">
                <a:solidFill>
                  <a:srgbClr val="00123B"/>
                </a:solidFill>
                <a:latin typeface="Montserrat"/>
                <a:ea typeface="Montserrat"/>
                <a:cs typeface="Montserrat"/>
                <a:sym typeface="Montserrat"/>
              </a:rPr>
              <a:t>There is no sharing network.</a:t>
            </a:r>
          </a:p>
        </p:txBody>
      </p:sp>
      <p:sp>
        <p:nvSpPr>
          <p:cNvPr name="Freeform 4" id="4"/>
          <p:cNvSpPr/>
          <p:nvPr/>
        </p:nvSpPr>
        <p:spPr>
          <a:xfrm flipH="false" flipV="false" rot="0">
            <a:off x="16336496" y="598136"/>
            <a:ext cx="1087418" cy="1326119"/>
          </a:xfrm>
          <a:custGeom>
            <a:avLst/>
            <a:gdLst/>
            <a:ahLst/>
            <a:cxnLst/>
            <a:rect r="r" b="b" t="t" l="l"/>
            <a:pathLst>
              <a:path h="1326119" w="1087418">
                <a:moveTo>
                  <a:pt x="0" y="0"/>
                </a:moveTo>
                <a:lnTo>
                  <a:pt x="1087418" y="0"/>
                </a:lnTo>
                <a:lnTo>
                  <a:pt x="1087418" y="1326118"/>
                </a:lnTo>
                <a:lnTo>
                  <a:pt x="0" y="13261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028700" y="710175"/>
            <a:ext cx="6364224" cy="797240"/>
          </a:xfrm>
          <a:prstGeom prst="rect">
            <a:avLst/>
          </a:prstGeom>
        </p:spPr>
        <p:txBody>
          <a:bodyPr anchor="t" rtlCol="false" tIns="0" lIns="0" bIns="0" rIns="0">
            <a:spAutoFit/>
          </a:bodyPr>
          <a:lstStyle/>
          <a:p>
            <a:pPr algn="l" marL="0" indent="0" lvl="0">
              <a:lnSpc>
                <a:spcPts val="6579"/>
              </a:lnSpc>
              <a:spcBef>
                <a:spcPct val="0"/>
              </a:spcBef>
            </a:pPr>
            <a:r>
              <a:rPr lang="en-US" b="true" sz="4699" strike="noStrike" u="none">
                <a:solidFill>
                  <a:srgbClr val="002557"/>
                </a:solidFill>
                <a:latin typeface="Montserrat Bold"/>
                <a:ea typeface="Montserrat Bold"/>
                <a:cs typeface="Montserrat Bold"/>
                <a:sym typeface="Montserrat Bold"/>
              </a:rPr>
              <a:t>Data Security</a:t>
            </a:r>
          </a:p>
        </p:txBody>
      </p:sp>
      <p:sp>
        <p:nvSpPr>
          <p:cNvPr name="TextBox 6" id="6"/>
          <p:cNvSpPr txBox="true"/>
          <p:nvPr/>
        </p:nvSpPr>
        <p:spPr>
          <a:xfrm rot="0">
            <a:off x="2599372" y="5929541"/>
            <a:ext cx="2596896" cy="430911"/>
          </a:xfrm>
          <a:prstGeom prst="rect">
            <a:avLst/>
          </a:prstGeom>
        </p:spPr>
        <p:txBody>
          <a:bodyPr anchor="t" rtlCol="false" tIns="0" lIns="0" bIns="0" rIns="0">
            <a:spAutoFit/>
          </a:bodyPr>
          <a:lstStyle/>
          <a:p>
            <a:pPr algn="l" marL="0" indent="0" lvl="0">
              <a:lnSpc>
                <a:spcPts val="3580"/>
              </a:lnSpc>
              <a:spcBef>
                <a:spcPct val="0"/>
              </a:spcBef>
            </a:pPr>
            <a:r>
              <a:rPr lang="en-US" b="true" sz="2557" strike="noStrike" u="none">
                <a:solidFill>
                  <a:srgbClr val="00123B"/>
                </a:solidFill>
                <a:latin typeface="Montserrat Bold"/>
                <a:ea typeface="Montserrat Bold"/>
                <a:cs typeface="Montserrat Bold"/>
                <a:sym typeface="Montserrat Bold"/>
              </a:rPr>
              <a:t>Vendor access</a:t>
            </a:r>
          </a:p>
        </p:txBody>
      </p:sp>
      <p:sp>
        <p:nvSpPr>
          <p:cNvPr name="TextBox 7" id="7"/>
          <p:cNvSpPr txBox="true"/>
          <p:nvPr/>
        </p:nvSpPr>
        <p:spPr>
          <a:xfrm rot="0">
            <a:off x="2599372" y="6377216"/>
            <a:ext cx="13152354" cy="372745"/>
          </a:xfrm>
          <a:prstGeom prst="rect">
            <a:avLst/>
          </a:prstGeom>
        </p:spPr>
        <p:txBody>
          <a:bodyPr anchor="t" rtlCol="false" tIns="0" lIns="0" bIns="0" rIns="0">
            <a:spAutoFit/>
          </a:bodyPr>
          <a:lstStyle/>
          <a:p>
            <a:pPr algn="l" marL="0" indent="0" lvl="0">
              <a:lnSpc>
                <a:spcPts val="3079"/>
              </a:lnSpc>
              <a:spcBef>
                <a:spcPct val="0"/>
              </a:spcBef>
            </a:pPr>
            <a:r>
              <a:rPr lang="en-US" sz="2199" strike="noStrike" u="none">
                <a:solidFill>
                  <a:srgbClr val="00123B"/>
                </a:solidFill>
                <a:latin typeface="Montserrat"/>
                <a:ea typeface="Montserrat"/>
                <a:cs typeface="Montserrat"/>
                <a:sym typeface="Montserrat"/>
              </a:rPr>
              <a:t>SMPD controls all access to its DFR data.</a:t>
            </a:r>
          </a:p>
        </p:txBody>
      </p:sp>
      <p:sp>
        <p:nvSpPr>
          <p:cNvPr name="TextBox 8" id="8"/>
          <p:cNvSpPr txBox="true"/>
          <p:nvPr/>
        </p:nvSpPr>
        <p:spPr>
          <a:xfrm rot="0">
            <a:off x="2599372" y="6977291"/>
            <a:ext cx="2779784" cy="430911"/>
          </a:xfrm>
          <a:prstGeom prst="rect">
            <a:avLst/>
          </a:prstGeom>
        </p:spPr>
        <p:txBody>
          <a:bodyPr anchor="t" rtlCol="false" tIns="0" lIns="0" bIns="0" rIns="0">
            <a:spAutoFit/>
          </a:bodyPr>
          <a:lstStyle/>
          <a:p>
            <a:pPr algn="l" marL="0" indent="0" lvl="0">
              <a:lnSpc>
                <a:spcPts val="3580"/>
              </a:lnSpc>
              <a:spcBef>
                <a:spcPct val="0"/>
              </a:spcBef>
            </a:pPr>
            <a:r>
              <a:rPr lang="en-US" b="true" sz="2557" strike="noStrike" u="none">
                <a:solidFill>
                  <a:srgbClr val="00123B"/>
                </a:solidFill>
                <a:latin typeface="Montserrat Bold"/>
                <a:ea typeface="Montserrat Bold"/>
                <a:cs typeface="Montserrat Bold"/>
                <a:sym typeface="Montserrat Bold"/>
              </a:rPr>
              <a:t>Data ownership</a:t>
            </a:r>
          </a:p>
        </p:txBody>
      </p:sp>
      <p:sp>
        <p:nvSpPr>
          <p:cNvPr name="TextBox 9" id="9"/>
          <p:cNvSpPr txBox="true"/>
          <p:nvPr/>
        </p:nvSpPr>
        <p:spPr>
          <a:xfrm rot="0">
            <a:off x="2599372" y="7424966"/>
            <a:ext cx="3817952" cy="372745"/>
          </a:xfrm>
          <a:prstGeom prst="rect">
            <a:avLst/>
          </a:prstGeom>
        </p:spPr>
        <p:txBody>
          <a:bodyPr anchor="t" rtlCol="false" tIns="0" lIns="0" bIns="0" rIns="0">
            <a:spAutoFit/>
          </a:bodyPr>
          <a:lstStyle/>
          <a:p>
            <a:pPr algn="l" marL="0" indent="0" lvl="0">
              <a:lnSpc>
                <a:spcPts val="3079"/>
              </a:lnSpc>
              <a:spcBef>
                <a:spcPct val="0"/>
              </a:spcBef>
            </a:pPr>
            <a:r>
              <a:rPr lang="en-US" sz="2199" strike="noStrike" u="none">
                <a:solidFill>
                  <a:srgbClr val="00123B"/>
                </a:solidFill>
                <a:latin typeface="Montserrat"/>
                <a:ea typeface="Montserrat"/>
                <a:cs typeface="Montserrat"/>
                <a:sym typeface="Montserrat"/>
              </a:rPr>
              <a:t>We own all drone data.</a:t>
            </a:r>
          </a:p>
        </p:txBody>
      </p:sp>
      <p:sp>
        <p:nvSpPr>
          <p:cNvPr name="TextBox 10" id="10"/>
          <p:cNvSpPr txBox="true"/>
          <p:nvPr/>
        </p:nvSpPr>
        <p:spPr>
          <a:xfrm rot="0">
            <a:off x="2599372" y="8025041"/>
            <a:ext cx="3035808" cy="430911"/>
          </a:xfrm>
          <a:prstGeom prst="rect">
            <a:avLst/>
          </a:prstGeom>
        </p:spPr>
        <p:txBody>
          <a:bodyPr anchor="t" rtlCol="false" tIns="0" lIns="0" bIns="0" rIns="0">
            <a:spAutoFit/>
          </a:bodyPr>
          <a:lstStyle/>
          <a:p>
            <a:pPr algn="l" marL="0" indent="0" lvl="0">
              <a:lnSpc>
                <a:spcPts val="3580"/>
              </a:lnSpc>
              <a:spcBef>
                <a:spcPct val="0"/>
              </a:spcBef>
            </a:pPr>
            <a:r>
              <a:rPr lang="en-US" b="true" sz="2557" strike="noStrike" u="none">
                <a:solidFill>
                  <a:srgbClr val="00123B"/>
                </a:solidFill>
                <a:latin typeface="Montserrat Bold"/>
                <a:ea typeface="Montserrat Bold"/>
                <a:cs typeface="Montserrat Bold"/>
                <a:sym typeface="Montserrat Bold"/>
              </a:rPr>
              <a:t>Evidence storage</a:t>
            </a:r>
          </a:p>
        </p:txBody>
      </p:sp>
      <p:sp>
        <p:nvSpPr>
          <p:cNvPr name="TextBox 11" id="11"/>
          <p:cNvSpPr txBox="true"/>
          <p:nvPr/>
        </p:nvSpPr>
        <p:spPr>
          <a:xfrm rot="0">
            <a:off x="2599372" y="8472716"/>
            <a:ext cx="14265021" cy="372745"/>
          </a:xfrm>
          <a:prstGeom prst="rect">
            <a:avLst/>
          </a:prstGeom>
        </p:spPr>
        <p:txBody>
          <a:bodyPr anchor="t" rtlCol="false" tIns="0" lIns="0" bIns="0" rIns="0">
            <a:spAutoFit/>
          </a:bodyPr>
          <a:lstStyle/>
          <a:p>
            <a:pPr algn="l" marL="0" indent="0" lvl="0">
              <a:lnSpc>
                <a:spcPts val="3079"/>
              </a:lnSpc>
              <a:spcBef>
                <a:spcPct val="0"/>
              </a:spcBef>
            </a:pPr>
            <a:r>
              <a:rPr lang="en-US" sz="2199" strike="noStrike" u="none">
                <a:solidFill>
                  <a:srgbClr val="00123B"/>
                </a:solidFill>
                <a:latin typeface="Montserrat"/>
                <a:ea typeface="Montserrat"/>
                <a:cs typeface="Montserrat"/>
                <a:sym typeface="Montserrat"/>
              </a:rPr>
              <a:t>All drone video is automatically uploaded to our secure CJIS compliant software.</a:t>
            </a:r>
          </a:p>
        </p:txBody>
      </p:sp>
      <p:sp>
        <p:nvSpPr>
          <p:cNvPr name="TextBox 12" id="12"/>
          <p:cNvSpPr txBox="true"/>
          <p:nvPr/>
        </p:nvSpPr>
        <p:spPr>
          <a:xfrm rot="0">
            <a:off x="2658428" y="4930453"/>
            <a:ext cx="10477500" cy="430339"/>
          </a:xfrm>
          <a:prstGeom prst="rect">
            <a:avLst/>
          </a:prstGeom>
        </p:spPr>
        <p:txBody>
          <a:bodyPr anchor="t" rtlCol="false" tIns="0" lIns="0" bIns="0" rIns="0">
            <a:spAutoFit/>
          </a:bodyPr>
          <a:lstStyle/>
          <a:p>
            <a:pPr algn="l" marL="0" indent="0" lvl="0">
              <a:lnSpc>
                <a:spcPts val="3580"/>
              </a:lnSpc>
              <a:spcBef>
                <a:spcPct val="0"/>
              </a:spcBef>
            </a:pPr>
            <a:r>
              <a:rPr lang="en-US" b="true" sz="2557" strike="noStrike" u="none">
                <a:solidFill>
                  <a:srgbClr val="00123B"/>
                </a:solidFill>
                <a:latin typeface="Montserrat Bold"/>
                <a:ea typeface="Montserrat Bold"/>
                <a:cs typeface="Montserrat Bold"/>
                <a:sym typeface="Montserrat Bold"/>
              </a:rPr>
              <a:t>Program manager notifications:</a:t>
            </a:r>
          </a:p>
        </p:txBody>
      </p:sp>
      <p:sp>
        <p:nvSpPr>
          <p:cNvPr name="TextBox 13" id="13"/>
          <p:cNvSpPr txBox="true"/>
          <p:nvPr/>
        </p:nvSpPr>
        <p:spPr>
          <a:xfrm rot="0">
            <a:off x="2658428" y="5378128"/>
            <a:ext cx="14287500" cy="372745"/>
          </a:xfrm>
          <a:prstGeom prst="rect">
            <a:avLst/>
          </a:prstGeom>
        </p:spPr>
        <p:txBody>
          <a:bodyPr anchor="t" rtlCol="false" tIns="0" lIns="0" bIns="0" rIns="0">
            <a:spAutoFit/>
          </a:bodyPr>
          <a:lstStyle/>
          <a:p>
            <a:pPr algn="l" marL="0" indent="0" lvl="0">
              <a:lnSpc>
                <a:spcPts val="3079"/>
              </a:lnSpc>
              <a:spcBef>
                <a:spcPct val="0"/>
              </a:spcBef>
            </a:pPr>
            <a:r>
              <a:rPr lang="en-US" sz="2199" strike="noStrike" u="none">
                <a:solidFill>
                  <a:srgbClr val="00123B"/>
                </a:solidFill>
                <a:latin typeface="Montserrat"/>
                <a:ea typeface="Montserrat"/>
                <a:cs typeface="Montserrat"/>
                <a:sym typeface="Montserrat"/>
              </a:rPr>
              <a:t>All drone flights are sent via notification to the program manager.</a:t>
            </a:r>
          </a:p>
        </p:txBody>
      </p:sp>
      <p:sp>
        <p:nvSpPr>
          <p:cNvPr name="TextBox 14" id="14"/>
          <p:cNvSpPr txBox="true"/>
          <p:nvPr/>
        </p:nvSpPr>
        <p:spPr>
          <a:xfrm rot="0">
            <a:off x="2599372" y="2928151"/>
            <a:ext cx="8572500" cy="430339"/>
          </a:xfrm>
          <a:prstGeom prst="rect">
            <a:avLst/>
          </a:prstGeom>
        </p:spPr>
        <p:txBody>
          <a:bodyPr anchor="t" rtlCol="false" tIns="0" lIns="0" bIns="0" rIns="0">
            <a:spAutoFit/>
          </a:bodyPr>
          <a:lstStyle/>
          <a:p>
            <a:pPr algn="l" marL="0" indent="0" lvl="0">
              <a:lnSpc>
                <a:spcPts val="3580"/>
              </a:lnSpc>
              <a:spcBef>
                <a:spcPct val="0"/>
              </a:spcBef>
            </a:pPr>
            <a:r>
              <a:rPr lang="en-US" b="true" sz="2557">
                <a:solidFill>
                  <a:srgbClr val="00123B"/>
                </a:solidFill>
                <a:latin typeface="Montserrat Bold"/>
                <a:ea typeface="Montserrat Bold"/>
                <a:cs typeface="Montserrat Bold"/>
                <a:sym typeface="Montserrat Bold"/>
              </a:rPr>
              <a:t>Authorized Users</a:t>
            </a:r>
          </a:p>
        </p:txBody>
      </p:sp>
      <p:sp>
        <p:nvSpPr>
          <p:cNvPr name="TextBox 15" id="15"/>
          <p:cNvSpPr txBox="true"/>
          <p:nvPr/>
        </p:nvSpPr>
        <p:spPr>
          <a:xfrm rot="0">
            <a:off x="2599372" y="3375826"/>
            <a:ext cx="14287500" cy="372745"/>
          </a:xfrm>
          <a:prstGeom prst="rect">
            <a:avLst/>
          </a:prstGeom>
        </p:spPr>
        <p:txBody>
          <a:bodyPr anchor="t" rtlCol="false" tIns="0" lIns="0" bIns="0" rIns="0">
            <a:spAutoFit/>
          </a:bodyPr>
          <a:lstStyle/>
          <a:p>
            <a:pPr algn="l" marL="0" indent="0" lvl="0">
              <a:lnSpc>
                <a:spcPts val="3079"/>
              </a:lnSpc>
              <a:spcBef>
                <a:spcPct val="0"/>
              </a:spcBef>
            </a:pPr>
            <a:r>
              <a:rPr lang="en-US" sz="2199">
                <a:solidFill>
                  <a:srgbClr val="00123B"/>
                </a:solidFill>
                <a:latin typeface="Montserrat"/>
                <a:ea typeface="Montserrat"/>
                <a:cs typeface="Montserrat"/>
                <a:sym typeface="Montserrat"/>
              </a:rPr>
              <a:t>Only authorized viewers can see the drone video.</a:t>
            </a:r>
          </a:p>
        </p:txBody>
      </p:sp>
      <p:sp>
        <p:nvSpPr>
          <p:cNvPr name="TextBox 16" id="16"/>
          <p:cNvSpPr txBox="true"/>
          <p:nvPr/>
        </p:nvSpPr>
        <p:spPr>
          <a:xfrm rot="0">
            <a:off x="2599372" y="1942377"/>
            <a:ext cx="4762500" cy="430339"/>
          </a:xfrm>
          <a:prstGeom prst="rect">
            <a:avLst/>
          </a:prstGeom>
        </p:spPr>
        <p:txBody>
          <a:bodyPr anchor="t" rtlCol="false" tIns="0" lIns="0" bIns="0" rIns="0">
            <a:spAutoFit/>
          </a:bodyPr>
          <a:lstStyle/>
          <a:p>
            <a:pPr algn="l">
              <a:lnSpc>
                <a:spcPts val="3580"/>
              </a:lnSpc>
            </a:pPr>
            <a:r>
              <a:rPr lang="en-US" sz="2557" b="true">
                <a:solidFill>
                  <a:srgbClr val="00123B"/>
                </a:solidFill>
                <a:latin typeface="Montserrat Bold"/>
                <a:ea typeface="Montserrat Bold"/>
                <a:cs typeface="Montserrat Bold"/>
                <a:sym typeface="Montserrat Bold"/>
              </a:rPr>
              <a:t>Network security</a:t>
            </a:r>
          </a:p>
        </p:txBody>
      </p:sp>
      <p:sp>
        <p:nvSpPr>
          <p:cNvPr name="TextBox 17" id="17"/>
          <p:cNvSpPr txBox="true"/>
          <p:nvPr/>
        </p:nvSpPr>
        <p:spPr>
          <a:xfrm rot="0">
            <a:off x="1342072" y="1982191"/>
            <a:ext cx="400050" cy="430339"/>
          </a:xfrm>
          <a:prstGeom prst="rect">
            <a:avLst/>
          </a:prstGeom>
        </p:spPr>
        <p:txBody>
          <a:bodyPr anchor="t" rtlCol="false" tIns="0" lIns="0" bIns="0" rIns="0">
            <a:spAutoFit/>
          </a:bodyPr>
          <a:lstStyle/>
          <a:p>
            <a:pPr algn="l">
              <a:lnSpc>
                <a:spcPts val="3580"/>
              </a:lnSpc>
            </a:pPr>
            <a:r>
              <a:rPr lang="en-US" sz="2557" b="true">
                <a:solidFill>
                  <a:srgbClr val="315B9F"/>
                </a:solidFill>
                <a:latin typeface="Montserrat Bold"/>
                <a:ea typeface="Montserrat Bold"/>
                <a:cs typeface="Montserrat Bold"/>
                <a:sym typeface="Montserrat Bold"/>
              </a:rPr>
              <a:t>1</a:t>
            </a:r>
          </a:p>
        </p:txBody>
      </p:sp>
      <p:sp>
        <p:nvSpPr>
          <p:cNvPr name="TextBox 18" id="18"/>
          <p:cNvSpPr txBox="true"/>
          <p:nvPr/>
        </p:nvSpPr>
        <p:spPr>
          <a:xfrm rot="0">
            <a:off x="1342072" y="2928151"/>
            <a:ext cx="400050" cy="430339"/>
          </a:xfrm>
          <a:prstGeom prst="rect">
            <a:avLst/>
          </a:prstGeom>
        </p:spPr>
        <p:txBody>
          <a:bodyPr anchor="t" rtlCol="false" tIns="0" lIns="0" bIns="0" rIns="0">
            <a:spAutoFit/>
          </a:bodyPr>
          <a:lstStyle/>
          <a:p>
            <a:pPr algn="l">
              <a:lnSpc>
                <a:spcPts val="3580"/>
              </a:lnSpc>
            </a:pPr>
            <a:r>
              <a:rPr lang="en-US" sz="2557" b="true">
                <a:solidFill>
                  <a:srgbClr val="315B9F"/>
                </a:solidFill>
                <a:latin typeface="Montserrat Bold"/>
                <a:ea typeface="Montserrat Bold"/>
                <a:cs typeface="Montserrat Bold"/>
                <a:sym typeface="Montserrat Bold"/>
              </a:rPr>
              <a:t>2</a:t>
            </a:r>
          </a:p>
        </p:txBody>
      </p:sp>
      <p:sp>
        <p:nvSpPr>
          <p:cNvPr name="TextBox 19" id="19"/>
          <p:cNvSpPr txBox="true"/>
          <p:nvPr/>
        </p:nvSpPr>
        <p:spPr>
          <a:xfrm rot="0">
            <a:off x="1342072" y="4930453"/>
            <a:ext cx="400050" cy="430339"/>
          </a:xfrm>
          <a:prstGeom prst="rect">
            <a:avLst/>
          </a:prstGeom>
        </p:spPr>
        <p:txBody>
          <a:bodyPr anchor="t" rtlCol="false" tIns="0" lIns="0" bIns="0" rIns="0">
            <a:spAutoFit/>
          </a:bodyPr>
          <a:lstStyle/>
          <a:p>
            <a:pPr algn="l">
              <a:lnSpc>
                <a:spcPts val="3580"/>
              </a:lnSpc>
            </a:pPr>
            <a:r>
              <a:rPr lang="en-US" sz="2557" b="true">
                <a:solidFill>
                  <a:srgbClr val="315B9F"/>
                </a:solidFill>
                <a:latin typeface="Montserrat Bold"/>
                <a:ea typeface="Montserrat Bold"/>
                <a:cs typeface="Montserrat Bold"/>
                <a:sym typeface="Montserrat Bold"/>
              </a:rPr>
              <a:t>4</a:t>
            </a:r>
          </a:p>
        </p:txBody>
      </p:sp>
      <p:sp>
        <p:nvSpPr>
          <p:cNvPr name="TextBox 20" id="20"/>
          <p:cNvSpPr txBox="true"/>
          <p:nvPr/>
        </p:nvSpPr>
        <p:spPr>
          <a:xfrm rot="0">
            <a:off x="1342072" y="5929541"/>
            <a:ext cx="400050" cy="430339"/>
          </a:xfrm>
          <a:prstGeom prst="rect">
            <a:avLst/>
          </a:prstGeom>
        </p:spPr>
        <p:txBody>
          <a:bodyPr anchor="t" rtlCol="false" tIns="0" lIns="0" bIns="0" rIns="0">
            <a:spAutoFit/>
          </a:bodyPr>
          <a:lstStyle/>
          <a:p>
            <a:pPr algn="l">
              <a:lnSpc>
                <a:spcPts val="3580"/>
              </a:lnSpc>
            </a:pPr>
            <a:r>
              <a:rPr lang="en-US" sz="2557" b="true">
                <a:solidFill>
                  <a:srgbClr val="315B9F"/>
                </a:solidFill>
                <a:latin typeface="Montserrat Bold"/>
                <a:ea typeface="Montserrat Bold"/>
                <a:cs typeface="Montserrat Bold"/>
                <a:sym typeface="Montserrat Bold"/>
              </a:rPr>
              <a:t>5</a:t>
            </a:r>
          </a:p>
        </p:txBody>
      </p:sp>
      <p:sp>
        <p:nvSpPr>
          <p:cNvPr name="TextBox 21" id="21"/>
          <p:cNvSpPr txBox="true"/>
          <p:nvPr/>
        </p:nvSpPr>
        <p:spPr>
          <a:xfrm rot="0">
            <a:off x="1342072" y="6977291"/>
            <a:ext cx="400050" cy="430339"/>
          </a:xfrm>
          <a:prstGeom prst="rect">
            <a:avLst/>
          </a:prstGeom>
        </p:spPr>
        <p:txBody>
          <a:bodyPr anchor="t" rtlCol="false" tIns="0" lIns="0" bIns="0" rIns="0">
            <a:spAutoFit/>
          </a:bodyPr>
          <a:lstStyle/>
          <a:p>
            <a:pPr algn="l">
              <a:lnSpc>
                <a:spcPts val="3580"/>
              </a:lnSpc>
            </a:pPr>
            <a:r>
              <a:rPr lang="en-US" sz="2557" b="true">
                <a:solidFill>
                  <a:srgbClr val="315B9F"/>
                </a:solidFill>
                <a:latin typeface="Montserrat Bold"/>
                <a:ea typeface="Montserrat Bold"/>
                <a:cs typeface="Montserrat Bold"/>
                <a:sym typeface="Montserrat Bold"/>
              </a:rPr>
              <a:t>6</a:t>
            </a:r>
          </a:p>
        </p:txBody>
      </p:sp>
      <p:sp>
        <p:nvSpPr>
          <p:cNvPr name="TextBox 22" id="22"/>
          <p:cNvSpPr txBox="true"/>
          <p:nvPr/>
        </p:nvSpPr>
        <p:spPr>
          <a:xfrm rot="0">
            <a:off x="1342072" y="8025041"/>
            <a:ext cx="400050" cy="430339"/>
          </a:xfrm>
          <a:prstGeom prst="rect">
            <a:avLst/>
          </a:prstGeom>
        </p:spPr>
        <p:txBody>
          <a:bodyPr anchor="t" rtlCol="false" tIns="0" lIns="0" bIns="0" rIns="0">
            <a:spAutoFit/>
          </a:bodyPr>
          <a:lstStyle/>
          <a:p>
            <a:pPr algn="l">
              <a:lnSpc>
                <a:spcPts val="3580"/>
              </a:lnSpc>
            </a:pPr>
            <a:r>
              <a:rPr lang="en-US" sz="2557" b="true">
                <a:solidFill>
                  <a:srgbClr val="315B9F"/>
                </a:solidFill>
                <a:latin typeface="Montserrat Bold"/>
                <a:ea typeface="Montserrat Bold"/>
                <a:cs typeface="Montserrat Bold"/>
                <a:sym typeface="Montserrat Bold"/>
              </a:rPr>
              <a:t>7</a:t>
            </a:r>
          </a:p>
        </p:txBody>
      </p:sp>
      <p:sp>
        <p:nvSpPr>
          <p:cNvPr name="TextBox 23" id="23"/>
          <p:cNvSpPr txBox="true"/>
          <p:nvPr/>
        </p:nvSpPr>
        <p:spPr>
          <a:xfrm rot="0">
            <a:off x="2599372" y="3931365"/>
            <a:ext cx="8572500" cy="430339"/>
          </a:xfrm>
          <a:prstGeom prst="rect">
            <a:avLst/>
          </a:prstGeom>
        </p:spPr>
        <p:txBody>
          <a:bodyPr anchor="t" rtlCol="false" tIns="0" lIns="0" bIns="0" rIns="0">
            <a:spAutoFit/>
          </a:bodyPr>
          <a:lstStyle/>
          <a:p>
            <a:pPr algn="l" marL="0" indent="0" lvl="0">
              <a:lnSpc>
                <a:spcPts val="3580"/>
              </a:lnSpc>
              <a:spcBef>
                <a:spcPct val="0"/>
              </a:spcBef>
            </a:pPr>
            <a:r>
              <a:rPr lang="en-US" b="true" sz="2557">
                <a:solidFill>
                  <a:srgbClr val="00123B"/>
                </a:solidFill>
                <a:latin typeface="Montserrat Bold"/>
                <a:ea typeface="Montserrat Bold"/>
                <a:cs typeface="Montserrat Bold"/>
                <a:sym typeface="Montserrat Bold"/>
              </a:rPr>
              <a:t>Secure link access:</a:t>
            </a:r>
          </a:p>
        </p:txBody>
      </p:sp>
      <p:sp>
        <p:nvSpPr>
          <p:cNvPr name="TextBox 24" id="24"/>
          <p:cNvSpPr txBox="true"/>
          <p:nvPr/>
        </p:nvSpPr>
        <p:spPr>
          <a:xfrm rot="0">
            <a:off x="2599372" y="4379040"/>
            <a:ext cx="14287500" cy="372745"/>
          </a:xfrm>
          <a:prstGeom prst="rect">
            <a:avLst/>
          </a:prstGeom>
        </p:spPr>
        <p:txBody>
          <a:bodyPr anchor="t" rtlCol="false" tIns="0" lIns="0" bIns="0" rIns="0">
            <a:spAutoFit/>
          </a:bodyPr>
          <a:lstStyle/>
          <a:p>
            <a:pPr algn="l" marL="0" indent="0" lvl="0">
              <a:lnSpc>
                <a:spcPts val="3079"/>
              </a:lnSpc>
              <a:spcBef>
                <a:spcPct val="0"/>
              </a:spcBef>
            </a:pPr>
            <a:r>
              <a:rPr lang="en-US" sz="2199">
                <a:solidFill>
                  <a:srgbClr val="00123B"/>
                </a:solidFill>
                <a:latin typeface="Montserrat"/>
                <a:ea typeface="Montserrat"/>
                <a:cs typeface="Montserrat"/>
                <a:sym typeface="Montserrat"/>
              </a:rPr>
              <a:t>Flight video is shared via a secure link to authorized viewers. </a:t>
            </a:r>
          </a:p>
        </p:txBody>
      </p:sp>
      <p:sp>
        <p:nvSpPr>
          <p:cNvPr name="TextBox 25" id="25"/>
          <p:cNvSpPr txBox="true"/>
          <p:nvPr/>
        </p:nvSpPr>
        <p:spPr>
          <a:xfrm rot="0">
            <a:off x="1342072" y="3931365"/>
            <a:ext cx="400050" cy="430339"/>
          </a:xfrm>
          <a:prstGeom prst="rect">
            <a:avLst/>
          </a:prstGeom>
        </p:spPr>
        <p:txBody>
          <a:bodyPr anchor="t" rtlCol="false" tIns="0" lIns="0" bIns="0" rIns="0">
            <a:spAutoFit/>
          </a:bodyPr>
          <a:lstStyle/>
          <a:p>
            <a:pPr algn="l">
              <a:lnSpc>
                <a:spcPts val="3580"/>
              </a:lnSpc>
            </a:pPr>
            <a:r>
              <a:rPr lang="en-US" sz="2557" b="true">
                <a:solidFill>
                  <a:srgbClr val="315B9F"/>
                </a:solidFill>
                <a:latin typeface="Montserrat Bold"/>
                <a:ea typeface="Montserrat Bold"/>
                <a:cs typeface="Montserrat Bold"/>
                <a:sym typeface="Montserrat Bold"/>
              </a:rPr>
              <a:t>3</a:t>
            </a:r>
          </a:p>
        </p:txBody>
      </p:sp>
      <p:sp>
        <p:nvSpPr>
          <p:cNvPr name="AutoShape 26" id="26"/>
          <p:cNvSpPr/>
          <p:nvPr/>
        </p:nvSpPr>
        <p:spPr>
          <a:xfrm flipV="true">
            <a:off x="-117230" y="10287000"/>
            <a:ext cx="19376532" cy="12351"/>
          </a:xfrm>
          <a:prstGeom prst="line">
            <a:avLst/>
          </a:prstGeom>
          <a:ln cap="flat" w="85725">
            <a:solidFill>
              <a:srgbClr val="1E498A"/>
            </a:solidFill>
            <a:prstDash val="solid"/>
            <a:headEnd type="none" len="sm" w="sm"/>
            <a:tailEnd type="none" len="sm" w="sm"/>
          </a:ln>
        </p:spPr>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471521" y="2594880"/>
            <a:ext cx="4529296" cy="6663420"/>
            <a:chOff x="0" y="0"/>
            <a:chExt cx="1192901" cy="1754975"/>
          </a:xfrm>
        </p:grpSpPr>
        <p:sp>
          <p:nvSpPr>
            <p:cNvPr name="Freeform 3" id="3"/>
            <p:cNvSpPr/>
            <p:nvPr/>
          </p:nvSpPr>
          <p:spPr>
            <a:xfrm flipH="false" flipV="false" rot="0">
              <a:off x="0" y="0"/>
              <a:ext cx="1192901" cy="1754975"/>
            </a:xfrm>
            <a:custGeom>
              <a:avLst/>
              <a:gdLst/>
              <a:ahLst/>
              <a:cxnLst/>
              <a:rect r="r" b="b" t="t" l="l"/>
              <a:pathLst>
                <a:path h="1754975" w="1192901">
                  <a:moveTo>
                    <a:pt x="0" y="0"/>
                  </a:moveTo>
                  <a:lnTo>
                    <a:pt x="1192901" y="0"/>
                  </a:lnTo>
                  <a:lnTo>
                    <a:pt x="1192901" y="1754975"/>
                  </a:lnTo>
                  <a:lnTo>
                    <a:pt x="0" y="1754975"/>
                  </a:lnTo>
                  <a:close/>
                </a:path>
              </a:pathLst>
            </a:custGeom>
            <a:solidFill>
              <a:srgbClr val="1E3A8A"/>
            </a:solidFill>
          </p:spPr>
        </p:sp>
        <p:sp>
          <p:nvSpPr>
            <p:cNvPr name="TextBox 4" id="4"/>
            <p:cNvSpPr txBox="true"/>
            <p:nvPr/>
          </p:nvSpPr>
          <p:spPr>
            <a:xfrm>
              <a:off x="0" y="-47625"/>
              <a:ext cx="1192901" cy="1802600"/>
            </a:xfrm>
            <a:prstGeom prst="rect">
              <a:avLst/>
            </a:prstGeom>
          </p:spPr>
          <p:txBody>
            <a:bodyPr anchor="ctr" rtlCol="false" tIns="50800" lIns="50800" bIns="50800" rIns="50800"/>
            <a:lstStyle/>
            <a:p>
              <a:pPr algn="ctr">
                <a:lnSpc>
                  <a:spcPts val="3499"/>
                </a:lnSpc>
              </a:pPr>
            </a:p>
          </p:txBody>
        </p:sp>
      </p:grpSp>
      <p:grpSp>
        <p:nvGrpSpPr>
          <p:cNvPr name="Group 5" id="5"/>
          <p:cNvGrpSpPr/>
          <p:nvPr/>
        </p:nvGrpSpPr>
        <p:grpSpPr>
          <a:xfrm rot="0">
            <a:off x="12270638" y="2418742"/>
            <a:ext cx="4514777" cy="6583250"/>
            <a:chOff x="0" y="0"/>
            <a:chExt cx="6019702" cy="8777666"/>
          </a:xfrm>
        </p:grpSpPr>
        <p:pic>
          <p:nvPicPr>
            <p:cNvPr name="Picture 6" id="6"/>
            <p:cNvPicPr>
              <a:picLocks noChangeAspect="true"/>
            </p:cNvPicPr>
            <p:nvPr/>
          </p:nvPicPr>
          <p:blipFill>
            <a:blip r:embed="rId3"/>
            <a:srcRect l="5176" t="0" r="5176" b="0"/>
            <a:stretch>
              <a:fillRect/>
            </a:stretch>
          </p:blipFill>
          <p:spPr>
            <a:xfrm flipH="false" flipV="false">
              <a:off x="0" y="0"/>
              <a:ext cx="6019702" cy="8777666"/>
            </a:xfrm>
            <a:prstGeom prst="rect">
              <a:avLst/>
            </a:prstGeom>
          </p:spPr>
        </p:pic>
      </p:grpSp>
      <p:sp>
        <p:nvSpPr>
          <p:cNvPr name="TextBox 7" id="7"/>
          <p:cNvSpPr txBox="true"/>
          <p:nvPr/>
        </p:nvSpPr>
        <p:spPr>
          <a:xfrm rot="0">
            <a:off x="1028700" y="2380642"/>
            <a:ext cx="10146980" cy="6127750"/>
          </a:xfrm>
          <a:prstGeom prst="rect">
            <a:avLst/>
          </a:prstGeom>
        </p:spPr>
        <p:txBody>
          <a:bodyPr anchor="t" rtlCol="false" tIns="0" lIns="0" bIns="0" rIns="0">
            <a:spAutoFit/>
          </a:bodyPr>
          <a:lstStyle/>
          <a:p>
            <a:pPr algn="l">
              <a:lnSpc>
                <a:spcPts val="3499"/>
              </a:lnSpc>
            </a:pPr>
            <a:r>
              <a:rPr lang="en-US" sz="2499">
                <a:solidFill>
                  <a:srgbClr val="000000"/>
                </a:solidFill>
                <a:latin typeface="Montserrat"/>
                <a:ea typeface="Montserrat"/>
                <a:cs typeface="Montserrat"/>
                <a:sym typeface="Montserrat"/>
              </a:rPr>
              <a:t>The RTIC helps first responders understand what is happening at an incident. DFR provides a live aerial view that RTIC personnel can use to relay relevant information to officers and other emergency responders.</a:t>
            </a:r>
          </a:p>
          <a:p>
            <a:pPr algn="l">
              <a:lnSpc>
                <a:spcPts val="1819"/>
              </a:lnSpc>
            </a:pPr>
          </a:p>
          <a:p>
            <a:pPr algn="l">
              <a:lnSpc>
                <a:spcPts val="3499"/>
              </a:lnSpc>
            </a:pPr>
            <a:r>
              <a:rPr lang="en-US" sz="2499">
                <a:solidFill>
                  <a:srgbClr val="000000"/>
                </a:solidFill>
                <a:latin typeface="Montserrat"/>
                <a:ea typeface="Montserrat"/>
                <a:cs typeface="Montserrat"/>
                <a:sym typeface="Montserrat"/>
              </a:rPr>
              <a:t>This can help responders locate someone who needs assistance, recognize hazards, and choose a safer approach before arriving, improving officer safety.</a:t>
            </a:r>
          </a:p>
          <a:p>
            <a:pPr algn="l">
              <a:lnSpc>
                <a:spcPts val="1819"/>
              </a:lnSpc>
            </a:pPr>
          </a:p>
          <a:p>
            <a:pPr algn="l" marL="0" indent="0" lvl="0">
              <a:lnSpc>
                <a:spcPts val="3499"/>
              </a:lnSpc>
              <a:spcBef>
                <a:spcPct val="0"/>
              </a:spcBef>
            </a:pPr>
            <a:r>
              <a:rPr lang="en-US" sz="2499">
                <a:solidFill>
                  <a:srgbClr val="000000"/>
                </a:solidFill>
                <a:latin typeface="Montserrat"/>
                <a:ea typeface="Montserrat"/>
                <a:cs typeface="Montserrat"/>
                <a:sym typeface="Montserrat"/>
              </a:rPr>
              <a:t>Using drone video within the RTIC does not expand the authorized purpose of the flight. The same mission limits, privacy protections, and restrictions on access and use continue to apply.</a:t>
            </a:r>
          </a:p>
          <a:p>
            <a:pPr algn="l" marL="0" indent="0" lvl="0">
              <a:lnSpc>
                <a:spcPts val="3499"/>
              </a:lnSpc>
              <a:spcBef>
                <a:spcPct val="0"/>
              </a:spcBef>
            </a:pPr>
          </a:p>
          <a:p>
            <a:pPr algn="l" marL="0" indent="0" lvl="0">
              <a:lnSpc>
                <a:spcPts val="3499"/>
              </a:lnSpc>
              <a:spcBef>
                <a:spcPct val="0"/>
              </a:spcBef>
            </a:pPr>
          </a:p>
        </p:txBody>
      </p:sp>
      <p:sp>
        <p:nvSpPr>
          <p:cNvPr name="TextBox 8" id="8"/>
          <p:cNvSpPr txBox="true"/>
          <p:nvPr/>
        </p:nvSpPr>
        <p:spPr>
          <a:xfrm rot="0">
            <a:off x="1028700" y="829373"/>
            <a:ext cx="17054762" cy="679450"/>
          </a:xfrm>
          <a:prstGeom prst="rect">
            <a:avLst/>
          </a:prstGeom>
        </p:spPr>
        <p:txBody>
          <a:bodyPr anchor="t" rtlCol="false" tIns="0" lIns="0" bIns="0" rIns="0">
            <a:spAutoFit/>
          </a:bodyPr>
          <a:lstStyle/>
          <a:p>
            <a:pPr algn="l" marL="0" indent="0" lvl="0">
              <a:lnSpc>
                <a:spcPts val="5599"/>
              </a:lnSpc>
              <a:spcBef>
                <a:spcPct val="0"/>
              </a:spcBef>
            </a:pPr>
            <a:r>
              <a:rPr lang="en-US" b="true" sz="3999">
                <a:solidFill>
                  <a:srgbClr val="002557"/>
                </a:solidFill>
                <a:latin typeface="Open Sauce Bold"/>
                <a:ea typeface="Open Sauce Bold"/>
                <a:cs typeface="Open Sauce Bold"/>
                <a:sym typeface="Open Sauce Bold"/>
              </a:rPr>
              <a:t>RTIC</a:t>
            </a:r>
            <a:r>
              <a:rPr lang="en-US" b="true" sz="3999" strike="noStrike" u="none">
                <a:solidFill>
                  <a:srgbClr val="002557"/>
                </a:solidFill>
                <a:latin typeface="Open Sauce Bold"/>
                <a:ea typeface="Open Sauce Bold"/>
                <a:cs typeface="Open Sauce Bold"/>
                <a:sym typeface="Open Sauce Bold"/>
              </a:rPr>
              <a:t> </a:t>
            </a:r>
            <a:r>
              <a:rPr lang="en-US" b="true" sz="3999" strike="noStrike" u="none">
                <a:solidFill>
                  <a:srgbClr val="002557"/>
                </a:solidFill>
                <a:latin typeface="Open Sauce Bold"/>
                <a:ea typeface="Open Sauce Bold"/>
                <a:cs typeface="Open Sauce Bold"/>
                <a:sym typeface="Open Sauce Bold"/>
              </a:rPr>
              <a:t>I</a:t>
            </a:r>
            <a:r>
              <a:rPr lang="en-US" b="true" sz="3999" strike="noStrike" u="none">
                <a:solidFill>
                  <a:srgbClr val="002557"/>
                </a:solidFill>
                <a:latin typeface="Open Sauce Bold"/>
                <a:ea typeface="Open Sauce Bold"/>
                <a:cs typeface="Open Sauce Bold"/>
                <a:sym typeface="Open Sauce Bold"/>
              </a:rPr>
              <a:t>nte</a:t>
            </a:r>
            <a:r>
              <a:rPr lang="en-US" b="true" sz="3999" strike="noStrike" u="none">
                <a:solidFill>
                  <a:srgbClr val="002557"/>
                </a:solidFill>
                <a:latin typeface="Open Sauce Bold"/>
                <a:ea typeface="Open Sauce Bold"/>
                <a:cs typeface="Open Sauce Bold"/>
                <a:sym typeface="Open Sauce Bold"/>
              </a:rPr>
              <a:t>g</a:t>
            </a:r>
            <a:r>
              <a:rPr lang="en-US" b="true" sz="3999" strike="noStrike" u="none">
                <a:solidFill>
                  <a:srgbClr val="002557"/>
                </a:solidFill>
                <a:latin typeface="Open Sauce Bold"/>
                <a:ea typeface="Open Sauce Bold"/>
                <a:cs typeface="Open Sauce Bold"/>
                <a:sym typeface="Open Sauce Bold"/>
              </a:rPr>
              <a:t>r</a:t>
            </a:r>
            <a:r>
              <a:rPr lang="en-US" b="true" sz="3999" strike="noStrike" u="none">
                <a:solidFill>
                  <a:srgbClr val="002557"/>
                </a:solidFill>
                <a:latin typeface="Open Sauce Bold"/>
                <a:ea typeface="Open Sauce Bold"/>
                <a:cs typeface="Open Sauce Bold"/>
                <a:sym typeface="Open Sauce Bold"/>
              </a:rPr>
              <a:t>ation</a:t>
            </a:r>
          </a:p>
        </p:txBody>
      </p:sp>
      <p:sp>
        <p:nvSpPr>
          <p:cNvPr name="AutoShape 9" id="9"/>
          <p:cNvSpPr/>
          <p:nvPr/>
        </p:nvSpPr>
        <p:spPr>
          <a:xfrm flipV="true">
            <a:off x="0" y="1567098"/>
            <a:ext cx="7378521" cy="24702"/>
          </a:xfrm>
          <a:prstGeom prst="line">
            <a:avLst/>
          </a:prstGeom>
          <a:ln cap="flat" w="47625">
            <a:solidFill>
              <a:srgbClr val="A28231"/>
            </a:solidFill>
            <a:prstDash val="solid"/>
            <a:headEnd type="none" len="sm" w="sm"/>
            <a:tailEnd type="none" len="sm" w="sm"/>
          </a:ln>
        </p:spPr>
      </p:sp>
      <p:sp>
        <p:nvSpPr>
          <p:cNvPr name="AutoShape 10" id="10"/>
          <p:cNvSpPr/>
          <p:nvPr/>
        </p:nvSpPr>
        <p:spPr>
          <a:xfrm flipV="true">
            <a:off x="-117230" y="10287000"/>
            <a:ext cx="19376532" cy="12351"/>
          </a:xfrm>
          <a:prstGeom prst="line">
            <a:avLst/>
          </a:prstGeom>
          <a:ln cap="flat" w="85725">
            <a:solidFill>
              <a:srgbClr val="1E498A"/>
            </a:solidFill>
            <a:prstDash val="solid"/>
            <a:headEnd type="none" len="sm" w="sm"/>
            <a:tailEnd type="none" len="sm" w="sm"/>
          </a:ln>
        </p:spPr>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0" y="1567098"/>
            <a:ext cx="7378521" cy="24702"/>
          </a:xfrm>
          <a:prstGeom prst="line">
            <a:avLst/>
          </a:prstGeom>
          <a:ln cap="flat" w="47625">
            <a:solidFill>
              <a:srgbClr val="A28231"/>
            </a:solidFill>
            <a:prstDash val="solid"/>
            <a:headEnd type="none" len="sm" w="sm"/>
            <a:tailEnd type="none" len="sm" w="sm"/>
          </a:ln>
        </p:spPr>
      </p:sp>
      <p:grpSp>
        <p:nvGrpSpPr>
          <p:cNvPr name="Group 3" id="3"/>
          <p:cNvGrpSpPr/>
          <p:nvPr/>
        </p:nvGrpSpPr>
        <p:grpSpPr>
          <a:xfrm rot="0">
            <a:off x="962025" y="2095500"/>
            <a:ext cx="4762500" cy="1809750"/>
            <a:chOff x="0" y="0"/>
            <a:chExt cx="6350000" cy="2413000"/>
          </a:xfrm>
        </p:grpSpPr>
        <p:sp>
          <p:nvSpPr>
            <p:cNvPr name="Freeform 4" id="4"/>
            <p:cNvSpPr/>
            <p:nvPr/>
          </p:nvSpPr>
          <p:spPr>
            <a:xfrm flipH="false" flipV="false" rot="0">
              <a:off x="0" y="0"/>
              <a:ext cx="6350000" cy="2413000"/>
            </a:xfrm>
            <a:custGeom>
              <a:avLst/>
              <a:gdLst/>
              <a:ahLst/>
              <a:cxnLst/>
              <a:rect r="r" b="b" t="t" l="l"/>
              <a:pathLst>
                <a:path h="2413000" w="6350000">
                  <a:moveTo>
                    <a:pt x="152400" y="0"/>
                  </a:moveTo>
                  <a:lnTo>
                    <a:pt x="6197600" y="0"/>
                  </a:lnTo>
                  <a:cubicBezTo>
                    <a:pt x="6281768" y="0"/>
                    <a:pt x="6350000" y="68232"/>
                    <a:pt x="6350000" y="152400"/>
                  </a:cubicBezTo>
                  <a:lnTo>
                    <a:pt x="6350000" y="2260600"/>
                  </a:lnTo>
                  <a:cubicBezTo>
                    <a:pt x="6350000" y="2344768"/>
                    <a:pt x="6281768" y="2413000"/>
                    <a:pt x="6197600" y="2413000"/>
                  </a:cubicBezTo>
                  <a:lnTo>
                    <a:pt x="152400" y="2413000"/>
                  </a:lnTo>
                  <a:cubicBezTo>
                    <a:pt x="68232" y="2413000"/>
                    <a:pt x="0" y="2344768"/>
                    <a:pt x="0" y="2260600"/>
                  </a:cubicBezTo>
                  <a:lnTo>
                    <a:pt x="0" y="152400"/>
                  </a:lnTo>
                  <a:cubicBezTo>
                    <a:pt x="0" y="68232"/>
                    <a:pt x="68232" y="0"/>
                    <a:pt x="152400" y="0"/>
                  </a:cubicBezTo>
                  <a:close/>
                </a:path>
              </a:pathLst>
            </a:custGeom>
            <a:solidFill>
              <a:srgbClr val="F3F6FA"/>
            </a:solidFill>
          </p:spPr>
        </p:sp>
        <p:sp>
          <p:nvSpPr>
            <p:cNvPr name="TextBox 5" id="5"/>
            <p:cNvSpPr txBox="true"/>
            <p:nvPr/>
          </p:nvSpPr>
          <p:spPr>
            <a:xfrm>
              <a:off x="0" y="-38100"/>
              <a:ext cx="6350000" cy="2451100"/>
            </a:xfrm>
            <a:prstGeom prst="rect">
              <a:avLst/>
            </a:prstGeom>
          </p:spPr>
          <p:txBody>
            <a:bodyPr anchor="ctr" rtlCol="false" tIns="50800" lIns="50800" bIns="50800" rIns="50800"/>
            <a:lstStyle/>
            <a:p>
              <a:pPr algn="l">
                <a:lnSpc>
                  <a:spcPts val="1679"/>
                </a:lnSpc>
              </a:pPr>
            </a:p>
          </p:txBody>
        </p:sp>
      </p:grpSp>
      <p:grpSp>
        <p:nvGrpSpPr>
          <p:cNvPr name="Group 6" id="6"/>
          <p:cNvGrpSpPr/>
          <p:nvPr/>
        </p:nvGrpSpPr>
        <p:grpSpPr>
          <a:xfrm rot="0">
            <a:off x="962025" y="2095500"/>
            <a:ext cx="76200" cy="1809750"/>
            <a:chOff x="0" y="0"/>
            <a:chExt cx="101600" cy="2413000"/>
          </a:xfrm>
        </p:grpSpPr>
        <p:sp>
          <p:nvSpPr>
            <p:cNvPr name="Freeform 7" id="7"/>
            <p:cNvSpPr/>
            <p:nvPr/>
          </p:nvSpPr>
          <p:spPr>
            <a:xfrm flipH="false" flipV="false" rot="0">
              <a:off x="0" y="0"/>
              <a:ext cx="101600" cy="2413000"/>
            </a:xfrm>
            <a:custGeom>
              <a:avLst/>
              <a:gdLst/>
              <a:ahLst/>
              <a:cxnLst/>
              <a:rect r="r" b="b" t="t" l="l"/>
              <a:pathLst>
                <a:path h="2413000" w="101600">
                  <a:moveTo>
                    <a:pt x="50800" y="0"/>
                  </a:moveTo>
                  <a:cubicBezTo>
                    <a:pt x="78856" y="0"/>
                    <a:pt x="101600" y="22744"/>
                    <a:pt x="101600" y="50800"/>
                  </a:cubicBezTo>
                  <a:lnTo>
                    <a:pt x="101600" y="2362200"/>
                  </a:lnTo>
                  <a:cubicBezTo>
                    <a:pt x="101600" y="2390256"/>
                    <a:pt x="78856" y="2413000"/>
                    <a:pt x="50800" y="2413000"/>
                  </a:cubicBezTo>
                  <a:cubicBezTo>
                    <a:pt x="22744" y="2413000"/>
                    <a:pt x="0" y="2390256"/>
                    <a:pt x="0" y="2362200"/>
                  </a:cubicBezTo>
                  <a:lnTo>
                    <a:pt x="0" y="50800"/>
                  </a:lnTo>
                  <a:cubicBezTo>
                    <a:pt x="0" y="22744"/>
                    <a:pt x="22744" y="0"/>
                    <a:pt x="50800" y="0"/>
                  </a:cubicBezTo>
                  <a:close/>
                </a:path>
              </a:pathLst>
            </a:custGeom>
            <a:solidFill>
              <a:srgbClr val="A28231"/>
            </a:solidFill>
          </p:spPr>
        </p:sp>
        <p:sp>
          <p:nvSpPr>
            <p:cNvPr name="TextBox 8" id="8"/>
            <p:cNvSpPr txBox="true"/>
            <p:nvPr/>
          </p:nvSpPr>
          <p:spPr>
            <a:xfrm>
              <a:off x="0" y="-38100"/>
              <a:ext cx="101600" cy="2451100"/>
            </a:xfrm>
            <a:prstGeom prst="rect">
              <a:avLst/>
            </a:prstGeom>
          </p:spPr>
          <p:txBody>
            <a:bodyPr anchor="ctr" rtlCol="false" tIns="50800" lIns="50800" bIns="50800" rIns="50800"/>
            <a:lstStyle/>
            <a:p>
              <a:pPr algn="l">
                <a:lnSpc>
                  <a:spcPts val="1679"/>
                </a:lnSpc>
              </a:pPr>
            </a:p>
          </p:txBody>
        </p:sp>
      </p:grpSp>
      <p:grpSp>
        <p:nvGrpSpPr>
          <p:cNvPr name="Group 9" id="9"/>
          <p:cNvGrpSpPr/>
          <p:nvPr/>
        </p:nvGrpSpPr>
        <p:grpSpPr>
          <a:xfrm rot="0">
            <a:off x="6048375" y="2095500"/>
            <a:ext cx="4762500" cy="1809750"/>
            <a:chOff x="0" y="0"/>
            <a:chExt cx="6350000" cy="2413000"/>
          </a:xfrm>
        </p:grpSpPr>
        <p:sp>
          <p:nvSpPr>
            <p:cNvPr name="Freeform 10" id="10"/>
            <p:cNvSpPr/>
            <p:nvPr/>
          </p:nvSpPr>
          <p:spPr>
            <a:xfrm flipH="false" flipV="false" rot="0">
              <a:off x="0" y="0"/>
              <a:ext cx="6350000" cy="2413000"/>
            </a:xfrm>
            <a:custGeom>
              <a:avLst/>
              <a:gdLst/>
              <a:ahLst/>
              <a:cxnLst/>
              <a:rect r="r" b="b" t="t" l="l"/>
              <a:pathLst>
                <a:path h="2413000" w="6350000">
                  <a:moveTo>
                    <a:pt x="152400" y="0"/>
                  </a:moveTo>
                  <a:lnTo>
                    <a:pt x="6197600" y="0"/>
                  </a:lnTo>
                  <a:cubicBezTo>
                    <a:pt x="6281768" y="0"/>
                    <a:pt x="6350000" y="68232"/>
                    <a:pt x="6350000" y="152400"/>
                  </a:cubicBezTo>
                  <a:lnTo>
                    <a:pt x="6350000" y="2260600"/>
                  </a:lnTo>
                  <a:cubicBezTo>
                    <a:pt x="6350000" y="2344768"/>
                    <a:pt x="6281768" y="2413000"/>
                    <a:pt x="6197600" y="2413000"/>
                  </a:cubicBezTo>
                  <a:lnTo>
                    <a:pt x="152400" y="2413000"/>
                  </a:lnTo>
                  <a:cubicBezTo>
                    <a:pt x="68232" y="2413000"/>
                    <a:pt x="0" y="2344768"/>
                    <a:pt x="0" y="2260600"/>
                  </a:cubicBezTo>
                  <a:lnTo>
                    <a:pt x="0" y="152400"/>
                  </a:lnTo>
                  <a:cubicBezTo>
                    <a:pt x="0" y="68232"/>
                    <a:pt x="68232" y="0"/>
                    <a:pt x="152400" y="0"/>
                  </a:cubicBezTo>
                  <a:close/>
                </a:path>
              </a:pathLst>
            </a:custGeom>
            <a:solidFill>
              <a:srgbClr val="F3F6FA"/>
            </a:solidFill>
          </p:spPr>
        </p:sp>
        <p:sp>
          <p:nvSpPr>
            <p:cNvPr name="TextBox 11" id="11"/>
            <p:cNvSpPr txBox="true"/>
            <p:nvPr/>
          </p:nvSpPr>
          <p:spPr>
            <a:xfrm>
              <a:off x="0" y="-38100"/>
              <a:ext cx="6350000" cy="2451100"/>
            </a:xfrm>
            <a:prstGeom prst="rect">
              <a:avLst/>
            </a:prstGeom>
          </p:spPr>
          <p:txBody>
            <a:bodyPr anchor="ctr" rtlCol="false" tIns="50800" lIns="50800" bIns="50800" rIns="50800"/>
            <a:lstStyle/>
            <a:p>
              <a:pPr algn="l">
                <a:lnSpc>
                  <a:spcPts val="1679"/>
                </a:lnSpc>
              </a:pPr>
            </a:p>
          </p:txBody>
        </p:sp>
      </p:grpSp>
      <p:grpSp>
        <p:nvGrpSpPr>
          <p:cNvPr name="Group 12" id="12"/>
          <p:cNvGrpSpPr/>
          <p:nvPr/>
        </p:nvGrpSpPr>
        <p:grpSpPr>
          <a:xfrm rot="0">
            <a:off x="6048375" y="2095500"/>
            <a:ext cx="76200" cy="1809750"/>
            <a:chOff x="0" y="0"/>
            <a:chExt cx="101600" cy="2413000"/>
          </a:xfrm>
        </p:grpSpPr>
        <p:sp>
          <p:nvSpPr>
            <p:cNvPr name="Freeform 13" id="13"/>
            <p:cNvSpPr/>
            <p:nvPr/>
          </p:nvSpPr>
          <p:spPr>
            <a:xfrm flipH="false" flipV="false" rot="0">
              <a:off x="0" y="0"/>
              <a:ext cx="101600" cy="2413000"/>
            </a:xfrm>
            <a:custGeom>
              <a:avLst/>
              <a:gdLst/>
              <a:ahLst/>
              <a:cxnLst/>
              <a:rect r="r" b="b" t="t" l="l"/>
              <a:pathLst>
                <a:path h="2413000" w="101600">
                  <a:moveTo>
                    <a:pt x="50800" y="0"/>
                  </a:moveTo>
                  <a:cubicBezTo>
                    <a:pt x="78856" y="0"/>
                    <a:pt x="101600" y="22744"/>
                    <a:pt x="101600" y="50800"/>
                  </a:cubicBezTo>
                  <a:lnTo>
                    <a:pt x="101600" y="2362200"/>
                  </a:lnTo>
                  <a:cubicBezTo>
                    <a:pt x="101600" y="2390256"/>
                    <a:pt x="78856" y="2413000"/>
                    <a:pt x="50800" y="2413000"/>
                  </a:cubicBezTo>
                  <a:cubicBezTo>
                    <a:pt x="22744" y="2413000"/>
                    <a:pt x="0" y="2390256"/>
                    <a:pt x="0" y="2362200"/>
                  </a:cubicBezTo>
                  <a:lnTo>
                    <a:pt x="0" y="50800"/>
                  </a:lnTo>
                  <a:cubicBezTo>
                    <a:pt x="0" y="22744"/>
                    <a:pt x="22744" y="0"/>
                    <a:pt x="50800" y="0"/>
                  </a:cubicBezTo>
                  <a:close/>
                </a:path>
              </a:pathLst>
            </a:custGeom>
            <a:solidFill>
              <a:srgbClr val="A28231"/>
            </a:solidFill>
          </p:spPr>
        </p:sp>
        <p:sp>
          <p:nvSpPr>
            <p:cNvPr name="TextBox 14" id="14"/>
            <p:cNvSpPr txBox="true"/>
            <p:nvPr/>
          </p:nvSpPr>
          <p:spPr>
            <a:xfrm>
              <a:off x="0" y="-38100"/>
              <a:ext cx="101600" cy="2451100"/>
            </a:xfrm>
            <a:prstGeom prst="rect">
              <a:avLst/>
            </a:prstGeom>
          </p:spPr>
          <p:txBody>
            <a:bodyPr anchor="ctr" rtlCol="false" tIns="50800" lIns="50800" bIns="50800" rIns="50800"/>
            <a:lstStyle/>
            <a:p>
              <a:pPr algn="l">
                <a:lnSpc>
                  <a:spcPts val="1679"/>
                </a:lnSpc>
              </a:pPr>
            </a:p>
          </p:txBody>
        </p:sp>
      </p:grpSp>
      <p:grpSp>
        <p:nvGrpSpPr>
          <p:cNvPr name="Group 15" id="15"/>
          <p:cNvGrpSpPr/>
          <p:nvPr/>
        </p:nvGrpSpPr>
        <p:grpSpPr>
          <a:xfrm rot="0">
            <a:off x="962025" y="4133850"/>
            <a:ext cx="4762500" cy="1809750"/>
            <a:chOff x="0" y="0"/>
            <a:chExt cx="6350000" cy="2413000"/>
          </a:xfrm>
        </p:grpSpPr>
        <p:sp>
          <p:nvSpPr>
            <p:cNvPr name="Freeform 16" id="16"/>
            <p:cNvSpPr/>
            <p:nvPr/>
          </p:nvSpPr>
          <p:spPr>
            <a:xfrm flipH="false" flipV="false" rot="0">
              <a:off x="0" y="0"/>
              <a:ext cx="6350000" cy="2413000"/>
            </a:xfrm>
            <a:custGeom>
              <a:avLst/>
              <a:gdLst/>
              <a:ahLst/>
              <a:cxnLst/>
              <a:rect r="r" b="b" t="t" l="l"/>
              <a:pathLst>
                <a:path h="2413000" w="6350000">
                  <a:moveTo>
                    <a:pt x="152400" y="0"/>
                  </a:moveTo>
                  <a:lnTo>
                    <a:pt x="6197600" y="0"/>
                  </a:lnTo>
                  <a:cubicBezTo>
                    <a:pt x="6281768" y="0"/>
                    <a:pt x="6350000" y="68232"/>
                    <a:pt x="6350000" y="152400"/>
                  </a:cubicBezTo>
                  <a:lnTo>
                    <a:pt x="6350000" y="2260600"/>
                  </a:lnTo>
                  <a:cubicBezTo>
                    <a:pt x="6350000" y="2344768"/>
                    <a:pt x="6281768" y="2413000"/>
                    <a:pt x="6197600" y="2413000"/>
                  </a:cubicBezTo>
                  <a:lnTo>
                    <a:pt x="152400" y="2413000"/>
                  </a:lnTo>
                  <a:cubicBezTo>
                    <a:pt x="68232" y="2413000"/>
                    <a:pt x="0" y="2344768"/>
                    <a:pt x="0" y="2260600"/>
                  </a:cubicBezTo>
                  <a:lnTo>
                    <a:pt x="0" y="152400"/>
                  </a:lnTo>
                  <a:cubicBezTo>
                    <a:pt x="0" y="68232"/>
                    <a:pt x="68232" y="0"/>
                    <a:pt x="152400" y="0"/>
                  </a:cubicBezTo>
                  <a:close/>
                </a:path>
              </a:pathLst>
            </a:custGeom>
            <a:solidFill>
              <a:srgbClr val="F3F6FA"/>
            </a:solidFill>
          </p:spPr>
        </p:sp>
        <p:sp>
          <p:nvSpPr>
            <p:cNvPr name="TextBox 17" id="17"/>
            <p:cNvSpPr txBox="true"/>
            <p:nvPr/>
          </p:nvSpPr>
          <p:spPr>
            <a:xfrm>
              <a:off x="0" y="-38100"/>
              <a:ext cx="6350000" cy="2451100"/>
            </a:xfrm>
            <a:prstGeom prst="rect">
              <a:avLst/>
            </a:prstGeom>
          </p:spPr>
          <p:txBody>
            <a:bodyPr anchor="ctr" rtlCol="false" tIns="50800" lIns="50800" bIns="50800" rIns="50800"/>
            <a:lstStyle/>
            <a:p>
              <a:pPr algn="l">
                <a:lnSpc>
                  <a:spcPts val="1679"/>
                </a:lnSpc>
              </a:pPr>
            </a:p>
          </p:txBody>
        </p:sp>
      </p:grpSp>
      <p:grpSp>
        <p:nvGrpSpPr>
          <p:cNvPr name="Group 18" id="18"/>
          <p:cNvGrpSpPr/>
          <p:nvPr/>
        </p:nvGrpSpPr>
        <p:grpSpPr>
          <a:xfrm rot="0">
            <a:off x="962025" y="4133850"/>
            <a:ext cx="76200" cy="1809750"/>
            <a:chOff x="0" y="0"/>
            <a:chExt cx="101600" cy="2413000"/>
          </a:xfrm>
        </p:grpSpPr>
        <p:sp>
          <p:nvSpPr>
            <p:cNvPr name="Freeform 19" id="19"/>
            <p:cNvSpPr/>
            <p:nvPr/>
          </p:nvSpPr>
          <p:spPr>
            <a:xfrm flipH="false" flipV="false" rot="0">
              <a:off x="0" y="0"/>
              <a:ext cx="101600" cy="2413000"/>
            </a:xfrm>
            <a:custGeom>
              <a:avLst/>
              <a:gdLst/>
              <a:ahLst/>
              <a:cxnLst/>
              <a:rect r="r" b="b" t="t" l="l"/>
              <a:pathLst>
                <a:path h="2413000" w="101600">
                  <a:moveTo>
                    <a:pt x="50800" y="0"/>
                  </a:moveTo>
                  <a:cubicBezTo>
                    <a:pt x="78856" y="0"/>
                    <a:pt x="101600" y="22744"/>
                    <a:pt x="101600" y="50800"/>
                  </a:cubicBezTo>
                  <a:lnTo>
                    <a:pt x="101600" y="2362200"/>
                  </a:lnTo>
                  <a:cubicBezTo>
                    <a:pt x="101600" y="2390256"/>
                    <a:pt x="78856" y="2413000"/>
                    <a:pt x="50800" y="2413000"/>
                  </a:cubicBezTo>
                  <a:cubicBezTo>
                    <a:pt x="22744" y="2413000"/>
                    <a:pt x="0" y="2390256"/>
                    <a:pt x="0" y="2362200"/>
                  </a:cubicBezTo>
                  <a:lnTo>
                    <a:pt x="0" y="50800"/>
                  </a:lnTo>
                  <a:cubicBezTo>
                    <a:pt x="0" y="22744"/>
                    <a:pt x="22744" y="0"/>
                    <a:pt x="50800" y="0"/>
                  </a:cubicBezTo>
                  <a:close/>
                </a:path>
              </a:pathLst>
            </a:custGeom>
            <a:solidFill>
              <a:srgbClr val="A28231"/>
            </a:solidFill>
          </p:spPr>
        </p:sp>
        <p:sp>
          <p:nvSpPr>
            <p:cNvPr name="TextBox 20" id="20"/>
            <p:cNvSpPr txBox="true"/>
            <p:nvPr/>
          </p:nvSpPr>
          <p:spPr>
            <a:xfrm>
              <a:off x="0" y="-38100"/>
              <a:ext cx="101600" cy="2451100"/>
            </a:xfrm>
            <a:prstGeom prst="rect">
              <a:avLst/>
            </a:prstGeom>
          </p:spPr>
          <p:txBody>
            <a:bodyPr anchor="ctr" rtlCol="false" tIns="50800" lIns="50800" bIns="50800" rIns="50800"/>
            <a:lstStyle/>
            <a:p>
              <a:pPr algn="l">
                <a:lnSpc>
                  <a:spcPts val="1679"/>
                </a:lnSpc>
              </a:pPr>
            </a:p>
          </p:txBody>
        </p:sp>
      </p:grpSp>
      <p:grpSp>
        <p:nvGrpSpPr>
          <p:cNvPr name="Group 21" id="21"/>
          <p:cNvGrpSpPr/>
          <p:nvPr/>
        </p:nvGrpSpPr>
        <p:grpSpPr>
          <a:xfrm rot="0">
            <a:off x="6048375" y="4133850"/>
            <a:ext cx="4762500" cy="1809750"/>
            <a:chOff x="0" y="0"/>
            <a:chExt cx="6350000" cy="2413000"/>
          </a:xfrm>
        </p:grpSpPr>
        <p:sp>
          <p:nvSpPr>
            <p:cNvPr name="Freeform 22" id="22"/>
            <p:cNvSpPr/>
            <p:nvPr/>
          </p:nvSpPr>
          <p:spPr>
            <a:xfrm flipH="false" flipV="false" rot="0">
              <a:off x="0" y="0"/>
              <a:ext cx="6350000" cy="2413000"/>
            </a:xfrm>
            <a:custGeom>
              <a:avLst/>
              <a:gdLst/>
              <a:ahLst/>
              <a:cxnLst/>
              <a:rect r="r" b="b" t="t" l="l"/>
              <a:pathLst>
                <a:path h="2413000" w="6350000">
                  <a:moveTo>
                    <a:pt x="152400" y="0"/>
                  </a:moveTo>
                  <a:lnTo>
                    <a:pt x="6197600" y="0"/>
                  </a:lnTo>
                  <a:cubicBezTo>
                    <a:pt x="6281768" y="0"/>
                    <a:pt x="6350000" y="68232"/>
                    <a:pt x="6350000" y="152400"/>
                  </a:cubicBezTo>
                  <a:lnTo>
                    <a:pt x="6350000" y="2260600"/>
                  </a:lnTo>
                  <a:cubicBezTo>
                    <a:pt x="6350000" y="2344768"/>
                    <a:pt x="6281768" y="2413000"/>
                    <a:pt x="6197600" y="2413000"/>
                  </a:cubicBezTo>
                  <a:lnTo>
                    <a:pt x="152400" y="2413000"/>
                  </a:lnTo>
                  <a:cubicBezTo>
                    <a:pt x="68232" y="2413000"/>
                    <a:pt x="0" y="2344768"/>
                    <a:pt x="0" y="2260600"/>
                  </a:cubicBezTo>
                  <a:lnTo>
                    <a:pt x="0" y="152400"/>
                  </a:lnTo>
                  <a:cubicBezTo>
                    <a:pt x="0" y="68232"/>
                    <a:pt x="68232" y="0"/>
                    <a:pt x="152400" y="0"/>
                  </a:cubicBezTo>
                  <a:close/>
                </a:path>
              </a:pathLst>
            </a:custGeom>
            <a:solidFill>
              <a:srgbClr val="F3F6FA"/>
            </a:solidFill>
          </p:spPr>
        </p:sp>
        <p:sp>
          <p:nvSpPr>
            <p:cNvPr name="TextBox 23" id="23"/>
            <p:cNvSpPr txBox="true"/>
            <p:nvPr/>
          </p:nvSpPr>
          <p:spPr>
            <a:xfrm>
              <a:off x="0" y="-38100"/>
              <a:ext cx="6350000" cy="2451100"/>
            </a:xfrm>
            <a:prstGeom prst="rect">
              <a:avLst/>
            </a:prstGeom>
          </p:spPr>
          <p:txBody>
            <a:bodyPr anchor="ctr" rtlCol="false" tIns="50800" lIns="50800" bIns="50800" rIns="50800"/>
            <a:lstStyle/>
            <a:p>
              <a:pPr algn="l">
                <a:lnSpc>
                  <a:spcPts val="1679"/>
                </a:lnSpc>
              </a:pPr>
            </a:p>
          </p:txBody>
        </p:sp>
      </p:grpSp>
      <p:grpSp>
        <p:nvGrpSpPr>
          <p:cNvPr name="Group 24" id="24"/>
          <p:cNvGrpSpPr/>
          <p:nvPr/>
        </p:nvGrpSpPr>
        <p:grpSpPr>
          <a:xfrm rot="0">
            <a:off x="6048375" y="4133850"/>
            <a:ext cx="76200" cy="1809750"/>
            <a:chOff x="0" y="0"/>
            <a:chExt cx="101600" cy="2413000"/>
          </a:xfrm>
        </p:grpSpPr>
        <p:sp>
          <p:nvSpPr>
            <p:cNvPr name="Freeform 25" id="25"/>
            <p:cNvSpPr/>
            <p:nvPr/>
          </p:nvSpPr>
          <p:spPr>
            <a:xfrm flipH="false" flipV="false" rot="0">
              <a:off x="0" y="0"/>
              <a:ext cx="101600" cy="2413000"/>
            </a:xfrm>
            <a:custGeom>
              <a:avLst/>
              <a:gdLst/>
              <a:ahLst/>
              <a:cxnLst/>
              <a:rect r="r" b="b" t="t" l="l"/>
              <a:pathLst>
                <a:path h="2413000" w="101600">
                  <a:moveTo>
                    <a:pt x="50800" y="0"/>
                  </a:moveTo>
                  <a:cubicBezTo>
                    <a:pt x="78856" y="0"/>
                    <a:pt x="101600" y="22744"/>
                    <a:pt x="101600" y="50800"/>
                  </a:cubicBezTo>
                  <a:lnTo>
                    <a:pt x="101600" y="2362200"/>
                  </a:lnTo>
                  <a:cubicBezTo>
                    <a:pt x="101600" y="2390256"/>
                    <a:pt x="78856" y="2413000"/>
                    <a:pt x="50800" y="2413000"/>
                  </a:cubicBezTo>
                  <a:cubicBezTo>
                    <a:pt x="22744" y="2413000"/>
                    <a:pt x="0" y="2390256"/>
                    <a:pt x="0" y="2362200"/>
                  </a:cubicBezTo>
                  <a:lnTo>
                    <a:pt x="0" y="50800"/>
                  </a:lnTo>
                  <a:cubicBezTo>
                    <a:pt x="0" y="22744"/>
                    <a:pt x="22744" y="0"/>
                    <a:pt x="50800" y="0"/>
                  </a:cubicBezTo>
                  <a:close/>
                </a:path>
              </a:pathLst>
            </a:custGeom>
            <a:solidFill>
              <a:srgbClr val="A28231"/>
            </a:solidFill>
          </p:spPr>
        </p:sp>
        <p:sp>
          <p:nvSpPr>
            <p:cNvPr name="TextBox 26" id="26"/>
            <p:cNvSpPr txBox="true"/>
            <p:nvPr/>
          </p:nvSpPr>
          <p:spPr>
            <a:xfrm>
              <a:off x="0" y="-38100"/>
              <a:ext cx="101600" cy="2451100"/>
            </a:xfrm>
            <a:prstGeom prst="rect">
              <a:avLst/>
            </a:prstGeom>
          </p:spPr>
          <p:txBody>
            <a:bodyPr anchor="ctr" rtlCol="false" tIns="50800" lIns="50800" bIns="50800" rIns="50800"/>
            <a:lstStyle/>
            <a:p>
              <a:pPr algn="l">
                <a:lnSpc>
                  <a:spcPts val="1679"/>
                </a:lnSpc>
              </a:pPr>
            </a:p>
          </p:txBody>
        </p:sp>
      </p:grpSp>
      <p:grpSp>
        <p:nvGrpSpPr>
          <p:cNvPr name="Group 27" id="27"/>
          <p:cNvGrpSpPr/>
          <p:nvPr/>
        </p:nvGrpSpPr>
        <p:grpSpPr>
          <a:xfrm rot="0">
            <a:off x="962025" y="6172200"/>
            <a:ext cx="4762500" cy="1809750"/>
            <a:chOff x="0" y="0"/>
            <a:chExt cx="6350000" cy="2413000"/>
          </a:xfrm>
        </p:grpSpPr>
        <p:sp>
          <p:nvSpPr>
            <p:cNvPr name="Freeform 28" id="28"/>
            <p:cNvSpPr/>
            <p:nvPr/>
          </p:nvSpPr>
          <p:spPr>
            <a:xfrm flipH="false" flipV="false" rot="0">
              <a:off x="0" y="0"/>
              <a:ext cx="6350000" cy="2413000"/>
            </a:xfrm>
            <a:custGeom>
              <a:avLst/>
              <a:gdLst/>
              <a:ahLst/>
              <a:cxnLst/>
              <a:rect r="r" b="b" t="t" l="l"/>
              <a:pathLst>
                <a:path h="2413000" w="6350000">
                  <a:moveTo>
                    <a:pt x="152400" y="0"/>
                  </a:moveTo>
                  <a:lnTo>
                    <a:pt x="6197600" y="0"/>
                  </a:lnTo>
                  <a:cubicBezTo>
                    <a:pt x="6281768" y="0"/>
                    <a:pt x="6350000" y="68232"/>
                    <a:pt x="6350000" y="152400"/>
                  </a:cubicBezTo>
                  <a:lnTo>
                    <a:pt x="6350000" y="2260600"/>
                  </a:lnTo>
                  <a:cubicBezTo>
                    <a:pt x="6350000" y="2344768"/>
                    <a:pt x="6281768" y="2413000"/>
                    <a:pt x="6197600" y="2413000"/>
                  </a:cubicBezTo>
                  <a:lnTo>
                    <a:pt x="152400" y="2413000"/>
                  </a:lnTo>
                  <a:cubicBezTo>
                    <a:pt x="68232" y="2413000"/>
                    <a:pt x="0" y="2344768"/>
                    <a:pt x="0" y="2260600"/>
                  </a:cubicBezTo>
                  <a:lnTo>
                    <a:pt x="0" y="152400"/>
                  </a:lnTo>
                  <a:cubicBezTo>
                    <a:pt x="0" y="68232"/>
                    <a:pt x="68232" y="0"/>
                    <a:pt x="152400" y="0"/>
                  </a:cubicBezTo>
                  <a:close/>
                </a:path>
              </a:pathLst>
            </a:custGeom>
            <a:solidFill>
              <a:srgbClr val="F3F6FA"/>
            </a:solidFill>
          </p:spPr>
        </p:sp>
        <p:sp>
          <p:nvSpPr>
            <p:cNvPr name="TextBox 29" id="29"/>
            <p:cNvSpPr txBox="true"/>
            <p:nvPr/>
          </p:nvSpPr>
          <p:spPr>
            <a:xfrm>
              <a:off x="0" y="-38100"/>
              <a:ext cx="6350000" cy="2451100"/>
            </a:xfrm>
            <a:prstGeom prst="rect">
              <a:avLst/>
            </a:prstGeom>
          </p:spPr>
          <p:txBody>
            <a:bodyPr anchor="ctr" rtlCol="false" tIns="50800" lIns="50800" bIns="50800" rIns="50800"/>
            <a:lstStyle/>
            <a:p>
              <a:pPr algn="l">
                <a:lnSpc>
                  <a:spcPts val="1679"/>
                </a:lnSpc>
              </a:pPr>
            </a:p>
          </p:txBody>
        </p:sp>
      </p:grpSp>
      <p:grpSp>
        <p:nvGrpSpPr>
          <p:cNvPr name="Group 30" id="30"/>
          <p:cNvGrpSpPr/>
          <p:nvPr/>
        </p:nvGrpSpPr>
        <p:grpSpPr>
          <a:xfrm rot="0">
            <a:off x="962025" y="6172200"/>
            <a:ext cx="76200" cy="1809750"/>
            <a:chOff x="0" y="0"/>
            <a:chExt cx="101600" cy="2413000"/>
          </a:xfrm>
        </p:grpSpPr>
        <p:sp>
          <p:nvSpPr>
            <p:cNvPr name="Freeform 31" id="31"/>
            <p:cNvSpPr/>
            <p:nvPr/>
          </p:nvSpPr>
          <p:spPr>
            <a:xfrm flipH="false" flipV="false" rot="0">
              <a:off x="0" y="0"/>
              <a:ext cx="101600" cy="2413000"/>
            </a:xfrm>
            <a:custGeom>
              <a:avLst/>
              <a:gdLst/>
              <a:ahLst/>
              <a:cxnLst/>
              <a:rect r="r" b="b" t="t" l="l"/>
              <a:pathLst>
                <a:path h="2413000" w="101600">
                  <a:moveTo>
                    <a:pt x="50800" y="0"/>
                  </a:moveTo>
                  <a:cubicBezTo>
                    <a:pt x="78856" y="0"/>
                    <a:pt x="101600" y="22744"/>
                    <a:pt x="101600" y="50800"/>
                  </a:cubicBezTo>
                  <a:lnTo>
                    <a:pt x="101600" y="2362200"/>
                  </a:lnTo>
                  <a:cubicBezTo>
                    <a:pt x="101600" y="2390256"/>
                    <a:pt x="78856" y="2413000"/>
                    <a:pt x="50800" y="2413000"/>
                  </a:cubicBezTo>
                  <a:cubicBezTo>
                    <a:pt x="22744" y="2413000"/>
                    <a:pt x="0" y="2390256"/>
                    <a:pt x="0" y="2362200"/>
                  </a:cubicBezTo>
                  <a:lnTo>
                    <a:pt x="0" y="50800"/>
                  </a:lnTo>
                  <a:cubicBezTo>
                    <a:pt x="0" y="22744"/>
                    <a:pt x="22744" y="0"/>
                    <a:pt x="50800" y="0"/>
                  </a:cubicBezTo>
                  <a:close/>
                </a:path>
              </a:pathLst>
            </a:custGeom>
            <a:solidFill>
              <a:srgbClr val="A28231"/>
            </a:solidFill>
          </p:spPr>
        </p:sp>
        <p:sp>
          <p:nvSpPr>
            <p:cNvPr name="TextBox 32" id="32"/>
            <p:cNvSpPr txBox="true"/>
            <p:nvPr/>
          </p:nvSpPr>
          <p:spPr>
            <a:xfrm>
              <a:off x="0" y="-38100"/>
              <a:ext cx="101600" cy="2451100"/>
            </a:xfrm>
            <a:prstGeom prst="rect">
              <a:avLst/>
            </a:prstGeom>
          </p:spPr>
          <p:txBody>
            <a:bodyPr anchor="ctr" rtlCol="false" tIns="50800" lIns="50800" bIns="50800" rIns="50800"/>
            <a:lstStyle/>
            <a:p>
              <a:pPr algn="l">
                <a:lnSpc>
                  <a:spcPts val="1679"/>
                </a:lnSpc>
              </a:pPr>
            </a:p>
          </p:txBody>
        </p:sp>
      </p:grpSp>
      <p:grpSp>
        <p:nvGrpSpPr>
          <p:cNvPr name="Group 33" id="33"/>
          <p:cNvGrpSpPr/>
          <p:nvPr/>
        </p:nvGrpSpPr>
        <p:grpSpPr>
          <a:xfrm rot="0">
            <a:off x="6048375" y="6172200"/>
            <a:ext cx="4762500" cy="1809750"/>
            <a:chOff x="0" y="0"/>
            <a:chExt cx="6350000" cy="2413000"/>
          </a:xfrm>
        </p:grpSpPr>
        <p:sp>
          <p:nvSpPr>
            <p:cNvPr name="Freeform 34" id="34"/>
            <p:cNvSpPr/>
            <p:nvPr/>
          </p:nvSpPr>
          <p:spPr>
            <a:xfrm flipH="false" flipV="false" rot="0">
              <a:off x="0" y="0"/>
              <a:ext cx="6350000" cy="2413000"/>
            </a:xfrm>
            <a:custGeom>
              <a:avLst/>
              <a:gdLst/>
              <a:ahLst/>
              <a:cxnLst/>
              <a:rect r="r" b="b" t="t" l="l"/>
              <a:pathLst>
                <a:path h="2413000" w="6350000">
                  <a:moveTo>
                    <a:pt x="152400" y="0"/>
                  </a:moveTo>
                  <a:lnTo>
                    <a:pt x="6197600" y="0"/>
                  </a:lnTo>
                  <a:cubicBezTo>
                    <a:pt x="6281768" y="0"/>
                    <a:pt x="6350000" y="68232"/>
                    <a:pt x="6350000" y="152400"/>
                  </a:cubicBezTo>
                  <a:lnTo>
                    <a:pt x="6350000" y="2260600"/>
                  </a:lnTo>
                  <a:cubicBezTo>
                    <a:pt x="6350000" y="2344768"/>
                    <a:pt x="6281768" y="2413000"/>
                    <a:pt x="6197600" y="2413000"/>
                  </a:cubicBezTo>
                  <a:lnTo>
                    <a:pt x="152400" y="2413000"/>
                  </a:lnTo>
                  <a:cubicBezTo>
                    <a:pt x="68232" y="2413000"/>
                    <a:pt x="0" y="2344768"/>
                    <a:pt x="0" y="2260600"/>
                  </a:cubicBezTo>
                  <a:lnTo>
                    <a:pt x="0" y="152400"/>
                  </a:lnTo>
                  <a:cubicBezTo>
                    <a:pt x="0" y="68232"/>
                    <a:pt x="68232" y="0"/>
                    <a:pt x="152400" y="0"/>
                  </a:cubicBezTo>
                  <a:close/>
                </a:path>
              </a:pathLst>
            </a:custGeom>
            <a:solidFill>
              <a:srgbClr val="F3F6FA"/>
            </a:solidFill>
          </p:spPr>
        </p:sp>
        <p:sp>
          <p:nvSpPr>
            <p:cNvPr name="TextBox 35" id="35"/>
            <p:cNvSpPr txBox="true"/>
            <p:nvPr/>
          </p:nvSpPr>
          <p:spPr>
            <a:xfrm>
              <a:off x="0" y="-38100"/>
              <a:ext cx="6350000" cy="2451100"/>
            </a:xfrm>
            <a:prstGeom prst="rect">
              <a:avLst/>
            </a:prstGeom>
          </p:spPr>
          <p:txBody>
            <a:bodyPr anchor="ctr" rtlCol="false" tIns="50800" lIns="50800" bIns="50800" rIns="50800"/>
            <a:lstStyle/>
            <a:p>
              <a:pPr algn="l">
                <a:lnSpc>
                  <a:spcPts val="1679"/>
                </a:lnSpc>
              </a:pPr>
            </a:p>
          </p:txBody>
        </p:sp>
      </p:grpSp>
      <p:grpSp>
        <p:nvGrpSpPr>
          <p:cNvPr name="Group 36" id="36"/>
          <p:cNvGrpSpPr/>
          <p:nvPr/>
        </p:nvGrpSpPr>
        <p:grpSpPr>
          <a:xfrm rot="0">
            <a:off x="6048375" y="6172200"/>
            <a:ext cx="76200" cy="1809750"/>
            <a:chOff x="0" y="0"/>
            <a:chExt cx="101600" cy="2413000"/>
          </a:xfrm>
        </p:grpSpPr>
        <p:sp>
          <p:nvSpPr>
            <p:cNvPr name="Freeform 37" id="37"/>
            <p:cNvSpPr/>
            <p:nvPr/>
          </p:nvSpPr>
          <p:spPr>
            <a:xfrm flipH="false" flipV="false" rot="0">
              <a:off x="0" y="0"/>
              <a:ext cx="101600" cy="2413000"/>
            </a:xfrm>
            <a:custGeom>
              <a:avLst/>
              <a:gdLst/>
              <a:ahLst/>
              <a:cxnLst/>
              <a:rect r="r" b="b" t="t" l="l"/>
              <a:pathLst>
                <a:path h="2413000" w="101600">
                  <a:moveTo>
                    <a:pt x="50800" y="0"/>
                  </a:moveTo>
                  <a:cubicBezTo>
                    <a:pt x="78856" y="0"/>
                    <a:pt x="101600" y="22744"/>
                    <a:pt x="101600" y="50800"/>
                  </a:cubicBezTo>
                  <a:lnTo>
                    <a:pt x="101600" y="2362200"/>
                  </a:lnTo>
                  <a:cubicBezTo>
                    <a:pt x="101600" y="2390256"/>
                    <a:pt x="78856" y="2413000"/>
                    <a:pt x="50800" y="2413000"/>
                  </a:cubicBezTo>
                  <a:cubicBezTo>
                    <a:pt x="22744" y="2413000"/>
                    <a:pt x="0" y="2390256"/>
                    <a:pt x="0" y="2362200"/>
                  </a:cubicBezTo>
                  <a:lnTo>
                    <a:pt x="0" y="50800"/>
                  </a:lnTo>
                  <a:cubicBezTo>
                    <a:pt x="0" y="22744"/>
                    <a:pt x="22744" y="0"/>
                    <a:pt x="50800" y="0"/>
                  </a:cubicBezTo>
                  <a:close/>
                </a:path>
              </a:pathLst>
            </a:custGeom>
            <a:solidFill>
              <a:srgbClr val="A28231"/>
            </a:solidFill>
          </p:spPr>
        </p:sp>
        <p:sp>
          <p:nvSpPr>
            <p:cNvPr name="TextBox 38" id="38"/>
            <p:cNvSpPr txBox="true"/>
            <p:nvPr/>
          </p:nvSpPr>
          <p:spPr>
            <a:xfrm>
              <a:off x="0" y="-38100"/>
              <a:ext cx="101600" cy="2451100"/>
            </a:xfrm>
            <a:prstGeom prst="rect">
              <a:avLst/>
            </a:prstGeom>
          </p:spPr>
          <p:txBody>
            <a:bodyPr anchor="ctr" rtlCol="false" tIns="50800" lIns="50800" bIns="50800" rIns="50800"/>
            <a:lstStyle/>
            <a:p>
              <a:pPr algn="l">
                <a:lnSpc>
                  <a:spcPts val="1679"/>
                </a:lnSpc>
              </a:pPr>
            </a:p>
          </p:txBody>
        </p:sp>
      </p:grpSp>
      <p:sp>
        <p:nvSpPr>
          <p:cNvPr name="Freeform 39" id="39"/>
          <p:cNvSpPr/>
          <p:nvPr/>
        </p:nvSpPr>
        <p:spPr>
          <a:xfrm flipH="false" flipV="false" rot="0">
            <a:off x="11998023" y="5200650"/>
            <a:ext cx="5539438" cy="4457206"/>
          </a:xfrm>
          <a:custGeom>
            <a:avLst/>
            <a:gdLst/>
            <a:ahLst/>
            <a:cxnLst/>
            <a:rect r="r" b="b" t="t" l="l"/>
            <a:pathLst>
              <a:path h="4457206" w="5539438">
                <a:moveTo>
                  <a:pt x="0" y="0"/>
                </a:moveTo>
                <a:lnTo>
                  <a:pt x="5539438" y="0"/>
                </a:lnTo>
                <a:lnTo>
                  <a:pt x="5539438" y="4457206"/>
                </a:lnTo>
                <a:lnTo>
                  <a:pt x="0" y="4457206"/>
                </a:lnTo>
                <a:lnTo>
                  <a:pt x="0" y="0"/>
                </a:lnTo>
                <a:close/>
              </a:path>
            </a:pathLst>
          </a:custGeom>
          <a:blipFill>
            <a:blip r:embed="rId2"/>
            <a:stretch>
              <a:fillRect l="-42867" t="0" r="0" b="0"/>
            </a:stretch>
          </a:blipFill>
        </p:spPr>
      </p:sp>
      <p:sp>
        <p:nvSpPr>
          <p:cNvPr name="TextBox 40" id="40"/>
          <p:cNvSpPr txBox="true"/>
          <p:nvPr/>
        </p:nvSpPr>
        <p:spPr>
          <a:xfrm rot="0">
            <a:off x="962025" y="762000"/>
            <a:ext cx="10477500" cy="679450"/>
          </a:xfrm>
          <a:prstGeom prst="rect">
            <a:avLst/>
          </a:prstGeom>
        </p:spPr>
        <p:txBody>
          <a:bodyPr anchor="t" rtlCol="false" tIns="0" lIns="0" bIns="0" rIns="0">
            <a:spAutoFit/>
          </a:bodyPr>
          <a:lstStyle/>
          <a:p>
            <a:pPr algn="l">
              <a:lnSpc>
                <a:spcPts val="5599"/>
              </a:lnSpc>
            </a:pPr>
            <a:r>
              <a:rPr lang="en-US" sz="3999" b="true">
                <a:solidFill>
                  <a:srgbClr val="002557"/>
                </a:solidFill>
                <a:latin typeface="Open Sauce Bold"/>
                <a:ea typeface="Open Sauce Bold"/>
                <a:cs typeface="Open Sauce Bold"/>
                <a:sym typeface="Open Sauce Bold"/>
              </a:rPr>
              <a:t>DFR Impact: 2024 to Present</a:t>
            </a:r>
          </a:p>
        </p:txBody>
      </p:sp>
      <p:sp>
        <p:nvSpPr>
          <p:cNvPr name="TextBox 41" id="41"/>
          <p:cNvSpPr txBox="true"/>
          <p:nvPr/>
        </p:nvSpPr>
        <p:spPr>
          <a:xfrm rot="0">
            <a:off x="1285875" y="2266950"/>
            <a:ext cx="4191000" cy="712470"/>
          </a:xfrm>
          <a:prstGeom prst="rect">
            <a:avLst/>
          </a:prstGeom>
        </p:spPr>
        <p:txBody>
          <a:bodyPr anchor="t" rtlCol="false" tIns="0" lIns="0" bIns="0" rIns="0">
            <a:spAutoFit/>
          </a:bodyPr>
          <a:lstStyle/>
          <a:p>
            <a:pPr algn="l">
              <a:lnSpc>
                <a:spcPts val="5880"/>
              </a:lnSpc>
            </a:pPr>
            <a:r>
              <a:rPr lang="en-US" sz="4200" b="true">
                <a:solidFill>
                  <a:srgbClr val="1E3A8A"/>
                </a:solidFill>
                <a:latin typeface="Open Sauce Bold"/>
                <a:ea typeface="Open Sauce Bold"/>
                <a:cs typeface="Open Sauce Bold"/>
                <a:sym typeface="Open Sauce Bold"/>
              </a:rPr>
              <a:t>3,348</a:t>
            </a:r>
          </a:p>
        </p:txBody>
      </p:sp>
      <p:sp>
        <p:nvSpPr>
          <p:cNvPr name="TextBox 42" id="42"/>
          <p:cNvSpPr txBox="true"/>
          <p:nvPr/>
        </p:nvSpPr>
        <p:spPr>
          <a:xfrm rot="0">
            <a:off x="1285875" y="3124200"/>
            <a:ext cx="4191000" cy="306705"/>
          </a:xfrm>
          <a:prstGeom prst="rect">
            <a:avLst/>
          </a:prstGeom>
        </p:spPr>
        <p:txBody>
          <a:bodyPr anchor="t" rtlCol="false" tIns="0" lIns="0" bIns="0" rIns="0">
            <a:spAutoFit/>
          </a:bodyPr>
          <a:lstStyle/>
          <a:p>
            <a:pPr algn="l">
              <a:lnSpc>
                <a:spcPts val="2520"/>
              </a:lnSpc>
            </a:pPr>
            <a:r>
              <a:rPr lang="en-US" sz="1800" b="true">
                <a:solidFill>
                  <a:srgbClr val="26384D"/>
                </a:solidFill>
                <a:latin typeface="Montserrat Bold"/>
                <a:ea typeface="Montserrat Bold"/>
                <a:cs typeface="Montserrat Bold"/>
                <a:sym typeface="Montserrat Bold"/>
              </a:rPr>
              <a:t>Total Flights</a:t>
            </a:r>
          </a:p>
        </p:txBody>
      </p:sp>
      <p:sp>
        <p:nvSpPr>
          <p:cNvPr name="TextBox 43" id="43"/>
          <p:cNvSpPr txBox="true"/>
          <p:nvPr/>
        </p:nvSpPr>
        <p:spPr>
          <a:xfrm rot="0">
            <a:off x="6372225" y="2266950"/>
            <a:ext cx="4191000" cy="712470"/>
          </a:xfrm>
          <a:prstGeom prst="rect">
            <a:avLst/>
          </a:prstGeom>
        </p:spPr>
        <p:txBody>
          <a:bodyPr anchor="t" rtlCol="false" tIns="0" lIns="0" bIns="0" rIns="0">
            <a:spAutoFit/>
          </a:bodyPr>
          <a:lstStyle/>
          <a:p>
            <a:pPr algn="l">
              <a:lnSpc>
                <a:spcPts val="5880"/>
              </a:lnSpc>
            </a:pPr>
            <a:r>
              <a:rPr lang="en-US" sz="4200" b="true">
                <a:solidFill>
                  <a:srgbClr val="1E3A8A"/>
                </a:solidFill>
                <a:latin typeface="Open Sauce Bold"/>
                <a:ea typeface="Open Sauce Bold"/>
                <a:cs typeface="Open Sauce Bold"/>
                <a:sym typeface="Open Sauce Bold"/>
              </a:rPr>
              <a:t>694</a:t>
            </a:r>
          </a:p>
        </p:txBody>
      </p:sp>
      <p:sp>
        <p:nvSpPr>
          <p:cNvPr name="TextBox 44" id="44"/>
          <p:cNvSpPr txBox="true"/>
          <p:nvPr/>
        </p:nvSpPr>
        <p:spPr>
          <a:xfrm rot="0">
            <a:off x="6372225" y="3124200"/>
            <a:ext cx="4191000" cy="306705"/>
          </a:xfrm>
          <a:prstGeom prst="rect">
            <a:avLst/>
          </a:prstGeom>
        </p:spPr>
        <p:txBody>
          <a:bodyPr anchor="t" rtlCol="false" tIns="0" lIns="0" bIns="0" rIns="0">
            <a:spAutoFit/>
          </a:bodyPr>
          <a:lstStyle/>
          <a:p>
            <a:pPr algn="l">
              <a:lnSpc>
                <a:spcPts val="2520"/>
              </a:lnSpc>
            </a:pPr>
            <a:r>
              <a:rPr lang="en-US" sz="1800" b="true">
                <a:solidFill>
                  <a:srgbClr val="26384D"/>
                </a:solidFill>
                <a:latin typeface="Montserrat Bold"/>
                <a:ea typeface="Montserrat Bold"/>
                <a:cs typeface="Montserrat Bold"/>
                <a:sym typeface="Montserrat Bold"/>
              </a:rPr>
              <a:t>People of Interest Located</a:t>
            </a:r>
          </a:p>
        </p:txBody>
      </p:sp>
      <p:sp>
        <p:nvSpPr>
          <p:cNvPr name="TextBox 45" id="45"/>
          <p:cNvSpPr txBox="true"/>
          <p:nvPr/>
        </p:nvSpPr>
        <p:spPr>
          <a:xfrm rot="0">
            <a:off x="1285875" y="4305300"/>
            <a:ext cx="4191000" cy="712470"/>
          </a:xfrm>
          <a:prstGeom prst="rect">
            <a:avLst/>
          </a:prstGeom>
        </p:spPr>
        <p:txBody>
          <a:bodyPr anchor="t" rtlCol="false" tIns="0" lIns="0" bIns="0" rIns="0">
            <a:spAutoFit/>
          </a:bodyPr>
          <a:lstStyle/>
          <a:p>
            <a:pPr algn="l">
              <a:lnSpc>
                <a:spcPts val="5880"/>
              </a:lnSpc>
            </a:pPr>
            <a:r>
              <a:rPr lang="en-US" sz="4200" b="true">
                <a:solidFill>
                  <a:srgbClr val="1E3A8A"/>
                </a:solidFill>
                <a:latin typeface="Open Sauce Bold"/>
                <a:ea typeface="Open Sauce Bold"/>
                <a:cs typeface="Open Sauce Bold"/>
                <a:sym typeface="Open Sauce Bold"/>
              </a:rPr>
              <a:t>414</a:t>
            </a:r>
          </a:p>
        </p:txBody>
      </p:sp>
      <p:sp>
        <p:nvSpPr>
          <p:cNvPr name="TextBox 46" id="46"/>
          <p:cNvSpPr txBox="true"/>
          <p:nvPr/>
        </p:nvSpPr>
        <p:spPr>
          <a:xfrm rot="0">
            <a:off x="1285875" y="5162550"/>
            <a:ext cx="4191000" cy="306705"/>
          </a:xfrm>
          <a:prstGeom prst="rect">
            <a:avLst/>
          </a:prstGeom>
        </p:spPr>
        <p:txBody>
          <a:bodyPr anchor="t" rtlCol="false" tIns="0" lIns="0" bIns="0" rIns="0">
            <a:spAutoFit/>
          </a:bodyPr>
          <a:lstStyle/>
          <a:p>
            <a:pPr algn="l">
              <a:lnSpc>
                <a:spcPts val="2520"/>
              </a:lnSpc>
            </a:pPr>
            <a:r>
              <a:rPr lang="en-US" sz="1800" b="true">
                <a:solidFill>
                  <a:srgbClr val="26384D"/>
                </a:solidFill>
                <a:latin typeface="Montserrat Bold"/>
                <a:ea typeface="Montserrat Bold"/>
                <a:cs typeface="Montserrat Bold"/>
                <a:sym typeface="Montserrat Bold"/>
              </a:rPr>
              <a:t>Vehicles of Interest Located</a:t>
            </a:r>
          </a:p>
        </p:txBody>
      </p:sp>
      <p:sp>
        <p:nvSpPr>
          <p:cNvPr name="TextBox 47" id="47"/>
          <p:cNvSpPr txBox="true"/>
          <p:nvPr/>
        </p:nvSpPr>
        <p:spPr>
          <a:xfrm rot="0">
            <a:off x="6372225" y="4305300"/>
            <a:ext cx="4191000" cy="712470"/>
          </a:xfrm>
          <a:prstGeom prst="rect">
            <a:avLst/>
          </a:prstGeom>
        </p:spPr>
        <p:txBody>
          <a:bodyPr anchor="t" rtlCol="false" tIns="0" lIns="0" bIns="0" rIns="0">
            <a:spAutoFit/>
          </a:bodyPr>
          <a:lstStyle/>
          <a:p>
            <a:pPr algn="l">
              <a:lnSpc>
                <a:spcPts val="5880"/>
              </a:lnSpc>
            </a:pPr>
            <a:r>
              <a:rPr lang="en-US" sz="4200" b="true">
                <a:solidFill>
                  <a:srgbClr val="1E3A8A"/>
                </a:solidFill>
                <a:latin typeface="Open Sauce Bold"/>
                <a:ea typeface="Open Sauce Bold"/>
                <a:cs typeface="Open Sauce Bold"/>
                <a:sym typeface="Open Sauce Bold"/>
              </a:rPr>
              <a:t>116</a:t>
            </a:r>
          </a:p>
        </p:txBody>
      </p:sp>
      <p:sp>
        <p:nvSpPr>
          <p:cNvPr name="TextBox 48" id="48"/>
          <p:cNvSpPr txBox="true"/>
          <p:nvPr/>
        </p:nvSpPr>
        <p:spPr>
          <a:xfrm rot="0">
            <a:off x="6372225" y="5162550"/>
            <a:ext cx="4191000" cy="306705"/>
          </a:xfrm>
          <a:prstGeom prst="rect">
            <a:avLst/>
          </a:prstGeom>
        </p:spPr>
        <p:txBody>
          <a:bodyPr anchor="t" rtlCol="false" tIns="0" lIns="0" bIns="0" rIns="0">
            <a:spAutoFit/>
          </a:bodyPr>
          <a:lstStyle/>
          <a:p>
            <a:pPr algn="l">
              <a:lnSpc>
                <a:spcPts val="2520"/>
              </a:lnSpc>
            </a:pPr>
            <a:r>
              <a:rPr lang="en-US" sz="1800" b="true">
                <a:solidFill>
                  <a:srgbClr val="26384D"/>
                </a:solidFill>
                <a:latin typeface="Montserrat Bold"/>
                <a:ea typeface="Montserrat Bold"/>
                <a:cs typeface="Montserrat Bold"/>
                <a:sym typeface="Montserrat Bold"/>
              </a:rPr>
              <a:t>Arrests Assisted</a:t>
            </a:r>
          </a:p>
        </p:txBody>
      </p:sp>
      <p:sp>
        <p:nvSpPr>
          <p:cNvPr name="TextBox 49" id="49"/>
          <p:cNvSpPr txBox="true"/>
          <p:nvPr/>
        </p:nvSpPr>
        <p:spPr>
          <a:xfrm rot="0">
            <a:off x="1285875" y="6343650"/>
            <a:ext cx="4191000" cy="712470"/>
          </a:xfrm>
          <a:prstGeom prst="rect">
            <a:avLst/>
          </a:prstGeom>
        </p:spPr>
        <p:txBody>
          <a:bodyPr anchor="t" rtlCol="false" tIns="0" lIns="0" bIns="0" rIns="0">
            <a:spAutoFit/>
          </a:bodyPr>
          <a:lstStyle/>
          <a:p>
            <a:pPr algn="l">
              <a:lnSpc>
                <a:spcPts val="5880"/>
              </a:lnSpc>
            </a:pPr>
            <a:r>
              <a:rPr lang="en-US" sz="4200" b="true">
                <a:solidFill>
                  <a:srgbClr val="1E3A8A"/>
                </a:solidFill>
                <a:latin typeface="Open Sauce Bold"/>
                <a:ea typeface="Open Sauce Bold"/>
                <a:cs typeface="Open Sauce Bold"/>
                <a:sym typeface="Open Sauce Bold"/>
              </a:rPr>
              <a:t>9</a:t>
            </a:r>
          </a:p>
        </p:txBody>
      </p:sp>
      <p:sp>
        <p:nvSpPr>
          <p:cNvPr name="TextBox 50" id="50"/>
          <p:cNvSpPr txBox="true"/>
          <p:nvPr/>
        </p:nvSpPr>
        <p:spPr>
          <a:xfrm rot="0">
            <a:off x="1285875" y="7200900"/>
            <a:ext cx="4191000" cy="306705"/>
          </a:xfrm>
          <a:prstGeom prst="rect">
            <a:avLst/>
          </a:prstGeom>
        </p:spPr>
        <p:txBody>
          <a:bodyPr anchor="t" rtlCol="false" tIns="0" lIns="0" bIns="0" rIns="0">
            <a:spAutoFit/>
          </a:bodyPr>
          <a:lstStyle/>
          <a:p>
            <a:pPr algn="l">
              <a:lnSpc>
                <a:spcPts val="2520"/>
              </a:lnSpc>
            </a:pPr>
            <a:r>
              <a:rPr lang="en-US" sz="1800" b="true">
                <a:solidFill>
                  <a:srgbClr val="26384D"/>
                </a:solidFill>
                <a:latin typeface="Montserrat Bold"/>
                <a:ea typeface="Montserrat Bold"/>
                <a:cs typeface="Montserrat Bold"/>
                <a:sym typeface="Montserrat Bold"/>
              </a:rPr>
              <a:t>Search and Rescue</a:t>
            </a:r>
          </a:p>
        </p:txBody>
      </p:sp>
      <p:sp>
        <p:nvSpPr>
          <p:cNvPr name="TextBox 51" id="51"/>
          <p:cNvSpPr txBox="true"/>
          <p:nvPr/>
        </p:nvSpPr>
        <p:spPr>
          <a:xfrm rot="0">
            <a:off x="6372225" y="6343650"/>
            <a:ext cx="4191000" cy="712470"/>
          </a:xfrm>
          <a:prstGeom prst="rect">
            <a:avLst/>
          </a:prstGeom>
        </p:spPr>
        <p:txBody>
          <a:bodyPr anchor="t" rtlCol="false" tIns="0" lIns="0" bIns="0" rIns="0">
            <a:spAutoFit/>
          </a:bodyPr>
          <a:lstStyle/>
          <a:p>
            <a:pPr algn="l">
              <a:lnSpc>
                <a:spcPts val="5880"/>
              </a:lnSpc>
            </a:pPr>
            <a:r>
              <a:rPr lang="en-US" sz="4200" b="true">
                <a:solidFill>
                  <a:srgbClr val="1E3A8A"/>
                </a:solidFill>
                <a:latin typeface="Open Sauce Bold"/>
                <a:ea typeface="Open Sauce Bold"/>
                <a:cs typeface="Open Sauce Bold"/>
                <a:sym typeface="Open Sauce Bold"/>
              </a:rPr>
              <a:t>6</a:t>
            </a:r>
          </a:p>
        </p:txBody>
      </p:sp>
      <p:sp>
        <p:nvSpPr>
          <p:cNvPr name="TextBox 52" id="52"/>
          <p:cNvSpPr txBox="true"/>
          <p:nvPr/>
        </p:nvSpPr>
        <p:spPr>
          <a:xfrm rot="0">
            <a:off x="6372225" y="7200900"/>
            <a:ext cx="4191000" cy="306705"/>
          </a:xfrm>
          <a:prstGeom prst="rect">
            <a:avLst/>
          </a:prstGeom>
        </p:spPr>
        <p:txBody>
          <a:bodyPr anchor="t" rtlCol="false" tIns="0" lIns="0" bIns="0" rIns="0">
            <a:spAutoFit/>
          </a:bodyPr>
          <a:lstStyle/>
          <a:p>
            <a:pPr algn="l">
              <a:lnSpc>
                <a:spcPts val="2520"/>
              </a:lnSpc>
            </a:pPr>
            <a:r>
              <a:rPr lang="en-US" sz="1800" b="true">
                <a:solidFill>
                  <a:srgbClr val="26384D"/>
                </a:solidFill>
                <a:latin typeface="Montserrat Bold"/>
                <a:ea typeface="Montserrat Bold"/>
                <a:cs typeface="Montserrat Bold"/>
                <a:sym typeface="Montserrat Bold"/>
              </a:rPr>
              <a:t>Scene Reconstructions</a:t>
            </a:r>
          </a:p>
        </p:txBody>
      </p:sp>
      <p:sp>
        <p:nvSpPr>
          <p:cNvPr name="AutoShape 53" id="53"/>
          <p:cNvSpPr/>
          <p:nvPr/>
        </p:nvSpPr>
        <p:spPr>
          <a:xfrm flipV="true">
            <a:off x="-117230" y="10287000"/>
            <a:ext cx="19376532" cy="12351"/>
          </a:xfrm>
          <a:prstGeom prst="line">
            <a:avLst/>
          </a:prstGeom>
          <a:ln cap="flat" w="85725">
            <a:solidFill>
              <a:srgbClr val="1E498A"/>
            </a:solidFill>
            <a:prstDash val="solid"/>
            <a:headEnd type="none" len="sm" w="sm"/>
            <a:tailEnd type="none" len="sm" w="sm"/>
          </a:ln>
        </p:spPr>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031216" y="2209761"/>
            <a:ext cx="10225568" cy="5867478"/>
          </a:xfrm>
          <a:custGeom>
            <a:avLst/>
            <a:gdLst/>
            <a:ahLst/>
            <a:cxnLst/>
            <a:rect r="r" b="b" t="t" l="l"/>
            <a:pathLst>
              <a:path h="5867478" w="10225568">
                <a:moveTo>
                  <a:pt x="0" y="0"/>
                </a:moveTo>
                <a:lnTo>
                  <a:pt x="10225568" y="0"/>
                </a:lnTo>
                <a:lnTo>
                  <a:pt x="10225568" y="5867478"/>
                </a:lnTo>
                <a:lnTo>
                  <a:pt x="0" y="5867478"/>
                </a:lnTo>
                <a:lnTo>
                  <a:pt x="0" y="0"/>
                </a:lnTo>
                <a:close/>
              </a:path>
            </a:pathLst>
          </a:custGeom>
          <a:blipFill>
            <a:blip r:embed="rId3"/>
            <a:stretch>
              <a:fillRect l="0" t="0" r="0" b="0"/>
            </a:stretch>
          </a:blipFill>
        </p:spPr>
      </p:sp>
      <p:sp>
        <p:nvSpPr>
          <p:cNvPr name="TextBox 3" id="3"/>
          <p:cNvSpPr txBox="true"/>
          <p:nvPr/>
        </p:nvSpPr>
        <p:spPr>
          <a:xfrm rot="0">
            <a:off x="5895752" y="660400"/>
            <a:ext cx="6496496" cy="669925"/>
          </a:xfrm>
          <a:prstGeom prst="rect">
            <a:avLst/>
          </a:prstGeom>
        </p:spPr>
        <p:txBody>
          <a:bodyPr anchor="t" rtlCol="false" tIns="0" lIns="0" bIns="0" rIns="0">
            <a:spAutoFit/>
          </a:bodyPr>
          <a:lstStyle/>
          <a:p>
            <a:pPr algn="ctr">
              <a:lnSpc>
                <a:spcPts val="5599"/>
              </a:lnSpc>
              <a:spcBef>
                <a:spcPct val="0"/>
              </a:spcBef>
            </a:pPr>
            <a:r>
              <a:rPr lang="en-US" b="true" sz="3999">
                <a:solidFill>
                  <a:srgbClr val="2E479D"/>
                </a:solidFill>
                <a:latin typeface="Montserrat Bold"/>
                <a:ea typeface="Montserrat Bold"/>
                <a:cs typeface="Montserrat Bold"/>
                <a:sym typeface="Montserrat Bold"/>
              </a:rPr>
              <a:t>Not Just a Crime Fighter</a:t>
            </a:r>
          </a:p>
        </p:txBody>
      </p:sp>
      <p:sp>
        <p:nvSpPr>
          <p:cNvPr name="AutoShape 4" id="4"/>
          <p:cNvSpPr/>
          <p:nvPr/>
        </p:nvSpPr>
        <p:spPr>
          <a:xfrm flipV="true">
            <a:off x="-117230" y="10287000"/>
            <a:ext cx="19376532" cy="12351"/>
          </a:xfrm>
          <a:prstGeom prst="line">
            <a:avLst/>
          </a:prstGeom>
          <a:ln cap="flat" w="85725">
            <a:solidFill>
              <a:srgbClr val="1E498A"/>
            </a:solidFill>
            <a:prstDash val="solid"/>
            <a:headEnd type="none" len="sm" w="sm"/>
            <a:tailEnd type="none" len="sm" w="sm"/>
          </a:ln>
        </p:spPr>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803384"/>
            <a:ext cx="7016448" cy="3340116"/>
            <a:chOff x="0" y="0"/>
            <a:chExt cx="1087031" cy="517471"/>
          </a:xfrm>
        </p:grpSpPr>
        <p:sp>
          <p:nvSpPr>
            <p:cNvPr name="Freeform 3" id="3"/>
            <p:cNvSpPr/>
            <p:nvPr/>
          </p:nvSpPr>
          <p:spPr>
            <a:xfrm flipH="false" flipV="false" rot="0">
              <a:off x="0" y="0"/>
              <a:ext cx="1087031" cy="517471"/>
            </a:xfrm>
            <a:custGeom>
              <a:avLst/>
              <a:gdLst/>
              <a:ahLst/>
              <a:cxnLst/>
              <a:rect r="r" b="b" t="t" l="l"/>
              <a:pathLst>
                <a:path h="517471" w="1087031">
                  <a:moveTo>
                    <a:pt x="0" y="0"/>
                  </a:moveTo>
                  <a:lnTo>
                    <a:pt x="1087031" y="0"/>
                  </a:lnTo>
                  <a:lnTo>
                    <a:pt x="1087031" y="517471"/>
                  </a:lnTo>
                  <a:lnTo>
                    <a:pt x="0" y="517471"/>
                  </a:lnTo>
                  <a:close/>
                </a:path>
              </a:pathLst>
            </a:custGeom>
            <a:blipFill>
              <a:blip r:embed="rId3"/>
              <a:stretch>
                <a:fillRect l="0" t="-9312" r="0" b="-9312"/>
              </a:stretch>
            </a:blipFill>
          </p:spPr>
        </p:sp>
      </p:grpSp>
      <p:grpSp>
        <p:nvGrpSpPr>
          <p:cNvPr name="Group 4" id="4"/>
          <p:cNvGrpSpPr/>
          <p:nvPr/>
        </p:nvGrpSpPr>
        <p:grpSpPr>
          <a:xfrm rot="0">
            <a:off x="9576688" y="2294042"/>
            <a:ext cx="7682612" cy="3360174"/>
            <a:chOff x="0" y="0"/>
            <a:chExt cx="1809536" cy="791444"/>
          </a:xfrm>
        </p:grpSpPr>
        <p:sp>
          <p:nvSpPr>
            <p:cNvPr name="Freeform 5" id="5"/>
            <p:cNvSpPr/>
            <p:nvPr/>
          </p:nvSpPr>
          <p:spPr>
            <a:xfrm flipH="false" flipV="false" rot="0">
              <a:off x="0" y="0"/>
              <a:ext cx="1809536" cy="791444"/>
            </a:xfrm>
            <a:custGeom>
              <a:avLst/>
              <a:gdLst/>
              <a:ahLst/>
              <a:cxnLst/>
              <a:rect r="r" b="b" t="t" l="l"/>
              <a:pathLst>
                <a:path h="791444" w="1809536">
                  <a:moveTo>
                    <a:pt x="0" y="0"/>
                  </a:moveTo>
                  <a:lnTo>
                    <a:pt x="1809536" y="0"/>
                  </a:lnTo>
                  <a:lnTo>
                    <a:pt x="1809536" y="791444"/>
                  </a:lnTo>
                  <a:lnTo>
                    <a:pt x="0" y="791444"/>
                  </a:lnTo>
                  <a:close/>
                </a:path>
              </a:pathLst>
            </a:custGeom>
            <a:blipFill>
              <a:blip r:embed="rId4"/>
              <a:stretch>
                <a:fillRect l="0" t="-51050" r="0" b="-83751"/>
              </a:stretch>
            </a:blipFill>
          </p:spPr>
        </p:sp>
      </p:grpSp>
      <p:grpSp>
        <p:nvGrpSpPr>
          <p:cNvPr name="Group 6" id="6"/>
          <p:cNvGrpSpPr/>
          <p:nvPr/>
        </p:nvGrpSpPr>
        <p:grpSpPr>
          <a:xfrm rot="0">
            <a:off x="1028700" y="5143500"/>
            <a:ext cx="7016448" cy="3340116"/>
            <a:chOff x="0" y="0"/>
            <a:chExt cx="1087031" cy="517471"/>
          </a:xfrm>
        </p:grpSpPr>
        <p:sp>
          <p:nvSpPr>
            <p:cNvPr name="Freeform 7" id="7"/>
            <p:cNvSpPr/>
            <p:nvPr/>
          </p:nvSpPr>
          <p:spPr>
            <a:xfrm flipH="false" flipV="false" rot="0">
              <a:off x="0" y="0"/>
              <a:ext cx="1087031" cy="517471"/>
            </a:xfrm>
            <a:custGeom>
              <a:avLst/>
              <a:gdLst/>
              <a:ahLst/>
              <a:cxnLst/>
              <a:rect r="r" b="b" t="t" l="l"/>
              <a:pathLst>
                <a:path h="517471" w="1087031">
                  <a:moveTo>
                    <a:pt x="0" y="0"/>
                  </a:moveTo>
                  <a:lnTo>
                    <a:pt x="1087031" y="0"/>
                  </a:lnTo>
                  <a:lnTo>
                    <a:pt x="1087031" y="517471"/>
                  </a:lnTo>
                  <a:lnTo>
                    <a:pt x="0" y="517471"/>
                  </a:lnTo>
                  <a:close/>
                </a:path>
              </a:pathLst>
            </a:custGeom>
            <a:blipFill>
              <a:blip r:embed="rId5"/>
              <a:stretch>
                <a:fillRect l="0" t="-9003" r="0" b="-9003"/>
              </a:stretch>
            </a:blipFill>
          </p:spPr>
        </p:sp>
      </p:grpSp>
      <p:grpSp>
        <p:nvGrpSpPr>
          <p:cNvPr name="Group 8" id="8"/>
          <p:cNvGrpSpPr/>
          <p:nvPr/>
        </p:nvGrpSpPr>
        <p:grpSpPr>
          <a:xfrm rot="0">
            <a:off x="9576688" y="5681078"/>
            <a:ext cx="7682612" cy="3360174"/>
            <a:chOff x="0" y="0"/>
            <a:chExt cx="1809536" cy="791444"/>
          </a:xfrm>
        </p:grpSpPr>
        <p:sp>
          <p:nvSpPr>
            <p:cNvPr name="Freeform 9" id="9"/>
            <p:cNvSpPr/>
            <p:nvPr/>
          </p:nvSpPr>
          <p:spPr>
            <a:xfrm flipH="false" flipV="false" rot="0">
              <a:off x="0" y="0"/>
              <a:ext cx="1809536" cy="791444"/>
            </a:xfrm>
            <a:custGeom>
              <a:avLst/>
              <a:gdLst/>
              <a:ahLst/>
              <a:cxnLst/>
              <a:rect r="r" b="b" t="t" l="l"/>
              <a:pathLst>
                <a:path h="791444" w="1809536">
                  <a:moveTo>
                    <a:pt x="0" y="0"/>
                  </a:moveTo>
                  <a:lnTo>
                    <a:pt x="1809536" y="0"/>
                  </a:lnTo>
                  <a:lnTo>
                    <a:pt x="1809536" y="791444"/>
                  </a:lnTo>
                  <a:lnTo>
                    <a:pt x="0" y="791444"/>
                  </a:lnTo>
                  <a:close/>
                </a:path>
              </a:pathLst>
            </a:custGeom>
            <a:blipFill>
              <a:blip r:embed="rId6"/>
              <a:stretch>
                <a:fillRect l="0" t="-116042" r="0" b="-17055"/>
              </a:stretch>
            </a:blipFill>
          </p:spPr>
        </p:sp>
      </p:grpSp>
      <p:sp>
        <p:nvSpPr>
          <p:cNvPr name="TextBox 10" id="10"/>
          <p:cNvSpPr txBox="true"/>
          <p:nvPr/>
        </p:nvSpPr>
        <p:spPr>
          <a:xfrm rot="0">
            <a:off x="1028700" y="8731755"/>
            <a:ext cx="7023740" cy="669925"/>
          </a:xfrm>
          <a:prstGeom prst="rect">
            <a:avLst/>
          </a:prstGeom>
        </p:spPr>
        <p:txBody>
          <a:bodyPr anchor="t" rtlCol="false" tIns="0" lIns="0" bIns="0" rIns="0">
            <a:spAutoFit/>
          </a:bodyPr>
          <a:lstStyle/>
          <a:p>
            <a:pPr algn="l" marL="0" indent="0" lvl="0">
              <a:lnSpc>
                <a:spcPts val="5599"/>
              </a:lnSpc>
              <a:spcBef>
                <a:spcPct val="0"/>
              </a:spcBef>
            </a:pPr>
            <a:r>
              <a:rPr lang="en-US" b="true" sz="3999">
                <a:solidFill>
                  <a:srgbClr val="1E3A8A"/>
                </a:solidFill>
                <a:latin typeface="Montserrat Bold"/>
                <a:ea typeface="Montserrat Bold"/>
                <a:cs typeface="Montserrat Bold"/>
                <a:sym typeface="Montserrat Bold"/>
              </a:rPr>
              <a:t>O</a:t>
            </a:r>
            <a:r>
              <a:rPr lang="en-US" b="true" sz="3999" strike="noStrike" u="none">
                <a:solidFill>
                  <a:srgbClr val="1E3A8A"/>
                </a:solidFill>
                <a:latin typeface="Montserrat Bold"/>
                <a:ea typeface="Montserrat Bold"/>
                <a:cs typeface="Montserrat Bold"/>
                <a:sym typeface="Montserrat Bold"/>
              </a:rPr>
              <a:t>r</a:t>
            </a:r>
            <a:r>
              <a:rPr lang="en-US" b="true" sz="3999" strike="noStrike" u="none">
                <a:solidFill>
                  <a:srgbClr val="1E3A8A"/>
                </a:solidFill>
                <a:latin typeface="Montserrat Bold"/>
                <a:ea typeface="Montserrat Bold"/>
                <a:cs typeface="Montserrat Bold"/>
                <a:sym typeface="Montserrat Bold"/>
              </a:rPr>
              <a:t>ganiz</a:t>
            </a:r>
            <a:r>
              <a:rPr lang="en-US" b="true" sz="3999" strike="noStrike" u="none">
                <a:solidFill>
                  <a:srgbClr val="1E3A8A"/>
                </a:solidFill>
                <a:latin typeface="Montserrat Bold"/>
                <a:ea typeface="Montserrat Bold"/>
                <a:cs typeface="Montserrat Bold"/>
                <a:sym typeface="Montserrat Bold"/>
              </a:rPr>
              <a:t>ed </a:t>
            </a:r>
            <a:r>
              <a:rPr lang="en-US" b="true" sz="3999" strike="noStrike" u="none">
                <a:solidFill>
                  <a:srgbClr val="1E3A8A"/>
                </a:solidFill>
                <a:latin typeface="Montserrat Bold"/>
                <a:ea typeface="Montserrat Bold"/>
                <a:cs typeface="Montserrat Bold"/>
                <a:sym typeface="Montserrat Bold"/>
              </a:rPr>
              <a:t>R</a:t>
            </a:r>
            <a:r>
              <a:rPr lang="en-US" b="true" sz="3999" strike="noStrike" u="none">
                <a:solidFill>
                  <a:srgbClr val="1E3A8A"/>
                </a:solidFill>
                <a:latin typeface="Montserrat Bold"/>
                <a:ea typeface="Montserrat Bold"/>
                <a:cs typeface="Montserrat Bold"/>
                <a:sym typeface="Montserrat Bold"/>
              </a:rPr>
              <a:t>eta</a:t>
            </a:r>
            <a:r>
              <a:rPr lang="en-US" b="true" sz="3999" strike="noStrike" u="none">
                <a:solidFill>
                  <a:srgbClr val="1E3A8A"/>
                </a:solidFill>
                <a:latin typeface="Montserrat Bold"/>
                <a:ea typeface="Montserrat Bold"/>
                <a:cs typeface="Montserrat Bold"/>
                <a:sym typeface="Montserrat Bold"/>
              </a:rPr>
              <a:t>i</a:t>
            </a:r>
            <a:r>
              <a:rPr lang="en-US" b="true" sz="3999" strike="noStrike" u="none">
                <a:solidFill>
                  <a:srgbClr val="1E3A8A"/>
                </a:solidFill>
                <a:latin typeface="Montserrat Bold"/>
                <a:ea typeface="Montserrat Bold"/>
                <a:cs typeface="Montserrat Bold"/>
                <a:sym typeface="Montserrat Bold"/>
              </a:rPr>
              <a:t>l </a:t>
            </a:r>
            <a:r>
              <a:rPr lang="en-US" b="true" sz="3999" strike="noStrike" u="none">
                <a:solidFill>
                  <a:srgbClr val="1E3A8A"/>
                </a:solidFill>
                <a:latin typeface="Montserrat Bold"/>
                <a:ea typeface="Montserrat Bold"/>
                <a:cs typeface="Montserrat Bold"/>
                <a:sym typeface="Montserrat Bold"/>
              </a:rPr>
              <a:t>Theft​</a:t>
            </a:r>
          </a:p>
        </p:txBody>
      </p:sp>
      <p:sp>
        <p:nvSpPr>
          <p:cNvPr name="TextBox 11" id="11"/>
          <p:cNvSpPr txBox="true"/>
          <p:nvPr/>
        </p:nvSpPr>
        <p:spPr>
          <a:xfrm rot="0">
            <a:off x="8489346" y="1482352"/>
            <a:ext cx="8770704" cy="669925"/>
          </a:xfrm>
          <a:prstGeom prst="rect">
            <a:avLst/>
          </a:prstGeom>
        </p:spPr>
        <p:txBody>
          <a:bodyPr anchor="t" rtlCol="false" tIns="0" lIns="0" bIns="0" rIns="0">
            <a:spAutoFit/>
          </a:bodyPr>
          <a:lstStyle/>
          <a:p>
            <a:pPr algn="r" marL="0" indent="0" lvl="0">
              <a:lnSpc>
                <a:spcPts val="5599"/>
              </a:lnSpc>
              <a:spcBef>
                <a:spcPct val="0"/>
              </a:spcBef>
            </a:pPr>
            <a:r>
              <a:rPr lang="en-US" b="true" sz="3999" strike="noStrike" u="none">
                <a:solidFill>
                  <a:srgbClr val="1E3A8A"/>
                </a:solidFill>
                <a:latin typeface="Montserrat Bold"/>
                <a:ea typeface="Montserrat Bold"/>
                <a:cs typeface="Montserrat Bold"/>
                <a:sym typeface="Montserrat Bold"/>
              </a:rPr>
              <a:t>4th of July Vehicle Pursuit​</a:t>
            </a:r>
          </a:p>
        </p:txBody>
      </p:sp>
      <p:sp>
        <p:nvSpPr>
          <p:cNvPr name="AutoShape 12" id="12"/>
          <p:cNvSpPr/>
          <p:nvPr/>
        </p:nvSpPr>
        <p:spPr>
          <a:xfrm flipV="true">
            <a:off x="-117230" y="10287000"/>
            <a:ext cx="19376532" cy="12351"/>
          </a:xfrm>
          <a:prstGeom prst="line">
            <a:avLst/>
          </a:prstGeom>
          <a:ln cap="flat" w="85725">
            <a:solidFill>
              <a:srgbClr val="1E498A"/>
            </a:solidFill>
            <a:prstDash val="solid"/>
            <a:headEnd type="none" len="sm" w="sm"/>
            <a:tailEnd type="none" len="sm" w="sm"/>
          </a:ln>
        </p:spPr>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803384"/>
            <a:ext cx="7016448" cy="5496132"/>
            <a:chOff x="0" y="0"/>
            <a:chExt cx="1087031" cy="851495"/>
          </a:xfrm>
        </p:grpSpPr>
        <p:sp>
          <p:nvSpPr>
            <p:cNvPr name="Freeform 3" id="3"/>
            <p:cNvSpPr/>
            <p:nvPr/>
          </p:nvSpPr>
          <p:spPr>
            <a:xfrm flipH="false" flipV="false" rot="0">
              <a:off x="0" y="0"/>
              <a:ext cx="1087031" cy="851495"/>
            </a:xfrm>
            <a:custGeom>
              <a:avLst/>
              <a:gdLst/>
              <a:ahLst/>
              <a:cxnLst/>
              <a:rect r="r" b="b" t="t" l="l"/>
              <a:pathLst>
                <a:path h="851495" w="1087031">
                  <a:moveTo>
                    <a:pt x="0" y="0"/>
                  </a:moveTo>
                  <a:lnTo>
                    <a:pt x="1087031" y="0"/>
                  </a:lnTo>
                  <a:lnTo>
                    <a:pt x="1087031" y="851495"/>
                  </a:lnTo>
                  <a:lnTo>
                    <a:pt x="0" y="851495"/>
                  </a:lnTo>
                  <a:close/>
                </a:path>
              </a:pathLst>
            </a:custGeom>
            <a:blipFill>
              <a:blip r:embed="rId3"/>
              <a:stretch>
                <a:fillRect l="-8896" t="0" r="-8896" b="0"/>
              </a:stretch>
            </a:blipFill>
          </p:spPr>
        </p:sp>
      </p:grpSp>
      <p:grpSp>
        <p:nvGrpSpPr>
          <p:cNvPr name="Group 4" id="4"/>
          <p:cNvGrpSpPr/>
          <p:nvPr/>
        </p:nvGrpSpPr>
        <p:grpSpPr>
          <a:xfrm rot="0">
            <a:off x="8673062" y="2463427"/>
            <a:ext cx="8586988" cy="3312412"/>
            <a:chOff x="0" y="0"/>
            <a:chExt cx="1809536" cy="698025"/>
          </a:xfrm>
        </p:grpSpPr>
        <p:sp>
          <p:nvSpPr>
            <p:cNvPr name="Freeform 5" id="5"/>
            <p:cNvSpPr/>
            <p:nvPr/>
          </p:nvSpPr>
          <p:spPr>
            <a:xfrm flipH="false" flipV="false" rot="0">
              <a:off x="0" y="0"/>
              <a:ext cx="1809536" cy="698025"/>
            </a:xfrm>
            <a:custGeom>
              <a:avLst/>
              <a:gdLst/>
              <a:ahLst/>
              <a:cxnLst/>
              <a:rect r="r" b="b" t="t" l="l"/>
              <a:pathLst>
                <a:path h="698025" w="1809536">
                  <a:moveTo>
                    <a:pt x="0" y="0"/>
                  </a:moveTo>
                  <a:lnTo>
                    <a:pt x="1809536" y="0"/>
                  </a:lnTo>
                  <a:lnTo>
                    <a:pt x="1809536" y="698025"/>
                  </a:lnTo>
                  <a:lnTo>
                    <a:pt x="0" y="698025"/>
                  </a:lnTo>
                  <a:close/>
                </a:path>
              </a:pathLst>
            </a:custGeom>
            <a:blipFill>
              <a:blip r:embed="rId4"/>
              <a:stretch>
                <a:fillRect l="-629" t="0" r="-6522" b="0"/>
              </a:stretch>
            </a:blipFill>
          </p:spPr>
        </p:sp>
      </p:grpSp>
      <p:grpSp>
        <p:nvGrpSpPr>
          <p:cNvPr name="Group 6" id="6"/>
          <p:cNvGrpSpPr/>
          <p:nvPr/>
        </p:nvGrpSpPr>
        <p:grpSpPr>
          <a:xfrm rot="0">
            <a:off x="8673062" y="5775839"/>
            <a:ext cx="8586988" cy="3312412"/>
            <a:chOff x="0" y="0"/>
            <a:chExt cx="1809536" cy="698025"/>
          </a:xfrm>
        </p:grpSpPr>
        <p:sp>
          <p:nvSpPr>
            <p:cNvPr name="Freeform 7" id="7"/>
            <p:cNvSpPr/>
            <p:nvPr/>
          </p:nvSpPr>
          <p:spPr>
            <a:xfrm flipH="false" flipV="false" rot="0">
              <a:off x="0" y="0"/>
              <a:ext cx="1809536" cy="698025"/>
            </a:xfrm>
            <a:custGeom>
              <a:avLst/>
              <a:gdLst/>
              <a:ahLst/>
              <a:cxnLst/>
              <a:rect r="r" b="b" t="t" l="l"/>
              <a:pathLst>
                <a:path h="698025" w="1809536">
                  <a:moveTo>
                    <a:pt x="0" y="0"/>
                  </a:moveTo>
                  <a:lnTo>
                    <a:pt x="1809536" y="0"/>
                  </a:lnTo>
                  <a:lnTo>
                    <a:pt x="1809536" y="698025"/>
                  </a:lnTo>
                  <a:lnTo>
                    <a:pt x="0" y="698025"/>
                  </a:lnTo>
                  <a:close/>
                </a:path>
              </a:pathLst>
            </a:custGeom>
            <a:blipFill>
              <a:blip r:embed="rId5"/>
              <a:stretch>
                <a:fillRect l="-5226" t="0" r="-5226" b="0"/>
              </a:stretch>
            </a:blipFill>
          </p:spPr>
        </p:sp>
      </p:grpSp>
      <p:sp>
        <p:nvSpPr>
          <p:cNvPr name="TextBox 8" id="8"/>
          <p:cNvSpPr txBox="true"/>
          <p:nvPr/>
        </p:nvSpPr>
        <p:spPr>
          <a:xfrm rot="0">
            <a:off x="1028700" y="8126730"/>
            <a:ext cx="5598249" cy="1131570"/>
          </a:xfrm>
          <a:prstGeom prst="rect">
            <a:avLst/>
          </a:prstGeom>
        </p:spPr>
        <p:txBody>
          <a:bodyPr anchor="t" rtlCol="false" tIns="0" lIns="0" bIns="0" rIns="0">
            <a:spAutoFit/>
          </a:bodyPr>
          <a:lstStyle/>
          <a:p>
            <a:pPr algn="l" marL="0" indent="0" lvl="0">
              <a:lnSpc>
                <a:spcPts val="4439"/>
              </a:lnSpc>
            </a:pPr>
            <a:r>
              <a:rPr lang="en-US" b="true" sz="3999" strike="noStrike" u="none">
                <a:solidFill>
                  <a:srgbClr val="1E3A8A"/>
                </a:solidFill>
                <a:latin typeface="Montserrat Bold"/>
                <a:ea typeface="Montserrat Bold"/>
                <a:cs typeface="Montserrat Bold"/>
                <a:sym typeface="Montserrat Bold"/>
              </a:rPr>
              <a:t>Injured Hiker at Laurelwood Park</a:t>
            </a:r>
          </a:p>
        </p:txBody>
      </p:sp>
      <p:sp>
        <p:nvSpPr>
          <p:cNvPr name="TextBox 9" id="9"/>
          <p:cNvSpPr txBox="true"/>
          <p:nvPr/>
        </p:nvSpPr>
        <p:spPr>
          <a:xfrm rot="0">
            <a:off x="10181367" y="1510292"/>
            <a:ext cx="7077933" cy="953135"/>
          </a:xfrm>
          <a:prstGeom prst="rect">
            <a:avLst/>
          </a:prstGeom>
        </p:spPr>
        <p:txBody>
          <a:bodyPr anchor="t" rtlCol="false" tIns="0" lIns="0" bIns="0" rIns="0">
            <a:spAutoFit/>
          </a:bodyPr>
          <a:lstStyle/>
          <a:p>
            <a:pPr algn="r">
              <a:lnSpc>
                <a:spcPts val="7840"/>
              </a:lnSpc>
            </a:pPr>
            <a:r>
              <a:rPr lang="en-US" sz="5600" b="true">
                <a:solidFill>
                  <a:srgbClr val="1E3A8A"/>
                </a:solidFill>
                <a:latin typeface="Montserrat Bold"/>
                <a:ea typeface="Montserrat Bold"/>
                <a:cs typeface="Montserrat Bold"/>
                <a:sym typeface="Montserrat Bold"/>
              </a:rPr>
              <a:t>Foster City Fire</a:t>
            </a:r>
          </a:p>
        </p:txBody>
      </p:sp>
      <p:sp>
        <p:nvSpPr>
          <p:cNvPr name="AutoShape 10" id="10"/>
          <p:cNvSpPr/>
          <p:nvPr/>
        </p:nvSpPr>
        <p:spPr>
          <a:xfrm flipV="true">
            <a:off x="-117230" y="10287000"/>
            <a:ext cx="19376532" cy="12351"/>
          </a:xfrm>
          <a:prstGeom prst="line">
            <a:avLst/>
          </a:prstGeom>
          <a:ln cap="flat" w="85725">
            <a:solidFill>
              <a:srgbClr val="1E498A"/>
            </a:solidFill>
            <a:prstDash val="solid"/>
            <a:headEnd type="none" len="sm" w="sm"/>
            <a:tailEnd type="none" len="sm" w="sm"/>
          </a:ln>
        </p:spPr>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119801" y="1427721"/>
            <a:ext cx="7431559" cy="7431559"/>
          </a:xfrm>
          <a:custGeom>
            <a:avLst/>
            <a:gdLst/>
            <a:ahLst/>
            <a:cxnLst/>
            <a:rect r="r" b="b" t="t" l="l"/>
            <a:pathLst>
              <a:path h="7431559" w="7431559">
                <a:moveTo>
                  <a:pt x="0" y="0"/>
                </a:moveTo>
                <a:lnTo>
                  <a:pt x="7431559" y="0"/>
                </a:lnTo>
                <a:lnTo>
                  <a:pt x="7431559" y="7431558"/>
                </a:lnTo>
                <a:lnTo>
                  <a:pt x="0" y="7431558"/>
                </a:lnTo>
                <a:lnTo>
                  <a:pt x="0" y="0"/>
                </a:lnTo>
                <a:close/>
              </a:path>
            </a:pathLst>
          </a:custGeom>
          <a:blipFill>
            <a:blip r:embed="rId2">
              <a:alphaModFix amt="49000"/>
            </a:blip>
            <a:stretch>
              <a:fillRect l="0" t="0" r="0" b="0"/>
            </a:stretch>
          </a:blipFill>
        </p:spPr>
      </p:sp>
      <p:sp>
        <p:nvSpPr>
          <p:cNvPr name="AutoShape 3" id="3"/>
          <p:cNvSpPr/>
          <p:nvPr/>
        </p:nvSpPr>
        <p:spPr>
          <a:xfrm>
            <a:off x="5626190" y="6100949"/>
            <a:ext cx="7181826" cy="0"/>
          </a:xfrm>
          <a:prstGeom prst="line">
            <a:avLst/>
          </a:prstGeom>
          <a:ln cap="flat" w="47625">
            <a:solidFill>
              <a:srgbClr val="A28231"/>
            </a:solidFill>
            <a:prstDash val="solid"/>
            <a:headEnd type="none" len="sm" w="sm"/>
            <a:tailEnd type="none" len="sm" w="sm"/>
          </a:ln>
        </p:spPr>
      </p:sp>
      <p:grpSp>
        <p:nvGrpSpPr>
          <p:cNvPr name="Group 4" id="4"/>
          <p:cNvGrpSpPr/>
          <p:nvPr/>
        </p:nvGrpSpPr>
        <p:grpSpPr>
          <a:xfrm rot="0">
            <a:off x="-977496" y="10079973"/>
            <a:ext cx="20096787" cy="207027"/>
            <a:chOff x="0" y="0"/>
            <a:chExt cx="5292981" cy="54526"/>
          </a:xfrm>
        </p:grpSpPr>
        <p:sp>
          <p:nvSpPr>
            <p:cNvPr name="Freeform 5" id="5"/>
            <p:cNvSpPr/>
            <p:nvPr/>
          </p:nvSpPr>
          <p:spPr>
            <a:xfrm flipH="false" flipV="false" rot="0">
              <a:off x="0" y="0"/>
              <a:ext cx="5292981" cy="54526"/>
            </a:xfrm>
            <a:custGeom>
              <a:avLst/>
              <a:gdLst/>
              <a:ahLst/>
              <a:cxnLst/>
              <a:rect r="r" b="b" t="t" l="l"/>
              <a:pathLst>
                <a:path h="54526" w="5292981">
                  <a:moveTo>
                    <a:pt x="0" y="0"/>
                  </a:moveTo>
                  <a:lnTo>
                    <a:pt x="5292981" y="0"/>
                  </a:lnTo>
                  <a:lnTo>
                    <a:pt x="5292981" y="54526"/>
                  </a:lnTo>
                  <a:lnTo>
                    <a:pt x="0" y="54526"/>
                  </a:lnTo>
                  <a:close/>
                </a:path>
              </a:pathLst>
            </a:custGeom>
            <a:solidFill>
              <a:srgbClr val="17397F"/>
            </a:solidFill>
            <a:ln w="28575" cap="sq">
              <a:solidFill>
                <a:srgbClr val="A28231"/>
              </a:solidFill>
              <a:prstDash val="solid"/>
              <a:miter/>
            </a:ln>
          </p:spPr>
        </p:sp>
        <p:sp>
          <p:nvSpPr>
            <p:cNvPr name="TextBox 6" id="6"/>
            <p:cNvSpPr txBox="true"/>
            <p:nvPr/>
          </p:nvSpPr>
          <p:spPr>
            <a:xfrm>
              <a:off x="0" y="-47625"/>
              <a:ext cx="5292981" cy="102151"/>
            </a:xfrm>
            <a:prstGeom prst="rect">
              <a:avLst/>
            </a:prstGeom>
          </p:spPr>
          <p:txBody>
            <a:bodyPr anchor="ctr" rtlCol="false" tIns="50800" lIns="50800" bIns="50800" rIns="50800"/>
            <a:lstStyle/>
            <a:p>
              <a:pPr algn="ctr">
                <a:lnSpc>
                  <a:spcPts val="3499"/>
                </a:lnSpc>
              </a:pPr>
            </a:p>
          </p:txBody>
        </p:sp>
      </p:grpSp>
      <p:sp>
        <p:nvSpPr>
          <p:cNvPr name="TextBox 7" id="7"/>
          <p:cNvSpPr txBox="true"/>
          <p:nvPr/>
        </p:nvSpPr>
        <p:spPr>
          <a:xfrm rot="0">
            <a:off x="752870" y="4743633"/>
            <a:ext cx="16782260" cy="1238253"/>
          </a:xfrm>
          <a:prstGeom prst="rect">
            <a:avLst/>
          </a:prstGeom>
        </p:spPr>
        <p:txBody>
          <a:bodyPr anchor="t" rtlCol="false" tIns="0" lIns="0" bIns="0" rIns="0">
            <a:spAutoFit/>
          </a:bodyPr>
          <a:lstStyle/>
          <a:p>
            <a:pPr algn="ctr">
              <a:lnSpc>
                <a:spcPts val="9450"/>
              </a:lnSpc>
            </a:pPr>
            <a:r>
              <a:rPr lang="en-US" b="true" sz="9000">
                <a:solidFill>
                  <a:srgbClr val="1D1D1F"/>
                </a:solidFill>
                <a:latin typeface="Montserrat Bold"/>
                <a:ea typeface="Montserrat Bold"/>
                <a:cs typeface="Montserrat Bold"/>
                <a:sym typeface="Montserrat Bold"/>
              </a:rPr>
              <a:t>THANK YOU</a:t>
            </a:r>
          </a:p>
        </p:txBody>
      </p:sp>
      <p:sp>
        <p:nvSpPr>
          <p:cNvPr name="TextBox 8" id="8"/>
          <p:cNvSpPr txBox="true"/>
          <p:nvPr/>
        </p:nvSpPr>
        <p:spPr>
          <a:xfrm rot="0">
            <a:off x="5479948" y="6175495"/>
            <a:ext cx="7474309" cy="438785"/>
          </a:xfrm>
          <a:prstGeom prst="rect">
            <a:avLst/>
          </a:prstGeom>
        </p:spPr>
        <p:txBody>
          <a:bodyPr anchor="t" rtlCol="false" tIns="0" lIns="0" bIns="0" rIns="0">
            <a:spAutoFit/>
          </a:bodyPr>
          <a:lstStyle/>
          <a:p>
            <a:pPr algn="ctr">
              <a:lnSpc>
                <a:spcPts val="3639"/>
              </a:lnSpc>
            </a:pPr>
            <a:r>
              <a:rPr lang="en-US" b="true" sz="2599" spc="519">
                <a:solidFill>
                  <a:srgbClr val="1D1D1F"/>
                </a:solidFill>
                <a:latin typeface="Montserrat Bold"/>
                <a:ea typeface="Montserrat Bold"/>
                <a:cs typeface="Montserrat Bold"/>
                <a:sym typeface="Montserrat Bold"/>
              </a:rPr>
              <a:t>STUDY SESSION OCTOBER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DAHV11z-1aI</dc:identifier>
  <dcterms:modified xsi:type="dcterms:W3CDTF">2011-08-01T06:04:30Z</dcterms:modified>
  <cp:revision>1</cp:revision>
  <dc:title>REAL TIME INFORMATION CENTER</dc:title>
</cp:coreProperties>
</file>